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4"/>
    <p:sldMasterId id="2147483810" r:id="rId5"/>
  </p:sldMasterIdLst>
  <p:notesMasterIdLst>
    <p:notesMasterId r:id="rId60"/>
  </p:notesMasterIdLst>
  <p:handoutMasterIdLst>
    <p:handoutMasterId r:id="rId61"/>
  </p:handoutMasterIdLst>
  <p:sldIdLst>
    <p:sldId id="347" r:id="rId6"/>
    <p:sldId id="446" r:id="rId7"/>
    <p:sldId id="448" r:id="rId8"/>
    <p:sldId id="449" r:id="rId9"/>
    <p:sldId id="450" r:id="rId10"/>
    <p:sldId id="451" r:id="rId11"/>
    <p:sldId id="495" r:id="rId12"/>
    <p:sldId id="453" r:id="rId13"/>
    <p:sldId id="454" r:id="rId14"/>
    <p:sldId id="456" r:id="rId15"/>
    <p:sldId id="457" r:id="rId16"/>
    <p:sldId id="460" r:id="rId17"/>
    <p:sldId id="463" r:id="rId18"/>
    <p:sldId id="452" r:id="rId19"/>
    <p:sldId id="496" r:id="rId20"/>
    <p:sldId id="464" r:id="rId21"/>
    <p:sldId id="465" r:id="rId22"/>
    <p:sldId id="466" r:id="rId23"/>
    <p:sldId id="467" r:id="rId24"/>
    <p:sldId id="468" r:id="rId25"/>
    <p:sldId id="469" r:id="rId26"/>
    <p:sldId id="498" r:id="rId27"/>
    <p:sldId id="499" r:id="rId28"/>
    <p:sldId id="497" r:id="rId29"/>
    <p:sldId id="470" r:id="rId30"/>
    <p:sldId id="354" r:id="rId31"/>
    <p:sldId id="471" r:id="rId32"/>
    <p:sldId id="472" r:id="rId33"/>
    <p:sldId id="473" r:id="rId34"/>
    <p:sldId id="474" r:id="rId35"/>
    <p:sldId id="475" r:id="rId36"/>
    <p:sldId id="476" r:id="rId37"/>
    <p:sldId id="500" r:id="rId38"/>
    <p:sldId id="501" r:id="rId39"/>
    <p:sldId id="477" r:id="rId40"/>
    <p:sldId id="479" r:id="rId41"/>
    <p:sldId id="480" r:id="rId42"/>
    <p:sldId id="481" r:id="rId43"/>
    <p:sldId id="482" r:id="rId44"/>
    <p:sldId id="483" r:id="rId45"/>
    <p:sldId id="484" r:id="rId46"/>
    <p:sldId id="485" r:id="rId47"/>
    <p:sldId id="486" r:id="rId48"/>
    <p:sldId id="487" r:id="rId49"/>
    <p:sldId id="488" r:id="rId50"/>
    <p:sldId id="489" r:id="rId51"/>
    <p:sldId id="490" r:id="rId52"/>
    <p:sldId id="491" r:id="rId53"/>
    <p:sldId id="492" r:id="rId54"/>
    <p:sldId id="493" r:id="rId55"/>
    <p:sldId id="447" r:id="rId56"/>
    <p:sldId id="504" r:id="rId57"/>
    <p:sldId id="502" r:id="rId58"/>
    <p:sldId id="494" r:id="rId5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08">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54"/>
    <a:srgbClr val="45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549" autoAdjust="0"/>
    <p:restoredTop sz="86667" autoAdjust="0"/>
  </p:normalViewPr>
  <p:slideViewPr>
    <p:cSldViewPr>
      <p:cViewPr varScale="1">
        <p:scale>
          <a:sx n="74" d="100"/>
          <a:sy n="74" d="100"/>
        </p:scale>
        <p:origin x="1258" y="72"/>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55FE731-0CB0-4BA0-A6F9-CBEC4A8B6EC3}"/>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6-</a:t>
            </a:r>
            <a:fld id="{70D10C91-4B60-40D6-B354-7847987CBD98}"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1052F60-EE0B-4D2F-9B17-F9082B79B36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CFF2D757-026D-4C0F-9545-29DFDC72FD71}"/>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B19622E3-915E-4698-9598-83A1C4D268B0}"/>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6-</a:t>
            </a:r>
            <a:fld id="{11FC1EB3-2246-4B42-8AD0-F22C2D261241}"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CC4CAC28-545A-4CDF-AEFB-511C04F750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C38C720D-87DC-4E34-AA85-3A14EA08B9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Chapter 6: Reporting and Interpreting Sales Revenue, Receivables, and Cash. </a:t>
            </a:r>
          </a:p>
        </p:txBody>
      </p:sp>
      <p:sp>
        <p:nvSpPr>
          <p:cNvPr id="6147" name="Slide Number Placeholder 3">
            <a:extLst>
              <a:ext uri="{FF2B5EF4-FFF2-40B4-BE49-F238E27FC236}">
                <a16:creationId xmlns:a16="http://schemas.microsoft.com/office/drawing/2014/main" id="{228D052D-81D1-4F12-88B2-93083B5E7C24}"/>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255EBBCB-EC01-4E2C-9E76-76DE0C8E750C}" type="slidenum">
              <a:rPr lang="en-US" altLang="en-US"/>
              <a:pPr algn="r" eaLnBrk="1" hangingPunct="1">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B61313BA-17E6-4CDE-929D-F126EE0C15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9E0AECE9-3FCC-41C8-A109-FD1549D2EF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20483" name="Slide Number Placeholder 3">
            <a:extLst>
              <a:ext uri="{FF2B5EF4-FFF2-40B4-BE49-F238E27FC236}">
                <a16:creationId xmlns:a16="http://schemas.microsoft.com/office/drawing/2014/main" id="{FC1118FE-A2FB-440A-92B9-A3AC4533D3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US" altLang="en-US"/>
              <a:t>6-</a:t>
            </a:r>
            <a:fld id="{17E204CA-9245-4143-B2EF-56394DBE9C06}" type="slidenum">
              <a:rPr lang="en-US" altLang="en-US" smtClean="0"/>
              <a:pPr>
                <a:spcBef>
                  <a:spcPct val="0"/>
                </a:spcBef>
              </a:pPr>
              <a:t>26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7375237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07779043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634679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7618964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1132459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Tree>
    <p:extLst>
      <p:ext uri="{BB962C8B-B14F-4D97-AF65-F5344CB8AC3E}">
        <p14:creationId xmlns:p14="http://schemas.microsoft.com/office/powerpoint/2010/main" val="229987726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69779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dirty="0"/>
              <a:t>Click to edit Master title style</a:t>
            </a:r>
            <a:endParaRPr lang="en-CA" dirty="0"/>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4192485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dirty="0"/>
              <a:t>Click to edit Master title style</a:t>
            </a:r>
            <a:endParaRPr lang="en-CA" dirty="0"/>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5197070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198403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8576427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23349379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778707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80988718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5228218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8369871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81276461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914483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4062887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3833490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32958176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1092208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2FA19DA6-12F8-44DE-967F-CCFE2F4CA423}"/>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7EB6FE5B-BFD0-431B-AC7A-1E2CC35E2025}"/>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5958F211-A2EF-4923-882F-C18E2793980C}"/>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8">
            <a:extLst>
              <a:ext uri="{FF2B5EF4-FFF2-40B4-BE49-F238E27FC236}">
                <a16:creationId xmlns:a16="http://schemas.microsoft.com/office/drawing/2014/main" id="{69D64B00-6539-4DF8-A430-EEF20D9AD9BF}"/>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FF7C289B-CD63-4CEB-80B5-E79237F83F97}"/>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6C5C5399-E9FF-4E30-B6B3-761042332BDE}"/>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32148F7E-44AF-455F-A535-E3F28243E91C}"/>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C5E1D253-57E3-4031-9A98-C29E1DE5C451}"/>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40F0E8F6-0824-4054-BD70-0732A8FFB19F}"/>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sp>
        <p:nvSpPr>
          <p:cNvPr id="17" name="Rectangle 12">
            <a:extLst>
              <a:ext uri="{FF2B5EF4-FFF2-40B4-BE49-F238E27FC236}">
                <a16:creationId xmlns:a16="http://schemas.microsoft.com/office/drawing/2014/main" id="{1C027099-E5C5-964C-A242-59107EAB0EEF}"/>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pic>
        <p:nvPicPr>
          <p:cNvPr id="18" name="Picture 17" descr="A picture containing text, electronics, sign, green&#10;&#10;Description automatically generated">
            <a:extLst>
              <a:ext uri="{FF2B5EF4-FFF2-40B4-BE49-F238E27FC236}">
                <a16:creationId xmlns:a16="http://schemas.microsoft.com/office/drawing/2014/main" id="{6DE4F6D1-B640-F147-8849-B51D73751ED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D20E60F8-0C54-4E41-8469-6E5CDB89EF70}"/>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dirty="0"/>
              <a:t>Click to edit Master title style</a:t>
            </a:r>
          </a:p>
        </p:txBody>
      </p:sp>
      <p:sp>
        <p:nvSpPr>
          <p:cNvPr id="2051" name="Text Placeholder 12">
            <a:extLst>
              <a:ext uri="{FF2B5EF4-FFF2-40B4-BE49-F238E27FC236}">
                <a16:creationId xmlns:a16="http://schemas.microsoft.com/office/drawing/2014/main" id="{31BF6448-0F70-4C4A-9FFC-25AE574EE476}"/>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dirty="0"/>
              <a:t>Click to edit Master text styles</a:t>
            </a:r>
          </a:p>
          <a:p>
            <a:pPr lvl="1"/>
            <a:r>
              <a:rPr lang="en-CA" altLang="en-US" dirty="0"/>
              <a:t>Second level</a:t>
            </a:r>
          </a:p>
          <a:p>
            <a:pPr lvl="2"/>
            <a:r>
              <a:rPr lang="en-CA" altLang="en-US" dirty="0"/>
              <a:t>Third level</a:t>
            </a:r>
          </a:p>
          <a:p>
            <a:pPr lvl="3"/>
            <a:r>
              <a:rPr lang="en-CA" altLang="en-US" dirty="0"/>
              <a:t>Fourth level</a:t>
            </a:r>
          </a:p>
          <a:p>
            <a:pPr lvl="4"/>
            <a:r>
              <a:rPr lang="en-CA" altLang="en-US" dirty="0"/>
              <a:t>Fifth level</a:t>
            </a:r>
          </a:p>
        </p:txBody>
      </p:sp>
      <p:sp>
        <p:nvSpPr>
          <p:cNvPr id="2052" name="Straight Connector 28">
            <a:extLst>
              <a:ext uri="{FF2B5EF4-FFF2-40B4-BE49-F238E27FC236}">
                <a16:creationId xmlns:a16="http://schemas.microsoft.com/office/drawing/2014/main" id="{60EF91A6-3A90-4352-B311-6C972EFD6874}"/>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221B5A08-73BB-41F3-8AF6-40B392146D43}"/>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5385DD68-D30E-46C6-85CB-2D672D47E924}"/>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5-</a:t>
            </a:r>
            <a:fld id="{EA1861E8-9B65-4683-9F8E-2DE225D5890D}"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0D73E858-8215-4A41-BD02-7FFA69C00FC4}"/>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a:t>
            </a:r>
            <a:r>
              <a:rPr lang="en-CA" sz="1000"/>
              <a:t>2023 McGraw Hill </a:t>
            </a:r>
            <a:r>
              <a:rPr lang="en-CA" sz="1000" dirty="0"/>
              <a:t>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AB7A7B5D-B0EF-471D-BF85-9B73A8D314AA}"/>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Reporting and Interpreting Sales Revenue, Receivables, and Cash</a:t>
            </a:r>
          </a:p>
        </p:txBody>
      </p:sp>
      <p:sp>
        <p:nvSpPr>
          <p:cNvPr id="5122" name="Subtitle 4">
            <a:extLst>
              <a:ext uri="{FF2B5EF4-FFF2-40B4-BE49-F238E27FC236}">
                <a16:creationId xmlns:a16="http://schemas.microsoft.com/office/drawing/2014/main" id="{78868678-2434-487B-B61A-CFCB9A339EB7}"/>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C944104D-0317-4BA0-B731-DFBD853DDAEA}"/>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482730BA-9FA2-45D9-8D1D-B03051135D32}"/>
              </a:ext>
            </a:extLst>
          </p:cNvPr>
          <p:cNvSpPr>
            <a:spLocks noGrp="1"/>
          </p:cNvSpPr>
          <p:nvPr>
            <p:ph idx="1"/>
          </p:nvPr>
        </p:nvSpPr>
        <p:spPr/>
        <p:txBody>
          <a:bodyPr/>
          <a:lstStyle/>
          <a:p>
            <a:r>
              <a:rPr lang="en-CA" altLang="en-US" b="1" dirty="0"/>
              <a:t>LO5-1 </a:t>
            </a:r>
            <a:r>
              <a:rPr lang="en-CA" altLang="en-US" dirty="0"/>
              <a:t>Analyze </a:t>
            </a:r>
            <a:r>
              <a:rPr lang="en-CA" dirty="0"/>
              <a:t>and interpret the impact of credit card sales, sales discounts, sales returns, and sales of bundled items on the amounts reported as net sales.</a:t>
            </a:r>
          </a:p>
          <a:p>
            <a:endParaRPr lang="en-CA" altLang="en-US" sz="200" dirty="0"/>
          </a:p>
          <a:p>
            <a:r>
              <a:rPr lang="en-CA" altLang="en-US" b="1" dirty="0"/>
              <a:t>LO5-2 </a:t>
            </a:r>
            <a:r>
              <a:rPr lang="en-CA" altLang="en-US" dirty="0"/>
              <a:t>Analyze and interpret the gross profit percentage.</a:t>
            </a:r>
          </a:p>
          <a:p>
            <a:endParaRPr lang="en-CA" altLang="en-US" sz="200" dirty="0"/>
          </a:p>
          <a:p>
            <a:r>
              <a:rPr lang="en-CA" altLang="en-US" b="1" dirty="0"/>
              <a:t>LO5-3 </a:t>
            </a:r>
            <a:r>
              <a:rPr lang="en-CA" altLang="en-US" dirty="0"/>
              <a:t>Estimate, record, report, and evaluate the effects of uncollectible accounts receivable (bad debts) on financial statements.</a:t>
            </a:r>
          </a:p>
          <a:p>
            <a:endParaRPr lang="en-CA" altLang="en-US" sz="200" dirty="0"/>
          </a:p>
          <a:p>
            <a:r>
              <a:rPr lang="en-CA" altLang="en-US" b="1" dirty="0"/>
              <a:t>LO5-4 </a:t>
            </a:r>
            <a:r>
              <a:rPr lang="en-CA" altLang="en-US" dirty="0"/>
              <a:t>Analyze and interpret the receivables turnover ratio and the effects of accounts receivable on cash flows.</a:t>
            </a:r>
          </a:p>
          <a:p>
            <a:endParaRPr lang="en-CA" altLang="en-US" sz="200" dirty="0"/>
          </a:p>
          <a:p>
            <a:r>
              <a:rPr lang="en-CA" altLang="en-US" b="1" dirty="0"/>
              <a:t>LO5-5 </a:t>
            </a:r>
            <a:r>
              <a:rPr lang="en-CA" altLang="en-US" dirty="0"/>
              <a:t>Report, control, and safeguard cash. </a:t>
            </a:r>
          </a:p>
          <a:p>
            <a:endParaRPr lang="en-CA" altLang="en-US" dirty="0"/>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33B6AB80-347D-47B1-9B9C-8C0152BB06FD}"/>
              </a:ext>
            </a:extLst>
          </p:cNvPr>
          <p:cNvSpPr>
            <a:spLocks noGrp="1"/>
          </p:cNvSpPr>
          <p:nvPr>
            <p:ph type="title"/>
          </p:nvPr>
        </p:nvSpPr>
        <p:spPr/>
        <p:txBody>
          <a:bodyPr/>
          <a:lstStyle/>
          <a:p>
            <a:r>
              <a:rPr lang="en-US" altLang="en-US"/>
              <a:t>Learning Objectives Continued</a:t>
            </a:r>
          </a:p>
        </p:txBody>
      </p:sp>
      <p:sp>
        <p:nvSpPr>
          <p:cNvPr id="8194" name="Content Placeholder 2">
            <a:extLst>
              <a:ext uri="{FF2B5EF4-FFF2-40B4-BE49-F238E27FC236}">
                <a16:creationId xmlns:a16="http://schemas.microsoft.com/office/drawing/2014/main" id="{7A1FE349-084F-42AD-80AF-09FC6CD2C6F9}"/>
              </a:ext>
            </a:extLst>
          </p:cNvPr>
          <p:cNvSpPr>
            <a:spLocks noGrp="1"/>
          </p:cNvSpPr>
          <p:nvPr>
            <p:ph idx="1"/>
          </p:nvPr>
        </p:nvSpPr>
        <p:spPr/>
        <p:txBody>
          <a:bodyPr/>
          <a:lstStyle/>
          <a:p>
            <a:pPr marL="0" indent="0">
              <a:buNone/>
            </a:pPr>
            <a:endParaRPr lang="en-CA" altLang="en-US" dirty="0"/>
          </a:p>
          <a:p>
            <a:pPr marL="0" indent="0">
              <a:buFont typeface="Wingdings 3" pitchFamily="2" charset="2"/>
              <a:buNone/>
              <a:defRPr/>
            </a:pPr>
            <a:r>
              <a:rPr lang="en-CA" b="1" cap="all" dirty="0"/>
              <a:t>SUPPLEMENTARY MATERIAL</a:t>
            </a:r>
          </a:p>
          <a:p>
            <a:pPr>
              <a:buFont typeface="Wingdings 3" pitchFamily="2" charset="2"/>
              <a:buChar char=""/>
              <a:defRPr/>
            </a:pPr>
            <a:r>
              <a:rPr lang="en-CA" b="1" dirty="0"/>
              <a:t>LO5-S1 </a:t>
            </a:r>
            <a:r>
              <a:rPr lang="en-CA" dirty="0"/>
              <a:t>Record and interpret the effects of credit card discounts, sales discounts, and sales returns on net sales.</a:t>
            </a:r>
            <a:endParaRPr lang="en-CA" altLang="en-US" dirty="0"/>
          </a:p>
          <a:p>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17624D6D-FEDC-439C-9044-817A3DAD41FD}"/>
              </a:ext>
            </a:extLst>
          </p:cNvPr>
          <p:cNvSpPr>
            <a:spLocks noGrp="1"/>
          </p:cNvSpPr>
          <p:nvPr>
            <p:ph type="title"/>
          </p:nvPr>
        </p:nvSpPr>
        <p:spPr/>
        <p:txBody>
          <a:bodyPr/>
          <a:lstStyle/>
          <a:p>
            <a:r>
              <a:rPr lang="en-US" altLang="en-US" dirty="0"/>
              <a:t>Accounting for Net Sales Revenue Part 1</a:t>
            </a:r>
          </a:p>
        </p:txBody>
      </p:sp>
      <p:sp>
        <p:nvSpPr>
          <p:cNvPr id="28674" name="Content Placeholder 2">
            <a:extLst>
              <a:ext uri="{FF2B5EF4-FFF2-40B4-BE49-F238E27FC236}">
                <a16:creationId xmlns:a16="http://schemas.microsoft.com/office/drawing/2014/main" id="{07C2766D-1C66-42D0-8160-629EE08089F3}"/>
              </a:ext>
            </a:extLst>
          </p:cNvPr>
          <p:cNvSpPr>
            <a:spLocks noGrp="1"/>
          </p:cNvSpPr>
          <p:nvPr>
            <p:ph idx="1"/>
          </p:nvPr>
        </p:nvSpPr>
        <p:spPr/>
        <p:txBody>
          <a:bodyPr/>
          <a:lstStyle/>
          <a:p>
            <a:r>
              <a:rPr lang="en-CA" altLang="en-US" dirty="0"/>
              <a:t>The </a:t>
            </a:r>
            <a:r>
              <a:rPr lang="en-CA" altLang="en-US" b="1" dirty="0"/>
              <a:t>core principle of revenue recognition </a:t>
            </a:r>
            <a:r>
              <a:rPr lang="en-CA" dirty="0"/>
              <a:t>requires that revenues be recorded when the company transfers goods and services to customers, in the amount it expects to be entitled to receive. </a:t>
            </a:r>
          </a:p>
          <a:p>
            <a:endParaRPr lang="en-CA" sz="200" dirty="0"/>
          </a:p>
          <a:p>
            <a:r>
              <a:rPr lang="en-CA" altLang="en-US" dirty="0"/>
              <a:t>There are straightforward ways to identify when the core principle is fulfilled and the risks and benefits of ownership have transferred from the seller to the customer. </a:t>
            </a:r>
          </a:p>
          <a:p>
            <a:endParaRPr lang="en-CA" altLang="en-US" sz="200" dirty="0"/>
          </a:p>
          <a:p>
            <a:r>
              <a:rPr lang="en-CA" altLang="en-US" dirty="0"/>
              <a:t>A contract, written, oral, or based on conventions and norms, will specify when the risks and benefits of ownership are transferred. </a:t>
            </a:r>
          </a:p>
          <a:p>
            <a:endParaRPr lang="en-US"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C3EEA659-31E7-4BAB-88C1-C99E15C74449}"/>
              </a:ext>
            </a:extLst>
          </p:cNvPr>
          <p:cNvSpPr>
            <a:spLocks noGrp="1"/>
          </p:cNvSpPr>
          <p:nvPr>
            <p:ph type="title"/>
          </p:nvPr>
        </p:nvSpPr>
        <p:spPr/>
        <p:txBody>
          <a:bodyPr/>
          <a:lstStyle/>
          <a:p>
            <a:r>
              <a:rPr lang="en-US" altLang="en-US" dirty="0"/>
              <a:t>Accounting for Net Sales Revenue Part 2</a:t>
            </a:r>
          </a:p>
        </p:txBody>
      </p:sp>
      <p:sp>
        <p:nvSpPr>
          <p:cNvPr id="29698" name="Content Placeholder 2">
            <a:extLst>
              <a:ext uri="{FF2B5EF4-FFF2-40B4-BE49-F238E27FC236}">
                <a16:creationId xmlns:a16="http://schemas.microsoft.com/office/drawing/2014/main" id="{7BE8A108-83D1-403A-9F83-A678F0A19B00}"/>
              </a:ext>
            </a:extLst>
          </p:cNvPr>
          <p:cNvSpPr>
            <a:spLocks noGrp="1"/>
          </p:cNvSpPr>
          <p:nvPr>
            <p:ph idx="1"/>
          </p:nvPr>
        </p:nvSpPr>
        <p:spPr/>
        <p:txBody>
          <a:bodyPr/>
          <a:lstStyle/>
          <a:p>
            <a:r>
              <a:rPr lang="en-CA" altLang="en-US" dirty="0"/>
              <a:t>It is customary to use the shipping terms in a sales contract to determine the point at which title (ownership) changes hands:</a:t>
            </a:r>
          </a:p>
          <a:p>
            <a:pPr lvl="1"/>
            <a:r>
              <a:rPr lang="en-CA" altLang="en-US" dirty="0">
                <a:solidFill>
                  <a:schemeClr val="tx1"/>
                </a:solidFill>
              </a:rPr>
              <a:t>When goods are shipped </a:t>
            </a:r>
            <a:r>
              <a:rPr lang="en-CA" altLang="en-US" i="1" dirty="0">
                <a:solidFill>
                  <a:schemeClr val="tx1"/>
                </a:solidFill>
              </a:rPr>
              <a:t>FOB (free on board) shipping point</a:t>
            </a:r>
            <a:r>
              <a:rPr lang="en-CA" altLang="en-US" dirty="0">
                <a:solidFill>
                  <a:schemeClr val="tx1"/>
                </a:solidFill>
              </a:rPr>
              <a:t>, title changes hands at shipment, and the buyer normally pays for shipping.</a:t>
            </a:r>
          </a:p>
          <a:p>
            <a:pPr lvl="1"/>
            <a:r>
              <a:rPr lang="en-CA" altLang="en-US" dirty="0">
                <a:solidFill>
                  <a:schemeClr val="tx1"/>
                </a:solidFill>
              </a:rPr>
              <a:t>When they are shipped </a:t>
            </a:r>
            <a:r>
              <a:rPr lang="en-CA" altLang="en-US" i="1" dirty="0">
                <a:solidFill>
                  <a:schemeClr val="tx1"/>
                </a:solidFill>
              </a:rPr>
              <a:t>FOB destination point</a:t>
            </a:r>
            <a:r>
              <a:rPr lang="en-CA" altLang="en-US" dirty="0">
                <a:solidFill>
                  <a:schemeClr val="tx1"/>
                </a:solidFill>
              </a:rPr>
              <a:t>, title changes hands on delivery, and the seller normally pays for shipping.</a:t>
            </a:r>
          </a:p>
          <a:p>
            <a:pPr lvl="1"/>
            <a:endParaRPr lang="en-CA" altLang="en-US" sz="200" dirty="0"/>
          </a:p>
          <a:p>
            <a:r>
              <a:rPr lang="en-CA" altLang="en-US" dirty="0"/>
              <a:t>Revenues from goods sold FOB shipping point are normally recognized at shipment. Revenues from goods sold FOB destination point are normally recognized at delivery.</a:t>
            </a:r>
          </a:p>
          <a:p>
            <a:endParaRPr lang="en-CA" altLang="en-US" dirty="0"/>
          </a:p>
          <a:p>
            <a:endParaRPr lang="en-US"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79A390E1-51B7-4E87-8449-423F3BC981D6}"/>
              </a:ext>
            </a:extLst>
          </p:cNvPr>
          <p:cNvSpPr>
            <a:spLocks noGrp="1"/>
          </p:cNvSpPr>
          <p:nvPr>
            <p:ph type="title"/>
          </p:nvPr>
        </p:nvSpPr>
        <p:spPr/>
        <p:txBody>
          <a:bodyPr/>
          <a:lstStyle/>
          <a:p>
            <a:r>
              <a:rPr lang="en-US" altLang="en-US" dirty="0"/>
              <a:t>Accounting for Net Sales Revenue Part 3</a:t>
            </a:r>
          </a:p>
        </p:txBody>
      </p:sp>
      <p:sp>
        <p:nvSpPr>
          <p:cNvPr id="30722" name="Content Placeholder 2">
            <a:extLst>
              <a:ext uri="{FF2B5EF4-FFF2-40B4-BE49-F238E27FC236}">
                <a16:creationId xmlns:a16="http://schemas.microsoft.com/office/drawing/2014/main" id="{6315A925-F722-436D-B5BE-F24D9E98665F}"/>
              </a:ext>
            </a:extLst>
          </p:cNvPr>
          <p:cNvSpPr>
            <a:spLocks noGrp="1"/>
          </p:cNvSpPr>
          <p:nvPr>
            <p:ph idx="1"/>
          </p:nvPr>
        </p:nvSpPr>
        <p:spPr/>
        <p:txBody>
          <a:bodyPr/>
          <a:lstStyle/>
          <a:p>
            <a:r>
              <a:rPr lang="en-CA" altLang="en-US"/>
              <a:t>Service companies most often record sales revenue when they have fulfilled their obligations to the buyer under the contract to which both have agreed. </a:t>
            </a:r>
          </a:p>
          <a:p>
            <a:endParaRPr lang="en-CA" altLang="en-US"/>
          </a:p>
          <a:p>
            <a:r>
              <a:rPr lang="en-CA" altLang="en-US"/>
              <a:t>Companies disclose the specific revenue recognition policies they use in the note to their financial statements titled “Significant Accounting Policies.”</a:t>
            </a:r>
          </a:p>
          <a:p>
            <a:endParaRPr lang="en-US"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79A390E1-51B7-4E87-8449-423F3BC981D6}"/>
              </a:ext>
            </a:extLst>
          </p:cNvPr>
          <p:cNvSpPr>
            <a:spLocks noGrp="1"/>
          </p:cNvSpPr>
          <p:nvPr>
            <p:ph type="title"/>
          </p:nvPr>
        </p:nvSpPr>
        <p:spPr/>
        <p:txBody>
          <a:bodyPr/>
          <a:lstStyle/>
          <a:p>
            <a:r>
              <a:rPr lang="en-US" altLang="en-US" dirty="0"/>
              <a:t>Motivating Sales and Collections</a:t>
            </a:r>
          </a:p>
        </p:txBody>
      </p:sp>
      <p:sp>
        <p:nvSpPr>
          <p:cNvPr id="30722" name="Content Placeholder 2">
            <a:extLst>
              <a:ext uri="{FF2B5EF4-FFF2-40B4-BE49-F238E27FC236}">
                <a16:creationId xmlns:a16="http://schemas.microsoft.com/office/drawing/2014/main" id="{6315A925-F722-436D-B5BE-F24D9E98665F}"/>
              </a:ext>
            </a:extLst>
          </p:cNvPr>
          <p:cNvSpPr>
            <a:spLocks noGrp="1"/>
          </p:cNvSpPr>
          <p:nvPr>
            <p:ph idx="1"/>
          </p:nvPr>
        </p:nvSpPr>
        <p:spPr/>
        <p:txBody>
          <a:bodyPr/>
          <a:lstStyle/>
          <a:p>
            <a:r>
              <a:rPr lang="en-CA" altLang="en-US" dirty="0"/>
              <a:t>There are a variety of methods that can be used to motivate its customers, both business and consumers, to buy products and make payments for their purchases.</a:t>
            </a:r>
          </a:p>
          <a:p>
            <a:endParaRPr lang="en-CA" altLang="en-US" sz="200" dirty="0"/>
          </a:p>
          <a:p>
            <a:r>
              <a:rPr lang="en-CA" dirty="0"/>
              <a:t>The principal methods are:</a:t>
            </a:r>
          </a:p>
          <a:p>
            <a:pPr lvl="1"/>
            <a:r>
              <a:rPr lang="en-CA" dirty="0"/>
              <a:t>(1) allowing all customers to use credit cards to pay for purchases</a:t>
            </a:r>
          </a:p>
          <a:p>
            <a:pPr lvl="1"/>
            <a:r>
              <a:rPr lang="en-CA" dirty="0"/>
              <a:t>(2) providing business customers direct credit and discounts for early payment and </a:t>
            </a:r>
          </a:p>
          <a:p>
            <a:pPr lvl="1"/>
            <a:r>
              <a:rPr lang="en-CA" dirty="0"/>
              <a:t>(3) allowing returns from all customers under specific circumstances. </a:t>
            </a:r>
          </a:p>
          <a:p>
            <a:pPr lvl="1"/>
            <a:endParaRPr lang="en-CA" altLang="en-US" sz="200" dirty="0"/>
          </a:p>
          <a:p>
            <a:r>
              <a:rPr lang="en-CA" dirty="0"/>
              <a:t>These methods, in turn, affect the way we compute </a:t>
            </a:r>
            <a:r>
              <a:rPr lang="en-CA" i="1" dirty="0"/>
              <a:t>net sales revenue.</a:t>
            </a:r>
            <a:endParaRPr lang="en-CA" altLang="en-US" dirty="0"/>
          </a:p>
        </p:txBody>
      </p:sp>
    </p:spTree>
    <p:extLst>
      <p:ext uri="{BB962C8B-B14F-4D97-AF65-F5344CB8AC3E}">
        <p14:creationId xmlns:p14="http://schemas.microsoft.com/office/powerpoint/2010/main" val="340621538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B6F2938-CD56-48A8-A46B-65CF66D8F34E}"/>
              </a:ext>
            </a:extLst>
          </p:cNvPr>
          <p:cNvSpPr>
            <a:spLocks noGrp="1"/>
          </p:cNvSpPr>
          <p:nvPr>
            <p:ph type="title"/>
          </p:nvPr>
        </p:nvSpPr>
        <p:spPr/>
        <p:txBody>
          <a:bodyPr/>
          <a:lstStyle/>
          <a:p>
            <a:r>
              <a:rPr lang="en-US" altLang="en-US"/>
              <a:t>Credit Card Sales to Customers</a:t>
            </a:r>
          </a:p>
        </p:txBody>
      </p:sp>
      <p:sp>
        <p:nvSpPr>
          <p:cNvPr id="3" name="Content Placeholder 2">
            <a:extLst>
              <a:ext uri="{FF2B5EF4-FFF2-40B4-BE49-F238E27FC236}">
                <a16:creationId xmlns:a16="http://schemas.microsoft.com/office/drawing/2014/main" id="{6F9964A8-C017-4763-A186-A931FF55FAE2}"/>
              </a:ext>
            </a:extLst>
          </p:cNvPr>
          <p:cNvSpPr>
            <a:spLocks noGrp="1"/>
          </p:cNvSpPr>
          <p:nvPr>
            <p:ph idx="1"/>
          </p:nvPr>
        </p:nvSpPr>
        <p:spPr/>
        <p:txBody>
          <a:bodyPr/>
          <a:lstStyle/>
          <a:p>
            <a:pPr>
              <a:buFont typeface="Wingdings 3" pitchFamily="2" charset="2"/>
              <a:buChar char=""/>
              <a:defRPr/>
            </a:pPr>
            <a:r>
              <a:rPr lang="en-US" dirty="0"/>
              <a:t>Companies </a:t>
            </a:r>
            <a:r>
              <a:rPr lang="en-CA" altLang="en-US" dirty="0"/>
              <a:t>accept credit cards for several reasons:</a:t>
            </a:r>
          </a:p>
          <a:p>
            <a:pPr marL="514350" indent="-514350" eaLnBrk="1" hangingPunct="1">
              <a:buFont typeface="+mj-lt"/>
              <a:buAutoNum type="arabicPeriod"/>
              <a:defRPr/>
            </a:pPr>
            <a:r>
              <a:rPr lang="en-CA" altLang="en-US" dirty="0"/>
              <a:t>To increase sales.</a:t>
            </a:r>
          </a:p>
          <a:p>
            <a:pPr marL="514350" indent="-514350" eaLnBrk="1" hangingPunct="1">
              <a:buFont typeface="+mj-lt"/>
              <a:buAutoNum type="arabicPeriod"/>
              <a:defRPr/>
            </a:pPr>
            <a:r>
              <a:rPr lang="en-CA" altLang="en-US" dirty="0"/>
              <a:t>To avoid providing credit directly to customers.</a:t>
            </a:r>
          </a:p>
          <a:p>
            <a:pPr marL="514350" indent="-514350" eaLnBrk="1" hangingPunct="1">
              <a:buFont typeface="+mj-lt"/>
              <a:buAutoNum type="arabicPeriod"/>
              <a:defRPr/>
            </a:pPr>
            <a:r>
              <a:rPr lang="en-CA" altLang="en-US" dirty="0"/>
              <a:t>To avoid losses due to bad cheques.</a:t>
            </a:r>
          </a:p>
          <a:p>
            <a:pPr marL="514350" indent="-514350" eaLnBrk="1" hangingPunct="1">
              <a:buFont typeface="+mj-lt"/>
              <a:buAutoNum type="arabicPeriod"/>
              <a:defRPr/>
            </a:pPr>
            <a:r>
              <a:rPr lang="en-CA" altLang="en-US" dirty="0"/>
              <a:t>To avoid losses due to fraudulent credit card sales.</a:t>
            </a:r>
          </a:p>
          <a:p>
            <a:pPr marL="514350" indent="-514350" eaLnBrk="1" hangingPunct="1">
              <a:buFont typeface="+mj-lt"/>
              <a:buAutoNum type="arabicPeriod"/>
              <a:defRPr/>
            </a:pPr>
            <a:r>
              <a:rPr lang="en-CA" altLang="en-US" dirty="0"/>
              <a:t>To receive payment quicker.</a:t>
            </a:r>
          </a:p>
          <a:p>
            <a:pPr marL="0" indent="0">
              <a:buFont typeface="Wingdings 3" pitchFamily="2" charset="2"/>
              <a:buNone/>
              <a:defRPr/>
            </a:pPr>
            <a:endParaRPr lang="en-CA" altLang="en-US" sz="1200" dirty="0"/>
          </a:p>
          <a:p>
            <a:pPr>
              <a:buFont typeface="Wingdings 3" pitchFamily="2" charset="2"/>
              <a:buChar char=""/>
              <a:defRPr/>
            </a:pPr>
            <a:r>
              <a:rPr lang="en-CA" dirty="0"/>
              <a:t>The credit card company charges a fee for the service it provides. </a:t>
            </a:r>
          </a:p>
          <a:p>
            <a:pPr>
              <a:buFont typeface="Wingdings 3" pitchFamily="2" charset="2"/>
              <a:buChar char=""/>
              <a:defRPr/>
            </a:pPr>
            <a:endParaRPr lang="en-US" sz="200" dirty="0"/>
          </a:p>
          <a:p>
            <a:pPr>
              <a:buFont typeface="Wingdings 3" pitchFamily="2" charset="2"/>
              <a:buChar char=""/>
              <a:defRPr/>
            </a:pPr>
            <a:r>
              <a:rPr lang="en-CA" dirty="0"/>
              <a:t>The fee charged by the credit card company for its services is the </a:t>
            </a:r>
            <a:r>
              <a:rPr lang="en-CA" b="1" dirty="0"/>
              <a:t>credit card discount.</a:t>
            </a:r>
            <a:endParaRPr lang="en-US" sz="2800" dirty="0"/>
          </a:p>
          <a:p>
            <a:pPr>
              <a:buFont typeface="Wingdings 3" pitchFamily="2" charset="2"/>
              <a:buChar char=""/>
              <a:defRPr/>
            </a:pPr>
            <a:endParaRPr lang="en-CA" altLang="en-US" dirty="0"/>
          </a:p>
          <a:p>
            <a:pPr>
              <a:buFont typeface="Wingdings 3" pitchFamily="2" charset="2"/>
              <a:buChar char=""/>
              <a:defRPr/>
            </a:pPr>
            <a:endParaRPr 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132ADC57-0E76-47A2-A2EB-E4E28C1DDBE1}"/>
              </a:ext>
            </a:extLst>
          </p:cNvPr>
          <p:cNvSpPr>
            <a:spLocks noGrp="1"/>
          </p:cNvSpPr>
          <p:nvPr>
            <p:ph type="title"/>
          </p:nvPr>
        </p:nvSpPr>
        <p:spPr/>
        <p:txBody>
          <a:bodyPr/>
          <a:lstStyle/>
          <a:p>
            <a:r>
              <a:rPr lang="en-US" altLang="en-US"/>
              <a:t>Credit Card Sales to Customers - Example</a:t>
            </a:r>
          </a:p>
        </p:txBody>
      </p:sp>
      <p:sp>
        <p:nvSpPr>
          <p:cNvPr id="10242" name="Content Placeholder 2">
            <a:extLst>
              <a:ext uri="{FF2B5EF4-FFF2-40B4-BE49-F238E27FC236}">
                <a16:creationId xmlns:a16="http://schemas.microsoft.com/office/drawing/2014/main" id="{70469A11-882C-40F5-AAC1-D8E9F00AE50D}"/>
              </a:ext>
            </a:extLst>
          </p:cNvPr>
          <p:cNvSpPr>
            <a:spLocks noGrp="1"/>
          </p:cNvSpPr>
          <p:nvPr>
            <p:ph idx="1"/>
          </p:nvPr>
        </p:nvSpPr>
        <p:spPr/>
        <p:txBody>
          <a:bodyPr/>
          <a:lstStyle/>
          <a:p>
            <a:r>
              <a:rPr lang="en-CA" altLang="en-US" dirty="0"/>
              <a:t>If daily credit card sales were $3,000, and the credit card company charges a 3% service fee, the following would be reported:</a:t>
            </a:r>
          </a:p>
          <a:p>
            <a:endParaRPr lang="en-CA" altLang="en-US" sz="2400" dirty="0"/>
          </a:p>
          <a:p>
            <a:endParaRPr lang="en-CA" altLang="en-US" sz="2400" dirty="0"/>
          </a:p>
          <a:p>
            <a:endParaRPr lang="en-CA" altLang="en-US" sz="2400" dirty="0"/>
          </a:p>
          <a:p>
            <a:endParaRPr lang="en-CA" altLang="en-US" sz="2400" dirty="0"/>
          </a:p>
          <a:p>
            <a:endParaRPr lang="en-CA" altLang="en-US" sz="2400" dirty="0"/>
          </a:p>
          <a:p>
            <a:r>
              <a:rPr lang="en-CA" altLang="en-US" sz="2400" dirty="0"/>
              <a:t>Journal Entry</a:t>
            </a:r>
          </a:p>
          <a:p>
            <a:r>
              <a:rPr lang="en-CA" altLang="en-US" sz="2400" dirty="0"/>
              <a:t>Cash					2,910</a:t>
            </a:r>
          </a:p>
          <a:p>
            <a:r>
              <a:rPr lang="en-CA" altLang="en-US" sz="2400" dirty="0"/>
              <a:t>Credit card discount		      90</a:t>
            </a:r>
          </a:p>
          <a:p>
            <a:pPr lvl="2"/>
            <a:r>
              <a:rPr lang="en-CA" altLang="en-US" sz="1800" dirty="0"/>
              <a:t>Sales (or Revenue)					3,000</a:t>
            </a:r>
          </a:p>
          <a:p>
            <a:endParaRPr lang="en-CA" altLang="en-US" sz="2400" dirty="0"/>
          </a:p>
          <a:p>
            <a:endParaRPr lang="en-US" altLang="en-US" dirty="0"/>
          </a:p>
        </p:txBody>
      </p:sp>
      <p:graphicFrame>
        <p:nvGraphicFramePr>
          <p:cNvPr id="4" name="Table 3">
            <a:extLst>
              <a:ext uri="{FF2B5EF4-FFF2-40B4-BE49-F238E27FC236}">
                <a16:creationId xmlns:a16="http://schemas.microsoft.com/office/drawing/2014/main" id="{22FEB538-143A-4A1A-B302-54A803B3F6BA}"/>
              </a:ext>
            </a:extLst>
          </p:cNvPr>
          <p:cNvGraphicFramePr>
            <a:graphicFrameLocks noGrp="1"/>
          </p:cNvGraphicFramePr>
          <p:nvPr>
            <p:extLst>
              <p:ext uri="{D42A27DB-BD31-4B8C-83A1-F6EECF244321}">
                <p14:modId xmlns:p14="http://schemas.microsoft.com/office/powerpoint/2010/main" val="2838813332"/>
              </p:ext>
            </p:extLst>
          </p:nvPr>
        </p:nvGraphicFramePr>
        <p:xfrm>
          <a:off x="457200" y="3124200"/>
          <a:ext cx="8229599" cy="1194435"/>
        </p:xfrm>
        <a:graphic>
          <a:graphicData uri="http://schemas.openxmlformats.org/drawingml/2006/table">
            <a:tbl>
              <a:tblPr/>
              <a:tblGrid>
                <a:gridCol w="4953000">
                  <a:extLst>
                    <a:ext uri="{9D8B030D-6E8A-4147-A177-3AD203B41FA5}">
                      <a16:colId xmlns:a16="http://schemas.microsoft.com/office/drawing/2014/main" val="20000"/>
                    </a:ext>
                  </a:extLst>
                </a:gridCol>
                <a:gridCol w="221672">
                  <a:extLst>
                    <a:ext uri="{9D8B030D-6E8A-4147-A177-3AD203B41FA5}">
                      <a16:colId xmlns:a16="http://schemas.microsoft.com/office/drawing/2014/main" val="20001"/>
                    </a:ext>
                  </a:extLst>
                </a:gridCol>
                <a:gridCol w="3054927">
                  <a:extLst>
                    <a:ext uri="{9D8B030D-6E8A-4147-A177-3AD203B41FA5}">
                      <a16:colId xmlns:a16="http://schemas.microsoft.com/office/drawing/2014/main" val="20002"/>
                    </a:ext>
                  </a:extLst>
                </a:gridCol>
              </a:tblGrid>
              <a:tr h="0">
                <a:tc>
                  <a:txBody>
                    <a:bodyPr/>
                    <a:lstStyle/>
                    <a:p>
                      <a:pPr fontAlgn="base"/>
                      <a:r>
                        <a:rPr lang="en-CA" dirty="0">
                          <a:effectLst/>
                          <a:latin typeface="Times New Roman" panose="02020603050405020304" pitchFamily="18" charset="0"/>
                        </a:rPr>
                        <a:t>Gross sales</a:t>
                      </a:r>
                    </a:p>
                  </a:txBody>
                  <a:tcPr marL="190500" marR="95250" marT="95250" marB="28575"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a:effectLst/>
                          <a:latin typeface="Times New Roman" panose="02020603050405020304" pitchFamily="18" charset="0"/>
                        </a:rPr>
                        <a:t> </a:t>
                      </a:r>
                    </a:p>
                  </a:txBody>
                  <a:tcPr marL="95250" marR="95250" marT="95250" marB="28575"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r" fontAlgn="base"/>
                      <a:r>
                        <a:rPr lang="en-CA">
                          <a:effectLst/>
                          <a:latin typeface="Times New Roman" panose="02020603050405020304" pitchFamily="18" charset="0"/>
                        </a:rPr>
                        <a:t>$3,000</a:t>
                      </a:r>
                    </a:p>
                  </a:txBody>
                  <a:tcPr marL="95250" marR="190500" marT="95250" marB="28575"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0"/>
                  </a:ext>
                </a:extLst>
              </a:tr>
              <a:tr h="0">
                <a:tc>
                  <a:txBody>
                    <a:bodyPr/>
                    <a:lstStyle/>
                    <a:p>
                      <a:pPr fontAlgn="base"/>
                      <a:r>
                        <a:rPr lang="en-CA" dirty="0">
                          <a:effectLst/>
                          <a:latin typeface="Times New Roman" panose="02020603050405020304" pitchFamily="18" charset="0"/>
                        </a:rPr>
                        <a:t>Less: Credit card discount (0.03 × $3,000)</a:t>
                      </a:r>
                    </a:p>
                  </a:txBody>
                  <a:tcPr marL="190500" marR="95250" marT="95250" marB="28575"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dirty="0">
                          <a:effectLst/>
                          <a:latin typeface="Times New Roman" panose="02020603050405020304" pitchFamily="18" charset="0"/>
                        </a:rPr>
                        <a:t> </a:t>
                      </a:r>
                    </a:p>
                  </a:txBody>
                  <a:tcPr marL="95250" marR="95250" marT="95250" marB="2857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a:effectLst/>
                          <a:latin typeface="Times New Roman" panose="02020603050405020304" pitchFamily="18" charset="0"/>
                        </a:rPr>
                        <a:t>90</a:t>
                      </a:r>
                    </a:p>
                  </a:txBody>
                  <a:tcPr marL="95250" marR="190500" marT="95250" marB="28575"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fontAlgn="base"/>
                      <a:r>
                        <a:rPr lang="en-CA">
                          <a:effectLst/>
                          <a:latin typeface="Times New Roman" panose="02020603050405020304" pitchFamily="18" charset="0"/>
                        </a:rPr>
                        <a:t>Net sales (reported on the statement of earnings)</a:t>
                      </a:r>
                    </a:p>
                  </a:txBody>
                  <a:tcPr marL="190500" marR="95250" marT="95250" marB="28575"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a:effectLst/>
                          <a:latin typeface="Times New Roman" panose="02020603050405020304" pitchFamily="18" charset="0"/>
                        </a:rPr>
                        <a:t> </a:t>
                      </a:r>
                    </a:p>
                  </a:txBody>
                  <a:tcPr marL="95250" marR="95250" marT="95250"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dirty="0">
                          <a:effectLst/>
                          <a:latin typeface="Times New Roman" panose="02020603050405020304" pitchFamily="18" charset="0"/>
                        </a:rPr>
                        <a:t>$2,910</a:t>
                      </a:r>
                    </a:p>
                  </a:txBody>
                  <a:tcPr marL="95250" marR="190500" marT="95250" marB="28575"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665F2007-1427-4BD5-ACFB-B795A4A4950B}"/>
              </a:ext>
            </a:extLst>
          </p:cNvPr>
          <p:cNvSpPr>
            <a:spLocks noGrp="1"/>
          </p:cNvSpPr>
          <p:nvPr>
            <p:ph type="title"/>
          </p:nvPr>
        </p:nvSpPr>
        <p:spPr/>
        <p:txBody>
          <a:bodyPr/>
          <a:lstStyle/>
          <a:p>
            <a:r>
              <a:rPr lang="en-US" altLang="en-US"/>
              <a:t>Sales Discounts to Businesses</a:t>
            </a:r>
          </a:p>
        </p:txBody>
      </p:sp>
      <p:sp>
        <p:nvSpPr>
          <p:cNvPr id="32770" name="Content Placeholder 2">
            <a:extLst>
              <a:ext uri="{FF2B5EF4-FFF2-40B4-BE49-F238E27FC236}">
                <a16:creationId xmlns:a16="http://schemas.microsoft.com/office/drawing/2014/main" id="{FC07A396-CAD2-410B-B64D-4BEE990D2FCC}"/>
              </a:ext>
            </a:extLst>
          </p:cNvPr>
          <p:cNvSpPr>
            <a:spLocks noGrp="1"/>
          </p:cNvSpPr>
          <p:nvPr>
            <p:ph idx="1"/>
          </p:nvPr>
        </p:nvSpPr>
        <p:spPr/>
        <p:txBody>
          <a:bodyPr/>
          <a:lstStyle/>
          <a:p>
            <a:r>
              <a:rPr lang="en-CA" altLang="en-US" dirty="0"/>
              <a:t>A </a:t>
            </a:r>
            <a:r>
              <a:rPr lang="en-CA" altLang="en-US" b="1" dirty="0"/>
              <a:t>sales (or cash) discount</a:t>
            </a:r>
            <a:r>
              <a:rPr lang="en-CA" altLang="en-US" dirty="0"/>
              <a:t> is offered to the business customer to encourage prompt payment of a trade account receivable.</a:t>
            </a:r>
            <a:endParaRPr lang="en-US" altLang="en-US" dirty="0"/>
          </a:p>
        </p:txBody>
      </p:sp>
      <p:pic>
        <p:nvPicPr>
          <p:cNvPr id="32771" name="Picture 4">
            <a:extLst>
              <a:ext uri="{FF2B5EF4-FFF2-40B4-BE49-F238E27FC236}">
                <a16:creationId xmlns:a16="http://schemas.microsoft.com/office/drawing/2014/main" id="{2CBFAE41-AFB0-4E36-AEEF-E85F40B454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2667000"/>
            <a:ext cx="8890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2B2571E2-F099-4DDB-9D29-EA305E426FF8}"/>
              </a:ext>
            </a:extLst>
          </p:cNvPr>
          <p:cNvSpPr>
            <a:spLocks noGrp="1"/>
          </p:cNvSpPr>
          <p:nvPr>
            <p:ph type="title"/>
          </p:nvPr>
        </p:nvSpPr>
        <p:spPr/>
        <p:txBody>
          <a:bodyPr/>
          <a:lstStyle/>
          <a:p>
            <a:r>
              <a:rPr lang="en-US" altLang="en-US" dirty="0"/>
              <a:t>Sales Discounts to Businesses - Example</a:t>
            </a:r>
          </a:p>
        </p:txBody>
      </p:sp>
      <p:sp>
        <p:nvSpPr>
          <p:cNvPr id="12290" name="Content Placeholder 2">
            <a:extLst>
              <a:ext uri="{FF2B5EF4-FFF2-40B4-BE49-F238E27FC236}">
                <a16:creationId xmlns:a16="http://schemas.microsoft.com/office/drawing/2014/main" id="{4D124175-E0BC-4D0D-971B-55F12C3CFEE3}"/>
              </a:ext>
            </a:extLst>
          </p:cNvPr>
          <p:cNvSpPr>
            <a:spLocks noGrp="1"/>
          </p:cNvSpPr>
          <p:nvPr>
            <p:ph idx="1"/>
          </p:nvPr>
        </p:nvSpPr>
        <p:spPr/>
        <p:txBody>
          <a:bodyPr/>
          <a:lstStyle/>
          <a:p>
            <a:r>
              <a:rPr lang="en-CA" altLang="en-US" sz="2000" dirty="0"/>
              <a:t>If credit sales are recorded with terms 2/10, n/30 and payment of $980 (= $1,000 × 0.98) is made within the discount period, net sales of the following amount would be reported:</a:t>
            </a:r>
          </a:p>
          <a:p>
            <a:endParaRPr lang="en-CA" altLang="en-US" sz="2000" dirty="0"/>
          </a:p>
          <a:p>
            <a:endParaRPr lang="en-CA" altLang="en-US" sz="2000" dirty="0"/>
          </a:p>
          <a:p>
            <a:endParaRPr lang="en-CA" altLang="en-US" sz="2000" dirty="0"/>
          </a:p>
          <a:p>
            <a:pPr marL="0" indent="0">
              <a:buNone/>
            </a:pPr>
            <a:r>
              <a:rPr lang="en-CA" altLang="en-US" sz="2000" u="sng" dirty="0"/>
              <a:t>At time of sale</a:t>
            </a:r>
          </a:p>
          <a:p>
            <a:pPr marL="0" indent="0">
              <a:buNone/>
            </a:pPr>
            <a:r>
              <a:rPr lang="en-CA" altLang="en-US" sz="2000" dirty="0"/>
              <a:t>Accounts receivable			980</a:t>
            </a:r>
          </a:p>
          <a:p>
            <a:pPr marL="0" indent="0">
              <a:buNone/>
            </a:pPr>
            <a:r>
              <a:rPr lang="en-CA" altLang="en-US" sz="2000" dirty="0"/>
              <a:t>	Revenue					980</a:t>
            </a:r>
          </a:p>
          <a:p>
            <a:pPr marL="0" indent="0">
              <a:buNone/>
            </a:pPr>
            <a:r>
              <a:rPr lang="en-CA" altLang="en-US" sz="2000" u="sng" dirty="0"/>
              <a:t>Collection</a:t>
            </a:r>
          </a:p>
          <a:p>
            <a:pPr marL="0" indent="0">
              <a:buNone/>
            </a:pPr>
            <a:r>
              <a:rPr lang="en-CA" altLang="en-US" sz="2000" dirty="0"/>
              <a:t>Cash					     980</a:t>
            </a:r>
          </a:p>
          <a:p>
            <a:pPr marL="0" indent="0">
              <a:buNone/>
            </a:pPr>
            <a:r>
              <a:rPr lang="en-CA" altLang="en-US" sz="2000" dirty="0"/>
              <a:t>	Accounts receivable			980</a:t>
            </a:r>
          </a:p>
          <a:p>
            <a:pPr marL="0" indent="0">
              <a:buNone/>
            </a:pPr>
            <a:endParaRPr lang="en-CA" altLang="en-US" dirty="0"/>
          </a:p>
        </p:txBody>
      </p:sp>
      <p:graphicFrame>
        <p:nvGraphicFramePr>
          <p:cNvPr id="4" name="Table 3">
            <a:extLst>
              <a:ext uri="{FF2B5EF4-FFF2-40B4-BE49-F238E27FC236}">
                <a16:creationId xmlns:a16="http://schemas.microsoft.com/office/drawing/2014/main" id="{99B9B6A5-51C3-4B43-8124-FD9C8330CFF7}"/>
              </a:ext>
            </a:extLst>
          </p:cNvPr>
          <p:cNvGraphicFramePr>
            <a:graphicFrameLocks noGrp="1"/>
          </p:cNvGraphicFramePr>
          <p:nvPr>
            <p:extLst>
              <p:ext uri="{D42A27DB-BD31-4B8C-83A1-F6EECF244321}">
                <p14:modId xmlns:p14="http://schemas.microsoft.com/office/powerpoint/2010/main" val="3662372733"/>
              </p:ext>
            </p:extLst>
          </p:nvPr>
        </p:nvGraphicFramePr>
        <p:xfrm>
          <a:off x="228600" y="2057400"/>
          <a:ext cx="8229600" cy="1194237"/>
        </p:xfrm>
        <a:graphic>
          <a:graphicData uri="http://schemas.openxmlformats.org/drawingml/2006/table">
            <a:tbl>
              <a:tblPr/>
              <a:tblGrid>
                <a:gridCol w="4953001">
                  <a:extLst>
                    <a:ext uri="{9D8B030D-6E8A-4147-A177-3AD203B41FA5}">
                      <a16:colId xmlns:a16="http://schemas.microsoft.com/office/drawing/2014/main" val="20000"/>
                    </a:ext>
                  </a:extLst>
                </a:gridCol>
                <a:gridCol w="221672">
                  <a:extLst>
                    <a:ext uri="{9D8B030D-6E8A-4147-A177-3AD203B41FA5}">
                      <a16:colId xmlns:a16="http://schemas.microsoft.com/office/drawing/2014/main" val="20001"/>
                    </a:ext>
                  </a:extLst>
                </a:gridCol>
                <a:gridCol w="3054927">
                  <a:extLst>
                    <a:ext uri="{9D8B030D-6E8A-4147-A177-3AD203B41FA5}">
                      <a16:colId xmlns:a16="http://schemas.microsoft.com/office/drawing/2014/main" val="20002"/>
                    </a:ext>
                  </a:extLst>
                </a:gridCol>
              </a:tblGrid>
              <a:tr h="397933">
                <a:tc>
                  <a:txBody>
                    <a:bodyPr/>
                    <a:lstStyle/>
                    <a:p>
                      <a:pPr fontAlgn="base"/>
                      <a:r>
                        <a:rPr lang="en-CA" sz="1800" dirty="0">
                          <a:effectLst/>
                          <a:latin typeface="Times New Roman" panose="02020603050405020304" pitchFamily="18" charset="0"/>
                        </a:rPr>
                        <a:t>Gross sales</a:t>
                      </a:r>
                    </a:p>
                  </a:txBody>
                  <a:tcPr marL="190500" marR="95250" marT="95199" marB="2856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800" dirty="0">
                          <a:effectLst/>
                          <a:latin typeface="Times New Roman" panose="02020603050405020304" pitchFamily="18" charset="0"/>
                        </a:rPr>
                        <a:t> </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r" fontAlgn="base"/>
                      <a:r>
                        <a:rPr lang="en-CA" sz="1800">
                          <a:effectLst/>
                          <a:latin typeface="Times New Roman" panose="02020603050405020304" pitchFamily="18" charset="0"/>
                        </a:rPr>
                        <a:t>$1,000</a:t>
                      </a:r>
                    </a:p>
                  </a:txBody>
                  <a:tcPr marL="95250" marR="190500" marT="95199" marB="2856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0"/>
                  </a:ext>
                </a:extLst>
              </a:tr>
              <a:tr h="397933">
                <a:tc>
                  <a:txBody>
                    <a:bodyPr/>
                    <a:lstStyle/>
                    <a:p>
                      <a:pPr fontAlgn="base"/>
                      <a:r>
                        <a:rPr lang="en-CA" sz="1800">
                          <a:effectLst/>
                          <a:latin typeface="Times New Roman" panose="02020603050405020304" pitchFamily="18" charset="0"/>
                        </a:rPr>
                        <a:t>Less: Sales discounts (0.02 × $1,000)</a:t>
                      </a:r>
                    </a:p>
                  </a:txBody>
                  <a:tcPr marL="190500" marR="95250" marT="95199" marB="28560"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sz="1800">
                          <a:effectLst/>
                          <a:latin typeface="Times New Roman" panose="02020603050405020304" pitchFamily="18" charset="0"/>
                        </a:rPr>
                        <a:t>20</a:t>
                      </a:r>
                    </a:p>
                  </a:txBody>
                  <a:tcPr marL="95250" marR="190500" marT="95199" marB="28560"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8896">
                <a:tc>
                  <a:txBody>
                    <a:bodyPr/>
                    <a:lstStyle/>
                    <a:p>
                      <a:pPr fontAlgn="base"/>
                      <a:r>
                        <a:rPr lang="en-CA" sz="1800">
                          <a:effectLst/>
                          <a:latin typeface="Times New Roman" panose="02020603050405020304" pitchFamily="18" charset="0"/>
                        </a:rPr>
                        <a:t>Net sales (reported on the statement of earnings)</a:t>
                      </a:r>
                    </a:p>
                  </a:txBody>
                  <a:tcPr marL="190500" marR="95250" marT="95199" marB="2856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sz="1800" dirty="0">
                          <a:effectLst/>
                          <a:latin typeface="Times New Roman" panose="02020603050405020304" pitchFamily="18" charset="0"/>
                        </a:rPr>
                        <a:t>$   980</a:t>
                      </a:r>
                    </a:p>
                  </a:txBody>
                  <a:tcPr marL="95250" marR="190500" marT="95199" marB="2856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2A3435E9-4F68-426C-A82B-5C7F7C709A18}"/>
              </a:ext>
            </a:extLst>
          </p:cNvPr>
          <p:cNvSpPr>
            <a:spLocks noGrp="1"/>
          </p:cNvSpPr>
          <p:nvPr>
            <p:ph type="title"/>
          </p:nvPr>
        </p:nvSpPr>
        <p:spPr/>
        <p:txBody>
          <a:bodyPr/>
          <a:lstStyle/>
          <a:p>
            <a:r>
              <a:rPr lang="en-US" altLang="en-US" dirty="0"/>
              <a:t>Sales Returns</a:t>
            </a:r>
          </a:p>
        </p:txBody>
      </p:sp>
      <p:sp>
        <p:nvSpPr>
          <p:cNvPr id="33794" name="Content Placeholder 2">
            <a:extLst>
              <a:ext uri="{FF2B5EF4-FFF2-40B4-BE49-F238E27FC236}">
                <a16:creationId xmlns:a16="http://schemas.microsoft.com/office/drawing/2014/main" id="{BC414EB6-C55B-4E73-9719-E936F0324626}"/>
              </a:ext>
            </a:extLst>
          </p:cNvPr>
          <p:cNvSpPr>
            <a:spLocks noGrp="1"/>
          </p:cNvSpPr>
          <p:nvPr>
            <p:ph idx="1"/>
          </p:nvPr>
        </p:nvSpPr>
        <p:spPr/>
        <p:txBody>
          <a:bodyPr/>
          <a:lstStyle/>
          <a:p>
            <a:r>
              <a:rPr lang="en-CA" altLang="en-US" dirty="0"/>
              <a:t>The amount of expected product returns can be estimated based on past experience, subsequent to the sale transaction.</a:t>
            </a:r>
          </a:p>
          <a:p>
            <a:endParaRPr lang="en-CA" altLang="en-US" sz="200" dirty="0"/>
          </a:p>
          <a:p>
            <a:r>
              <a:rPr lang="en-CA" altLang="en-US" dirty="0"/>
              <a:t>The estimated amount of sales returns is then subtracted from the gross sales to determine the net sales revenue.</a:t>
            </a:r>
          </a:p>
          <a:p>
            <a:endParaRPr lang="en-CA" altLang="en-US" sz="200" dirty="0"/>
          </a:p>
          <a:p>
            <a:r>
              <a:rPr lang="en-CA" altLang="en-US" dirty="0"/>
              <a:t>For example, a customer bought 40 dozen T-shirts from Gildan for $2,000 on account.  If the company expects 5% of the T-shirts to be returned for credit, then Gildan would compute net sales as follows:</a:t>
            </a:r>
            <a:endParaRPr lang="en-US" altLang="en-US" dirty="0"/>
          </a:p>
        </p:txBody>
      </p:sp>
      <p:graphicFrame>
        <p:nvGraphicFramePr>
          <p:cNvPr id="4" name="Table 3">
            <a:extLst>
              <a:ext uri="{FF2B5EF4-FFF2-40B4-BE49-F238E27FC236}">
                <a16:creationId xmlns:a16="http://schemas.microsoft.com/office/drawing/2014/main" id="{B0621EAC-E4F9-F14A-B313-216685B44192}"/>
              </a:ext>
            </a:extLst>
          </p:cNvPr>
          <p:cNvGraphicFramePr>
            <a:graphicFrameLocks noGrp="1"/>
          </p:cNvGraphicFramePr>
          <p:nvPr>
            <p:extLst>
              <p:ext uri="{D42A27DB-BD31-4B8C-83A1-F6EECF244321}">
                <p14:modId xmlns:p14="http://schemas.microsoft.com/office/powerpoint/2010/main" val="2930087094"/>
              </p:ext>
            </p:extLst>
          </p:nvPr>
        </p:nvGraphicFramePr>
        <p:xfrm>
          <a:off x="457200" y="5266721"/>
          <a:ext cx="8229600" cy="1194237"/>
        </p:xfrm>
        <a:graphic>
          <a:graphicData uri="http://schemas.openxmlformats.org/drawingml/2006/table">
            <a:tbl>
              <a:tblPr/>
              <a:tblGrid>
                <a:gridCol w="4953001">
                  <a:extLst>
                    <a:ext uri="{9D8B030D-6E8A-4147-A177-3AD203B41FA5}">
                      <a16:colId xmlns:a16="http://schemas.microsoft.com/office/drawing/2014/main" val="20000"/>
                    </a:ext>
                  </a:extLst>
                </a:gridCol>
                <a:gridCol w="221672">
                  <a:extLst>
                    <a:ext uri="{9D8B030D-6E8A-4147-A177-3AD203B41FA5}">
                      <a16:colId xmlns:a16="http://schemas.microsoft.com/office/drawing/2014/main" val="20001"/>
                    </a:ext>
                  </a:extLst>
                </a:gridCol>
                <a:gridCol w="3054927">
                  <a:extLst>
                    <a:ext uri="{9D8B030D-6E8A-4147-A177-3AD203B41FA5}">
                      <a16:colId xmlns:a16="http://schemas.microsoft.com/office/drawing/2014/main" val="20002"/>
                    </a:ext>
                  </a:extLst>
                </a:gridCol>
              </a:tblGrid>
              <a:tr h="397933">
                <a:tc>
                  <a:txBody>
                    <a:bodyPr/>
                    <a:lstStyle/>
                    <a:p>
                      <a:pPr fontAlgn="base"/>
                      <a:r>
                        <a:rPr lang="en-CA" sz="1800" dirty="0">
                          <a:effectLst/>
                          <a:latin typeface="Times New Roman" panose="02020603050405020304" pitchFamily="18" charset="0"/>
                        </a:rPr>
                        <a:t>Gross sales</a:t>
                      </a:r>
                    </a:p>
                  </a:txBody>
                  <a:tcPr marL="190500" marR="95250" marT="95199" marB="2856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800" dirty="0">
                          <a:effectLst/>
                          <a:latin typeface="Times New Roman" panose="02020603050405020304" pitchFamily="18" charset="0"/>
                        </a:rPr>
                        <a:t> </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r" fontAlgn="base"/>
                      <a:r>
                        <a:rPr lang="en-CA" sz="1800" dirty="0">
                          <a:effectLst/>
                          <a:latin typeface="Times New Roman" panose="02020603050405020304" pitchFamily="18" charset="0"/>
                        </a:rPr>
                        <a:t>$2,000</a:t>
                      </a:r>
                    </a:p>
                  </a:txBody>
                  <a:tcPr marL="95250" marR="190500" marT="95199" marB="2856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0"/>
                  </a:ext>
                </a:extLst>
              </a:tr>
              <a:tr h="397933">
                <a:tc>
                  <a:txBody>
                    <a:bodyPr/>
                    <a:lstStyle/>
                    <a:p>
                      <a:pPr fontAlgn="base"/>
                      <a:r>
                        <a:rPr lang="en-CA" sz="1800" dirty="0">
                          <a:effectLst/>
                          <a:latin typeface="Times New Roman" panose="02020603050405020304" pitchFamily="18" charset="0"/>
                        </a:rPr>
                        <a:t>Less: Estimated sales returns (0.05 × $2,000)</a:t>
                      </a:r>
                    </a:p>
                  </a:txBody>
                  <a:tcPr marL="190500" marR="95250" marT="95199" marB="28560"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sz="1800" dirty="0">
                          <a:effectLst/>
                          <a:latin typeface="Times New Roman" panose="02020603050405020304" pitchFamily="18" charset="0"/>
                        </a:rPr>
                        <a:t>100</a:t>
                      </a:r>
                    </a:p>
                  </a:txBody>
                  <a:tcPr marL="95250" marR="190500" marT="95199" marB="28560"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933">
                <a:tc>
                  <a:txBody>
                    <a:bodyPr/>
                    <a:lstStyle/>
                    <a:p>
                      <a:pPr fontAlgn="base"/>
                      <a:r>
                        <a:rPr lang="en-CA" sz="1800">
                          <a:effectLst/>
                          <a:latin typeface="Times New Roman" panose="02020603050405020304" pitchFamily="18" charset="0"/>
                        </a:rPr>
                        <a:t>Net sales (reported on the statement of earnings)</a:t>
                      </a:r>
                    </a:p>
                  </a:txBody>
                  <a:tcPr marL="190500" marR="95250" marT="95199" marB="2856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sz="1800" dirty="0">
                          <a:effectLst/>
                          <a:latin typeface="Times New Roman" panose="02020603050405020304" pitchFamily="18" charset="0"/>
                        </a:rPr>
                        <a:t>$1,900</a:t>
                      </a:r>
                    </a:p>
                  </a:txBody>
                  <a:tcPr marL="95250" marR="190500" marT="95199" marB="2856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B9FC8453-8BD9-4B8D-AF8C-8E8287FD672F}"/>
              </a:ext>
            </a:extLst>
          </p:cNvPr>
          <p:cNvSpPr>
            <a:spLocks noGrp="1"/>
          </p:cNvSpPr>
          <p:nvPr>
            <p:ph type="title"/>
          </p:nvPr>
        </p:nvSpPr>
        <p:spPr/>
        <p:txBody>
          <a:bodyPr/>
          <a:lstStyle/>
          <a:p>
            <a:r>
              <a:rPr lang="en-US" altLang="en-US"/>
              <a:t>Reporting Net Sales</a:t>
            </a:r>
          </a:p>
        </p:txBody>
      </p:sp>
      <p:sp>
        <p:nvSpPr>
          <p:cNvPr id="17410" name="Content Placeholder 2">
            <a:extLst>
              <a:ext uri="{FF2B5EF4-FFF2-40B4-BE49-F238E27FC236}">
                <a16:creationId xmlns:a16="http://schemas.microsoft.com/office/drawing/2014/main" id="{087921F6-B722-4525-B9F6-42F15C192618}"/>
              </a:ext>
            </a:extLst>
          </p:cNvPr>
          <p:cNvSpPr>
            <a:spLocks noGrp="1"/>
          </p:cNvSpPr>
          <p:nvPr>
            <p:ph idx="1"/>
          </p:nvPr>
        </p:nvSpPr>
        <p:spPr/>
        <p:txBody>
          <a:bodyPr/>
          <a:lstStyle/>
          <a:p>
            <a:r>
              <a:rPr lang="en-CA" dirty="0"/>
              <a:t>The amount of sales revenue to record is the </a:t>
            </a:r>
            <a:r>
              <a:rPr lang="en-CA" b="1" dirty="0"/>
              <a:t>amount the company expects to be entitled to receive</a:t>
            </a:r>
            <a:r>
              <a:rPr lang="en-CA" dirty="0"/>
              <a:t>.</a:t>
            </a:r>
          </a:p>
          <a:p>
            <a:endParaRPr lang="en-CA" sz="200" dirty="0"/>
          </a:p>
          <a:p>
            <a:r>
              <a:rPr lang="en-CA" dirty="0"/>
              <a:t>Consequently, credit card fees, sales discounts, and estimated sales returns must be subtracted to compute </a:t>
            </a:r>
            <a:r>
              <a:rPr lang="en-CA" b="1" dirty="0"/>
              <a:t>net sales</a:t>
            </a:r>
            <a:r>
              <a:rPr lang="en-CA" dirty="0"/>
              <a:t>.</a:t>
            </a:r>
            <a:endParaRPr lang="en-US" altLang="en-US" dirty="0"/>
          </a:p>
        </p:txBody>
      </p:sp>
      <p:graphicFrame>
        <p:nvGraphicFramePr>
          <p:cNvPr id="2" name="Table 1">
            <a:extLst>
              <a:ext uri="{FF2B5EF4-FFF2-40B4-BE49-F238E27FC236}">
                <a16:creationId xmlns:a16="http://schemas.microsoft.com/office/drawing/2014/main" id="{BDCA36F8-C8F4-764C-9574-C0049F783C0F}"/>
              </a:ext>
            </a:extLst>
          </p:cNvPr>
          <p:cNvGraphicFramePr>
            <a:graphicFrameLocks noGrp="1"/>
          </p:cNvGraphicFramePr>
          <p:nvPr>
            <p:extLst>
              <p:ext uri="{D42A27DB-BD31-4B8C-83A1-F6EECF244321}">
                <p14:modId xmlns:p14="http://schemas.microsoft.com/office/powerpoint/2010/main" val="3695050862"/>
              </p:ext>
            </p:extLst>
          </p:nvPr>
        </p:nvGraphicFramePr>
        <p:xfrm>
          <a:off x="838200" y="3789947"/>
          <a:ext cx="6705600" cy="1828800"/>
        </p:xfrm>
        <a:graphic>
          <a:graphicData uri="http://schemas.openxmlformats.org/drawingml/2006/table">
            <a:tbl>
              <a:tblPr/>
              <a:tblGrid>
                <a:gridCol w="6705600">
                  <a:extLst>
                    <a:ext uri="{9D8B030D-6E8A-4147-A177-3AD203B41FA5}">
                      <a16:colId xmlns:a16="http://schemas.microsoft.com/office/drawing/2014/main" val="2878706171"/>
                    </a:ext>
                  </a:extLst>
                </a:gridCol>
              </a:tblGrid>
              <a:tr h="0">
                <a:tc>
                  <a:txBody>
                    <a:bodyPr/>
                    <a:lstStyle/>
                    <a:p>
                      <a:r>
                        <a:rPr lang="en-CA" dirty="0"/>
                        <a:t>Gross sales</a:t>
                      </a:r>
                    </a:p>
                  </a:txBody>
                  <a:tcPr anchor="ctr">
                    <a:lnL>
                      <a:noFill/>
                    </a:lnL>
                    <a:lnR>
                      <a:noFill/>
                    </a:lnR>
                    <a:lnT>
                      <a:noFill/>
                    </a:lnT>
                    <a:lnB>
                      <a:noFill/>
                    </a:lnB>
                  </a:tcPr>
                </a:tc>
                <a:extLst>
                  <a:ext uri="{0D108BD9-81ED-4DB2-BD59-A6C34878D82A}">
                    <a16:rowId xmlns:a16="http://schemas.microsoft.com/office/drawing/2014/main" val="3813688931"/>
                  </a:ext>
                </a:extLst>
              </a:tr>
              <a:tr h="0">
                <a:tc>
                  <a:txBody>
                    <a:bodyPr/>
                    <a:lstStyle/>
                    <a:p>
                      <a:r>
                        <a:rPr lang="en-CA" dirty="0"/>
                        <a:t>Less:  Credit card discounts</a:t>
                      </a:r>
                    </a:p>
                  </a:txBody>
                  <a:tcPr anchor="ctr">
                    <a:lnL>
                      <a:noFill/>
                    </a:lnL>
                    <a:lnR>
                      <a:noFill/>
                    </a:lnR>
                    <a:lnT>
                      <a:noFill/>
                    </a:lnT>
                    <a:lnB>
                      <a:noFill/>
                    </a:lnB>
                  </a:tcPr>
                </a:tc>
                <a:extLst>
                  <a:ext uri="{0D108BD9-81ED-4DB2-BD59-A6C34878D82A}">
                    <a16:rowId xmlns:a16="http://schemas.microsoft.com/office/drawing/2014/main" val="3879519080"/>
                  </a:ext>
                </a:extLst>
              </a:tr>
              <a:tr h="0">
                <a:tc>
                  <a:txBody>
                    <a:bodyPr/>
                    <a:lstStyle/>
                    <a:p>
                      <a:r>
                        <a:rPr lang="en-CA" dirty="0"/>
                        <a:t>      Sales discounts </a:t>
                      </a:r>
                    </a:p>
                  </a:txBody>
                  <a:tcPr anchor="ctr">
                    <a:lnL>
                      <a:noFill/>
                    </a:lnL>
                    <a:lnR>
                      <a:noFill/>
                    </a:lnR>
                    <a:lnT>
                      <a:noFill/>
                    </a:lnT>
                    <a:lnB>
                      <a:noFill/>
                    </a:lnB>
                  </a:tcPr>
                </a:tc>
                <a:extLst>
                  <a:ext uri="{0D108BD9-81ED-4DB2-BD59-A6C34878D82A}">
                    <a16:rowId xmlns:a16="http://schemas.microsoft.com/office/drawing/2014/main" val="973394007"/>
                  </a:ext>
                </a:extLst>
              </a:tr>
              <a:tr h="0">
                <a:tc>
                  <a:txBody>
                    <a:bodyPr/>
                    <a:lstStyle/>
                    <a:p>
                      <a:r>
                        <a:rPr lang="en-CA" dirty="0"/>
                        <a:t>      Estimated sales returns </a:t>
                      </a:r>
                    </a:p>
                  </a:txBody>
                  <a:tcPr anchor="ctr">
                    <a:lnL>
                      <a:noFill/>
                    </a:lnL>
                    <a:lnR>
                      <a:noFill/>
                    </a:lnR>
                    <a:lnT>
                      <a:noFill/>
                    </a:lnT>
                    <a:lnB>
                      <a:noFill/>
                    </a:lnB>
                  </a:tcPr>
                </a:tc>
                <a:extLst>
                  <a:ext uri="{0D108BD9-81ED-4DB2-BD59-A6C34878D82A}">
                    <a16:rowId xmlns:a16="http://schemas.microsoft.com/office/drawing/2014/main" val="1907827135"/>
                  </a:ext>
                </a:extLst>
              </a:tr>
              <a:tr h="0">
                <a:tc>
                  <a:txBody>
                    <a:bodyPr/>
                    <a:lstStyle/>
                    <a:p>
                      <a:r>
                        <a:rPr lang="en-CA" dirty="0"/>
                        <a:t>Net sales (reported on the first line of the statement of earnings)</a:t>
                      </a:r>
                    </a:p>
                  </a:txBody>
                  <a:tcPr anchor="ctr">
                    <a:lnL>
                      <a:noFill/>
                    </a:lnL>
                    <a:lnR>
                      <a:noFill/>
                    </a:lnR>
                    <a:lnT>
                      <a:noFill/>
                    </a:lnT>
                    <a:lnB>
                      <a:noFill/>
                    </a:lnB>
                  </a:tcPr>
                </a:tc>
                <a:extLst>
                  <a:ext uri="{0D108BD9-81ED-4DB2-BD59-A6C34878D82A}">
                    <a16:rowId xmlns:a16="http://schemas.microsoft.com/office/drawing/2014/main" val="1635548059"/>
                  </a:ext>
                </a:extLst>
              </a:tr>
            </a:tbl>
          </a:graphicData>
        </a:graphic>
      </p:graphicFrame>
      <p:sp>
        <p:nvSpPr>
          <p:cNvPr id="5" name="Rectangle 4">
            <a:extLst>
              <a:ext uri="{FF2B5EF4-FFF2-40B4-BE49-F238E27FC236}">
                <a16:creationId xmlns:a16="http://schemas.microsoft.com/office/drawing/2014/main" id="{70BC9A05-98AA-124C-B1EE-C1C3B69B191F}"/>
              </a:ext>
            </a:extLst>
          </p:cNvPr>
          <p:cNvSpPr/>
          <p:nvPr/>
        </p:nvSpPr>
        <p:spPr>
          <a:xfrm>
            <a:off x="838200" y="3733800"/>
            <a:ext cx="6858000" cy="1981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FB9849A5-2FBE-480A-8F12-380C1002C07F}"/>
              </a:ext>
            </a:extLst>
          </p:cNvPr>
          <p:cNvSpPr>
            <a:spLocks noGrp="1"/>
          </p:cNvSpPr>
          <p:nvPr>
            <p:ph type="title"/>
          </p:nvPr>
        </p:nvSpPr>
        <p:spPr>
          <a:xfrm>
            <a:off x="457200" y="228600"/>
            <a:ext cx="8229600" cy="792163"/>
          </a:xfrm>
        </p:spPr>
        <p:txBody>
          <a:bodyPr/>
          <a:lstStyle/>
          <a:p>
            <a:r>
              <a:rPr lang="en-US" altLang="en-US" dirty="0"/>
              <a:t>Revenue Recognition for Bundled Goods &amp; Services Part 1</a:t>
            </a:r>
          </a:p>
        </p:txBody>
      </p:sp>
      <p:sp>
        <p:nvSpPr>
          <p:cNvPr id="9218" name="Content Placeholder 2">
            <a:extLst>
              <a:ext uri="{FF2B5EF4-FFF2-40B4-BE49-F238E27FC236}">
                <a16:creationId xmlns:a16="http://schemas.microsoft.com/office/drawing/2014/main" id="{FB7C1E76-662B-4187-92A4-144E1EB03766}"/>
              </a:ext>
            </a:extLst>
          </p:cNvPr>
          <p:cNvSpPr>
            <a:spLocks noGrp="1"/>
          </p:cNvSpPr>
          <p:nvPr>
            <p:ph idx="1"/>
          </p:nvPr>
        </p:nvSpPr>
        <p:spPr/>
        <p:txBody>
          <a:bodyPr/>
          <a:lstStyle/>
          <a:p>
            <a:r>
              <a:rPr lang="en-CA" dirty="0"/>
              <a:t>As customers, we make frequent purchases and we know that some purchases are paid for completely at the point of sale, some have warranties, and return opportunities, and others have benefits attached to the purchase that are provided over time. </a:t>
            </a:r>
          </a:p>
          <a:p>
            <a:endParaRPr lang="en-CA" sz="200" dirty="0"/>
          </a:p>
          <a:p>
            <a:r>
              <a:rPr lang="en-CA" dirty="0"/>
              <a:t>Accountants refer to this type of sale as a </a:t>
            </a:r>
            <a:r>
              <a:rPr lang="en-CA" i="1" dirty="0"/>
              <a:t>bundle</a:t>
            </a:r>
            <a:r>
              <a:rPr lang="en-CA" dirty="0"/>
              <a:t> of goods and services in a sales </a:t>
            </a:r>
            <a:r>
              <a:rPr lang="en-CA" i="1" dirty="0"/>
              <a:t>contract</a:t>
            </a:r>
            <a:r>
              <a:rPr lang="en-CA" dirty="0"/>
              <a:t>, which is an agreement between two or more parties that creates enforceable rights and obligations.</a:t>
            </a:r>
            <a:endParaRPr lang="en-US"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a:extLst>
              <a:ext uri="{FF2B5EF4-FFF2-40B4-BE49-F238E27FC236}">
                <a16:creationId xmlns:a16="http://schemas.microsoft.com/office/drawing/2014/main" id="{FB7C1E76-662B-4187-92A4-144E1EB03766}"/>
              </a:ext>
            </a:extLst>
          </p:cNvPr>
          <p:cNvSpPr>
            <a:spLocks noGrp="1"/>
          </p:cNvSpPr>
          <p:nvPr>
            <p:ph idx="1"/>
          </p:nvPr>
        </p:nvSpPr>
        <p:spPr/>
        <p:txBody>
          <a:bodyPr/>
          <a:lstStyle/>
          <a:p>
            <a:r>
              <a:rPr lang="en-CA" altLang="en-US" dirty="0"/>
              <a:t>Bundling of goods and services within one sales contract is common in a variety of industries. </a:t>
            </a:r>
          </a:p>
          <a:p>
            <a:endParaRPr lang="en-CA" altLang="en-US" sz="200" dirty="0"/>
          </a:p>
          <a:p>
            <a:r>
              <a:rPr lang="en-CA" altLang="en-US" dirty="0"/>
              <a:t>When a seller promises to provide more than one good or service in a single sales contract, International Financial Reporting Standards</a:t>
            </a:r>
            <a:r>
              <a:rPr lang="en-CA" altLang="en-US" baseline="30000" dirty="0"/>
              <a:t> </a:t>
            </a:r>
            <a:r>
              <a:rPr lang="en-CA" altLang="en-US" dirty="0"/>
              <a:t>specify a five-step process to determine the amount to be recognized as revenue.</a:t>
            </a:r>
            <a:endParaRPr lang="en-US" altLang="en-US" dirty="0"/>
          </a:p>
        </p:txBody>
      </p:sp>
      <p:graphicFrame>
        <p:nvGraphicFramePr>
          <p:cNvPr id="4" name="Table 3">
            <a:extLst>
              <a:ext uri="{FF2B5EF4-FFF2-40B4-BE49-F238E27FC236}">
                <a16:creationId xmlns:a16="http://schemas.microsoft.com/office/drawing/2014/main" id="{1B54CE86-A433-4A4F-A7F4-BB0A549E17F7}"/>
              </a:ext>
            </a:extLst>
          </p:cNvPr>
          <p:cNvGraphicFramePr>
            <a:graphicFrameLocks noGrp="1"/>
          </p:cNvGraphicFramePr>
          <p:nvPr>
            <p:extLst>
              <p:ext uri="{D42A27DB-BD31-4B8C-83A1-F6EECF244321}">
                <p14:modId xmlns:p14="http://schemas.microsoft.com/office/powerpoint/2010/main" val="4235185461"/>
              </p:ext>
            </p:extLst>
          </p:nvPr>
        </p:nvGraphicFramePr>
        <p:xfrm>
          <a:off x="457200" y="3952360"/>
          <a:ext cx="8229600" cy="2524640"/>
        </p:xfrm>
        <a:graphic>
          <a:graphicData uri="http://schemas.openxmlformats.org/drawingml/2006/table">
            <a:tbl>
              <a:tblPr/>
              <a:tblGrid>
                <a:gridCol w="8229600">
                  <a:extLst>
                    <a:ext uri="{9D8B030D-6E8A-4147-A177-3AD203B41FA5}">
                      <a16:colId xmlns:a16="http://schemas.microsoft.com/office/drawing/2014/main" val="20000"/>
                    </a:ext>
                  </a:extLst>
                </a:gridCol>
              </a:tblGrid>
              <a:tr h="364001">
                <a:tc>
                  <a:txBody>
                    <a:bodyPr/>
                    <a:lstStyle/>
                    <a:p>
                      <a:pPr fontAlgn="base">
                        <a:buFont typeface="+mj-lt"/>
                        <a:buAutoNum type="arabicPeriod"/>
                      </a:pPr>
                      <a:r>
                        <a:rPr lang="en-CA" sz="2200" b="1" i="0" dirty="0">
                          <a:effectLst/>
                          <a:latin typeface="inherit"/>
                        </a:rPr>
                        <a:t>Step 1: </a:t>
                      </a:r>
                      <a:r>
                        <a:rPr lang="en-CA" sz="2200" i="0" dirty="0">
                          <a:effectLst/>
                          <a:latin typeface="stix"/>
                        </a:rPr>
                        <a:t>Identify the contract between the company and customer.</a:t>
                      </a:r>
                    </a:p>
                  </a:txBody>
                  <a:tcPr marL="9010" marR="9010" marT="14412" marB="14412"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99178">
                <a:tc>
                  <a:txBody>
                    <a:bodyPr/>
                    <a:lstStyle/>
                    <a:p>
                      <a:pPr fontAlgn="base">
                        <a:buFont typeface="+mj-lt"/>
                        <a:buAutoNum type="arabicPeriod"/>
                      </a:pPr>
                      <a:r>
                        <a:rPr lang="en-CA" sz="2200" b="1" i="0" dirty="0">
                          <a:effectLst/>
                          <a:latin typeface="inherit"/>
                        </a:rPr>
                        <a:t>Step 2: </a:t>
                      </a:r>
                      <a:r>
                        <a:rPr lang="en-CA" sz="2200" i="0" dirty="0">
                          <a:effectLst/>
                          <a:latin typeface="stix"/>
                        </a:rPr>
                        <a:t>Identify the performance obligations (promised goods and services).</a:t>
                      </a:r>
                    </a:p>
                  </a:txBody>
                  <a:tcPr marL="9010" marR="9010" marT="14412" marB="14412"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708">
                <a:tc>
                  <a:txBody>
                    <a:bodyPr/>
                    <a:lstStyle/>
                    <a:p>
                      <a:pPr fontAlgn="base">
                        <a:buFont typeface="+mj-lt"/>
                        <a:buAutoNum type="arabicPeriod"/>
                      </a:pPr>
                      <a:r>
                        <a:rPr lang="en-CA" sz="2200" b="1" i="0" dirty="0">
                          <a:effectLst/>
                          <a:latin typeface="inherit"/>
                        </a:rPr>
                        <a:t>Step 3: </a:t>
                      </a:r>
                      <a:r>
                        <a:rPr lang="en-CA" sz="2200" i="0" dirty="0">
                          <a:effectLst/>
                          <a:latin typeface="stix"/>
                        </a:rPr>
                        <a:t>Determine the transaction price.</a:t>
                      </a:r>
                    </a:p>
                  </a:txBody>
                  <a:tcPr marL="9010" marR="9010" marT="14412" marB="14412"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7060">
                <a:tc>
                  <a:txBody>
                    <a:bodyPr/>
                    <a:lstStyle/>
                    <a:p>
                      <a:pPr fontAlgn="base">
                        <a:buFont typeface="+mj-lt"/>
                        <a:buAutoNum type="arabicPeriod"/>
                      </a:pPr>
                      <a:r>
                        <a:rPr lang="en-CA" sz="2200" b="1" i="0" dirty="0">
                          <a:effectLst/>
                          <a:latin typeface="inherit"/>
                        </a:rPr>
                        <a:t>Step 4: </a:t>
                      </a:r>
                      <a:r>
                        <a:rPr lang="en-CA" sz="2200" i="0" dirty="0">
                          <a:effectLst/>
                          <a:latin typeface="stix"/>
                        </a:rPr>
                        <a:t>Allocate the transaction price to the performance obligations.</a:t>
                      </a:r>
                    </a:p>
                  </a:txBody>
                  <a:tcPr marL="9010" marR="9010" marT="14412" marB="14412"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9178">
                <a:tc>
                  <a:txBody>
                    <a:bodyPr/>
                    <a:lstStyle/>
                    <a:p>
                      <a:pPr fontAlgn="base">
                        <a:buFont typeface="+mj-lt"/>
                        <a:buAutoNum type="arabicPeriod"/>
                      </a:pPr>
                      <a:r>
                        <a:rPr lang="en-CA" sz="2200" b="1" i="0" dirty="0">
                          <a:effectLst/>
                          <a:latin typeface="inherit"/>
                        </a:rPr>
                        <a:t>Step 5: </a:t>
                      </a:r>
                      <a:r>
                        <a:rPr lang="en-CA" sz="2200" i="0" dirty="0">
                          <a:effectLst/>
                          <a:latin typeface="stix"/>
                        </a:rPr>
                        <a:t>Recognize revenue when each performance obligation is satisfied (or over time if a service is provided over time).</a:t>
                      </a:r>
                    </a:p>
                  </a:txBody>
                  <a:tcPr marL="9010" marR="9010" marT="14412" marB="14412"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itle 1">
            <a:extLst>
              <a:ext uri="{FF2B5EF4-FFF2-40B4-BE49-F238E27FC236}">
                <a16:creationId xmlns:a16="http://schemas.microsoft.com/office/drawing/2014/main" id="{16076985-9557-2E40-B494-E40F87E52309}"/>
              </a:ext>
            </a:extLst>
          </p:cNvPr>
          <p:cNvSpPr>
            <a:spLocks noGrp="1"/>
          </p:cNvSpPr>
          <p:nvPr>
            <p:ph type="title"/>
          </p:nvPr>
        </p:nvSpPr>
        <p:spPr>
          <a:xfrm>
            <a:off x="457200" y="228600"/>
            <a:ext cx="8229600" cy="792163"/>
          </a:xfrm>
        </p:spPr>
        <p:txBody>
          <a:bodyPr/>
          <a:lstStyle/>
          <a:p>
            <a:r>
              <a:rPr lang="en-US" altLang="en-US" dirty="0"/>
              <a:t>Revenue Recognition for Bundled Goods &amp; Services Part 2</a:t>
            </a:r>
          </a:p>
        </p:txBody>
      </p:sp>
    </p:spTree>
    <p:extLst>
      <p:ext uri="{BB962C8B-B14F-4D97-AF65-F5344CB8AC3E}">
        <p14:creationId xmlns:p14="http://schemas.microsoft.com/office/powerpoint/2010/main" val="309565867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70D16D72-6D83-4FED-8812-EA28F74692C3}"/>
              </a:ext>
            </a:extLst>
          </p:cNvPr>
          <p:cNvSpPr>
            <a:spLocks noGrp="1"/>
          </p:cNvSpPr>
          <p:nvPr>
            <p:ph type="title"/>
          </p:nvPr>
        </p:nvSpPr>
        <p:spPr/>
        <p:txBody>
          <a:bodyPr/>
          <a:lstStyle/>
          <a:p>
            <a:r>
              <a:rPr lang="en-US" altLang="en-US"/>
              <a:t>Key Ratio Analysis – Gross Profit Percentage</a:t>
            </a:r>
          </a:p>
        </p:txBody>
      </p:sp>
      <p:sp>
        <p:nvSpPr>
          <p:cNvPr id="3" name="Content Placeholder 2">
            <a:extLst>
              <a:ext uri="{FF2B5EF4-FFF2-40B4-BE49-F238E27FC236}">
                <a16:creationId xmlns:a16="http://schemas.microsoft.com/office/drawing/2014/main" id="{846420E6-B5B8-4F5E-B588-7CB0A0B1BEDF}"/>
              </a:ext>
            </a:extLst>
          </p:cNvPr>
          <p:cNvSpPr>
            <a:spLocks noGrp="1"/>
          </p:cNvSpPr>
          <p:nvPr>
            <p:ph idx="1"/>
          </p:nvPr>
        </p:nvSpPr>
        <p:spPr/>
        <p:txBody>
          <a:bodyPr/>
          <a:lstStyle/>
          <a:p>
            <a:pPr>
              <a:spcBef>
                <a:spcPts val="0"/>
              </a:spcBef>
              <a:buFont typeface="Wingdings 3" pitchFamily="2" charset="2"/>
              <a:buChar char=""/>
              <a:defRPr/>
            </a:pPr>
            <a:r>
              <a:rPr lang="en-CA" sz="2400" b="1" dirty="0"/>
              <a:t>ANALYTICAL QUESTION</a:t>
            </a:r>
            <a:r>
              <a:rPr lang="en-CA" sz="2400" dirty="0"/>
              <a:t> → How effective is management at selling goods and services for more than the costs to purchase or produce them?</a:t>
            </a:r>
          </a:p>
          <a:p>
            <a:pPr>
              <a:spcBef>
                <a:spcPts val="0"/>
              </a:spcBef>
              <a:buFont typeface="Wingdings 3" pitchFamily="2" charset="2"/>
              <a:buChar char=""/>
              <a:defRPr/>
            </a:pPr>
            <a:endParaRPr lang="en-CA" sz="200" dirty="0"/>
          </a:p>
          <a:p>
            <a:pPr>
              <a:spcBef>
                <a:spcPts val="0"/>
              </a:spcBef>
              <a:buFont typeface="Wingdings 3" pitchFamily="2" charset="2"/>
              <a:buChar char=""/>
              <a:defRPr/>
            </a:pPr>
            <a:r>
              <a:rPr lang="en-CA" sz="2400" b="1" dirty="0"/>
              <a:t>RATIO AND COMPARISONS</a:t>
            </a:r>
            <a:r>
              <a:rPr lang="en-CA" sz="2400" dirty="0"/>
              <a:t> → The gross profit percentage is helpful in answering this question. It is computed as follows:</a:t>
            </a:r>
          </a:p>
          <a:p>
            <a:pPr marL="0" indent="0">
              <a:buFont typeface="Wingdings 3" pitchFamily="2" charset="2"/>
              <a:buNone/>
              <a:defRPr/>
            </a:pPr>
            <a:endParaRPr lang="en-CA" dirty="0"/>
          </a:p>
          <a:p>
            <a:pPr marL="0" indent="0">
              <a:buFont typeface="Wingdings 3" pitchFamily="2" charset="2"/>
              <a:buNone/>
              <a:defRPr/>
            </a:pPr>
            <a:endParaRPr lang="en-CA" sz="800" dirty="0"/>
          </a:p>
          <a:p>
            <a:pPr>
              <a:buFont typeface="Wingdings 3" pitchFamily="2" charset="2"/>
              <a:buChar char=""/>
              <a:defRPr/>
            </a:pPr>
            <a:endParaRPr lang="en-CA" sz="2400" b="1" cap="all" dirty="0"/>
          </a:p>
          <a:p>
            <a:pPr>
              <a:buFont typeface="Wingdings 3" pitchFamily="2" charset="2"/>
              <a:buChar char=""/>
              <a:defRPr/>
            </a:pPr>
            <a:endParaRPr lang="en-CA" sz="800" b="1" cap="all" dirty="0"/>
          </a:p>
          <a:p>
            <a:pPr>
              <a:buFont typeface="Wingdings 3" pitchFamily="2" charset="2"/>
              <a:buChar char=""/>
              <a:defRPr/>
            </a:pPr>
            <a:r>
              <a:rPr lang="en-CA" sz="2400" b="1" cap="all" dirty="0"/>
              <a:t>I</a:t>
            </a:r>
            <a:r>
              <a:rPr lang="en-CA" sz="2400" b="1" dirty="0"/>
              <a:t>nterpretation in General</a:t>
            </a:r>
            <a:r>
              <a:rPr lang="en-CA" sz="2400" dirty="0"/>
              <a:t> → The gross profit percentage measures how much gross profit is generated from every sales dollar. It reflects the ability to charge premium prices and produce goods and services at low cost. All other things being equal, a higher gross profit results in higher net earnings.</a:t>
            </a:r>
          </a:p>
          <a:p>
            <a:pPr>
              <a:buFont typeface="Wingdings 3" pitchFamily="2" charset="2"/>
              <a:buChar char=""/>
              <a:defRPr/>
            </a:pPr>
            <a:endParaRPr lang="en-CA" dirty="0"/>
          </a:p>
          <a:p>
            <a:pPr>
              <a:buFont typeface="Wingdings 3" pitchFamily="2" charset="2"/>
              <a:buChar char=""/>
              <a:defRPr/>
            </a:pPr>
            <a:endParaRPr lang="en-US" dirty="0"/>
          </a:p>
        </p:txBody>
      </p:sp>
      <p:grpSp>
        <p:nvGrpSpPr>
          <p:cNvPr id="4" name="Group 10">
            <a:extLst>
              <a:ext uri="{FF2B5EF4-FFF2-40B4-BE49-F238E27FC236}">
                <a16:creationId xmlns:a16="http://schemas.microsoft.com/office/drawing/2014/main" id="{78DFB307-52C9-454A-B109-301AA788EE50}"/>
              </a:ext>
            </a:extLst>
          </p:cNvPr>
          <p:cNvGrpSpPr>
            <a:grpSpLocks/>
          </p:cNvGrpSpPr>
          <p:nvPr/>
        </p:nvGrpSpPr>
        <p:grpSpPr bwMode="auto">
          <a:xfrm>
            <a:off x="2071688" y="3352800"/>
            <a:ext cx="5000625" cy="793750"/>
            <a:chOff x="2074761" y="1371767"/>
            <a:chExt cx="4999139" cy="794621"/>
          </a:xfrm>
        </p:grpSpPr>
        <p:sp>
          <p:nvSpPr>
            <p:cNvPr id="18437" name="Rectangle 1029">
              <a:extLst>
                <a:ext uri="{FF2B5EF4-FFF2-40B4-BE49-F238E27FC236}">
                  <a16:creationId xmlns:a16="http://schemas.microsoft.com/office/drawing/2014/main" id="{C27BE851-8962-49BE-B871-F5F0B45525BD}"/>
                </a:ext>
              </a:extLst>
            </p:cNvPr>
            <p:cNvSpPr>
              <a:spLocks noChangeArrowheads="1"/>
            </p:cNvSpPr>
            <p:nvPr/>
          </p:nvSpPr>
          <p:spPr bwMode="auto">
            <a:xfrm>
              <a:off x="2074761" y="1371767"/>
              <a:ext cx="1662316" cy="794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000" b="1" dirty="0">
                  <a:latin typeface="Arial" panose="020B0604020202020204" pitchFamily="34" charset="0"/>
                </a:rPr>
                <a:t>Gross Profit</a:t>
              </a:r>
              <a:br>
                <a:rPr lang="en-CA" altLang="en-US" sz="2000" b="1" dirty="0">
                  <a:latin typeface="Arial" panose="020B0604020202020204" pitchFamily="34" charset="0"/>
                </a:rPr>
              </a:br>
              <a:r>
                <a:rPr lang="en-CA" altLang="en-US" sz="2000" b="1" dirty="0">
                  <a:latin typeface="Arial" panose="020B0604020202020204" pitchFamily="34" charset="0"/>
                </a:rPr>
                <a:t>Percentage</a:t>
              </a:r>
            </a:p>
          </p:txBody>
        </p:sp>
        <p:sp>
          <p:nvSpPr>
            <p:cNvPr id="18438" name="Rectangle 1030">
              <a:extLst>
                <a:ext uri="{FF2B5EF4-FFF2-40B4-BE49-F238E27FC236}">
                  <a16:creationId xmlns:a16="http://schemas.microsoft.com/office/drawing/2014/main" id="{3E1C9BD5-83BA-42E0-8F18-049C0DEC7020}"/>
                </a:ext>
              </a:extLst>
            </p:cNvPr>
            <p:cNvSpPr>
              <a:spLocks noChangeArrowheads="1"/>
            </p:cNvSpPr>
            <p:nvPr/>
          </p:nvSpPr>
          <p:spPr bwMode="auto">
            <a:xfrm>
              <a:off x="5155417" y="1371767"/>
              <a:ext cx="1803380" cy="794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000" b="1" dirty="0">
                  <a:latin typeface="Arial" panose="020B0604020202020204" pitchFamily="34" charset="0"/>
                </a:rPr>
                <a:t>  Gross Profit</a:t>
              </a:r>
              <a:br>
                <a:rPr lang="en-CA" altLang="en-US" sz="2000" b="1" dirty="0">
                  <a:latin typeface="Arial" panose="020B0604020202020204" pitchFamily="34" charset="0"/>
                </a:rPr>
              </a:br>
              <a:r>
                <a:rPr lang="en-CA" altLang="en-US" sz="2000" b="1" dirty="0">
                  <a:latin typeface="Arial" panose="020B0604020202020204" pitchFamily="34" charset="0"/>
                </a:rPr>
                <a:t>Net Sales</a:t>
              </a:r>
            </a:p>
          </p:txBody>
        </p:sp>
        <p:sp>
          <p:nvSpPr>
            <p:cNvPr id="18439" name="Rectangle 1031">
              <a:extLst>
                <a:ext uri="{FF2B5EF4-FFF2-40B4-BE49-F238E27FC236}">
                  <a16:creationId xmlns:a16="http://schemas.microsoft.com/office/drawing/2014/main" id="{B114D539-64B0-4836-8222-965F6084FAFC}"/>
                </a:ext>
              </a:extLst>
            </p:cNvPr>
            <p:cNvSpPr>
              <a:spLocks noChangeArrowheads="1"/>
            </p:cNvSpPr>
            <p:nvPr/>
          </p:nvSpPr>
          <p:spPr bwMode="auto">
            <a:xfrm>
              <a:off x="4310063" y="1600618"/>
              <a:ext cx="331823" cy="397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000" b="1" dirty="0">
                  <a:latin typeface="Arial" panose="020B0604020202020204" pitchFamily="34" charset="0"/>
                </a:rPr>
                <a:t>=</a:t>
              </a:r>
            </a:p>
          </p:txBody>
        </p:sp>
        <p:sp>
          <p:nvSpPr>
            <p:cNvPr id="18440" name="Line 1032">
              <a:extLst>
                <a:ext uri="{FF2B5EF4-FFF2-40B4-BE49-F238E27FC236}">
                  <a16:creationId xmlns:a16="http://schemas.microsoft.com/office/drawing/2014/main" id="{90F9F714-1623-4EA7-94C6-00BC30D833CD}"/>
                </a:ext>
              </a:extLst>
            </p:cNvPr>
            <p:cNvSpPr>
              <a:spLocks noChangeShapeType="1"/>
            </p:cNvSpPr>
            <p:nvPr/>
          </p:nvSpPr>
          <p:spPr bwMode="auto">
            <a:xfrm>
              <a:off x="5105400" y="1829065"/>
              <a:ext cx="1968500"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8436" name="TextBox 8">
            <a:extLst>
              <a:ext uri="{FF2B5EF4-FFF2-40B4-BE49-F238E27FC236}">
                <a16:creationId xmlns:a16="http://schemas.microsoft.com/office/drawing/2014/main" id="{98896DD8-9DA0-4660-ACEE-8411D68200FD}"/>
              </a:ext>
            </a:extLst>
          </p:cNvPr>
          <p:cNvSpPr txBox="1">
            <a:spLocks noChangeArrowheads="1"/>
          </p:cNvSpPr>
          <p:nvPr/>
        </p:nvSpPr>
        <p:spPr bwMode="auto">
          <a:xfrm>
            <a:off x="1981200" y="3352800"/>
            <a:ext cx="5257800" cy="838200"/>
          </a:xfrm>
          <a:prstGeom prst="rect">
            <a:avLst/>
          </a:prstGeom>
          <a:noFill/>
          <a:ln w="44450">
            <a:solidFill>
              <a:srgbClr val="005654"/>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B8645FA2-2581-4FA9-94F3-16D18CB7EFAC}"/>
              </a:ext>
            </a:extLst>
          </p:cNvPr>
          <p:cNvSpPr>
            <a:spLocks noGrp="1"/>
          </p:cNvSpPr>
          <p:nvPr>
            <p:ph type="title"/>
          </p:nvPr>
        </p:nvSpPr>
        <p:spPr/>
        <p:txBody>
          <a:bodyPr/>
          <a:lstStyle/>
          <a:p>
            <a:r>
              <a:rPr lang="en-US" altLang="en-US" dirty="0"/>
              <a:t>Measuring and Reporting Receivables Part 1</a:t>
            </a:r>
          </a:p>
        </p:txBody>
      </p:sp>
      <p:sp>
        <p:nvSpPr>
          <p:cNvPr id="34818" name="Content Placeholder 2">
            <a:extLst>
              <a:ext uri="{FF2B5EF4-FFF2-40B4-BE49-F238E27FC236}">
                <a16:creationId xmlns:a16="http://schemas.microsoft.com/office/drawing/2014/main" id="{083C6843-6AF1-4A88-8C19-C13B47AEC056}"/>
              </a:ext>
            </a:extLst>
          </p:cNvPr>
          <p:cNvSpPr>
            <a:spLocks noGrp="1"/>
          </p:cNvSpPr>
          <p:nvPr>
            <p:ph idx="1"/>
          </p:nvPr>
        </p:nvSpPr>
        <p:spPr/>
        <p:txBody>
          <a:bodyPr/>
          <a:lstStyle/>
          <a:p>
            <a:r>
              <a:rPr lang="en-CA" altLang="en-US" dirty="0"/>
              <a:t>Receivables may be classified in three common ways:</a:t>
            </a:r>
          </a:p>
          <a:p>
            <a:pPr lvl="1"/>
            <a:r>
              <a:rPr lang="en-CA" altLang="en-US" sz="2400" dirty="0">
                <a:solidFill>
                  <a:schemeClr val="tx1"/>
                </a:solidFill>
              </a:rPr>
              <a:t>First, in a statement of financial position, receivables are classified as either </a:t>
            </a:r>
            <a:r>
              <a:rPr lang="en-CA" altLang="en-US" sz="2400" i="1" dirty="0">
                <a:solidFill>
                  <a:schemeClr val="tx1"/>
                </a:solidFill>
              </a:rPr>
              <a:t>current</a:t>
            </a:r>
            <a:r>
              <a:rPr lang="en-CA" altLang="en-US" sz="2400" dirty="0">
                <a:solidFill>
                  <a:schemeClr val="tx1"/>
                </a:solidFill>
              </a:rPr>
              <a:t> or </a:t>
            </a:r>
            <a:r>
              <a:rPr lang="en-CA" altLang="en-US" sz="2400" i="1" dirty="0">
                <a:solidFill>
                  <a:schemeClr val="tx1"/>
                </a:solidFill>
              </a:rPr>
              <a:t>non-current assets</a:t>
            </a:r>
            <a:r>
              <a:rPr lang="en-CA" altLang="en-US" sz="2400" dirty="0">
                <a:solidFill>
                  <a:schemeClr val="tx1"/>
                </a:solidFill>
              </a:rPr>
              <a:t> (short-term or long-term), depending on whether the cash is expected to be collected within one year of the date of the statement. </a:t>
            </a:r>
          </a:p>
          <a:p>
            <a:pPr lvl="1"/>
            <a:r>
              <a:rPr lang="en-CA" altLang="en-US" sz="2400" dirty="0">
                <a:solidFill>
                  <a:schemeClr val="tx1"/>
                </a:solidFill>
              </a:rPr>
              <a:t>Second, a receivable may be either an account receivable or a note receivable. </a:t>
            </a:r>
          </a:p>
          <a:p>
            <a:pPr lvl="1"/>
            <a:r>
              <a:rPr lang="en-CA" altLang="en-US" sz="2400" dirty="0">
                <a:solidFill>
                  <a:schemeClr val="tx1"/>
                </a:solidFill>
              </a:rPr>
              <a:t>Third, receivables may be classified as trade or non-trade receivables. </a:t>
            </a:r>
          </a:p>
          <a:p>
            <a:endParaRPr lang="en-US"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9407FAA7-DF97-46B4-A839-76F9D6E8EEF2}"/>
              </a:ext>
            </a:extLst>
          </p:cNvPr>
          <p:cNvSpPr>
            <a:spLocks noGrp="1"/>
          </p:cNvSpPr>
          <p:nvPr>
            <p:ph type="title"/>
          </p:nvPr>
        </p:nvSpPr>
        <p:spPr/>
        <p:txBody>
          <a:bodyPr/>
          <a:lstStyle/>
          <a:p>
            <a:r>
              <a:rPr lang="en-US" altLang="en-US" dirty="0"/>
              <a:t>Measuring and Reporting Receivables Part 2</a:t>
            </a:r>
          </a:p>
        </p:txBody>
      </p:sp>
      <p:sp>
        <p:nvSpPr>
          <p:cNvPr id="35842" name="Content Placeholder 2">
            <a:extLst>
              <a:ext uri="{FF2B5EF4-FFF2-40B4-BE49-F238E27FC236}">
                <a16:creationId xmlns:a16="http://schemas.microsoft.com/office/drawing/2014/main" id="{F399999A-367F-4E18-9C2B-8573F501F214}"/>
              </a:ext>
            </a:extLst>
          </p:cNvPr>
          <p:cNvSpPr>
            <a:spLocks noGrp="1"/>
          </p:cNvSpPr>
          <p:nvPr>
            <p:ph idx="1"/>
          </p:nvPr>
        </p:nvSpPr>
        <p:spPr/>
        <p:txBody>
          <a:bodyPr/>
          <a:lstStyle/>
          <a:p>
            <a:pPr>
              <a:spcBef>
                <a:spcPct val="0"/>
              </a:spcBef>
            </a:pPr>
            <a:r>
              <a:rPr lang="en-US" altLang="en-US" b="1" dirty="0"/>
              <a:t>Accounts receivable </a:t>
            </a:r>
            <a:r>
              <a:rPr lang="en-US" altLang="en-US" dirty="0"/>
              <a:t>are created when companies have sales to customers on open accounts.</a:t>
            </a:r>
          </a:p>
          <a:p>
            <a:pPr>
              <a:spcBef>
                <a:spcPct val="0"/>
              </a:spcBef>
            </a:pPr>
            <a:endParaRPr lang="en-US" altLang="en-US" sz="800" dirty="0"/>
          </a:p>
          <a:p>
            <a:pPr>
              <a:spcBef>
                <a:spcPct val="0"/>
              </a:spcBef>
            </a:pPr>
            <a:r>
              <a:rPr lang="en-US" altLang="en-US" b="1" dirty="0"/>
              <a:t>Notes receivable </a:t>
            </a:r>
            <a:r>
              <a:rPr lang="en-US" altLang="en-US" dirty="0"/>
              <a:t>are written promises from another party to pay with specified terms. </a:t>
            </a:r>
          </a:p>
          <a:p>
            <a:pPr>
              <a:spcBef>
                <a:spcPct val="0"/>
              </a:spcBef>
            </a:pPr>
            <a:endParaRPr lang="en-US" altLang="en-US" sz="800" dirty="0"/>
          </a:p>
          <a:p>
            <a:pPr>
              <a:spcBef>
                <a:spcPct val="0"/>
              </a:spcBef>
            </a:pPr>
            <a:r>
              <a:rPr lang="en-CA" altLang="en-US" b="1" dirty="0"/>
              <a:t>Trade receivables </a:t>
            </a:r>
            <a:r>
              <a:rPr lang="en-CA" b="0" i="0" dirty="0">
                <a:solidFill>
                  <a:srgbClr val="000000"/>
                </a:solidFill>
                <a:effectLst/>
              </a:rPr>
              <a:t>are open accounts owed to the business by trade customers and are created in the normal course of business when there is a sale of merchandise or services on credit. </a:t>
            </a:r>
          </a:p>
          <a:p>
            <a:pPr marL="0" indent="0">
              <a:spcBef>
                <a:spcPct val="0"/>
              </a:spcBef>
              <a:buNone/>
            </a:pPr>
            <a:endParaRPr lang="en-CA" altLang="en-US" sz="800" dirty="0"/>
          </a:p>
          <a:p>
            <a:pPr>
              <a:spcBef>
                <a:spcPct val="0"/>
              </a:spcBef>
            </a:pPr>
            <a:r>
              <a:rPr lang="en-CA" altLang="en-US" b="1" dirty="0"/>
              <a:t>Non-trade receivables </a:t>
            </a:r>
            <a:r>
              <a:rPr lang="en-CA" altLang="en-US" dirty="0"/>
              <a:t>are amounts owed to the business for other than normal business transactions.</a:t>
            </a:r>
          </a:p>
          <a:p>
            <a:endParaRPr lang="en-CA" altLang="en-US" sz="2800" dirty="0">
              <a:latin typeface="Arial" panose="020B0604020202020204" pitchFamily="34" charset="0"/>
            </a:endParaRPr>
          </a:p>
          <a:p>
            <a:endParaRPr lang="en-US" altLang="en-US" sz="2800" dirty="0">
              <a:latin typeface="Arial" panose="020B0604020202020204" pitchFamily="34" charset="0"/>
            </a:endParaRPr>
          </a:p>
          <a:p>
            <a:endParaRPr lang="en-US" altLang="en-US" sz="2800" dirty="0">
              <a:solidFill>
                <a:srgbClr val="000000"/>
              </a:solidFill>
              <a:latin typeface="Arial" panose="020B0604020202020204" pitchFamily="34" charset="0"/>
            </a:endParaRPr>
          </a:p>
          <a:p>
            <a:endParaRPr lang="en-US"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1189670E-6745-410E-B70A-BF3D5447D07B}"/>
              </a:ext>
            </a:extLst>
          </p:cNvPr>
          <p:cNvSpPr>
            <a:spLocks noGrp="1"/>
          </p:cNvSpPr>
          <p:nvPr>
            <p:ph type="title"/>
          </p:nvPr>
        </p:nvSpPr>
        <p:spPr/>
        <p:txBody>
          <a:bodyPr/>
          <a:lstStyle/>
          <a:p>
            <a:r>
              <a:rPr lang="en-US" altLang="en-US"/>
              <a:t>Accounting for Bad Debts</a:t>
            </a:r>
          </a:p>
        </p:txBody>
      </p:sp>
      <p:sp>
        <p:nvSpPr>
          <p:cNvPr id="36866" name="Content Placeholder 2">
            <a:extLst>
              <a:ext uri="{FF2B5EF4-FFF2-40B4-BE49-F238E27FC236}">
                <a16:creationId xmlns:a16="http://schemas.microsoft.com/office/drawing/2014/main" id="{2EC6CAD4-14D1-4AD9-808F-B13B67BAE0A5}"/>
              </a:ext>
            </a:extLst>
          </p:cNvPr>
          <p:cNvSpPr>
            <a:spLocks noGrp="1"/>
          </p:cNvSpPr>
          <p:nvPr>
            <p:ph idx="1"/>
          </p:nvPr>
        </p:nvSpPr>
        <p:spPr/>
        <p:txBody>
          <a:bodyPr/>
          <a:lstStyle/>
          <a:p>
            <a:r>
              <a:rPr lang="en-CA" altLang="en-US" b="1" dirty="0"/>
              <a:t>Bad debts </a:t>
            </a:r>
            <a:r>
              <a:rPr lang="en-CA" altLang="en-US" dirty="0"/>
              <a:t>result from credit customers who will not pay the amount they owe, regardless of collection efforts.</a:t>
            </a:r>
          </a:p>
          <a:p>
            <a:endParaRPr lang="en-CA" altLang="en-US" sz="800" dirty="0"/>
          </a:p>
          <a:p>
            <a:r>
              <a:rPr lang="en-CA" b="0" i="0" dirty="0">
                <a:solidFill>
                  <a:srgbClr val="000000"/>
                </a:solidFill>
                <a:effectLst/>
              </a:rPr>
              <a:t>The expense recognition principle requires the recording of bad debt expense in the </a:t>
            </a:r>
            <a:r>
              <a:rPr lang="en-CA" b="0" i="1" dirty="0">
                <a:solidFill>
                  <a:srgbClr val="000000"/>
                </a:solidFill>
                <a:effectLst/>
              </a:rPr>
              <a:t>same</a:t>
            </a:r>
            <a:r>
              <a:rPr lang="en-CA" b="0" i="0" dirty="0">
                <a:solidFill>
                  <a:srgbClr val="000000"/>
                </a:solidFill>
                <a:effectLst/>
              </a:rPr>
              <a:t> accounting period as the one in which the related sales are made. </a:t>
            </a:r>
          </a:p>
          <a:p>
            <a:endParaRPr lang="en-CA" sz="800" b="0" i="0" dirty="0">
              <a:solidFill>
                <a:srgbClr val="000000"/>
              </a:solidFill>
              <a:effectLst/>
            </a:endParaRPr>
          </a:p>
          <a:p>
            <a:r>
              <a:rPr lang="en-CA" b="0" i="0" dirty="0">
                <a:solidFill>
                  <a:srgbClr val="000000"/>
                </a:solidFill>
                <a:effectLst/>
              </a:rPr>
              <a:t>This presents an important accounting problem, companies may not know which particular customers will not pay until the </a:t>
            </a:r>
            <a:r>
              <a:rPr lang="en-CA" b="0" i="1" dirty="0">
                <a:solidFill>
                  <a:srgbClr val="000000"/>
                </a:solidFill>
                <a:effectLst/>
              </a:rPr>
              <a:t>next</a:t>
            </a:r>
            <a:r>
              <a:rPr lang="en-CA" b="0" i="0" dirty="0">
                <a:solidFill>
                  <a:srgbClr val="000000"/>
                </a:solidFill>
                <a:effectLst/>
              </a:rPr>
              <a:t> accounting period, therefore not knowing which customers’ accounts receivable are bad debts.</a:t>
            </a:r>
            <a:endParaRPr lang="en-US" altLang="en-US" dirty="0"/>
          </a:p>
          <a:p>
            <a:endParaRPr lang="en-US"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AB2B4CB-8A63-4E02-AED9-C7D3BFAD846B}"/>
              </a:ext>
            </a:extLst>
          </p:cNvPr>
          <p:cNvSpPr>
            <a:spLocks noGrp="1"/>
          </p:cNvSpPr>
          <p:nvPr>
            <p:ph type="title"/>
          </p:nvPr>
        </p:nvSpPr>
        <p:spPr/>
        <p:txBody>
          <a:bodyPr/>
          <a:lstStyle/>
          <a:p>
            <a:r>
              <a:rPr lang="en-US" altLang="en-US" dirty="0"/>
              <a:t>Allowance Method Part 1</a:t>
            </a:r>
          </a:p>
        </p:txBody>
      </p:sp>
      <p:sp>
        <p:nvSpPr>
          <p:cNvPr id="37890" name="Content Placeholder 2">
            <a:extLst>
              <a:ext uri="{FF2B5EF4-FFF2-40B4-BE49-F238E27FC236}">
                <a16:creationId xmlns:a16="http://schemas.microsoft.com/office/drawing/2014/main" id="{862BE60F-F486-4978-BCE7-6271D8BD2CB8}"/>
              </a:ext>
            </a:extLst>
          </p:cNvPr>
          <p:cNvSpPr>
            <a:spLocks noGrp="1"/>
          </p:cNvSpPr>
          <p:nvPr>
            <p:ph idx="1"/>
          </p:nvPr>
        </p:nvSpPr>
        <p:spPr/>
        <p:txBody>
          <a:bodyPr/>
          <a:lstStyle/>
          <a:p>
            <a:pPr algn="l" fontAlgn="base"/>
            <a:r>
              <a:rPr lang="en-CA" dirty="0">
                <a:solidFill>
                  <a:srgbClr val="000000"/>
                </a:solidFill>
              </a:rPr>
              <a:t>T</a:t>
            </a:r>
            <a:r>
              <a:rPr lang="en-CA" b="0" i="0" dirty="0">
                <a:solidFill>
                  <a:srgbClr val="000000"/>
                </a:solidFill>
                <a:effectLst/>
              </a:rPr>
              <a:t>he </a:t>
            </a:r>
            <a:r>
              <a:rPr lang="en-CA" b="1" i="0" dirty="0">
                <a:solidFill>
                  <a:srgbClr val="000000"/>
                </a:solidFill>
                <a:effectLst/>
              </a:rPr>
              <a:t>allowance method </a:t>
            </a:r>
            <a:r>
              <a:rPr lang="en-CA" b="0" i="0" dirty="0">
                <a:solidFill>
                  <a:srgbClr val="000000"/>
                </a:solidFill>
                <a:effectLst/>
              </a:rPr>
              <a:t>is used to measure bad debt expense. </a:t>
            </a:r>
          </a:p>
          <a:p>
            <a:pPr algn="l" fontAlgn="base"/>
            <a:endParaRPr lang="en-CA" sz="200" b="0" i="0" dirty="0">
              <a:solidFill>
                <a:srgbClr val="000000"/>
              </a:solidFill>
              <a:effectLst/>
            </a:endParaRPr>
          </a:p>
          <a:p>
            <a:pPr algn="l" fontAlgn="base"/>
            <a:r>
              <a:rPr lang="en-CA" b="0" i="0" dirty="0">
                <a:solidFill>
                  <a:srgbClr val="000000"/>
                </a:solidFill>
                <a:effectLst/>
              </a:rPr>
              <a:t>The allowance method is based on an estimate of the expected amount of uncollectible accounts. </a:t>
            </a:r>
          </a:p>
          <a:p>
            <a:pPr algn="l" fontAlgn="base"/>
            <a:endParaRPr lang="en-CA" sz="200" b="0" i="0" dirty="0">
              <a:solidFill>
                <a:srgbClr val="000000"/>
              </a:solidFill>
              <a:effectLst/>
            </a:endParaRPr>
          </a:p>
          <a:p>
            <a:pPr algn="l" fontAlgn="base"/>
            <a:r>
              <a:rPr lang="en-CA" b="0" i="0" dirty="0">
                <a:solidFill>
                  <a:srgbClr val="000000"/>
                </a:solidFill>
                <a:effectLst/>
              </a:rPr>
              <a:t>There are two primary steps in applying the allowance method:</a:t>
            </a:r>
          </a:p>
          <a:p>
            <a:pPr lvl="1">
              <a:buFont typeface="+mj-lt"/>
              <a:buAutoNum type="arabicPeriod"/>
            </a:pPr>
            <a:r>
              <a:rPr lang="en-CA" dirty="0">
                <a:effectLst/>
              </a:rPr>
              <a:t>Estimating bad debt expense and recording the end-of-period adjusting entry</a:t>
            </a:r>
          </a:p>
          <a:p>
            <a:pPr lvl="1">
              <a:buFont typeface="+mj-lt"/>
              <a:buAutoNum type="arabicPeriod"/>
            </a:pPr>
            <a:r>
              <a:rPr lang="en-CA" dirty="0">
                <a:effectLst/>
              </a:rPr>
              <a:t>Writing off specific accounts determined to be uncollectible during the period</a:t>
            </a:r>
          </a:p>
          <a:p>
            <a:endParaRPr lang="en-US"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8E1CDAE5-7E77-4E81-9F9B-9E4A6AF9C9FA}"/>
              </a:ext>
            </a:extLst>
          </p:cNvPr>
          <p:cNvSpPr>
            <a:spLocks noGrp="1"/>
          </p:cNvSpPr>
          <p:nvPr>
            <p:ph type="title"/>
          </p:nvPr>
        </p:nvSpPr>
        <p:spPr/>
        <p:txBody>
          <a:bodyPr/>
          <a:lstStyle/>
          <a:p>
            <a:r>
              <a:rPr lang="en-US" altLang="en-US" dirty="0"/>
              <a:t>Allowance Method Part 2</a:t>
            </a:r>
          </a:p>
        </p:txBody>
      </p:sp>
      <p:sp>
        <p:nvSpPr>
          <p:cNvPr id="38914" name="Content Placeholder 2">
            <a:extLst>
              <a:ext uri="{FF2B5EF4-FFF2-40B4-BE49-F238E27FC236}">
                <a16:creationId xmlns:a16="http://schemas.microsoft.com/office/drawing/2014/main" id="{23217783-F8A8-4785-A87D-824DE109447A}"/>
              </a:ext>
            </a:extLst>
          </p:cNvPr>
          <p:cNvSpPr>
            <a:spLocks noGrp="1"/>
          </p:cNvSpPr>
          <p:nvPr>
            <p:ph idx="1"/>
          </p:nvPr>
        </p:nvSpPr>
        <p:spPr/>
        <p:txBody>
          <a:bodyPr/>
          <a:lstStyle/>
          <a:p>
            <a:r>
              <a:rPr lang="en-CA" b="0" i="0" dirty="0">
                <a:solidFill>
                  <a:srgbClr val="000000"/>
                </a:solidFill>
                <a:effectLst/>
                <a:latin typeface="+mj-lt"/>
              </a:rPr>
              <a:t>The estimation of bad debts is an example of prudence, whereby the company deducts the estimated amount of bad debts from the ending balance of accounts receivable and reports the net realizable value of accounts receivable on the statement of financial position. </a:t>
            </a:r>
            <a:endParaRPr lang="en-US" altLang="en-US" dirty="0">
              <a:latin typeface="+mj-lt"/>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8E1CDAE5-7E77-4E81-9F9B-9E4A6AF9C9FA}"/>
              </a:ext>
            </a:extLst>
          </p:cNvPr>
          <p:cNvSpPr>
            <a:spLocks noGrp="1"/>
          </p:cNvSpPr>
          <p:nvPr>
            <p:ph type="title"/>
          </p:nvPr>
        </p:nvSpPr>
        <p:spPr/>
        <p:txBody>
          <a:bodyPr/>
          <a:lstStyle/>
          <a:p>
            <a:r>
              <a:rPr lang="en-US" altLang="en-US" dirty="0"/>
              <a:t>Recording Bad Debt Expense Estimates Part 1</a:t>
            </a:r>
          </a:p>
        </p:txBody>
      </p:sp>
      <p:sp>
        <p:nvSpPr>
          <p:cNvPr id="38914" name="Content Placeholder 2">
            <a:extLst>
              <a:ext uri="{FF2B5EF4-FFF2-40B4-BE49-F238E27FC236}">
                <a16:creationId xmlns:a16="http://schemas.microsoft.com/office/drawing/2014/main" id="{23217783-F8A8-4785-A87D-824DE109447A}"/>
              </a:ext>
            </a:extLst>
          </p:cNvPr>
          <p:cNvSpPr>
            <a:spLocks noGrp="1"/>
          </p:cNvSpPr>
          <p:nvPr>
            <p:ph idx="1"/>
          </p:nvPr>
        </p:nvSpPr>
        <p:spPr/>
        <p:txBody>
          <a:bodyPr/>
          <a:lstStyle/>
          <a:p>
            <a:r>
              <a:rPr lang="en-CA" b="1" i="0" u="none" strike="noStrike" dirty="0">
                <a:effectLst/>
              </a:rPr>
              <a:t>Bad debt expense (doubtful accounts expense)</a:t>
            </a:r>
            <a:r>
              <a:rPr lang="en-CA" b="0" i="0" dirty="0">
                <a:effectLst/>
              </a:rPr>
              <a:t> </a:t>
            </a:r>
            <a:r>
              <a:rPr lang="en-CA" b="0" i="0" dirty="0">
                <a:solidFill>
                  <a:srgbClr val="000000"/>
                </a:solidFill>
                <a:effectLst/>
              </a:rPr>
              <a:t>is the expense associated with estimated uncollectible accounts receivable. </a:t>
            </a:r>
          </a:p>
          <a:p>
            <a:endParaRPr lang="en-CA" sz="200" b="0" i="0" dirty="0">
              <a:solidFill>
                <a:srgbClr val="000000"/>
              </a:solidFill>
              <a:effectLst/>
            </a:endParaRPr>
          </a:p>
          <a:p>
            <a:r>
              <a:rPr lang="en-CA" b="0" i="0" dirty="0">
                <a:solidFill>
                  <a:srgbClr val="000000"/>
                </a:solidFill>
                <a:effectLst/>
              </a:rPr>
              <a:t>Bad debt expense is recorded through an </a:t>
            </a:r>
            <a:r>
              <a:rPr lang="en-CA" b="1" i="0" dirty="0">
                <a:solidFill>
                  <a:srgbClr val="000000"/>
                </a:solidFill>
                <a:effectLst/>
              </a:rPr>
              <a:t>adjusting entry at the end of the accounting period</a:t>
            </a:r>
            <a:r>
              <a:rPr lang="en-CA" b="0" i="0" dirty="0">
                <a:solidFill>
                  <a:srgbClr val="000000"/>
                </a:solidFill>
                <a:effectLst/>
              </a:rPr>
              <a:t>.</a:t>
            </a:r>
          </a:p>
          <a:p>
            <a:endParaRPr lang="en-CA" sz="200" dirty="0">
              <a:solidFill>
                <a:srgbClr val="000000"/>
              </a:solidFill>
            </a:endParaRPr>
          </a:p>
          <a:p>
            <a:r>
              <a:rPr lang="en-CA" b="0" i="0" dirty="0">
                <a:solidFill>
                  <a:srgbClr val="000000"/>
                </a:solidFill>
                <a:effectLst/>
              </a:rPr>
              <a:t>Bad debt expense decreases net earnings and shareholders’ equity. </a:t>
            </a:r>
          </a:p>
          <a:p>
            <a:endParaRPr lang="en-CA" sz="200" b="0" i="0" dirty="0">
              <a:solidFill>
                <a:srgbClr val="000000"/>
              </a:solidFill>
              <a:effectLst/>
            </a:endParaRPr>
          </a:p>
          <a:p>
            <a:r>
              <a:rPr lang="en-CA" b="0" i="0" dirty="0">
                <a:solidFill>
                  <a:srgbClr val="000000"/>
                </a:solidFill>
                <a:effectLst/>
              </a:rPr>
              <a:t>Accounts receivable is not credited in the journal entry, because there is no way to know which customers’ accounts receivable are involved. </a:t>
            </a:r>
            <a:endParaRPr lang="en-US" altLang="en-US" dirty="0"/>
          </a:p>
        </p:txBody>
      </p:sp>
    </p:spTree>
    <p:extLst>
      <p:ext uri="{BB962C8B-B14F-4D97-AF65-F5344CB8AC3E}">
        <p14:creationId xmlns:p14="http://schemas.microsoft.com/office/powerpoint/2010/main" val="201053296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8E1CDAE5-7E77-4E81-9F9B-9E4A6AF9C9FA}"/>
              </a:ext>
            </a:extLst>
          </p:cNvPr>
          <p:cNvSpPr>
            <a:spLocks noGrp="1"/>
          </p:cNvSpPr>
          <p:nvPr>
            <p:ph type="title"/>
          </p:nvPr>
        </p:nvSpPr>
        <p:spPr/>
        <p:txBody>
          <a:bodyPr/>
          <a:lstStyle/>
          <a:p>
            <a:r>
              <a:rPr lang="en-US" altLang="en-US" dirty="0"/>
              <a:t>Recording Bad Debt Expense Estimates Part 2</a:t>
            </a:r>
          </a:p>
        </p:txBody>
      </p:sp>
      <p:sp>
        <p:nvSpPr>
          <p:cNvPr id="38914" name="Content Placeholder 2">
            <a:extLst>
              <a:ext uri="{FF2B5EF4-FFF2-40B4-BE49-F238E27FC236}">
                <a16:creationId xmlns:a16="http://schemas.microsoft.com/office/drawing/2014/main" id="{23217783-F8A8-4785-A87D-824DE109447A}"/>
              </a:ext>
            </a:extLst>
          </p:cNvPr>
          <p:cNvSpPr>
            <a:spLocks noGrp="1"/>
          </p:cNvSpPr>
          <p:nvPr>
            <p:ph idx="1"/>
          </p:nvPr>
        </p:nvSpPr>
        <p:spPr/>
        <p:txBody>
          <a:bodyPr/>
          <a:lstStyle/>
          <a:p>
            <a:r>
              <a:rPr lang="en-CA" b="0" i="0" dirty="0">
                <a:solidFill>
                  <a:srgbClr val="000000"/>
                </a:solidFill>
                <a:effectLst/>
              </a:rPr>
              <a:t>The credit is made, instead, to the account called </a:t>
            </a:r>
            <a:r>
              <a:rPr lang="en-CA" b="1" i="0" u="none" strike="noStrike" dirty="0">
                <a:effectLst/>
              </a:rPr>
              <a:t>allowance for doubtful accounts (allowance for doubtful receivables, allowance for bad debts)</a:t>
            </a:r>
            <a:r>
              <a:rPr lang="en-CA" b="0" i="0" dirty="0">
                <a:effectLst/>
              </a:rPr>
              <a:t>, </a:t>
            </a:r>
            <a:r>
              <a:rPr lang="en-CA" b="0" i="0" dirty="0">
                <a:solidFill>
                  <a:srgbClr val="000000"/>
                </a:solidFill>
                <a:effectLst/>
              </a:rPr>
              <a:t>a contra-asset account containing the estimated uncollectible accounts receivable. </a:t>
            </a:r>
          </a:p>
          <a:p>
            <a:endParaRPr lang="en-CA" sz="800" b="0" i="0" dirty="0">
              <a:solidFill>
                <a:srgbClr val="000000"/>
              </a:solidFill>
              <a:effectLst/>
            </a:endParaRPr>
          </a:p>
          <a:p>
            <a:r>
              <a:rPr lang="en-CA" b="0" i="0" dirty="0">
                <a:solidFill>
                  <a:srgbClr val="000000"/>
                </a:solidFill>
                <a:effectLst/>
              </a:rPr>
              <a:t>As a contra asset, the balance in allowance for doubtful accounts is always subtracted from the balance of the asset accounts receivable. </a:t>
            </a:r>
          </a:p>
          <a:p>
            <a:endParaRPr lang="en-CA" sz="800" b="0" i="0" dirty="0">
              <a:solidFill>
                <a:srgbClr val="000000"/>
              </a:solidFill>
              <a:effectLst/>
            </a:endParaRPr>
          </a:p>
          <a:p>
            <a:r>
              <a:rPr lang="en-CA" b="0" i="0" dirty="0">
                <a:solidFill>
                  <a:srgbClr val="000000"/>
                </a:solidFill>
                <a:effectLst/>
              </a:rPr>
              <a:t>Thus, the entry decreases the net realizable value of accounts receivable and total assets.</a:t>
            </a:r>
            <a:endParaRPr lang="en-US" altLang="en-US" dirty="0"/>
          </a:p>
        </p:txBody>
      </p:sp>
    </p:spTree>
    <p:extLst>
      <p:ext uri="{BB962C8B-B14F-4D97-AF65-F5344CB8AC3E}">
        <p14:creationId xmlns:p14="http://schemas.microsoft.com/office/powerpoint/2010/main" val="98646010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8E1CDAE5-7E77-4E81-9F9B-9E4A6AF9C9FA}"/>
              </a:ext>
            </a:extLst>
          </p:cNvPr>
          <p:cNvSpPr>
            <a:spLocks noGrp="1"/>
          </p:cNvSpPr>
          <p:nvPr>
            <p:ph type="title"/>
          </p:nvPr>
        </p:nvSpPr>
        <p:spPr/>
        <p:txBody>
          <a:bodyPr/>
          <a:lstStyle/>
          <a:p>
            <a:r>
              <a:rPr lang="en-US" altLang="en-US" dirty="0"/>
              <a:t>Writing Off Specific Doubtful Accounts</a:t>
            </a:r>
          </a:p>
        </p:txBody>
      </p:sp>
      <p:sp>
        <p:nvSpPr>
          <p:cNvPr id="38914" name="Content Placeholder 2">
            <a:extLst>
              <a:ext uri="{FF2B5EF4-FFF2-40B4-BE49-F238E27FC236}">
                <a16:creationId xmlns:a16="http://schemas.microsoft.com/office/drawing/2014/main" id="{23217783-F8A8-4785-A87D-824DE109447A}"/>
              </a:ext>
            </a:extLst>
          </p:cNvPr>
          <p:cNvSpPr>
            <a:spLocks noGrp="1"/>
          </p:cNvSpPr>
          <p:nvPr>
            <p:ph idx="1"/>
          </p:nvPr>
        </p:nvSpPr>
        <p:spPr/>
        <p:txBody>
          <a:bodyPr/>
          <a:lstStyle/>
          <a:p>
            <a:r>
              <a:rPr lang="en-CA" altLang="en-US" dirty="0"/>
              <a:t>When it is determined that a customer will not pay its debt (e.g., due to bankruptcy), the write-off of that individual receivable is recorded through a journal entry.</a:t>
            </a:r>
          </a:p>
          <a:p>
            <a:endParaRPr lang="en-CA" altLang="en-US" sz="200" dirty="0"/>
          </a:p>
          <a:p>
            <a:r>
              <a:rPr lang="en-CA" altLang="en-US" dirty="0"/>
              <a:t>When a specific accounts receivable has been identified as uncollectible, it must be removed from the appropriate accounts receivable account. </a:t>
            </a:r>
          </a:p>
          <a:p>
            <a:endParaRPr lang="en-CA" altLang="en-US" sz="200" dirty="0"/>
          </a:p>
          <a:p>
            <a:r>
              <a:rPr lang="en-CA" altLang="en-US" dirty="0"/>
              <a:t>At the same time, the previously established allowance for such a doubtful receivable is no longer needed and should be removed from the allowance for doubtful accounts.</a:t>
            </a:r>
            <a:endParaRPr lang="en-US" altLang="en-US" dirty="0"/>
          </a:p>
        </p:txBody>
      </p:sp>
    </p:spTree>
    <p:extLst>
      <p:ext uri="{BB962C8B-B14F-4D97-AF65-F5344CB8AC3E}">
        <p14:creationId xmlns:p14="http://schemas.microsoft.com/office/powerpoint/2010/main" val="404929782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9B0B0B2B-F991-42B9-9815-E250C7066CBB}"/>
              </a:ext>
            </a:extLst>
          </p:cNvPr>
          <p:cNvSpPr>
            <a:spLocks noGrp="1"/>
          </p:cNvSpPr>
          <p:nvPr>
            <p:ph type="title"/>
          </p:nvPr>
        </p:nvSpPr>
        <p:spPr/>
        <p:txBody>
          <a:bodyPr/>
          <a:lstStyle/>
          <a:p>
            <a:r>
              <a:rPr lang="en-US" altLang="en-US" dirty="0"/>
              <a:t>Recovery of Bad Debts</a:t>
            </a:r>
          </a:p>
        </p:txBody>
      </p:sp>
      <p:sp>
        <p:nvSpPr>
          <p:cNvPr id="39938" name="Content Placeholder 2">
            <a:extLst>
              <a:ext uri="{FF2B5EF4-FFF2-40B4-BE49-F238E27FC236}">
                <a16:creationId xmlns:a16="http://schemas.microsoft.com/office/drawing/2014/main" id="{C1A8C775-CD08-4737-983C-4E94FD51262C}"/>
              </a:ext>
            </a:extLst>
          </p:cNvPr>
          <p:cNvSpPr>
            <a:spLocks noGrp="1"/>
          </p:cNvSpPr>
          <p:nvPr>
            <p:ph idx="1"/>
          </p:nvPr>
        </p:nvSpPr>
        <p:spPr/>
        <p:txBody>
          <a:bodyPr/>
          <a:lstStyle/>
          <a:p>
            <a:r>
              <a:rPr lang="en-CA" altLang="en-US" dirty="0"/>
              <a:t>When a customer makes a payment on an account previously written off, the initial journal entry to write off the account is reversed for the amount that is collected, and another journal entry is made to record the collection of cash. </a:t>
            </a:r>
          </a:p>
          <a:p>
            <a:endParaRPr lang="en-CA" altLang="en-US" sz="200" dirty="0"/>
          </a:p>
          <a:p>
            <a:r>
              <a:rPr lang="en-CA" altLang="en-US" dirty="0"/>
              <a:t>The net effect of the recovered amount on accounts receivable is zero. </a:t>
            </a:r>
          </a:p>
          <a:p>
            <a:endParaRPr lang="en-CA" altLang="en-US" sz="200" dirty="0"/>
          </a:p>
          <a:p>
            <a:r>
              <a:rPr lang="en-CA" altLang="en-US" dirty="0"/>
              <a:t>The recovered amount is first recorded in accounts receivable to reinstate the amount in the customers’ accounts and show that the customers have honoured their previous commitments.</a:t>
            </a:r>
            <a:endParaRPr lang="en-US"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14EF268F-B82D-4BE8-B69B-34578853102D}"/>
              </a:ext>
            </a:extLst>
          </p:cNvPr>
          <p:cNvSpPr>
            <a:spLocks noGrp="1"/>
          </p:cNvSpPr>
          <p:nvPr>
            <p:ph type="title"/>
          </p:nvPr>
        </p:nvSpPr>
        <p:spPr/>
        <p:txBody>
          <a:bodyPr/>
          <a:lstStyle/>
          <a:p>
            <a:r>
              <a:rPr lang="en-CA" altLang="en-US"/>
              <a:t>Summary of the Accounting Process</a:t>
            </a:r>
          </a:p>
        </p:txBody>
      </p:sp>
      <p:sp>
        <p:nvSpPr>
          <p:cNvPr id="5" name="TextBox 4">
            <a:extLst>
              <a:ext uri="{FF2B5EF4-FFF2-40B4-BE49-F238E27FC236}">
                <a16:creationId xmlns:a16="http://schemas.microsoft.com/office/drawing/2014/main" id="{4F2411BA-E065-4A6A-8C86-0B9DB9ECE771}"/>
              </a:ext>
            </a:extLst>
          </p:cNvPr>
          <p:cNvSpPr txBox="1"/>
          <p:nvPr/>
        </p:nvSpPr>
        <p:spPr>
          <a:xfrm>
            <a:off x="533400" y="2297113"/>
            <a:ext cx="1804988" cy="3970337"/>
          </a:xfrm>
          <a:prstGeom prst="rect">
            <a:avLst/>
          </a:prstGeom>
          <a:noFill/>
        </p:spPr>
        <p:txBody>
          <a:bodyPr>
            <a:spAutoFit/>
          </a:bodyPr>
          <a:lstStyle/>
          <a:p>
            <a:pPr eaLnBrk="1" hangingPunct="1">
              <a:defRPr/>
            </a:pPr>
            <a:r>
              <a:rPr lang="en-US" sz="1400" dirty="0">
                <a:latin typeface="Arial" charset="0"/>
                <a:cs typeface="Arial" charset="0"/>
              </a:rPr>
              <a:t>1. Record        </a:t>
            </a:r>
            <a:br>
              <a:rPr lang="en-US" sz="1400" dirty="0">
                <a:latin typeface="Arial" charset="0"/>
                <a:cs typeface="Arial" charset="0"/>
              </a:rPr>
            </a:br>
            <a:r>
              <a:rPr lang="en-US" sz="1400" dirty="0">
                <a:latin typeface="Arial" charset="0"/>
                <a:cs typeface="Arial" charset="0"/>
              </a:rPr>
              <a:t>    estimated </a:t>
            </a:r>
            <a:br>
              <a:rPr lang="en-US" sz="1400" dirty="0">
                <a:latin typeface="Arial" charset="0"/>
                <a:cs typeface="Arial" charset="0"/>
              </a:rPr>
            </a:br>
            <a:r>
              <a:rPr lang="en-US" sz="1400" dirty="0">
                <a:latin typeface="Arial" charset="0"/>
                <a:cs typeface="Arial" charset="0"/>
              </a:rPr>
              <a:t>    bad debts </a:t>
            </a:r>
            <a:br>
              <a:rPr lang="en-US" sz="1400" dirty="0">
                <a:latin typeface="Arial" charset="0"/>
                <a:cs typeface="Arial" charset="0"/>
              </a:rPr>
            </a:br>
            <a:r>
              <a:rPr lang="en-US" sz="1400" dirty="0">
                <a:latin typeface="Arial" charset="0"/>
                <a:cs typeface="Arial" charset="0"/>
              </a:rPr>
              <a:t>    adjustment</a:t>
            </a:r>
          </a:p>
          <a:p>
            <a:pPr marL="342900" indent="-342900" eaLnBrk="1" hangingPunct="1">
              <a:buFontTx/>
              <a:buAutoNum type="arabicPeriod"/>
              <a:defRPr/>
            </a:pPr>
            <a:endParaRPr lang="en-US" sz="1400" dirty="0">
              <a:latin typeface="Arial" charset="0"/>
              <a:cs typeface="Arial" charset="0"/>
            </a:endParaRPr>
          </a:p>
          <a:p>
            <a:pPr marL="342900" indent="-342900" eaLnBrk="1" hangingPunct="1">
              <a:buFontTx/>
              <a:buAutoNum type="arabicPeriod"/>
              <a:defRPr/>
            </a:pPr>
            <a:endParaRPr lang="en-US" sz="1400" dirty="0">
              <a:latin typeface="Arial" charset="0"/>
              <a:cs typeface="Arial" charset="0"/>
            </a:endParaRPr>
          </a:p>
          <a:p>
            <a:pPr marL="342900" indent="-342900" eaLnBrk="1" hangingPunct="1">
              <a:buFontTx/>
              <a:buAutoNum type="arabicPeriod"/>
              <a:defRPr/>
            </a:pPr>
            <a:endParaRPr lang="en-US" sz="1400" dirty="0">
              <a:latin typeface="Arial" charset="0"/>
              <a:cs typeface="Arial" charset="0"/>
            </a:endParaRPr>
          </a:p>
          <a:p>
            <a:pPr eaLnBrk="1" hangingPunct="1">
              <a:defRPr/>
            </a:pPr>
            <a:r>
              <a:rPr lang="en-US" sz="1400" dirty="0">
                <a:latin typeface="Arial" charset="0"/>
                <a:cs typeface="Arial" charset="0"/>
              </a:rPr>
              <a:t>2. Identify and </a:t>
            </a:r>
            <a:br>
              <a:rPr lang="en-US" sz="1400" dirty="0">
                <a:latin typeface="Arial" charset="0"/>
                <a:cs typeface="Arial" charset="0"/>
              </a:rPr>
            </a:br>
            <a:r>
              <a:rPr lang="en-US" sz="1400" dirty="0">
                <a:latin typeface="Arial" charset="0"/>
                <a:cs typeface="Arial" charset="0"/>
              </a:rPr>
              <a:t>    write off </a:t>
            </a:r>
            <a:br>
              <a:rPr lang="en-US" sz="1400" dirty="0">
                <a:latin typeface="Arial" charset="0"/>
                <a:cs typeface="Arial" charset="0"/>
              </a:rPr>
            </a:br>
            <a:r>
              <a:rPr lang="en-US" sz="1400" dirty="0">
                <a:latin typeface="Arial" charset="0"/>
                <a:cs typeface="Arial" charset="0"/>
              </a:rPr>
              <a:t>    actual bad </a:t>
            </a:r>
            <a:br>
              <a:rPr lang="en-US" sz="1400" dirty="0">
                <a:latin typeface="Arial" charset="0"/>
                <a:cs typeface="Arial" charset="0"/>
              </a:rPr>
            </a:br>
            <a:r>
              <a:rPr lang="en-US" sz="1400" dirty="0">
                <a:latin typeface="Arial" charset="0"/>
                <a:cs typeface="Arial" charset="0"/>
              </a:rPr>
              <a:t>    debts </a:t>
            </a:r>
          </a:p>
          <a:p>
            <a:pPr eaLnBrk="1" hangingPunct="1">
              <a:defRPr/>
            </a:pPr>
            <a:endParaRPr lang="en-US" sz="1400" dirty="0">
              <a:latin typeface="Arial" charset="0"/>
              <a:cs typeface="Arial" charset="0"/>
            </a:endParaRPr>
          </a:p>
          <a:p>
            <a:pPr eaLnBrk="1" hangingPunct="1">
              <a:defRPr/>
            </a:pPr>
            <a:endParaRPr lang="en-US" sz="1400" dirty="0">
              <a:latin typeface="Arial" charset="0"/>
              <a:cs typeface="Arial" charset="0"/>
            </a:endParaRPr>
          </a:p>
          <a:p>
            <a:pPr eaLnBrk="1" hangingPunct="1">
              <a:defRPr/>
            </a:pPr>
            <a:endParaRPr lang="en-US" sz="1400" dirty="0">
              <a:latin typeface="Arial" charset="0"/>
              <a:cs typeface="Arial" charset="0"/>
            </a:endParaRPr>
          </a:p>
          <a:p>
            <a:pPr eaLnBrk="1" hangingPunct="1">
              <a:defRPr/>
            </a:pPr>
            <a:r>
              <a:rPr lang="en-US" sz="1400" dirty="0">
                <a:latin typeface="Arial" charset="0"/>
                <a:cs typeface="Arial" charset="0"/>
              </a:rPr>
              <a:t>3. Record recovery</a:t>
            </a:r>
          </a:p>
          <a:p>
            <a:pPr eaLnBrk="1" hangingPunct="1">
              <a:defRPr/>
            </a:pPr>
            <a:r>
              <a:rPr lang="en-US" sz="1400" dirty="0">
                <a:latin typeface="Arial" charset="0"/>
                <a:cs typeface="Arial" charset="0"/>
              </a:rPr>
              <a:t>    of bad debts that</a:t>
            </a:r>
          </a:p>
          <a:p>
            <a:pPr eaLnBrk="1" hangingPunct="1">
              <a:defRPr/>
            </a:pPr>
            <a:r>
              <a:rPr lang="en-US" sz="1400" dirty="0">
                <a:latin typeface="Arial" charset="0"/>
                <a:cs typeface="Arial" charset="0"/>
              </a:rPr>
              <a:t>    were written off</a:t>
            </a:r>
          </a:p>
          <a:p>
            <a:pPr eaLnBrk="1" hangingPunct="1">
              <a:defRPr/>
            </a:pPr>
            <a:r>
              <a:rPr lang="en-US" sz="1400" dirty="0">
                <a:latin typeface="Arial" charset="0"/>
                <a:cs typeface="Arial" charset="0"/>
              </a:rPr>
              <a:t>    previously</a:t>
            </a:r>
          </a:p>
        </p:txBody>
      </p:sp>
      <p:sp>
        <p:nvSpPr>
          <p:cNvPr id="19459" name="TextBox 5">
            <a:extLst>
              <a:ext uri="{FF2B5EF4-FFF2-40B4-BE49-F238E27FC236}">
                <a16:creationId xmlns:a16="http://schemas.microsoft.com/office/drawing/2014/main" id="{16F3395A-5290-469A-9E37-828A95D27698}"/>
              </a:ext>
            </a:extLst>
          </p:cNvPr>
          <p:cNvSpPr txBox="1">
            <a:spLocks noChangeArrowheads="1"/>
          </p:cNvSpPr>
          <p:nvPr/>
        </p:nvSpPr>
        <p:spPr bwMode="auto">
          <a:xfrm>
            <a:off x="2286000" y="2284413"/>
            <a:ext cx="1474788"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US" altLang="en-US" sz="1400">
                <a:latin typeface="Arial" panose="020B0604020202020204" pitchFamily="34" charset="0"/>
              </a:rPr>
              <a:t>End of period in which sales are made</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Throughout</a:t>
            </a:r>
            <a:br>
              <a:rPr lang="en-US" altLang="en-US" sz="1400">
                <a:latin typeface="Arial" panose="020B0604020202020204" pitchFamily="34" charset="0"/>
              </a:rPr>
            </a:br>
            <a:r>
              <a:rPr lang="en-US" altLang="en-US" sz="1400">
                <a:latin typeface="Arial" panose="020B0604020202020204" pitchFamily="34" charset="0"/>
              </a:rPr>
              <a:t>period as bad</a:t>
            </a:r>
            <a:br>
              <a:rPr lang="en-US" altLang="en-US" sz="1400">
                <a:latin typeface="Arial" panose="020B0604020202020204" pitchFamily="34" charset="0"/>
              </a:rPr>
            </a:br>
            <a:r>
              <a:rPr lang="en-US" altLang="en-US" sz="1400">
                <a:latin typeface="Arial" panose="020B0604020202020204" pitchFamily="34" charset="0"/>
              </a:rPr>
              <a:t>debts become </a:t>
            </a:r>
            <a:br>
              <a:rPr lang="en-US" altLang="en-US" sz="1400">
                <a:latin typeface="Arial" panose="020B0604020202020204" pitchFamily="34" charset="0"/>
              </a:rPr>
            </a:br>
            <a:r>
              <a:rPr lang="en-US" altLang="en-US" sz="1400">
                <a:latin typeface="Arial" panose="020B0604020202020204" pitchFamily="34" charset="0"/>
              </a:rPr>
              <a:t>known</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Throughout period as bad debts are recovered</a:t>
            </a:r>
          </a:p>
        </p:txBody>
      </p:sp>
      <p:sp>
        <p:nvSpPr>
          <p:cNvPr id="19460" name="TextBox 6">
            <a:extLst>
              <a:ext uri="{FF2B5EF4-FFF2-40B4-BE49-F238E27FC236}">
                <a16:creationId xmlns:a16="http://schemas.microsoft.com/office/drawing/2014/main" id="{C539DA80-1D61-4911-8F0D-E949360E20C8}"/>
              </a:ext>
            </a:extLst>
          </p:cNvPr>
          <p:cNvSpPr txBox="1">
            <a:spLocks noChangeArrowheads="1"/>
          </p:cNvSpPr>
          <p:nvPr/>
        </p:nvSpPr>
        <p:spPr bwMode="auto">
          <a:xfrm>
            <a:off x="3733800" y="2284413"/>
            <a:ext cx="1981200" cy="418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US" altLang="en-US" sz="1400" dirty="0">
                <a:latin typeface="Arial" panose="020B0604020202020204" pitchFamily="34" charset="0"/>
              </a:rPr>
              <a:t>Bad Debt Expense (E)</a:t>
            </a: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r>
              <a:rPr lang="en-US" altLang="en-US" sz="1400" dirty="0">
                <a:latin typeface="Arial" panose="020B0604020202020204" pitchFamily="34" charset="0"/>
              </a:rPr>
              <a:t>Allowance for Doubtful Accounts (XA)</a:t>
            </a: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r>
              <a:rPr lang="en-US" altLang="en-US" sz="1400" dirty="0">
                <a:latin typeface="Arial" panose="020B0604020202020204" pitchFamily="34" charset="0"/>
              </a:rPr>
              <a:t>Accounts Receivable (A)</a:t>
            </a: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r>
              <a:rPr lang="en-US" altLang="en-US" sz="1400" dirty="0">
                <a:latin typeface="Arial" panose="020B0604020202020204" pitchFamily="34" charset="0"/>
              </a:rPr>
              <a:t>Allowance for Doubtful Accounts (XA)</a:t>
            </a: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endParaRPr lang="en-US" altLang="en-US" sz="1400" dirty="0">
              <a:latin typeface="Arial" panose="020B0604020202020204" pitchFamily="34" charset="0"/>
            </a:endParaRPr>
          </a:p>
          <a:p>
            <a:pPr eaLnBrk="1" hangingPunct="1">
              <a:spcBef>
                <a:spcPct val="0"/>
              </a:spcBef>
              <a:buClrTx/>
              <a:buSzTx/>
              <a:buFontTx/>
              <a:buNone/>
            </a:pPr>
            <a:r>
              <a:rPr lang="en-US" altLang="en-US" sz="1400" dirty="0">
                <a:latin typeface="Arial" panose="020B0604020202020204" pitchFamily="34" charset="0"/>
              </a:rPr>
              <a:t>Accounts Receivable (A)</a:t>
            </a:r>
          </a:p>
          <a:p>
            <a:pPr eaLnBrk="1" hangingPunct="1">
              <a:spcBef>
                <a:spcPct val="0"/>
              </a:spcBef>
              <a:buClrTx/>
              <a:buSzTx/>
              <a:buFontTx/>
              <a:buNone/>
            </a:pPr>
            <a:r>
              <a:rPr lang="en-US" altLang="en-US" sz="1400" dirty="0">
                <a:latin typeface="Arial" panose="020B0604020202020204" pitchFamily="34" charset="0"/>
              </a:rPr>
              <a:t>Allowance for doubtful accounts (XA)</a:t>
            </a:r>
          </a:p>
          <a:p>
            <a:pPr eaLnBrk="1" hangingPunct="1">
              <a:spcBef>
                <a:spcPct val="0"/>
              </a:spcBef>
              <a:buClrTx/>
              <a:buSzTx/>
              <a:buFontTx/>
              <a:buNone/>
            </a:pPr>
            <a:r>
              <a:rPr lang="en-US" altLang="en-US" sz="1400" dirty="0">
                <a:latin typeface="Arial" panose="020B0604020202020204" pitchFamily="34" charset="0"/>
              </a:rPr>
              <a:t>Cash (A)</a:t>
            </a:r>
          </a:p>
        </p:txBody>
      </p:sp>
      <p:sp>
        <p:nvSpPr>
          <p:cNvPr id="19461" name="TextBox 7">
            <a:extLst>
              <a:ext uri="{FF2B5EF4-FFF2-40B4-BE49-F238E27FC236}">
                <a16:creationId xmlns:a16="http://schemas.microsoft.com/office/drawing/2014/main" id="{E5803FA1-1043-47BB-806E-C6DAF4045A58}"/>
              </a:ext>
            </a:extLst>
          </p:cNvPr>
          <p:cNvSpPr txBox="1">
            <a:spLocks noChangeArrowheads="1"/>
          </p:cNvSpPr>
          <p:nvPr/>
        </p:nvSpPr>
        <p:spPr bwMode="auto">
          <a:xfrm>
            <a:off x="5989638" y="2284413"/>
            <a:ext cx="1785937" cy="418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US" altLang="en-US" sz="1400">
                <a:latin typeface="Arial" panose="020B0604020202020204" pitchFamily="34" charset="0"/>
              </a:rPr>
              <a:t>Net Earnings</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Assets (Accounts</a:t>
            </a:r>
            <a:br>
              <a:rPr lang="en-US" altLang="en-US" sz="1400">
                <a:latin typeface="Arial" panose="020B0604020202020204" pitchFamily="34" charset="0"/>
              </a:rPr>
            </a:br>
            <a:r>
              <a:rPr lang="en-US" altLang="en-US" sz="1400">
                <a:latin typeface="Arial" panose="020B0604020202020204" pitchFamily="34" charset="0"/>
              </a:rPr>
              <a:t>Receivable, Net)</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Net Earnings</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Assets (Accounts</a:t>
            </a:r>
            <a:br>
              <a:rPr lang="en-US" altLang="en-US" sz="1400">
                <a:latin typeface="Arial" panose="020B0604020202020204" pitchFamily="34" charset="0"/>
              </a:rPr>
            </a:br>
            <a:r>
              <a:rPr lang="en-US" altLang="en-US" sz="1400">
                <a:latin typeface="Arial" panose="020B0604020202020204" pitchFamily="34" charset="0"/>
              </a:rPr>
              <a:t>Receivable, Net)</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Net earnings</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Assets (A/R, Net)</a:t>
            </a:r>
          </a:p>
          <a:p>
            <a:pPr eaLnBrk="1" hangingPunct="1">
              <a:spcBef>
                <a:spcPct val="0"/>
              </a:spcBef>
              <a:buClrTx/>
              <a:buSzTx/>
              <a:buFontTx/>
              <a:buNone/>
            </a:pPr>
            <a:endParaRPr lang="en-US" altLang="en-US" sz="1400">
              <a:latin typeface="Arial" panose="020B0604020202020204" pitchFamily="34" charset="0"/>
            </a:endParaRPr>
          </a:p>
          <a:p>
            <a:pPr eaLnBrk="1" hangingPunct="1">
              <a:spcBef>
                <a:spcPct val="0"/>
              </a:spcBef>
              <a:buClrTx/>
              <a:buSzTx/>
              <a:buFontTx/>
              <a:buNone/>
            </a:pPr>
            <a:r>
              <a:rPr lang="en-US" altLang="en-US" sz="1400">
                <a:latin typeface="Arial" panose="020B0604020202020204" pitchFamily="34" charset="0"/>
              </a:rPr>
              <a:t>Cash</a:t>
            </a:r>
          </a:p>
        </p:txBody>
      </p:sp>
      <p:sp>
        <p:nvSpPr>
          <p:cNvPr id="19462" name="TextBox 8">
            <a:extLst>
              <a:ext uri="{FF2B5EF4-FFF2-40B4-BE49-F238E27FC236}">
                <a16:creationId xmlns:a16="http://schemas.microsoft.com/office/drawing/2014/main" id="{777A9ADA-D75A-41D0-84F8-DE7F844C3A2F}"/>
              </a:ext>
            </a:extLst>
          </p:cNvPr>
          <p:cNvSpPr txBox="1">
            <a:spLocks noChangeArrowheads="1"/>
          </p:cNvSpPr>
          <p:nvPr/>
        </p:nvSpPr>
        <p:spPr bwMode="auto">
          <a:xfrm>
            <a:off x="830263" y="1914525"/>
            <a:ext cx="10302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US" altLang="en-US" sz="1600" b="1">
                <a:latin typeface="Arial" panose="020B0604020202020204" pitchFamily="34" charset="0"/>
              </a:rPr>
              <a:t>Step</a:t>
            </a:r>
          </a:p>
        </p:txBody>
      </p:sp>
      <p:sp>
        <p:nvSpPr>
          <p:cNvPr id="19463" name="TextBox 9">
            <a:extLst>
              <a:ext uri="{FF2B5EF4-FFF2-40B4-BE49-F238E27FC236}">
                <a16:creationId xmlns:a16="http://schemas.microsoft.com/office/drawing/2014/main" id="{C6123235-7A1C-43B4-8879-211A8BF53ECE}"/>
              </a:ext>
            </a:extLst>
          </p:cNvPr>
          <p:cNvSpPr txBox="1">
            <a:spLocks noChangeArrowheads="1"/>
          </p:cNvSpPr>
          <p:nvPr/>
        </p:nvSpPr>
        <p:spPr bwMode="auto">
          <a:xfrm>
            <a:off x="2405063" y="1914525"/>
            <a:ext cx="10302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US" altLang="en-US" sz="1600" b="1">
                <a:latin typeface="Arial" panose="020B0604020202020204" pitchFamily="34" charset="0"/>
              </a:rPr>
              <a:t>Timing</a:t>
            </a:r>
          </a:p>
        </p:txBody>
      </p:sp>
      <p:sp>
        <p:nvSpPr>
          <p:cNvPr id="19464" name="TextBox 10">
            <a:extLst>
              <a:ext uri="{FF2B5EF4-FFF2-40B4-BE49-F238E27FC236}">
                <a16:creationId xmlns:a16="http://schemas.microsoft.com/office/drawing/2014/main" id="{F80FE69E-7A04-4A6F-8686-9541F01A4095}"/>
              </a:ext>
            </a:extLst>
          </p:cNvPr>
          <p:cNvSpPr txBox="1">
            <a:spLocks noChangeArrowheads="1"/>
          </p:cNvSpPr>
          <p:nvPr/>
        </p:nvSpPr>
        <p:spPr bwMode="auto">
          <a:xfrm>
            <a:off x="3635375" y="1927225"/>
            <a:ext cx="20875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spcBef>
                <a:spcPct val="0"/>
              </a:spcBef>
              <a:buClrTx/>
              <a:buSzTx/>
              <a:buFontTx/>
              <a:buNone/>
            </a:pPr>
            <a:r>
              <a:rPr lang="en-US" altLang="en-US" sz="1600" b="1">
                <a:latin typeface="Arial" panose="020B0604020202020204" pitchFamily="34" charset="0"/>
              </a:rPr>
              <a:t> Accounts Affected</a:t>
            </a:r>
          </a:p>
        </p:txBody>
      </p:sp>
      <p:sp>
        <p:nvSpPr>
          <p:cNvPr id="19465" name="TextBox 11">
            <a:extLst>
              <a:ext uri="{FF2B5EF4-FFF2-40B4-BE49-F238E27FC236}">
                <a16:creationId xmlns:a16="http://schemas.microsoft.com/office/drawing/2014/main" id="{EF28E296-EDD1-44D2-B274-DEBE6DE0C666}"/>
              </a:ext>
            </a:extLst>
          </p:cNvPr>
          <p:cNvSpPr txBox="1">
            <a:spLocks noChangeArrowheads="1"/>
          </p:cNvSpPr>
          <p:nvPr/>
        </p:nvSpPr>
        <p:spPr bwMode="auto">
          <a:xfrm>
            <a:off x="5761038" y="1735138"/>
            <a:ext cx="20875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eaLnBrk="1" hangingPunct="1">
              <a:lnSpc>
                <a:spcPct val="80000"/>
              </a:lnSpc>
              <a:spcBef>
                <a:spcPct val="0"/>
              </a:spcBef>
              <a:buClrTx/>
              <a:buSzTx/>
              <a:buFontTx/>
              <a:buNone/>
            </a:pPr>
            <a:r>
              <a:rPr lang="en-US" altLang="en-US" sz="1600" b="1">
                <a:latin typeface="Arial" panose="020B0604020202020204" pitchFamily="34" charset="0"/>
              </a:rPr>
              <a:t>Financial</a:t>
            </a:r>
            <a:br>
              <a:rPr lang="en-US" altLang="en-US" sz="1600" b="1">
                <a:latin typeface="Arial" panose="020B0604020202020204" pitchFamily="34" charset="0"/>
              </a:rPr>
            </a:br>
            <a:r>
              <a:rPr lang="en-US" altLang="en-US" sz="1600" b="1">
                <a:latin typeface="Arial" panose="020B0604020202020204" pitchFamily="34" charset="0"/>
              </a:rPr>
              <a:t>Statement Effects</a:t>
            </a:r>
          </a:p>
        </p:txBody>
      </p:sp>
      <p:cxnSp>
        <p:nvCxnSpPr>
          <p:cNvPr id="13" name="Straight Arrow Connector 12">
            <a:extLst>
              <a:ext uri="{FF2B5EF4-FFF2-40B4-BE49-F238E27FC236}">
                <a16:creationId xmlns:a16="http://schemas.microsoft.com/office/drawing/2014/main" id="{DC9B7E0F-E3F9-4026-B053-A3843B09828E}"/>
              </a:ext>
            </a:extLst>
          </p:cNvPr>
          <p:cNvCxnSpPr/>
          <p:nvPr/>
        </p:nvCxnSpPr>
        <p:spPr>
          <a:xfrm flipV="1">
            <a:off x="5711825" y="2297113"/>
            <a:ext cx="0" cy="346075"/>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B862370-1E79-4954-B9A2-CF6396863A86}"/>
              </a:ext>
            </a:extLst>
          </p:cNvPr>
          <p:cNvCxnSpPr/>
          <p:nvPr/>
        </p:nvCxnSpPr>
        <p:spPr>
          <a:xfrm flipV="1">
            <a:off x="5713413" y="2814638"/>
            <a:ext cx="0" cy="346075"/>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8934D36-43AE-480D-8472-EE6F16267C5A}"/>
              </a:ext>
            </a:extLst>
          </p:cNvPr>
          <p:cNvCxnSpPr/>
          <p:nvPr/>
        </p:nvCxnSpPr>
        <p:spPr>
          <a:xfrm>
            <a:off x="5711825" y="3797300"/>
            <a:ext cx="0" cy="36195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8EAEC4E-F568-4BCA-8D7B-B175AB0AB42E}"/>
              </a:ext>
            </a:extLst>
          </p:cNvPr>
          <p:cNvCxnSpPr/>
          <p:nvPr/>
        </p:nvCxnSpPr>
        <p:spPr>
          <a:xfrm>
            <a:off x="5715000" y="4560888"/>
            <a:ext cx="0" cy="36195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4DC4A34-F33A-48C9-A769-00008F483E09}"/>
              </a:ext>
            </a:extLst>
          </p:cNvPr>
          <p:cNvCxnSpPr/>
          <p:nvPr/>
        </p:nvCxnSpPr>
        <p:spPr>
          <a:xfrm>
            <a:off x="7620000" y="2284413"/>
            <a:ext cx="0" cy="36195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80EE7E4-5B45-42A2-96E7-55CD88610642}"/>
              </a:ext>
            </a:extLst>
          </p:cNvPr>
          <p:cNvCxnSpPr/>
          <p:nvPr/>
        </p:nvCxnSpPr>
        <p:spPr>
          <a:xfrm>
            <a:off x="7620000" y="2814638"/>
            <a:ext cx="0" cy="360362"/>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9" name="Right Brace 18">
            <a:extLst>
              <a:ext uri="{FF2B5EF4-FFF2-40B4-BE49-F238E27FC236}">
                <a16:creationId xmlns:a16="http://schemas.microsoft.com/office/drawing/2014/main" id="{8281DD1E-01C9-473A-9F17-5335F012BB93}"/>
              </a:ext>
            </a:extLst>
          </p:cNvPr>
          <p:cNvSpPr/>
          <p:nvPr/>
        </p:nvSpPr>
        <p:spPr>
          <a:xfrm>
            <a:off x="7597775" y="3759200"/>
            <a:ext cx="192088" cy="1193800"/>
          </a:xfrm>
          <a:prstGeom prst="righ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anchor="ctr"/>
          <a:lstStyle/>
          <a:p>
            <a:pPr algn="ctr" eaLnBrk="1" hangingPunct="1">
              <a:defRPr/>
            </a:pPr>
            <a:endParaRPr lang="en-US"/>
          </a:p>
        </p:txBody>
      </p:sp>
      <p:sp>
        <p:nvSpPr>
          <p:cNvPr id="19473" name="TextBox 19">
            <a:extLst>
              <a:ext uri="{FF2B5EF4-FFF2-40B4-BE49-F238E27FC236}">
                <a16:creationId xmlns:a16="http://schemas.microsoft.com/office/drawing/2014/main" id="{60B45CAA-966D-4D30-B876-E8178F10C180}"/>
              </a:ext>
            </a:extLst>
          </p:cNvPr>
          <p:cNvSpPr txBox="1">
            <a:spLocks noChangeArrowheads="1"/>
          </p:cNvSpPr>
          <p:nvPr/>
        </p:nvSpPr>
        <p:spPr bwMode="auto">
          <a:xfrm>
            <a:off x="7751763" y="4135438"/>
            <a:ext cx="7064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1200">
                <a:latin typeface="Arial" panose="020B0604020202020204" pitchFamily="34" charset="0"/>
              </a:rPr>
              <a:t>No</a:t>
            </a:r>
          </a:p>
          <a:p>
            <a:pPr eaLnBrk="1" hangingPunct="1">
              <a:lnSpc>
                <a:spcPct val="80000"/>
              </a:lnSpc>
              <a:spcBef>
                <a:spcPct val="0"/>
              </a:spcBef>
              <a:buClrTx/>
              <a:buSzTx/>
              <a:buFontTx/>
              <a:buNone/>
            </a:pPr>
            <a:r>
              <a:rPr lang="en-US" altLang="en-US" sz="1200">
                <a:latin typeface="Arial" panose="020B0604020202020204" pitchFamily="34" charset="0"/>
              </a:rPr>
              <a:t>effect</a:t>
            </a:r>
          </a:p>
        </p:txBody>
      </p:sp>
      <p:sp>
        <p:nvSpPr>
          <p:cNvPr id="21" name="Rectangle 20">
            <a:extLst>
              <a:ext uri="{FF2B5EF4-FFF2-40B4-BE49-F238E27FC236}">
                <a16:creationId xmlns:a16="http://schemas.microsoft.com/office/drawing/2014/main" id="{923F63EF-D8C1-46AF-9629-E8D79790A102}"/>
              </a:ext>
            </a:extLst>
          </p:cNvPr>
          <p:cNvSpPr/>
          <p:nvPr/>
        </p:nvSpPr>
        <p:spPr>
          <a:xfrm>
            <a:off x="381000" y="1600200"/>
            <a:ext cx="8229600" cy="49530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cxnSp>
        <p:nvCxnSpPr>
          <p:cNvPr id="22" name="Straight Arrow Connector 21">
            <a:extLst>
              <a:ext uri="{FF2B5EF4-FFF2-40B4-BE49-F238E27FC236}">
                <a16:creationId xmlns:a16="http://schemas.microsoft.com/office/drawing/2014/main" id="{93C2CB76-BE0A-4DB3-9D37-6F5FA9BF4880}"/>
              </a:ext>
            </a:extLst>
          </p:cNvPr>
          <p:cNvCxnSpPr/>
          <p:nvPr/>
        </p:nvCxnSpPr>
        <p:spPr>
          <a:xfrm>
            <a:off x="5867400" y="5353050"/>
            <a:ext cx="0" cy="36195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1C13859-B914-4A99-97C9-B9004603462D}"/>
              </a:ext>
            </a:extLst>
          </p:cNvPr>
          <p:cNvCxnSpPr/>
          <p:nvPr/>
        </p:nvCxnSpPr>
        <p:spPr>
          <a:xfrm>
            <a:off x="5715000" y="5715000"/>
            <a:ext cx="0" cy="36195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DBF9DFE-FBAB-4E85-86D9-46B4F0364CBB}"/>
              </a:ext>
            </a:extLst>
          </p:cNvPr>
          <p:cNvCxnSpPr/>
          <p:nvPr/>
        </p:nvCxnSpPr>
        <p:spPr>
          <a:xfrm flipV="1">
            <a:off x="5715000" y="5291138"/>
            <a:ext cx="0" cy="347662"/>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4033E52-D53E-4AA1-94F9-E1114F20B407}"/>
              </a:ext>
            </a:extLst>
          </p:cNvPr>
          <p:cNvCxnSpPr/>
          <p:nvPr/>
        </p:nvCxnSpPr>
        <p:spPr>
          <a:xfrm flipV="1">
            <a:off x="5715000" y="6129338"/>
            <a:ext cx="0" cy="347662"/>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9479" name="TextBox 25">
            <a:extLst>
              <a:ext uri="{FF2B5EF4-FFF2-40B4-BE49-F238E27FC236}">
                <a16:creationId xmlns:a16="http://schemas.microsoft.com/office/drawing/2014/main" id="{4BCA4B33-65C0-417B-840C-FA5301FCCF77}"/>
              </a:ext>
            </a:extLst>
          </p:cNvPr>
          <p:cNvSpPr txBox="1">
            <a:spLocks noChangeArrowheads="1"/>
          </p:cNvSpPr>
          <p:nvPr/>
        </p:nvSpPr>
        <p:spPr bwMode="auto">
          <a:xfrm>
            <a:off x="7751763" y="5257800"/>
            <a:ext cx="7064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1200">
                <a:latin typeface="Arial" panose="020B0604020202020204" pitchFamily="34" charset="0"/>
              </a:rPr>
              <a:t>No</a:t>
            </a:r>
          </a:p>
          <a:p>
            <a:pPr eaLnBrk="1" hangingPunct="1">
              <a:lnSpc>
                <a:spcPct val="80000"/>
              </a:lnSpc>
              <a:spcBef>
                <a:spcPct val="0"/>
              </a:spcBef>
              <a:buClrTx/>
              <a:buSzTx/>
              <a:buFontTx/>
              <a:buNone/>
            </a:pPr>
            <a:r>
              <a:rPr lang="en-US" altLang="en-US" sz="1200">
                <a:latin typeface="Arial" panose="020B0604020202020204" pitchFamily="34" charset="0"/>
              </a:rPr>
              <a:t>effect</a:t>
            </a:r>
          </a:p>
        </p:txBody>
      </p:sp>
      <p:cxnSp>
        <p:nvCxnSpPr>
          <p:cNvPr id="27" name="Straight Arrow Connector 26">
            <a:extLst>
              <a:ext uri="{FF2B5EF4-FFF2-40B4-BE49-F238E27FC236}">
                <a16:creationId xmlns:a16="http://schemas.microsoft.com/office/drawing/2014/main" id="{E0DC840E-89E1-4ACB-B3B4-E63EC84A6783}"/>
              </a:ext>
            </a:extLst>
          </p:cNvPr>
          <p:cNvCxnSpPr/>
          <p:nvPr/>
        </p:nvCxnSpPr>
        <p:spPr>
          <a:xfrm>
            <a:off x="7620000" y="5734050"/>
            <a:ext cx="0" cy="36195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95EBFB9-B5AF-49C0-8977-0097B7029542}"/>
              </a:ext>
            </a:extLst>
          </p:cNvPr>
          <p:cNvCxnSpPr/>
          <p:nvPr/>
        </p:nvCxnSpPr>
        <p:spPr>
          <a:xfrm flipV="1">
            <a:off x="7620000" y="6129338"/>
            <a:ext cx="0" cy="347662"/>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9482" name="Content Placeholder 2">
            <a:extLst>
              <a:ext uri="{FF2B5EF4-FFF2-40B4-BE49-F238E27FC236}">
                <a16:creationId xmlns:a16="http://schemas.microsoft.com/office/drawing/2014/main" id="{9A3DBDC4-FBE1-44DC-82F0-68F94AC5E28D}"/>
              </a:ext>
            </a:extLst>
          </p:cNvPr>
          <p:cNvSpPr>
            <a:spLocks noGrp="1"/>
          </p:cNvSpPr>
          <p:nvPr>
            <p:ph idx="1"/>
          </p:nvPr>
        </p:nvSpPr>
        <p:spPr/>
        <p:txBody>
          <a:bodyPr/>
          <a:lstStyle/>
          <a:p>
            <a:r>
              <a:rPr lang="en-US" altLang="en-US" dirty="0"/>
              <a:t>Accounting for bad debts is a three-step process: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23F83D30-384A-47AB-8929-B9CB9CCBE8CC}"/>
              </a:ext>
            </a:extLst>
          </p:cNvPr>
          <p:cNvSpPr>
            <a:spLocks noGrp="1"/>
          </p:cNvSpPr>
          <p:nvPr>
            <p:ph type="title"/>
          </p:nvPr>
        </p:nvSpPr>
        <p:spPr/>
        <p:txBody>
          <a:bodyPr/>
          <a:lstStyle/>
          <a:p>
            <a:r>
              <a:rPr lang="en-US" altLang="en-US"/>
              <a:t>Estimating Bad Debts</a:t>
            </a:r>
          </a:p>
        </p:txBody>
      </p:sp>
      <p:sp>
        <p:nvSpPr>
          <p:cNvPr id="40962" name="Content Placeholder 2">
            <a:extLst>
              <a:ext uri="{FF2B5EF4-FFF2-40B4-BE49-F238E27FC236}">
                <a16:creationId xmlns:a16="http://schemas.microsoft.com/office/drawing/2014/main" id="{932047B3-DD2F-448A-851D-A11ABEB2B55E}"/>
              </a:ext>
            </a:extLst>
          </p:cNvPr>
          <p:cNvSpPr>
            <a:spLocks noGrp="1"/>
          </p:cNvSpPr>
          <p:nvPr>
            <p:ph idx="1"/>
          </p:nvPr>
        </p:nvSpPr>
        <p:spPr/>
        <p:txBody>
          <a:bodyPr/>
          <a:lstStyle/>
          <a:p>
            <a:r>
              <a:rPr lang="en-CA" altLang="en-US" dirty="0"/>
              <a:t>The bad debt expense recorded in the end-of-period adjusting entry is often estimated based on either:</a:t>
            </a:r>
          </a:p>
          <a:p>
            <a:pPr marL="731838" lvl="1" indent="-457200">
              <a:buFont typeface="Calibri" panose="020F0502020204030204" pitchFamily="34" charset="0"/>
              <a:buAutoNum type="arabicPeriod"/>
            </a:pPr>
            <a:r>
              <a:rPr lang="en-CA" altLang="en-US" sz="2400" dirty="0">
                <a:solidFill>
                  <a:schemeClr val="tx1"/>
                </a:solidFill>
              </a:rPr>
              <a:t>A percentage of total credit sales for the period or </a:t>
            </a:r>
          </a:p>
          <a:p>
            <a:pPr marL="731838" lvl="1" indent="-457200">
              <a:buFont typeface="Calibri" panose="020F0502020204030204" pitchFamily="34" charset="0"/>
              <a:buAutoNum type="arabicPeriod"/>
            </a:pPr>
            <a:r>
              <a:rPr lang="en-CA" altLang="en-US" sz="2400" dirty="0">
                <a:solidFill>
                  <a:schemeClr val="tx1"/>
                </a:solidFill>
              </a:rPr>
              <a:t>An aging of accounts receivable. </a:t>
            </a:r>
            <a:endParaRPr lang="en-US" altLang="en-US" sz="2400" dirty="0">
              <a:solidFill>
                <a:schemeClr val="tx1"/>
              </a:solidFill>
            </a:endParaRPr>
          </a:p>
          <a:p>
            <a:endParaRPr lang="en-CA" altLang="en-US" sz="800" dirty="0"/>
          </a:p>
          <a:p>
            <a:r>
              <a:rPr lang="en-CA" altLang="en-US" dirty="0"/>
              <a:t>Both methods are acceptable under IFRS. </a:t>
            </a:r>
          </a:p>
          <a:p>
            <a:r>
              <a:rPr lang="en-CA" altLang="en-US" dirty="0"/>
              <a:t>The percentage of credit sales method is simpler to apply, but the aging method is generally more accurate.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1BCC2488-DEC8-451F-8945-5CFCA05090F9}"/>
              </a:ext>
            </a:extLst>
          </p:cNvPr>
          <p:cNvSpPr>
            <a:spLocks noGrp="1"/>
          </p:cNvSpPr>
          <p:nvPr>
            <p:ph type="title"/>
          </p:nvPr>
        </p:nvSpPr>
        <p:spPr/>
        <p:txBody>
          <a:bodyPr/>
          <a:lstStyle/>
          <a:p>
            <a:r>
              <a:rPr lang="en-US" altLang="en-US"/>
              <a:t>Percentage of Credit Sales Method</a:t>
            </a:r>
          </a:p>
        </p:txBody>
      </p:sp>
      <p:sp>
        <p:nvSpPr>
          <p:cNvPr id="41986" name="Content Placeholder 2">
            <a:extLst>
              <a:ext uri="{FF2B5EF4-FFF2-40B4-BE49-F238E27FC236}">
                <a16:creationId xmlns:a16="http://schemas.microsoft.com/office/drawing/2014/main" id="{3B4C10A5-FA31-4A02-B7E2-8FB13B9FB3F4}"/>
              </a:ext>
            </a:extLst>
          </p:cNvPr>
          <p:cNvSpPr>
            <a:spLocks noGrp="1"/>
          </p:cNvSpPr>
          <p:nvPr>
            <p:ph idx="1"/>
          </p:nvPr>
        </p:nvSpPr>
        <p:spPr/>
        <p:txBody>
          <a:bodyPr/>
          <a:lstStyle/>
          <a:p>
            <a:r>
              <a:rPr lang="en-CA" altLang="en-US" dirty="0"/>
              <a:t>The </a:t>
            </a:r>
            <a:r>
              <a:rPr lang="en-CA" altLang="en-US" b="1" dirty="0"/>
              <a:t>percentage of credit sales method</a:t>
            </a:r>
            <a:r>
              <a:rPr lang="en-CA" altLang="en-US" dirty="0"/>
              <a:t> bases bad debt expense on the historical percentage of credit sales that result in bad debts. </a:t>
            </a:r>
          </a:p>
          <a:p>
            <a:r>
              <a:rPr lang="en-CA" altLang="en-US" dirty="0"/>
              <a:t>The average percentage of credit sales that result in bad debts can be computed by dividing total bad debts by total </a:t>
            </a:r>
            <a:r>
              <a:rPr lang="en-CA" altLang="en-US" i="1" dirty="0"/>
              <a:t>credit</a:t>
            </a:r>
            <a:r>
              <a:rPr lang="en-CA" altLang="en-US" dirty="0"/>
              <a:t> sales. </a:t>
            </a:r>
          </a:p>
          <a:p>
            <a:r>
              <a:rPr lang="en-CA" altLang="en-US" dirty="0"/>
              <a:t>A company that has been operating for some years has sufficient experience to estimate probable future bad debts.</a:t>
            </a:r>
            <a:endParaRPr lang="en-US"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738B804F-2443-4973-AE3B-E626ECC12627}"/>
              </a:ext>
            </a:extLst>
          </p:cNvPr>
          <p:cNvSpPr>
            <a:spLocks noGrp="1"/>
          </p:cNvSpPr>
          <p:nvPr>
            <p:ph type="title"/>
          </p:nvPr>
        </p:nvSpPr>
        <p:spPr/>
        <p:txBody>
          <a:bodyPr/>
          <a:lstStyle/>
          <a:p>
            <a:r>
              <a:rPr lang="en-US" altLang="en-US"/>
              <a:t>Aging of Accounts Receivable Method</a:t>
            </a:r>
          </a:p>
        </p:txBody>
      </p:sp>
      <p:sp>
        <p:nvSpPr>
          <p:cNvPr id="43010" name="Content Placeholder 2">
            <a:extLst>
              <a:ext uri="{FF2B5EF4-FFF2-40B4-BE49-F238E27FC236}">
                <a16:creationId xmlns:a16="http://schemas.microsoft.com/office/drawing/2014/main" id="{BB16508C-9A8B-421C-8671-64EBE9C21726}"/>
              </a:ext>
            </a:extLst>
          </p:cNvPr>
          <p:cNvSpPr>
            <a:spLocks noGrp="1"/>
          </p:cNvSpPr>
          <p:nvPr>
            <p:ph idx="1"/>
          </p:nvPr>
        </p:nvSpPr>
        <p:spPr/>
        <p:txBody>
          <a:bodyPr/>
          <a:lstStyle/>
          <a:p>
            <a:r>
              <a:rPr lang="en-CA" altLang="en-US" dirty="0"/>
              <a:t>The </a:t>
            </a:r>
            <a:r>
              <a:rPr lang="en-CA" altLang="en-US" b="1" dirty="0"/>
              <a:t>aging of accounts receivable method</a:t>
            </a:r>
            <a:r>
              <a:rPr lang="en-CA" altLang="en-US" dirty="0"/>
              <a:t> estimates uncollectible accounts based on the age of each account receivable. </a:t>
            </a:r>
          </a:p>
          <a:p>
            <a:r>
              <a:rPr lang="en-CA" altLang="en-US" dirty="0"/>
              <a:t>As accounts receivable become older and overdue they are usually less likely to be collectible. </a:t>
            </a:r>
          </a:p>
          <a:p>
            <a:r>
              <a:rPr lang="en-CA" altLang="en-US" dirty="0"/>
              <a:t>For example, a receivable that is due in 30 days but has not been paid after 60 days is more likely to be collected, on average, than a similar receivable that still remains unpaid after 120 days.</a:t>
            </a:r>
            <a:endParaRPr lang="en-US"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A8D44085-5E2C-497B-9B41-BA26F6922FEE}"/>
              </a:ext>
            </a:extLst>
          </p:cNvPr>
          <p:cNvSpPr>
            <a:spLocks noGrp="1"/>
          </p:cNvSpPr>
          <p:nvPr>
            <p:ph type="title"/>
          </p:nvPr>
        </p:nvSpPr>
        <p:spPr/>
        <p:txBody>
          <a:bodyPr/>
          <a:lstStyle/>
          <a:p>
            <a:r>
              <a:rPr lang="en-US" altLang="en-US" dirty="0"/>
              <a:t>Aging of Accounts Receivable Method - Example</a:t>
            </a:r>
          </a:p>
        </p:txBody>
      </p:sp>
      <p:sp>
        <p:nvSpPr>
          <p:cNvPr id="6" name="Content Placeholder 2">
            <a:extLst>
              <a:ext uri="{FF2B5EF4-FFF2-40B4-BE49-F238E27FC236}">
                <a16:creationId xmlns:a16="http://schemas.microsoft.com/office/drawing/2014/main" id="{9CF2F252-0C83-4A63-B1A2-143C845DEE78}"/>
              </a:ext>
            </a:extLst>
          </p:cNvPr>
          <p:cNvSpPr txBox="1">
            <a:spLocks/>
          </p:cNvSpPr>
          <p:nvPr/>
        </p:nvSpPr>
        <p:spPr bwMode="auto">
          <a:xfrm>
            <a:off x="457200" y="1295400"/>
            <a:ext cx="8229600" cy="5334000"/>
          </a:xfrm>
          <a:prstGeom prst="rect">
            <a:avLst/>
          </a:prstGeom>
          <a:noFill/>
          <a:ln>
            <a:noFill/>
          </a:ln>
        </p:spPr>
        <p:txBody>
          <a:bodyPr/>
          <a:lstStyle>
            <a:lvl1pPr marL="273050" indent="-273050" algn="l" rtl="0" eaLnBrk="0" fontAlgn="base" hangingPunct="0">
              <a:spcBef>
                <a:spcPts val="600"/>
              </a:spcBef>
              <a:spcAft>
                <a:spcPct val="0"/>
              </a:spcAft>
              <a:buClr>
                <a:schemeClr val="accent1"/>
              </a:buClr>
              <a:buSzPct val="76000"/>
              <a:buFont typeface="Wingdings 3" pitchFamily="2"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1"/>
              </a:buClr>
              <a:buSzPct val="76000"/>
              <a:buFont typeface="Wingdings 3" pitchFamily="2"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chemeClr val="accent1"/>
              </a:buClr>
              <a:buSzPct val="76000"/>
              <a:buFont typeface="Wingdings 3" pitchFamily="2"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chemeClr val="accent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a:lstStyle>
          <a:p>
            <a:pPr>
              <a:buClr>
                <a:srgbClr val="45D1D1"/>
              </a:buClr>
              <a:defRPr/>
            </a:pPr>
            <a:endParaRPr lang="en-CA" kern="0" dirty="0"/>
          </a:p>
          <a:p>
            <a:pPr>
              <a:buClr>
                <a:srgbClr val="45D1D1"/>
              </a:buClr>
              <a:defRPr/>
            </a:pPr>
            <a:endParaRPr lang="en-CA" kern="0" dirty="0"/>
          </a:p>
          <a:p>
            <a:pPr>
              <a:buClr>
                <a:srgbClr val="45D1D1"/>
              </a:buClr>
              <a:defRPr/>
            </a:pPr>
            <a:endParaRPr lang="en-CA" kern="0" dirty="0"/>
          </a:p>
          <a:p>
            <a:pPr>
              <a:buClr>
                <a:srgbClr val="45D1D1"/>
              </a:buClr>
              <a:defRPr/>
            </a:pPr>
            <a:endParaRPr lang="en-CA" kern="0" dirty="0"/>
          </a:p>
          <a:p>
            <a:pPr>
              <a:buClr>
                <a:srgbClr val="45D1D1"/>
              </a:buClr>
              <a:defRPr/>
            </a:pPr>
            <a:endParaRPr lang="en-CA" kern="0" dirty="0"/>
          </a:p>
          <a:p>
            <a:pPr marL="0" indent="0">
              <a:buClr>
                <a:srgbClr val="45D1D1"/>
              </a:buClr>
              <a:buFont typeface="Wingdings 3" pitchFamily="2" charset="2"/>
              <a:buNone/>
              <a:defRPr/>
            </a:pPr>
            <a:endParaRPr lang="en-CA" kern="0" dirty="0"/>
          </a:p>
          <a:p>
            <a:pPr>
              <a:buClr>
                <a:srgbClr val="45D1D1"/>
              </a:buClr>
              <a:defRPr/>
            </a:pPr>
            <a:endParaRPr lang="en-CA" sz="300" kern="0" dirty="0"/>
          </a:p>
          <a:p>
            <a:pPr>
              <a:buClr>
                <a:srgbClr val="45D1D1"/>
              </a:buClr>
              <a:defRPr/>
            </a:pPr>
            <a:r>
              <a:rPr lang="en-CA" sz="2400" kern="0" dirty="0"/>
              <a:t>This illustration </a:t>
            </a:r>
            <a:r>
              <a:rPr lang="en-CA" sz="2400" dirty="0"/>
              <a:t>of the aging schedule results in an estimate of total uncollectible amounts of $1,532, the </a:t>
            </a:r>
            <a:r>
              <a:rPr lang="en-CA" sz="2400" i="1" dirty="0"/>
              <a:t>estimated ending balance</a:t>
            </a:r>
            <a:r>
              <a:rPr lang="en-CA" sz="2400" dirty="0"/>
              <a:t> that </a:t>
            </a:r>
            <a:r>
              <a:rPr lang="en-CA" sz="2400" i="1" dirty="0"/>
              <a:t>should be</a:t>
            </a:r>
            <a:r>
              <a:rPr lang="en-CA" sz="2400" dirty="0"/>
              <a:t> in the allowance for doubtful accounts</a:t>
            </a:r>
            <a:r>
              <a:rPr lang="en-CA" sz="2400" i="1" dirty="0"/>
              <a:t>.</a:t>
            </a:r>
            <a:r>
              <a:rPr lang="en-CA" sz="2400" dirty="0"/>
              <a:t> </a:t>
            </a:r>
          </a:p>
          <a:p>
            <a:pPr>
              <a:buClr>
                <a:srgbClr val="45D1D1"/>
              </a:buClr>
              <a:defRPr/>
            </a:pPr>
            <a:r>
              <a:rPr lang="en-CA" sz="2400" dirty="0"/>
              <a:t>From this, the adjustment to record bad debt expense (and an increase in the allowance for doubtful accounts) for 2023 would be calculated.</a:t>
            </a:r>
            <a:endParaRPr lang="en-US" sz="2400" kern="0" dirty="0"/>
          </a:p>
        </p:txBody>
      </p:sp>
      <p:pic>
        <p:nvPicPr>
          <p:cNvPr id="2" name="Picture 1">
            <a:extLst>
              <a:ext uri="{FF2B5EF4-FFF2-40B4-BE49-F238E27FC236}">
                <a16:creationId xmlns:a16="http://schemas.microsoft.com/office/drawing/2014/main" id="{505A53E0-58FF-5C4B-B9E3-BC9D7EBA1EB8}"/>
              </a:ext>
            </a:extLst>
          </p:cNvPr>
          <p:cNvPicPr>
            <a:picLocks noChangeAspect="1"/>
          </p:cNvPicPr>
          <p:nvPr/>
        </p:nvPicPr>
        <p:blipFill>
          <a:blip r:embed="rId2"/>
          <a:stretch>
            <a:fillRect/>
          </a:stretch>
        </p:blipFill>
        <p:spPr>
          <a:xfrm>
            <a:off x="1295400" y="1066800"/>
            <a:ext cx="6553200" cy="3145536"/>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9F553C6B-61FE-4CA7-AFC1-A748D4177759}"/>
              </a:ext>
            </a:extLst>
          </p:cNvPr>
          <p:cNvSpPr>
            <a:spLocks noGrp="1"/>
          </p:cNvSpPr>
          <p:nvPr>
            <p:ph type="title"/>
          </p:nvPr>
        </p:nvSpPr>
        <p:spPr/>
        <p:txBody>
          <a:bodyPr/>
          <a:lstStyle/>
          <a:p>
            <a:r>
              <a:rPr lang="en-US" altLang="en-US"/>
              <a:t>Comparison of the Two Methods</a:t>
            </a:r>
          </a:p>
        </p:txBody>
      </p:sp>
      <p:sp>
        <p:nvSpPr>
          <p:cNvPr id="45058" name="Content Placeholder 2">
            <a:extLst>
              <a:ext uri="{FF2B5EF4-FFF2-40B4-BE49-F238E27FC236}">
                <a16:creationId xmlns:a16="http://schemas.microsoft.com/office/drawing/2014/main" id="{C1A5B643-86D5-46D8-A523-4C3E809FFBB0}"/>
              </a:ext>
            </a:extLst>
          </p:cNvPr>
          <p:cNvSpPr>
            <a:spLocks noGrp="1"/>
          </p:cNvSpPr>
          <p:nvPr>
            <p:ph idx="1"/>
          </p:nvPr>
        </p:nvSpPr>
        <p:spPr/>
        <p:txBody>
          <a:bodyPr/>
          <a:lstStyle/>
          <a:p>
            <a:r>
              <a:rPr lang="en-CA" altLang="en-US" dirty="0"/>
              <a:t>It is important to recognize that the approach to recording bad debt expense using the percentage of credit sales method is different from that for the aging of accounts receivable method:</a:t>
            </a:r>
          </a:p>
          <a:p>
            <a:r>
              <a:rPr lang="en-CA" altLang="en-US" b="1" i="1" dirty="0"/>
              <a:t>Percentage of credit sales.</a:t>
            </a:r>
            <a:r>
              <a:rPr lang="en-CA" altLang="en-US" i="1" dirty="0"/>
              <a:t> </a:t>
            </a:r>
            <a:r>
              <a:rPr lang="en-CA" altLang="en-US" dirty="0"/>
              <a:t>Directly compute the amount to be recorded in the adjusting entry as </a:t>
            </a:r>
            <a:r>
              <a:rPr lang="en-CA" altLang="en-US" i="1" dirty="0"/>
              <a:t>bad debt expense</a:t>
            </a:r>
            <a:r>
              <a:rPr lang="en-CA" altLang="en-US" dirty="0"/>
              <a:t> for the period. </a:t>
            </a:r>
          </a:p>
          <a:p>
            <a:r>
              <a:rPr lang="en-CA" altLang="en-US" b="1" i="1" dirty="0"/>
              <a:t>Aging of accounts receivable.</a:t>
            </a:r>
            <a:r>
              <a:rPr lang="en-CA" altLang="en-US" i="1" dirty="0"/>
              <a:t> </a:t>
            </a:r>
            <a:r>
              <a:rPr lang="en-CA" altLang="en-US" dirty="0"/>
              <a:t>Compute the </a:t>
            </a:r>
            <a:r>
              <a:rPr lang="en-CA" altLang="en-US" i="1" dirty="0"/>
              <a:t>estimated ending balance</a:t>
            </a:r>
            <a:r>
              <a:rPr lang="en-CA" altLang="en-US" dirty="0"/>
              <a:t> of the allowance for doubtful accounts. The difference between the current balance in the account and the estimated balance is recorded as the adjusting entry for bad debt expense for the period. </a:t>
            </a:r>
          </a:p>
          <a:p>
            <a:endParaRPr lang="en-US" alt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0D83D44D-B4E7-46FF-9EED-1961DC1B3FD0}"/>
              </a:ext>
            </a:extLst>
          </p:cNvPr>
          <p:cNvSpPr>
            <a:spLocks noGrp="1"/>
          </p:cNvSpPr>
          <p:nvPr>
            <p:ph type="title"/>
          </p:nvPr>
        </p:nvSpPr>
        <p:spPr/>
        <p:txBody>
          <a:bodyPr/>
          <a:lstStyle/>
          <a:p>
            <a:r>
              <a:rPr lang="en-US" altLang="en-US" dirty="0"/>
              <a:t>Actual Write-offs Compared with Estimates</a:t>
            </a:r>
          </a:p>
        </p:txBody>
      </p:sp>
      <p:sp>
        <p:nvSpPr>
          <p:cNvPr id="46082" name="Content Placeholder 2">
            <a:extLst>
              <a:ext uri="{FF2B5EF4-FFF2-40B4-BE49-F238E27FC236}">
                <a16:creationId xmlns:a16="http://schemas.microsoft.com/office/drawing/2014/main" id="{6C7F320A-3E7F-4877-A0F3-1519A3F5F904}"/>
              </a:ext>
            </a:extLst>
          </p:cNvPr>
          <p:cNvSpPr>
            <a:spLocks noGrp="1"/>
          </p:cNvSpPr>
          <p:nvPr>
            <p:ph idx="1"/>
          </p:nvPr>
        </p:nvSpPr>
        <p:spPr/>
        <p:txBody>
          <a:bodyPr/>
          <a:lstStyle/>
          <a:p>
            <a:r>
              <a:rPr lang="en-CA" altLang="en-US" dirty="0"/>
              <a:t>The amount of uncollectible accounts actually written off seldom equals the estimated amount previously recorded. </a:t>
            </a:r>
          </a:p>
          <a:p>
            <a:r>
              <a:rPr lang="en-CA" altLang="en-US" dirty="0"/>
              <a:t>This error in estimating bad debts is taken into consideration in determining the bad debt expense at the end of the next accounting period. </a:t>
            </a:r>
          </a:p>
          <a:p>
            <a:r>
              <a:rPr lang="en-CA" altLang="en-US" dirty="0"/>
              <a:t>When estimates are found to be incorrect, financial statement values for prior annual accounting periods are not corrected.</a:t>
            </a:r>
            <a:endParaRPr lang="en-US" alt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0D83D44D-B4E7-46FF-9EED-1961DC1B3FD0}"/>
              </a:ext>
            </a:extLst>
          </p:cNvPr>
          <p:cNvSpPr>
            <a:spLocks noGrp="1"/>
          </p:cNvSpPr>
          <p:nvPr>
            <p:ph type="title"/>
          </p:nvPr>
        </p:nvSpPr>
        <p:spPr>
          <a:xfrm>
            <a:off x="457200" y="274637"/>
            <a:ext cx="8534400" cy="792163"/>
          </a:xfrm>
        </p:spPr>
        <p:txBody>
          <a:bodyPr/>
          <a:lstStyle/>
          <a:p>
            <a:r>
              <a:rPr lang="en-US" altLang="en-US" dirty="0"/>
              <a:t>Prudence in the Valuation of Accounts Receivable Part 1</a:t>
            </a:r>
          </a:p>
        </p:txBody>
      </p:sp>
      <p:sp>
        <p:nvSpPr>
          <p:cNvPr id="46082" name="Content Placeholder 2">
            <a:extLst>
              <a:ext uri="{FF2B5EF4-FFF2-40B4-BE49-F238E27FC236}">
                <a16:creationId xmlns:a16="http://schemas.microsoft.com/office/drawing/2014/main" id="{6C7F320A-3E7F-4877-A0F3-1519A3F5F904}"/>
              </a:ext>
            </a:extLst>
          </p:cNvPr>
          <p:cNvSpPr>
            <a:spLocks noGrp="1"/>
          </p:cNvSpPr>
          <p:nvPr>
            <p:ph idx="1"/>
          </p:nvPr>
        </p:nvSpPr>
        <p:spPr/>
        <p:txBody>
          <a:bodyPr/>
          <a:lstStyle/>
          <a:p>
            <a:r>
              <a:rPr lang="en-CA" b="0" i="0" dirty="0">
                <a:solidFill>
                  <a:srgbClr val="000000"/>
                </a:solidFill>
                <a:effectLst/>
              </a:rPr>
              <a:t>Prudence is the exercise of caution when making judgments under conditions of uncertainty. </a:t>
            </a:r>
          </a:p>
          <a:p>
            <a:endParaRPr lang="en-CA" sz="800" b="0" i="0" dirty="0">
              <a:solidFill>
                <a:srgbClr val="000000"/>
              </a:solidFill>
              <a:effectLst/>
            </a:endParaRPr>
          </a:p>
          <a:p>
            <a:r>
              <a:rPr lang="en-CA" b="0" i="0" dirty="0">
                <a:solidFill>
                  <a:srgbClr val="000000"/>
                </a:solidFill>
                <a:effectLst/>
              </a:rPr>
              <a:t>Potential investors, creditors, and other stakeholders prefer that managers avoid overstating both revenue and assets such as receivables, and understating both liabilities and expenses such as bad debts. </a:t>
            </a:r>
          </a:p>
          <a:p>
            <a:endParaRPr lang="en-CA" sz="800" b="0" i="0" dirty="0">
              <a:solidFill>
                <a:srgbClr val="000000"/>
              </a:solidFill>
              <a:effectLst/>
            </a:endParaRPr>
          </a:p>
          <a:p>
            <a:r>
              <a:rPr lang="en-CA" b="0" i="0" dirty="0">
                <a:solidFill>
                  <a:srgbClr val="000000"/>
                </a:solidFill>
                <a:effectLst/>
              </a:rPr>
              <a:t>Managers fulfill their duty of care when they choose prudent credit policies, which align with the preferences of stakeholders.</a:t>
            </a:r>
          </a:p>
        </p:txBody>
      </p:sp>
    </p:spTree>
    <p:extLst>
      <p:ext uri="{BB962C8B-B14F-4D97-AF65-F5344CB8AC3E}">
        <p14:creationId xmlns:p14="http://schemas.microsoft.com/office/powerpoint/2010/main" val="7216339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0D83D44D-B4E7-46FF-9EED-1961DC1B3FD0}"/>
              </a:ext>
            </a:extLst>
          </p:cNvPr>
          <p:cNvSpPr>
            <a:spLocks noGrp="1"/>
          </p:cNvSpPr>
          <p:nvPr>
            <p:ph type="title"/>
          </p:nvPr>
        </p:nvSpPr>
        <p:spPr>
          <a:xfrm>
            <a:off x="457200" y="274637"/>
            <a:ext cx="8534400" cy="792163"/>
          </a:xfrm>
        </p:spPr>
        <p:txBody>
          <a:bodyPr/>
          <a:lstStyle/>
          <a:p>
            <a:r>
              <a:rPr lang="en-US" altLang="en-US" dirty="0"/>
              <a:t>Prudence in the Valuation of Accounts Receivable Part 2</a:t>
            </a:r>
          </a:p>
        </p:txBody>
      </p:sp>
      <p:sp>
        <p:nvSpPr>
          <p:cNvPr id="46082" name="Content Placeholder 2">
            <a:extLst>
              <a:ext uri="{FF2B5EF4-FFF2-40B4-BE49-F238E27FC236}">
                <a16:creationId xmlns:a16="http://schemas.microsoft.com/office/drawing/2014/main" id="{6C7F320A-3E7F-4877-A0F3-1519A3F5F904}"/>
              </a:ext>
            </a:extLst>
          </p:cNvPr>
          <p:cNvSpPr>
            <a:spLocks noGrp="1"/>
          </p:cNvSpPr>
          <p:nvPr>
            <p:ph idx="1"/>
          </p:nvPr>
        </p:nvSpPr>
        <p:spPr/>
        <p:txBody>
          <a:bodyPr/>
          <a:lstStyle/>
          <a:p>
            <a:r>
              <a:rPr lang="en-CA" b="0" i="0" dirty="0">
                <a:solidFill>
                  <a:srgbClr val="000000"/>
                </a:solidFill>
                <a:effectLst/>
              </a:rPr>
              <a:t>Accountants are also required to exercise a professional duty of care, professional skepticism, and judgment to fulfill the requirements of the Professional Code of Conduct. </a:t>
            </a:r>
          </a:p>
          <a:p>
            <a:endParaRPr lang="en-CA" sz="800" b="0" i="0" dirty="0">
              <a:solidFill>
                <a:srgbClr val="000000"/>
              </a:solidFill>
              <a:effectLst/>
            </a:endParaRPr>
          </a:p>
          <a:p>
            <a:r>
              <a:rPr lang="en-CA" b="0" i="0" dirty="0">
                <a:solidFill>
                  <a:srgbClr val="000000"/>
                </a:solidFill>
                <a:effectLst/>
              </a:rPr>
              <a:t>They too must be prudent and are held to a higher level of responsibility because their professional education and experience combine to provide accountants with exceptional skills to assess how well managers have safeguarded assets.</a:t>
            </a:r>
            <a:endParaRPr lang="en-US" altLang="en-US" dirty="0"/>
          </a:p>
        </p:txBody>
      </p:sp>
    </p:spTree>
    <p:extLst>
      <p:ext uri="{BB962C8B-B14F-4D97-AF65-F5344CB8AC3E}">
        <p14:creationId xmlns:p14="http://schemas.microsoft.com/office/powerpoint/2010/main" val="220157439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B4C33973-2B20-4883-BCF7-57AED1BDBF1E}"/>
              </a:ext>
            </a:extLst>
          </p:cNvPr>
          <p:cNvSpPr>
            <a:spLocks noGrp="1"/>
          </p:cNvSpPr>
          <p:nvPr>
            <p:ph type="title"/>
          </p:nvPr>
        </p:nvSpPr>
        <p:spPr/>
        <p:txBody>
          <a:bodyPr/>
          <a:lstStyle/>
          <a:p>
            <a:r>
              <a:rPr lang="en-US" altLang="en-US" dirty="0"/>
              <a:t>Key Ratio Analysis – Receivables Turnover Ratio</a:t>
            </a:r>
          </a:p>
        </p:txBody>
      </p:sp>
      <p:sp>
        <p:nvSpPr>
          <p:cNvPr id="21506" name="Content Placeholder 2">
            <a:extLst>
              <a:ext uri="{FF2B5EF4-FFF2-40B4-BE49-F238E27FC236}">
                <a16:creationId xmlns:a16="http://schemas.microsoft.com/office/drawing/2014/main" id="{B30EB3A3-55C4-4A45-A0AB-1D4610A7C15F}"/>
              </a:ext>
            </a:extLst>
          </p:cNvPr>
          <p:cNvSpPr>
            <a:spLocks noGrp="1"/>
          </p:cNvSpPr>
          <p:nvPr>
            <p:ph idx="1"/>
          </p:nvPr>
        </p:nvSpPr>
        <p:spPr/>
        <p:txBody>
          <a:bodyPr/>
          <a:lstStyle/>
          <a:p>
            <a:r>
              <a:rPr lang="en-CA" altLang="en-US" b="1" dirty="0"/>
              <a:t>ANALYTICAL QUESTION</a:t>
            </a:r>
            <a:r>
              <a:rPr lang="en-CA" altLang="en-US" dirty="0"/>
              <a:t> → How effective are credit granting and collection activities?</a:t>
            </a:r>
          </a:p>
          <a:p>
            <a:r>
              <a:rPr lang="en-CA" altLang="en-US" b="1" dirty="0"/>
              <a:t>RATIO AND COMPARISONS</a:t>
            </a:r>
            <a:r>
              <a:rPr lang="en-CA" altLang="en-US" dirty="0"/>
              <a:t> → An answer to this question is provided by the receivables turnover ratio, which is computed as follows:</a:t>
            </a:r>
          </a:p>
          <a:p>
            <a:endParaRPr lang="en-US" altLang="en-US" dirty="0"/>
          </a:p>
          <a:p>
            <a:endParaRPr lang="en-US" altLang="en-US" dirty="0"/>
          </a:p>
          <a:p>
            <a:endParaRPr lang="en-CA" altLang="en-US" sz="800" b="1" dirty="0"/>
          </a:p>
          <a:p>
            <a:r>
              <a:rPr lang="en-CA" altLang="en-US" b="1" dirty="0"/>
              <a:t>Interpretations in General</a:t>
            </a:r>
            <a:r>
              <a:rPr lang="en-CA" altLang="en-US" dirty="0"/>
              <a:t> → The receivables turnover ratio reflects how many times average accounts receivable are recorded and collected during the period.</a:t>
            </a:r>
          </a:p>
          <a:p>
            <a:r>
              <a:rPr lang="en-CA" altLang="en-US" dirty="0"/>
              <a:t>The higher the ratio, the faster the collection of receivables. </a:t>
            </a:r>
            <a:endParaRPr lang="en-US" altLang="en-US" dirty="0"/>
          </a:p>
        </p:txBody>
      </p:sp>
      <p:grpSp>
        <p:nvGrpSpPr>
          <p:cNvPr id="4" name="Group 1040">
            <a:extLst>
              <a:ext uri="{FF2B5EF4-FFF2-40B4-BE49-F238E27FC236}">
                <a16:creationId xmlns:a16="http://schemas.microsoft.com/office/drawing/2014/main" id="{7FE022E7-4A79-4430-9BD9-9B49931BBFD6}"/>
              </a:ext>
            </a:extLst>
          </p:cNvPr>
          <p:cNvGrpSpPr>
            <a:grpSpLocks/>
          </p:cNvGrpSpPr>
          <p:nvPr/>
        </p:nvGrpSpPr>
        <p:grpSpPr bwMode="auto">
          <a:xfrm>
            <a:off x="609600" y="3357563"/>
            <a:ext cx="8001000" cy="985837"/>
            <a:chOff x="118" y="928"/>
            <a:chExt cx="5040" cy="621"/>
          </a:xfrm>
        </p:grpSpPr>
        <p:sp>
          <p:nvSpPr>
            <p:cNvPr id="21509" name="Rectangle 1041">
              <a:extLst>
                <a:ext uri="{FF2B5EF4-FFF2-40B4-BE49-F238E27FC236}">
                  <a16:creationId xmlns:a16="http://schemas.microsoft.com/office/drawing/2014/main" id="{367000AB-7890-4340-B2BB-95A21D692DFC}"/>
                </a:ext>
              </a:extLst>
            </p:cNvPr>
            <p:cNvSpPr>
              <a:spLocks noChangeArrowheads="1"/>
            </p:cNvSpPr>
            <p:nvPr/>
          </p:nvSpPr>
          <p:spPr bwMode="auto">
            <a:xfrm>
              <a:off x="1920" y="960"/>
              <a:ext cx="3238"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a:latin typeface="Arial" panose="020B0604020202020204" pitchFamily="34" charset="0"/>
                </a:rPr>
                <a:t>             Net Credit Sales  </a:t>
              </a:r>
            </a:p>
            <a:p>
              <a:pPr>
                <a:lnSpc>
                  <a:spcPct val="120000"/>
                </a:lnSpc>
                <a:spcBef>
                  <a:spcPct val="0"/>
                </a:spcBef>
                <a:buClrTx/>
                <a:buSzTx/>
                <a:buFontTx/>
                <a:buNone/>
              </a:pPr>
              <a:r>
                <a:rPr lang="en-CA" altLang="en-US" sz="2400" b="1">
                  <a:latin typeface="Arial" panose="020B0604020202020204" pitchFamily="34" charset="0"/>
                </a:rPr>
                <a:t>Average</a:t>
              </a:r>
              <a:r>
                <a:rPr lang="en-CA" altLang="en-US" sz="2400" b="1">
                  <a:solidFill>
                    <a:srgbClr val="C00000"/>
                  </a:solidFill>
                  <a:latin typeface="Arial" panose="020B0604020202020204" pitchFamily="34" charset="0"/>
                </a:rPr>
                <a:t> </a:t>
              </a:r>
              <a:r>
                <a:rPr lang="en-CA" altLang="en-US" sz="2400" b="1">
                  <a:latin typeface="Arial" panose="020B0604020202020204" pitchFamily="34" charset="0"/>
                </a:rPr>
                <a:t>Net Accounts Receivable</a:t>
              </a:r>
            </a:p>
          </p:txBody>
        </p:sp>
        <p:sp>
          <p:nvSpPr>
            <p:cNvPr id="21510" name="Line 1042">
              <a:extLst>
                <a:ext uri="{FF2B5EF4-FFF2-40B4-BE49-F238E27FC236}">
                  <a16:creationId xmlns:a16="http://schemas.microsoft.com/office/drawing/2014/main" id="{9CB204EC-366A-4FEE-8C6C-30EA31DF081B}"/>
                </a:ext>
              </a:extLst>
            </p:cNvPr>
            <p:cNvSpPr>
              <a:spLocks noChangeShapeType="1"/>
            </p:cNvSpPr>
            <p:nvPr/>
          </p:nvSpPr>
          <p:spPr bwMode="auto">
            <a:xfrm>
              <a:off x="1941" y="1281"/>
              <a:ext cx="2993"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1" name="Rectangle 1043">
              <a:extLst>
                <a:ext uri="{FF2B5EF4-FFF2-40B4-BE49-F238E27FC236}">
                  <a16:creationId xmlns:a16="http://schemas.microsoft.com/office/drawing/2014/main" id="{1B008BEB-398F-4E09-8424-07CB11FE60B5}"/>
                </a:ext>
              </a:extLst>
            </p:cNvPr>
            <p:cNvSpPr>
              <a:spLocks noChangeArrowheads="1"/>
            </p:cNvSpPr>
            <p:nvPr/>
          </p:nvSpPr>
          <p:spPr bwMode="auto">
            <a:xfrm>
              <a:off x="118" y="928"/>
              <a:ext cx="1514"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b="1" dirty="0">
                  <a:latin typeface="Arial" panose="020B0604020202020204" pitchFamily="34" charset="0"/>
                </a:rPr>
                <a:t>Receivables Turnover Ratio</a:t>
              </a:r>
            </a:p>
          </p:txBody>
        </p:sp>
        <p:sp>
          <p:nvSpPr>
            <p:cNvPr id="21512" name="Rectangle 1044">
              <a:extLst>
                <a:ext uri="{FF2B5EF4-FFF2-40B4-BE49-F238E27FC236}">
                  <a16:creationId xmlns:a16="http://schemas.microsoft.com/office/drawing/2014/main" id="{D2B9E03B-BFA5-40A6-9D5F-31A770C641B4}"/>
                </a:ext>
              </a:extLst>
            </p:cNvPr>
            <p:cNvSpPr>
              <a:spLocks noChangeArrowheads="1"/>
            </p:cNvSpPr>
            <p:nvPr/>
          </p:nvSpPr>
          <p:spPr bwMode="auto">
            <a:xfrm>
              <a:off x="1440" y="1134"/>
              <a:ext cx="48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latin typeface="Arial" panose="020B0604020202020204" pitchFamily="34" charset="0"/>
                </a:rPr>
                <a:t>=</a:t>
              </a:r>
            </a:p>
          </p:txBody>
        </p:sp>
      </p:grpSp>
      <p:sp>
        <p:nvSpPr>
          <p:cNvPr id="21508" name="TextBox 8">
            <a:extLst>
              <a:ext uri="{FF2B5EF4-FFF2-40B4-BE49-F238E27FC236}">
                <a16:creationId xmlns:a16="http://schemas.microsoft.com/office/drawing/2014/main" id="{AF2B1D46-B324-4048-ABF4-0F4DDC130B43}"/>
              </a:ext>
            </a:extLst>
          </p:cNvPr>
          <p:cNvSpPr txBox="1">
            <a:spLocks noChangeArrowheads="1"/>
          </p:cNvSpPr>
          <p:nvPr/>
        </p:nvSpPr>
        <p:spPr bwMode="auto">
          <a:xfrm>
            <a:off x="546100" y="3359944"/>
            <a:ext cx="8051800" cy="985837"/>
          </a:xfrm>
          <a:prstGeom prst="rect">
            <a:avLst/>
          </a:prstGeom>
          <a:noFill/>
          <a:ln w="44450">
            <a:solidFill>
              <a:srgbClr val="005654"/>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258859D0-2B29-4581-B26D-CFB01250E3C0}"/>
              </a:ext>
            </a:extLst>
          </p:cNvPr>
          <p:cNvSpPr>
            <a:spLocks noGrp="1"/>
          </p:cNvSpPr>
          <p:nvPr>
            <p:ph type="title"/>
          </p:nvPr>
        </p:nvSpPr>
        <p:spPr/>
        <p:txBody>
          <a:bodyPr/>
          <a:lstStyle/>
          <a:p>
            <a:r>
              <a:rPr lang="en-US" altLang="en-US"/>
              <a:t>Internal Control and Management Responsibility</a:t>
            </a:r>
          </a:p>
        </p:txBody>
      </p:sp>
      <p:sp>
        <p:nvSpPr>
          <p:cNvPr id="47106" name="Content Placeholder 2">
            <a:extLst>
              <a:ext uri="{FF2B5EF4-FFF2-40B4-BE49-F238E27FC236}">
                <a16:creationId xmlns:a16="http://schemas.microsoft.com/office/drawing/2014/main" id="{434D8312-170F-4A81-BABC-0DBD61D80D80}"/>
              </a:ext>
            </a:extLst>
          </p:cNvPr>
          <p:cNvSpPr>
            <a:spLocks noGrp="1"/>
          </p:cNvSpPr>
          <p:nvPr>
            <p:ph idx="1"/>
          </p:nvPr>
        </p:nvSpPr>
        <p:spPr/>
        <p:txBody>
          <a:bodyPr/>
          <a:lstStyle/>
          <a:p>
            <a:r>
              <a:rPr lang="en-CA" altLang="en-US" sz="2500" dirty="0"/>
              <a:t>The term </a:t>
            </a:r>
            <a:r>
              <a:rPr lang="en-CA" altLang="en-US" sz="2500" b="1" dirty="0"/>
              <a:t>internal control</a:t>
            </a:r>
            <a:r>
              <a:rPr lang="en-CA" altLang="en-US" sz="2500" dirty="0"/>
              <a:t> refers to the process by which a company’s board of directors, audit committee, management, and other personnel provide reasonable assurance that the accounting system minimizes the risk of both types of fraud, either misappropriation of assets or material misstatement of reported financial information. </a:t>
            </a:r>
          </a:p>
          <a:p>
            <a:r>
              <a:rPr lang="en-CA" altLang="en-US" sz="2500" dirty="0"/>
              <a:t>The internal control system must assure both the effectiveness and efficiency of the company’s operations, and its compliance with all laws and regulations. </a:t>
            </a:r>
          </a:p>
          <a:p>
            <a:r>
              <a:rPr lang="en-CA" altLang="en-US" sz="2500" dirty="0"/>
              <a:t>Accountants assess how well managers have developed a company’s system of internal control, which prevents and detects both fraud</a:t>
            </a:r>
            <a:r>
              <a:rPr lang="en-CA" altLang="en-US" sz="2500" baseline="30000" dirty="0"/>
              <a:t> </a:t>
            </a:r>
            <a:r>
              <a:rPr lang="en-CA" altLang="en-US" sz="2500" dirty="0"/>
              <a:t>and inadvertent material misstatement of the company’s financial position. </a:t>
            </a:r>
            <a:endParaRPr lang="en-US" altLang="en-US" sz="25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95CC39D5-F469-4FD1-8787-1C8D9C15EB8B}"/>
              </a:ext>
            </a:extLst>
          </p:cNvPr>
          <p:cNvSpPr>
            <a:spLocks noGrp="1"/>
          </p:cNvSpPr>
          <p:nvPr>
            <p:ph type="title"/>
          </p:nvPr>
        </p:nvSpPr>
        <p:spPr/>
        <p:txBody>
          <a:bodyPr/>
          <a:lstStyle/>
          <a:p>
            <a:r>
              <a:rPr lang="en-US" altLang="en-US"/>
              <a:t>Control over Accounts Receivable</a:t>
            </a:r>
          </a:p>
        </p:txBody>
      </p:sp>
      <p:sp>
        <p:nvSpPr>
          <p:cNvPr id="3" name="Content Placeholder 2">
            <a:extLst>
              <a:ext uri="{FF2B5EF4-FFF2-40B4-BE49-F238E27FC236}">
                <a16:creationId xmlns:a16="http://schemas.microsoft.com/office/drawing/2014/main" id="{FA801365-3641-4C76-B9E4-56C65E7225EB}"/>
              </a:ext>
            </a:extLst>
          </p:cNvPr>
          <p:cNvSpPr>
            <a:spLocks noGrp="1"/>
          </p:cNvSpPr>
          <p:nvPr>
            <p:ph idx="1"/>
          </p:nvPr>
        </p:nvSpPr>
        <p:spPr/>
        <p:txBody>
          <a:bodyPr/>
          <a:lstStyle/>
          <a:p>
            <a:pPr>
              <a:buFont typeface="Wingdings 3" pitchFamily="2" charset="2"/>
              <a:buChar char=""/>
              <a:defRPr/>
            </a:pPr>
            <a:r>
              <a:rPr lang="en-CA" dirty="0"/>
              <a:t>To guard against the extending of credit to non-worthy customers, the following practices can help minimize bad debts:</a:t>
            </a:r>
          </a:p>
          <a:p>
            <a:pPr marL="514350" indent="-514350">
              <a:buFont typeface="+mj-lt"/>
              <a:buAutoNum type="arabicPeriod"/>
              <a:defRPr/>
            </a:pPr>
            <a:r>
              <a:rPr lang="en-CA" dirty="0"/>
              <a:t>Require approval of customers’ credit history by a person independent of the sales and collection functions</a:t>
            </a:r>
          </a:p>
          <a:p>
            <a:pPr marL="514350" indent="-514350">
              <a:buFont typeface="+mj-lt"/>
              <a:buAutoNum type="arabicPeriod"/>
              <a:defRPr/>
            </a:pPr>
            <a:r>
              <a:rPr lang="en-CA" dirty="0"/>
              <a:t>Monitor the age of accounts receivable periodically, and contact customers with overdue payments</a:t>
            </a:r>
          </a:p>
          <a:p>
            <a:pPr marL="514350" indent="-514350">
              <a:buFont typeface="+mj-lt"/>
              <a:buAutoNum type="arabicPeriod"/>
              <a:defRPr/>
            </a:pPr>
            <a:r>
              <a:rPr lang="en-CA" dirty="0"/>
              <a:t>Reward both sales and collection personnel for speedy collections so that they work as a team.</a:t>
            </a:r>
          </a:p>
          <a:p>
            <a:pPr>
              <a:buFont typeface="Wingdings 3" pitchFamily="2" charset="2"/>
              <a:buChar char=""/>
              <a:defRPr/>
            </a:pPr>
            <a:endParaRPr 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435EA965-ABDA-4CAA-8301-6ECD76B72FA8}"/>
              </a:ext>
            </a:extLst>
          </p:cNvPr>
          <p:cNvSpPr>
            <a:spLocks noGrp="1"/>
          </p:cNvSpPr>
          <p:nvPr>
            <p:ph type="title"/>
          </p:nvPr>
        </p:nvSpPr>
        <p:spPr/>
        <p:txBody>
          <a:bodyPr/>
          <a:lstStyle/>
          <a:p>
            <a:r>
              <a:rPr lang="en-US" altLang="en-US" dirty="0"/>
              <a:t>Cash and Cash Equivalents Part 1</a:t>
            </a:r>
          </a:p>
        </p:txBody>
      </p:sp>
      <p:sp>
        <p:nvSpPr>
          <p:cNvPr id="49154" name="Content Placeholder 2">
            <a:extLst>
              <a:ext uri="{FF2B5EF4-FFF2-40B4-BE49-F238E27FC236}">
                <a16:creationId xmlns:a16="http://schemas.microsoft.com/office/drawing/2014/main" id="{46A169E2-A0AE-494A-B63C-8F9389E49696}"/>
              </a:ext>
            </a:extLst>
          </p:cNvPr>
          <p:cNvSpPr>
            <a:spLocks noGrp="1"/>
          </p:cNvSpPr>
          <p:nvPr>
            <p:ph idx="1"/>
          </p:nvPr>
        </p:nvSpPr>
        <p:spPr/>
        <p:txBody>
          <a:bodyPr/>
          <a:lstStyle/>
          <a:p>
            <a:r>
              <a:rPr lang="en-CA" altLang="en-US" b="1" dirty="0"/>
              <a:t>Cash</a:t>
            </a:r>
            <a:r>
              <a:rPr lang="en-CA" altLang="en-US" dirty="0"/>
              <a:t> is defined as money or any instrument that banks will accept for deposit and immediate credit to the company’s account, such as a cheque, money order, or bank draft. </a:t>
            </a:r>
          </a:p>
          <a:p>
            <a:endParaRPr lang="en-CA" altLang="en-US" sz="800" dirty="0"/>
          </a:p>
          <a:p>
            <a:r>
              <a:rPr lang="en-CA" altLang="en-US" dirty="0"/>
              <a:t>Cash is usually divided into three categories: cash on hand, cash deposited in banks, and other instruments that meet the definition of cash.</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C31BDEBD-61CE-4A16-BA6A-0FC8F0103653}"/>
              </a:ext>
            </a:extLst>
          </p:cNvPr>
          <p:cNvSpPr>
            <a:spLocks noGrp="1"/>
          </p:cNvSpPr>
          <p:nvPr>
            <p:ph type="title"/>
          </p:nvPr>
        </p:nvSpPr>
        <p:spPr/>
        <p:txBody>
          <a:bodyPr/>
          <a:lstStyle/>
          <a:p>
            <a:r>
              <a:rPr lang="en-US" altLang="en-US" dirty="0"/>
              <a:t>Cash and Cash Equivalents Part 2</a:t>
            </a:r>
          </a:p>
        </p:txBody>
      </p:sp>
      <p:sp>
        <p:nvSpPr>
          <p:cNvPr id="50178" name="Content Placeholder 2">
            <a:extLst>
              <a:ext uri="{FF2B5EF4-FFF2-40B4-BE49-F238E27FC236}">
                <a16:creationId xmlns:a16="http://schemas.microsoft.com/office/drawing/2014/main" id="{88BE2675-4D60-4094-9B22-B6CCD96FBF40}"/>
              </a:ext>
            </a:extLst>
          </p:cNvPr>
          <p:cNvSpPr>
            <a:spLocks noGrp="1"/>
          </p:cNvSpPr>
          <p:nvPr>
            <p:ph idx="1"/>
          </p:nvPr>
        </p:nvSpPr>
        <p:spPr/>
        <p:txBody>
          <a:bodyPr/>
          <a:lstStyle/>
          <a:p>
            <a:r>
              <a:rPr lang="en-CA" altLang="en-US" b="1" dirty="0"/>
              <a:t>Cash equivalents</a:t>
            </a:r>
            <a:r>
              <a:rPr lang="en-CA" altLang="en-US" dirty="0"/>
              <a:t> are as short-term, highly liquid investments that are readily convertible to known amounts of cash and that are subject to an insignificant risk of changes in value. </a:t>
            </a:r>
          </a:p>
          <a:p>
            <a:endParaRPr lang="en-CA" altLang="en-US" sz="800" dirty="0"/>
          </a:p>
          <a:p>
            <a:r>
              <a:rPr lang="en-CA" altLang="en-US" dirty="0"/>
              <a:t>Typical instruments included as cash equivalents are bank certificates of deposit, and Treasury bills issued by the government to finance its activities.</a:t>
            </a:r>
            <a:endParaRPr lang="en-US"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627194AB-710D-4BB7-B052-209E5889193F}"/>
              </a:ext>
            </a:extLst>
          </p:cNvPr>
          <p:cNvSpPr>
            <a:spLocks noGrp="1"/>
          </p:cNvSpPr>
          <p:nvPr>
            <p:ph type="title"/>
          </p:nvPr>
        </p:nvSpPr>
        <p:spPr/>
        <p:txBody>
          <a:bodyPr/>
          <a:lstStyle/>
          <a:p>
            <a:r>
              <a:rPr lang="en-US" altLang="en-US"/>
              <a:t>Cash Management</a:t>
            </a:r>
          </a:p>
        </p:txBody>
      </p:sp>
      <p:sp>
        <p:nvSpPr>
          <p:cNvPr id="3" name="Content Placeholder 2">
            <a:extLst>
              <a:ext uri="{FF2B5EF4-FFF2-40B4-BE49-F238E27FC236}">
                <a16:creationId xmlns:a16="http://schemas.microsoft.com/office/drawing/2014/main" id="{14583594-4346-4D79-B8D1-82F65F81B6B2}"/>
              </a:ext>
            </a:extLst>
          </p:cNvPr>
          <p:cNvSpPr>
            <a:spLocks noGrp="1"/>
          </p:cNvSpPr>
          <p:nvPr>
            <p:ph idx="1"/>
          </p:nvPr>
        </p:nvSpPr>
        <p:spPr/>
        <p:txBody>
          <a:bodyPr/>
          <a:lstStyle/>
          <a:p>
            <a:pPr>
              <a:buFont typeface="Wingdings 3" pitchFamily="2" charset="2"/>
              <a:buChar char=""/>
              <a:defRPr/>
            </a:pPr>
            <a:r>
              <a:rPr lang="en-US" dirty="0"/>
              <a:t>Cash Management Procedures include:</a:t>
            </a:r>
          </a:p>
          <a:p>
            <a:pPr marL="514350" indent="-514350">
              <a:buFont typeface="+mj-lt"/>
              <a:buAutoNum type="arabicPeriod"/>
              <a:defRPr/>
            </a:pPr>
            <a:r>
              <a:rPr lang="en-CA" dirty="0"/>
              <a:t>Accurate accounting so that reports of cash flows and balances may be prepared.</a:t>
            </a:r>
          </a:p>
          <a:p>
            <a:pPr marL="514350" indent="-514350">
              <a:buFont typeface="+mj-lt"/>
              <a:buAutoNum type="arabicPeriod"/>
              <a:defRPr/>
            </a:pPr>
            <a:r>
              <a:rPr lang="en-CA" dirty="0"/>
              <a:t>Controls to ensure that enough cash is on hand to meet (a) current operating needs, (b) maturing liabilities, and (c) unexpected emergencies.</a:t>
            </a:r>
          </a:p>
          <a:p>
            <a:pPr marL="514350" indent="-514350">
              <a:buFont typeface="+mj-lt"/>
              <a:buAutoNum type="arabicPeriod"/>
              <a:defRPr/>
            </a:pPr>
            <a:r>
              <a:rPr lang="en-CA" dirty="0"/>
              <a:t>Prevention of the accumulation of excess amounts of idle cash. Idle cash earns no revenue; therefore, it is often invested in securities to earn revenue (return) until it is needed for operations.</a:t>
            </a:r>
          </a:p>
          <a:p>
            <a:pPr>
              <a:buFont typeface="Wingdings 3" pitchFamily="2" charset="2"/>
              <a:buChar char=""/>
              <a:defRPr/>
            </a:pPr>
            <a:endParaRPr 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A9F59BE0-F7EF-4093-AA0D-E93A008F326C}"/>
              </a:ext>
            </a:extLst>
          </p:cNvPr>
          <p:cNvSpPr>
            <a:spLocks noGrp="1"/>
          </p:cNvSpPr>
          <p:nvPr>
            <p:ph type="title"/>
          </p:nvPr>
        </p:nvSpPr>
        <p:spPr/>
        <p:txBody>
          <a:bodyPr/>
          <a:lstStyle/>
          <a:p>
            <a:r>
              <a:rPr lang="en-US" altLang="en-US"/>
              <a:t>Internal Control of Cash</a:t>
            </a:r>
          </a:p>
        </p:txBody>
      </p:sp>
      <p:sp>
        <p:nvSpPr>
          <p:cNvPr id="3" name="Content Placeholder 2">
            <a:extLst>
              <a:ext uri="{FF2B5EF4-FFF2-40B4-BE49-F238E27FC236}">
                <a16:creationId xmlns:a16="http://schemas.microsoft.com/office/drawing/2014/main" id="{FA1756C6-5E69-4A90-8FD2-4F9092AD5ABB}"/>
              </a:ext>
            </a:extLst>
          </p:cNvPr>
          <p:cNvSpPr>
            <a:spLocks noGrp="1"/>
          </p:cNvSpPr>
          <p:nvPr>
            <p:ph idx="1"/>
          </p:nvPr>
        </p:nvSpPr>
        <p:spPr/>
        <p:txBody>
          <a:bodyPr/>
          <a:lstStyle/>
          <a:p>
            <a:pPr>
              <a:buFont typeface="Wingdings 3" pitchFamily="2" charset="2"/>
              <a:buChar char=""/>
              <a:defRPr/>
            </a:pPr>
            <a:r>
              <a:rPr lang="en-CA" dirty="0"/>
              <a:t>Because cash is the asset most vulnerable to theft and fraud, a significant number of internal control procedures should focus on cash. </a:t>
            </a:r>
          </a:p>
          <a:p>
            <a:pPr>
              <a:buFont typeface="Wingdings 3" pitchFamily="2" charset="2"/>
              <a:buChar char=""/>
              <a:defRPr/>
            </a:pPr>
            <a:endParaRPr lang="en-CA" sz="900" dirty="0"/>
          </a:p>
          <a:p>
            <a:pPr>
              <a:buFont typeface="Wingdings 3" pitchFamily="2" charset="2"/>
              <a:buChar char=""/>
              <a:defRPr/>
            </a:pPr>
            <a:r>
              <a:rPr lang="en-CA" dirty="0"/>
              <a:t>Effective internal control of cash should include the following:</a:t>
            </a:r>
          </a:p>
          <a:p>
            <a:pPr marL="514350" indent="-514350">
              <a:buFont typeface="+mj-lt"/>
              <a:buAutoNum type="arabicPeriod"/>
              <a:defRPr/>
            </a:pPr>
            <a:r>
              <a:rPr lang="en-CA" dirty="0"/>
              <a:t>Separation of duties related to cash handling and recordkeeping.</a:t>
            </a:r>
          </a:p>
          <a:p>
            <a:pPr marL="514350" indent="-514350">
              <a:buFont typeface="+mj-lt"/>
              <a:buAutoNum type="arabicPeriod"/>
              <a:defRPr/>
            </a:pPr>
            <a:r>
              <a:rPr lang="en-CA" dirty="0"/>
              <a:t>Prescribed policies and procedures.</a:t>
            </a:r>
            <a:endParaRPr 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406CBC27-84F4-4826-89FC-3227A605D8CD}"/>
              </a:ext>
            </a:extLst>
          </p:cNvPr>
          <p:cNvSpPr>
            <a:spLocks noGrp="1"/>
          </p:cNvSpPr>
          <p:nvPr>
            <p:ph type="title"/>
          </p:nvPr>
        </p:nvSpPr>
        <p:spPr/>
        <p:txBody>
          <a:bodyPr/>
          <a:lstStyle/>
          <a:p>
            <a:r>
              <a:rPr lang="en-US" altLang="en-US"/>
              <a:t>Separation of Duties</a:t>
            </a:r>
          </a:p>
        </p:txBody>
      </p:sp>
      <p:sp>
        <p:nvSpPr>
          <p:cNvPr id="3" name="Content Placeholder 2">
            <a:extLst>
              <a:ext uri="{FF2B5EF4-FFF2-40B4-BE49-F238E27FC236}">
                <a16:creationId xmlns:a16="http://schemas.microsoft.com/office/drawing/2014/main" id="{87CE64C1-2497-45DA-B0A0-FC1D16A7855C}"/>
              </a:ext>
            </a:extLst>
          </p:cNvPr>
          <p:cNvSpPr>
            <a:spLocks noGrp="1"/>
          </p:cNvSpPr>
          <p:nvPr>
            <p:ph idx="1"/>
          </p:nvPr>
        </p:nvSpPr>
        <p:spPr/>
        <p:txBody>
          <a:bodyPr/>
          <a:lstStyle/>
          <a:p>
            <a:pPr>
              <a:buFont typeface="Wingdings 3" pitchFamily="2" charset="2"/>
              <a:buChar char=""/>
              <a:defRPr/>
            </a:pPr>
            <a:r>
              <a:rPr lang="en-CA" dirty="0"/>
              <a:t>Separation of duties related to cash handling and recordkeeping:</a:t>
            </a:r>
          </a:p>
          <a:p>
            <a:pPr marL="514350" indent="-514350">
              <a:buFont typeface="+mj-lt"/>
              <a:buAutoNum type="alphaLcPeriod"/>
              <a:defRPr/>
            </a:pPr>
            <a:r>
              <a:rPr lang="en-CA" sz="2400" dirty="0"/>
              <a:t>Complete separation of the tasks of receiving cash and disbursing cash ensures that the individual responsible for depositing cash has no authority to sign cheques.</a:t>
            </a:r>
          </a:p>
          <a:p>
            <a:pPr marL="514350" indent="-514350">
              <a:buFont typeface="+mj-lt"/>
              <a:buAutoNum type="alphaLcPeriod"/>
              <a:defRPr/>
            </a:pPr>
            <a:r>
              <a:rPr lang="en-CA" sz="2400" dirty="0"/>
              <a:t>Complete separation of the procedures of accounting for cash receipts and cash disbursements ensures, for example, that those handling sales returns do not create fictitious returns to conceal cash shortages.</a:t>
            </a:r>
          </a:p>
          <a:p>
            <a:pPr marL="514350" indent="-514350">
              <a:buFont typeface="+mj-lt"/>
              <a:buAutoNum type="alphaLcPeriod"/>
              <a:defRPr/>
            </a:pPr>
            <a:r>
              <a:rPr lang="en-CA" sz="2400" dirty="0"/>
              <a:t>Complete separation of the physical handling of cash and all phases of the accounting function ensures that those either receiving or paying cash have no authority to make accounting entries.</a:t>
            </a:r>
          </a:p>
          <a:p>
            <a:pPr>
              <a:buFont typeface="Wingdings 3" pitchFamily="2" charset="2"/>
              <a:buChar char=""/>
              <a:defRPr/>
            </a:pPr>
            <a:endParaRPr 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FB45EA18-F596-4544-97E7-7081BBF8E846}"/>
              </a:ext>
            </a:extLst>
          </p:cNvPr>
          <p:cNvSpPr>
            <a:spLocks noGrp="1"/>
          </p:cNvSpPr>
          <p:nvPr>
            <p:ph type="title"/>
          </p:nvPr>
        </p:nvSpPr>
        <p:spPr>
          <a:xfrm>
            <a:off x="457200" y="274637"/>
            <a:ext cx="8229600" cy="792163"/>
          </a:xfrm>
        </p:spPr>
        <p:txBody>
          <a:bodyPr/>
          <a:lstStyle/>
          <a:p>
            <a:r>
              <a:rPr lang="en-US" altLang="en-US" dirty="0"/>
              <a:t>Separation of Duties Contributes to Strong Internal Control</a:t>
            </a:r>
          </a:p>
        </p:txBody>
      </p:sp>
      <p:pic>
        <p:nvPicPr>
          <p:cNvPr id="54274" name="Picture 3">
            <a:extLst>
              <a:ext uri="{FF2B5EF4-FFF2-40B4-BE49-F238E27FC236}">
                <a16:creationId xmlns:a16="http://schemas.microsoft.com/office/drawing/2014/main" id="{24EBA1C8-9AAA-476A-B5BA-6CBA5A87F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81200"/>
            <a:ext cx="8674100"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0469A65-D3B1-407A-9009-3A9CDED49342}"/>
              </a:ext>
            </a:extLst>
          </p:cNvPr>
          <p:cNvSpPr>
            <a:spLocks noGrp="1"/>
          </p:cNvSpPr>
          <p:nvPr>
            <p:ph type="title"/>
          </p:nvPr>
        </p:nvSpPr>
        <p:spPr/>
        <p:txBody>
          <a:bodyPr/>
          <a:lstStyle/>
          <a:p>
            <a:r>
              <a:rPr lang="en-US" altLang="en-US"/>
              <a:t>Typical Internal Controls for Cash</a:t>
            </a:r>
          </a:p>
        </p:txBody>
      </p:sp>
      <p:graphicFrame>
        <p:nvGraphicFramePr>
          <p:cNvPr id="4" name="Content Placeholder 3">
            <a:extLst>
              <a:ext uri="{FF2B5EF4-FFF2-40B4-BE49-F238E27FC236}">
                <a16:creationId xmlns:a16="http://schemas.microsoft.com/office/drawing/2014/main" id="{ED06EAEA-9F81-4009-B043-BF6AEA67A9D2}"/>
              </a:ext>
            </a:extLst>
          </p:cNvPr>
          <p:cNvGraphicFramePr>
            <a:graphicFrameLocks noGrp="1"/>
          </p:cNvGraphicFramePr>
          <p:nvPr>
            <p:ph idx="1"/>
          </p:nvPr>
        </p:nvGraphicFramePr>
        <p:xfrm>
          <a:off x="533400" y="1143000"/>
          <a:ext cx="8078788" cy="5273677"/>
        </p:xfrm>
        <a:graphic>
          <a:graphicData uri="http://schemas.openxmlformats.org/drawingml/2006/table">
            <a:tbl>
              <a:tblPr/>
              <a:tblGrid>
                <a:gridCol w="1196642">
                  <a:extLst>
                    <a:ext uri="{9D8B030D-6E8A-4147-A177-3AD203B41FA5}">
                      <a16:colId xmlns:a16="http://schemas.microsoft.com/office/drawing/2014/main" val="20000"/>
                    </a:ext>
                  </a:extLst>
                </a:gridCol>
                <a:gridCol w="78539">
                  <a:extLst>
                    <a:ext uri="{9D8B030D-6E8A-4147-A177-3AD203B41FA5}">
                      <a16:colId xmlns:a16="http://schemas.microsoft.com/office/drawing/2014/main" val="20001"/>
                    </a:ext>
                  </a:extLst>
                </a:gridCol>
                <a:gridCol w="6803607">
                  <a:extLst>
                    <a:ext uri="{9D8B030D-6E8A-4147-A177-3AD203B41FA5}">
                      <a16:colId xmlns:a16="http://schemas.microsoft.com/office/drawing/2014/main" val="20002"/>
                    </a:ext>
                  </a:extLst>
                </a:gridCol>
              </a:tblGrid>
              <a:tr h="674666">
                <a:tc>
                  <a:txBody>
                    <a:bodyPr/>
                    <a:lstStyle/>
                    <a:p>
                      <a:pPr fontAlgn="base"/>
                      <a:r>
                        <a:rPr lang="en-CA" sz="1400" b="1">
                          <a:effectLst/>
                          <a:latin typeface="inherit"/>
                        </a:rPr>
                        <a:t>Internal Control Component</a:t>
                      </a:r>
                      <a:endParaRPr lang="en-CA" sz="1400" b="0">
                        <a:effectLst/>
                        <a:latin typeface="Times New Roman" panose="02020603050405020304" pitchFamily="18" charset="0"/>
                      </a:endParaRPr>
                    </a:p>
                  </a:txBody>
                  <a:tcPr marL="53139" marR="26569" marT="26571" marB="7972"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400" b="0">
                          <a:effectLst/>
                          <a:latin typeface="Times New Roman" panose="02020603050405020304" pitchFamily="18" charset="0"/>
                        </a:rPr>
                        <a:t> </a:t>
                      </a:r>
                    </a:p>
                  </a:txBody>
                  <a:tcPr marL="26569" marR="26569" marT="26571" marB="7972"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400" b="1" dirty="0">
                          <a:effectLst/>
                          <a:latin typeface="inherit"/>
                        </a:rPr>
                        <a:t>Prescribed Policies or Procedures</a:t>
                      </a:r>
                      <a:endParaRPr lang="en-CA" sz="1400" b="0" dirty="0">
                        <a:effectLst/>
                        <a:latin typeface="Times New Roman" panose="02020603050405020304" pitchFamily="18" charset="0"/>
                      </a:endParaRPr>
                    </a:p>
                  </a:txBody>
                  <a:tcPr marL="26569" marR="53139" marT="26571" marB="7972" anchor="b">
                    <a:lnL>
                      <a:noFill/>
                    </a:lnL>
                    <a:lnR>
                      <a:noFill/>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37696">
                <a:tc>
                  <a:txBody>
                    <a:bodyPr/>
                    <a:lstStyle/>
                    <a:p>
                      <a:pPr algn="l" fontAlgn="base"/>
                      <a:r>
                        <a:rPr lang="en-CA" sz="1400" b="0" i="1">
                          <a:effectLst/>
                          <a:latin typeface="inherit"/>
                        </a:rPr>
                        <a:t>Cash budget</a:t>
                      </a:r>
                      <a:endParaRPr lang="en-CA" sz="1400" b="0">
                        <a:effectLst/>
                        <a:latin typeface="Times New Roman" panose="02020603050405020304" pitchFamily="18" charset="0"/>
                      </a:endParaRPr>
                    </a:p>
                  </a:txBody>
                  <a:tcPr marL="53139" marR="26569" marT="26571" marB="7972"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b="0">
                          <a:effectLst/>
                          <a:latin typeface="Times New Roman" panose="02020603050405020304" pitchFamily="18" charset="0"/>
                        </a:rPr>
                        <a:t> </a:t>
                      </a:r>
                    </a:p>
                  </a:txBody>
                  <a:tcPr marL="26569" marR="26569" marT="26571" marB="7972"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l" fontAlgn="base"/>
                      <a:r>
                        <a:rPr lang="en-CA" sz="1400" b="0">
                          <a:effectLst/>
                          <a:latin typeface="Times New Roman" panose="02020603050405020304" pitchFamily="18" charset="0"/>
                        </a:rPr>
                        <a:t>Prepare a monthly forecast of cash receipts, disbursements, and balances for the year, and require that managers document and justify any deviations from the budget each month. This is important in order to detect differences quickly and remedy them as soon as possible.</a:t>
                      </a:r>
                    </a:p>
                  </a:txBody>
                  <a:tcPr marL="26569" marR="53139" marT="26571" marB="7972"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945137">
                <a:tc>
                  <a:txBody>
                    <a:bodyPr/>
                    <a:lstStyle/>
                    <a:p>
                      <a:pPr algn="l" fontAlgn="base"/>
                      <a:r>
                        <a:rPr lang="en-CA" sz="1400" b="0" i="1" dirty="0">
                          <a:effectLst/>
                          <a:latin typeface="inherit"/>
                        </a:rPr>
                        <a:t>Cash receipts</a:t>
                      </a:r>
                      <a:endParaRPr lang="en-CA" sz="1400" b="0" dirty="0">
                        <a:effectLst/>
                        <a:latin typeface="Times New Roman" panose="02020603050405020304" pitchFamily="18" charset="0"/>
                      </a:endParaRPr>
                    </a:p>
                  </a:txBody>
                  <a:tcPr marL="53139" marR="26569" marT="26571" marB="7972" anchor="ctr">
                    <a:lnL>
                      <a:noFill/>
                    </a:lnL>
                    <a:lnR>
                      <a:noFill/>
                    </a:lnR>
                    <a:lnT>
                      <a:noFill/>
                    </a:lnT>
                    <a:lnB>
                      <a:noFill/>
                    </a:lnB>
                    <a:solidFill>
                      <a:srgbClr val="FFFFFF"/>
                    </a:solidFill>
                  </a:tcPr>
                </a:tc>
                <a:tc>
                  <a:txBody>
                    <a:bodyPr/>
                    <a:lstStyle/>
                    <a:p>
                      <a:pPr fontAlgn="base"/>
                      <a:r>
                        <a:rPr lang="en-CA" sz="1400" b="0">
                          <a:effectLst/>
                          <a:latin typeface="Times New Roman" panose="02020603050405020304" pitchFamily="18" charset="0"/>
                        </a:rPr>
                        <a:t> </a:t>
                      </a:r>
                    </a:p>
                  </a:txBody>
                  <a:tcPr marL="26569" marR="26569" marT="26571" marB="7972" anchor="ctr">
                    <a:lnL>
                      <a:noFill/>
                    </a:lnL>
                    <a:lnR>
                      <a:noFill/>
                    </a:lnR>
                    <a:lnT>
                      <a:noFill/>
                    </a:lnT>
                    <a:lnB>
                      <a:noFill/>
                    </a:lnB>
                    <a:solidFill>
                      <a:srgbClr val="FFFFFF"/>
                    </a:solidFill>
                  </a:tcPr>
                </a:tc>
                <a:tc>
                  <a:txBody>
                    <a:bodyPr/>
                    <a:lstStyle/>
                    <a:p>
                      <a:pPr algn="l" fontAlgn="base"/>
                      <a:r>
                        <a:rPr lang="en-CA" sz="1400" b="0">
                          <a:effectLst/>
                          <a:latin typeface="Times New Roman" panose="02020603050405020304" pitchFamily="18" charset="0"/>
                        </a:rPr>
                        <a:t>Prepare a listing of cash receipts on a daily basis. In practice, this often takes the form of cash register receipts or a descriptive list of incoming cheques. Require that all cash receipts be deposited in a bank daily. Keep any cash on hand under strict control. In so doing, the amount of actual cash accessible is kept to a minimum each day and the loss from theft is minimized.</a:t>
                      </a:r>
                    </a:p>
                  </a:txBody>
                  <a:tcPr marL="26569" marR="53139" marT="26571" marB="7972" anchor="ctr">
                    <a:lnL>
                      <a:noFill/>
                    </a:lnL>
                    <a:lnR>
                      <a:noFill/>
                    </a:lnR>
                    <a:lnT>
                      <a:noFill/>
                    </a:lnT>
                    <a:lnB>
                      <a:noFill/>
                    </a:lnB>
                    <a:solidFill>
                      <a:srgbClr val="FFFFFF"/>
                    </a:solidFill>
                  </a:tcPr>
                </a:tc>
                <a:extLst>
                  <a:ext uri="{0D108BD9-81ED-4DB2-BD59-A6C34878D82A}">
                    <a16:rowId xmlns:a16="http://schemas.microsoft.com/office/drawing/2014/main" val="10002"/>
                  </a:ext>
                </a:extLst>
              </a:tr>
              <a:tr h="1314789">
                <a:tc>
                  <a:txBody>
                    <a:bodyPr/>
                    <a:lstStyle/>
                    <a:p>
                      <a:pPr algn="l" fontAlgn="base"/>
                      <a:r>
                        <a:rPr lang="en-CA" sz="1400" b="0" i="1">
                          <a:effectLst/>
                          <a:latin typeface="inherit"/>
                        </a:rPr>
                        <a:t>Cash payments</a:t>
                      </a:r>
                      <a:endParaRPr lang="en-CA" sz="1400" b="0">
                        <a:effectLst/>
                        <a:latin typeface="Times New Roman" panose="02020603050405020304" pitchFamily="18" charset="0"/>
                      </a:endParaRPr>
                    </a:p>
                  </a:txBody>
                  <a:tcPr marL="53139" marR="26569" marT="26571" marB="7972" anchor="ctr">
                    <a:lnL>
                      <a:noFill/>
                    </a:lnL>
                    <a:lnR>
                      <a:noFill/>
                    </a:lnR>
                    <a:lnT>
                      <a:noFill/>
                    </a:lnT>
                    <a:lnB>
                      <a:noFill/>
                    </a:lnB>
                    <a:solidFill>
                      <a:srgbClr val="FFFFFF"/>
                    </a:solidFill>
                  </a:tcPr>
                </a:tc>
                <a:tc>
                  <a:txBody>
                    <a:bodyPr/>
                    <a:lstStyle/>
                    <a:p>
                      <a:pPr fontAlgn="base"/>
                      <a:r>
                        <a:rPr lang="en-CA" sz="1400" b="0">
                          <a:effectLst/>
                          <a:latin typeface="Times New Roman" panose="02020603050405020304" pitchFamily="18" charset="0"/>
                        </a:rPr>
                        <a:t> </a:t>
                      </a:r>
                    </a:p>
                  </a:txBody>
                  <a:tcPr marL="26569" marR="26569" marT="26571" marB="7972" anchor="ctr">
                    <a:lnL>
                      <a:noFill/>
                    </a:lnL>
                    <a:lnR>
                      <a:noFill/>
                    </a:lnR>
                    <a:lnT>
                      <a:noFill/>
                    </a:lnT>
                    <a:lnB>
                      <a:noFill/>
                    </a:lnB>
                    <a:solidFill>
                      <a:srgbClr val="FFFFFF"/>
                    </a:solidFill>
                  </a:tcPr>
                </a:tc>
                <a:tc>
                  <a:txBody>
                    <a:bodyPr/>
                    <a:lstStyle/>
                    <a:p>
                      <a:pPr algn="l" fontAlgn="base"/>
                      <a:r>
                        <a:rPr lang="en-CA" sz="1400" b="0">
                          <a:effectLst/>
                          <a:latin typeface="Times New Roman" panose="02020603050405020304" pitchFamily="18" charset="0"/>
                        </a:rPr>
                        <a:t>Require separate approval of the purchases and other expenditures and separate approval of the actual cash payments. Assign the cash-payment approval and the actual cheque-signing responsibilities to different individuals. Use pre-numbered cheques and pay special attention to payments by electronic funds transfers, since the bank does not process controlled documents (cheques). Once in place, this procedure will require at least four employees to collude to misappropriate funds (steal cash) from the company.</a:t>
                      </a:r>
                    </a:p>
                  </a:txBody>
                  <a:tcPr marL="26569" marR="53139" marT="26571" marB="7972" anchor="ctr">
                    <a:lnL>
                      <a:noFill/>
                    </a:lnL>
                    <a:lnR>
                      <a:noFill/>
                    </a:lnR>
                    <a:lnT>
                      <a:noFill/>
                    </a:lnT>
                    <a:lnB>
                      <a:noFill/>
                    </a:lnB>
                    <a:solidFill>
                      <a:srgbClr val="FFFFFF"/>
                    </a:solidFill>
                  </a:tcPr>
                </a:tc>
                <a:extLst>
                  <a:ext uri="{0D108BD9-81ED-4DB2-BD59-A6C34878D82A}">
                    <a16:rowId xmlns:a16="http://schemas.microsoft.com/office/drawing/2014/main" val="10003"/>
                  </a:ext>
                </a:extLst>
              </a:tr>
              <a:tr h="926723">
                <a:tc>
                  <a:txBody>
                    <a:bodyPr/>
                    <a:lstStyle/>
                    <a:p>
                      <a:pPr algn="l" fontAlgn="base"/>
                      <a:r>
                        <a:rPr lang="en-CA" sz="1400" b="0" i="1">
                          <a:effectLst/>
                          <a:latin typeface="inherit"/>
                        </a:rPr>
                        <a:t>Independent internal verification</a:t>
                      </a:r>
                      <a:endParaRPr lang="en-CA" sz="1400" b="0">
                        <a:effectLst/>
                        <a:latin typeface="Times New Roman" panose="02020603050405020304" pitchFamily="18" charset="0"/>
                      </a:endParaRPr>
                    </a:p>
                  </a:txBody>
                  <a:tcPr marL="53139" marR="26569" marT="26571" marB="7972" anchor="ctr">
                    <a:lnL>
                      <a:noFill/>
                    </a:lnL>
                    <a:lnR>
                      <a:noFill/>
                    </a:lnR>
                    <a:lnT>
                      <a:noFill/>
                    </a:lnT>
                    <a:lnB>
                      <a:noFill/>
                    </a:lnB>
                    <a:solidFill>
                      <a:srgbClr val="FFFFFF"/>
                    </a:solidFill>
                  </a:tcPr>
                </a:tc>
                <a:tc>
                  <a:txBody>
                    <a:bodyPr/>
                    <a:lstStyle/>
                    <a:p>
                      <a:pPr fontAlgn="base"/>
                      <a:r>
                        <a:rPr lang="en-CA" sz="1400" b="0">
                          <a:effectLst/>
                          <a:latin typeface="Times New Roman" panose="02020603050405020304" pitchFamily="18" charset="0"/>
                        </a:rPr>
                        <a:t> </a:t>
                      </a:r>
                    </a:p>
                  </a:txBody>
                  <a:tcPr marL="26569" marR="26569" marT="26571" marB="7972" anchor="ctr">
                    <a:lnL>
                      <a:noFill/>
                    </a:lnL>
                    <a:lnR>
                      <a:noFill/>
                    </a:lnR>
                    <a:lnT>
                      <a:noFill/>
                    </a:lnT>
                    <a:lnB>
                      <a:noFill/>
                    </a:lnB>
                    <a:solidFill>
                      <a:srgbClr val="FFFFFF"/>
                    </a:solidFill>
                  </a:tcPr>
                </a:tc>
                <a:tc>
                  <a:txBody>
                    <a:bodyPr/>
                    <a:lstStyle/>
                    <a:p>
                      <a:pPr algn="l" fontAlgn="base"/>
                      <a:r>
                        <a:rPr lang="en-CA" sz="1400" b="0">
                          <a:effectLst/>
                          <a:latin typeface="Times New Roman" panose="02020603050405020304" pitchFamily="18" charset="0"/>
                        </a:rPr>
                        <a:t>Require comparison, by an independent supervisor, of cash receipts to bank deposits and of cheques issued to invoices. Require monthly reconciliation of bank accounts with the cash accounts on the company’s books (discussed in detail in the next section). This is important in order to detect differences quickly and remedy them as soon as possible.</a:t>
                      </a:r>
                    </a:p>
                  </a:txBody>
                  <a:tcPr marL="26569" marR="53139" marT="26571" marB="7972" anchor="ctr">
                    <a:lnL>
                      <a:noFill/>
                    </a:lnL>
                    <a:lnR>
                      <a:noFill/>
                    </a:lnR>
                    <a:lnT>
                      <a:noFill/>
                    </a:lnT>
                    <a:lnB>
                      <a:noFill/>
                    </a:lnB>
                    <a:solidFill>
                      <a:srgbClr val="FFFFFF"/>
                    </a:solidFill>
                  </a:tcPr>
                </a:tc>
                <a:extLst>
                  <a:ext uri="{0D108BD9-81ED-4DB2-BD59-A6C34878D82A}">
                    <a16:rowId xmlns:a16="http://schemas.microsoft.com/office/drawing/2014/main" val="10004"/>
                  </a:ext>
                </a:extLst>
              </a:tr>
              <a:tr h="674666">
                <a:tc>
                  <a:txBody>
                    <a:bodyPr/>
                    <a:lstStyle/>
                    <a:p>
                      <a:pPr algn="l" fontAlgn="base"/>
                      <a:r>
                        <a:rPr lang="en-CA" sz="1400" b="0" i="1">
                          <a:effectLst/>
                          <a:latin typeface="inherit"/>
                        </a:rPr>
                        <a:t>Rotation of duties</a:t>
                      </a:r>
                      <a:endParaRPr lang="en-CA" sz="1400" b="0">
                        <a:effectLst/>
                        <a:latin typeface="Times New Roman" panose="02020603050405020304" pitchFamily="18" charset="0"/>
                      </a:endParaRPr>
                    </a:p>
                  </a:txBody>
                  <a:tcPr marL="53139" marR="26569" marT="26571" marB="7972" anchor="ctr">
                    <a:lnL>
                      <a:noFill/>
                    </a:lnL>
                    <a:lnR>
                      <a:noFill/>
                    </a:lnR>
                    <a:lnT>
                      <a:noFill/>
                    </a:lnT>
                    <a:lnB>
                      <a:noFill/>
                    </a:lnB>
                    <a:solidFill>
                      <a:srgbClr val="FFFFFF"/>
                    </a:solidFill>
                  </a:tcPr>
                </a:tc>
                <a:tc>
                  <a:txBody>
                    <a:bodyPr/>
                    <a:lstStyle/>
                    <a:p>
                      <a:pPr fontAlgn="base"/>
                      <a:r>
                        <a:rPr lang="en-CA" sz="1400" b="0">
                          <a:effectLst/>
                          <a:latin typeface="Times New Roman" panose="02020603050405020304" pitchFamily="18" charset="0"/>
                        </a:rPr>
                        <a:t> </a:t>
                      </a:r>
                    </a:p>
                  </a:txBody>
                  <a:tcPr marL="26569" marR="26569" marT="26571" marB="7972" anchor="ctr">
                    <a:lnL>
                      <a:noFill/>
                    </a:lnL>
                    <a:lnR>
                      <a:noFill/>
                    </a:lnR>
                    <a:lnT>
                      <a:noFill/>
                    </a:lnT>
                    <a:lnB>
                      <a:noFill/>
                    </a:lnB>
                    <a:solidFill>
                      <a:srgbClr val="FFFFFF"/>
                    </a:solidFill>
                  </a:tcPr>
                </a:tc>
                <a:tc>
                  <a:txBody>
                    <a:bodyPr/>
                    <a:lstStyle/>
                    <a:p>
                      <a:pPr algn="l" fontAlgn="base"/>
                      <a:r>
                        <a:rPr lang="en-CA" sz="1400" b="0" dirty="0">
                          <a:effectLst/>
                          <a:latin typeface="Times New Roman" panose="02020603050405020304" pitchFamily="18" charset="0"/>
                        </a:rPr>
                        <a:t>Require that employees take vacations, and rotate their duties. Any economic crime already under way will be interrupted by an extended absence of a perpetrator; this provides an opportunity for others to detect the crime.</a:t>
                      </a:r>
                    </a:p>
                  </a:txBody>
                  <a:tcPr marL="26569" marR="53139" marT="26571" marB="7972"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39E88518-AE4C-428D-974A-8B5DD8BB4673}"/>
              </a:ext>
            </a:extLst>
          </p:cNvPr>
          <p:cNvSpPr>
            <a:spLocks noGrp="1"/>
          </p:cNvSpPr>
          <p:nvPr>
            <p:ph type="title"/>
          </p:nvPr>
        </p:nvSpPr>
        <p:spPr>
          <a:xfrm>
            <a:off x="457200" y="274637"/>
            <a:ext cx="8229600" cy="792163"/>
          </a:xfrm>
        </p:spPr>
        <p:txBody>
          <a:bodyPr/>
          <a:lstStyle/>
          <a:p>
            <a:r>
              <a:rPr lang="en-US" altLang="en-US" dirty="0"/>
              <a:t>Reconciliation of the Cash Accounts and the Bank Statements</a:t>
            </a:r>
          </a:p>
        </p:txBody>
      </p:sp>
      <p:sp>
        <p:nvSpPr>
          <p:cNvPr id="3" name="Content Placeholder 2">
            <a:extLst>
              <a:ext uri="{FF2B5EF4-FFF2-40B4-BE49-F238E27FC236}">
                <a16:creationId xmlns:a16="http://schemas.microsoft.com/office/drawing/2014/main" id="{7C649DAE-C1F4-4F95-BBBC-F57E6227C676}"/>
              </a:ext>
            </a:extLst>
          </p:cNvPr>
          <p:cNvSpPr>
            <a:spLocks noGrp="1"/>
          </p:cNvSpPr>
          <p:nvPr>
            <p:ph idx="1"/>
          </p:nvPr>
        </p:nvSpPr>
        <p:spPr/>
        <p:txBody>
          <a:bodyPr/>
          <a:lstStyle/>
          <a:p>
            <a:pPr>
              <a:buFont typeface="Wingdings 3" pitchFamily="2" charset="2"/>
              <a:buChar char=""/>
              <a:defRPr/>
            </a:pPr>
            <a:r>
              <a:rPr lang="en-CA" dirty="0"/>
              <a:t>Proper use of the bank accounts of a business can be an important internal control procedure for cash. </a:t>
            </a:r>
          </a:p>
          <a:p>
            <a:pPr>
              <a:buFont typeface="Wingdings 3" pitchFamily="2" charset="2"/>
              <a:buChar char=""/>
              <a:defRPr/>
            </a:pPr>
            <a:r>
              <a:rPr lang="en-CA" dirty="0"/>
              <a:t>Every month, the bank provides the company (the depositor) with a </a:t>
            </a:r>
            <a:r>
              <a:rPr lang="en-CA" b="1" dirty="0"/>
              <a:t>bank statement</a:t>
            </a:r>
            <a:r>
              <a:rPr lang="en-CA" dirty="0"/>
              <a:t>. </a:t>
            </a:r>
          </a:p>
          <a:p>
            <a:pPr>
              <a:buFont typeface="Wingdings 3" pitchFamily="2" charset="2"/>
              <a:buChar char=""/>
              <a:defRPr/>
            </a:pPr>
            <a:r>
              <a:rPr lang="en-CA" dirty="0"/>
              <a:t>The bank statement and the online banking site list: </a:t>
            </a:r>
          </a:p>
          <a:p>
            <a:pPr marL="514350" indent="-514350">
              <a:buFont typeface="+mj-lt"/>
              <a:buAutoNum type="arabicPeriod"/>
              <a:defRPr/>
            </a:pPr>
            <a:r>
              <a:rPr lang="en-CA" sz="2400" dirty="0"/>
              <a:t>Each paper or electronic deposit recorded by the bank during the period, </a:t>
            </a:r>
          </a:p>
          <a:p>
            <a:pPr marL="514350" indent="-514350">
              <a:buFont typeface="+mj-lt"/>
              <a:buAutoNum type="arabicPeriod"/>
              <a:defRPr/>
            </a:pPr>
            <a:r>
              <a:rPr lang="en-CA" sz="2400" dirty="0"/>
              <a:t>Each paper or electronic cheque cleared by the bank during the period, </a:t>
            </a:r>
          </a:p>
          <a:p>
            <a:pPr marL="514350" indent="-514350">
              <a:buFont typeface="+mj-lt"/>
              <a:buAutoNum type="arabicPeriod"/>
              <a:defRPr/>
            </a:pPr>
            <a:r>
              <a:rPr lang="en-CA" sz="2400" dirty="0"/>
              <a:t>The bank charges or deductions (such as service charges) made directly to the company’s account by the bank, and </a:t>
            </a:r>
          </a:p>
          <a:p>
            <a:pPr marL="514350" indent="-514350">
              <a:buFont typeface="+mj-lt"/>
              <a:buAutoNum type="arabicPeriod"/>
              <a:defRPr/>
            </a:pPr>
            <a:r>
              <a:rPr lang="en-CA" sz="2400" dirty="0"/>
              <a:t>The balance in the company’s account. </a:t>
            </a:r>
            <a:endParaRPr lang="en-US" sz="24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EDADA94F-26DE-408E-9C0F-9F6CD958C45B}"/>
              </a:ext>
            </a:extLst>
          </p:cNvPr>
          <p:cNvSpPr>
            <a:spLocks noGrp="1"/>
          </p:cNvSpPr>
          <p:nvPr>
            <p:ph type="title"/>
          </p:nvPr>
        </p:nvSpPr>
        <p:spPr/>
        <p:txBody>
          <a:bodyPr/>
          <a:lstStyle/>
          <a:p>
            <a:r>
              <a:rPr lang="en-US" altLang="en-US"/>
              <a:t>Need for Reconciliation</a:t>
            </a:r>
          </a:p>
        </p:txBody>
      </p:sp>
      <p:sp>
        <p:nvSpPr>
          <p:cNvPr id="56322" name="Content Placeholder 2">
            <a:extLst>
              <a:ext uri="{FF2B5EF4-FFF2-40B4-BE49-F238E27FC236}">
                <a16:creationId xmlns:a16="http://schemas.microsoft.com/office/drawing/2014/main" id="{6E112253-6A3F-4042-875F-AF6F25E116CD}"/>
              </a:ext>
            </a:extLst>
          </p:cNvPr>
          <p:cNvSpPr>
            <a:spLocks noGrp="1"/>
          </p:cNvSpPr>
          <p:nvPr>
            <p:ph idx="1"/>
          </p:nvPr>
        </p:nvSpPr>
        <p:spPr/>
        <p:txBody>
          <a:bodyPr/>
          <a:lstStyle/>
          <a:p>
            <a:r>
              <a:rPr lang="en-CA" altLang="en-US" dirty="0"/>
              <a:t>A</a:t>
            </a:r>
            <a:r>
              <a:rPr lang="en-CA" dirty="0"/>
              <a:t> </a:t>
            </a:r>
            <a:r>
              <a:rPr lang="en-CA" b="1" i="1" dirty="0"/>
              <a:t>bank reconciliation</a:t>
            </a:r>
            <a:r>
              <a:rPr lang="en-CA" b="1" dirty="0"/>
              <a:t> </a:t>
            </a:r>
            <a:r>
              <a:rPr lang="en-CA" dirty="0"/>
              <a:t>is a schedule that explains the difference between the ending cash balance in the company’s records and the ending cash balance reported by the bank on the monthly bank statement (or on the online banking site).</a:t>
            </a:r>
          </a:p>
          <a:p>
            <a:endParaRPr lang="en-CA" sz="800" b="1" dirty="0"/>
          </a:p>
          <a:p>
            <a:r>
              <a:rPr lang="en-CA" altLang="en-US" dirty="0"/>
              <a:t>A bank reconciliation should be completed for each separate chequing account at the end of each month.</a:t>
            </a:r>
          </a:p>
          <a:p>
            <a:endParaRPr lang="en-CA" altLang="en-US" sz="800" dirty="0"/>
          </a:p>
          <a:p>
            <a:r>
              <a:rPr lang="en-CA" altLang="en-US" dirty="0"/>
              <a:t>Usually, the ending cash balance as shown on the bank statement does not agree with the ending cash balance shown by the related cash ledger account on the books of the company. </a:t>
            </a:r>
          </a:p>
          <a:p>
            <a:endParaRPr lang="en-US"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91BCDECB-7CC6-471D-B85D-D04D2C427604}"/>
              </a:ext>
            </a:extLst>
          </p:cNvPr>
          <p:cNvSpPr>
            <a:spLocks noGrp="1"/>
          </p:cNvSpPr>
          <p:nvPr>
            <p:ph type="title"/>
          </p:nvPr>
        </p:nvSpPr>
        <p:spPr/>
        <p:txBody>
          <a:bodyPr/>
          <a:lstStyle/>
          <a:p>
            <a:r>
              <a:rPr lang="en-US" altLang="en-US"/>
              <a:t>Bank Reconciliation Part 1</a:t>
            </a:r>
          </a:p>
        </p:txBody>
      </p:sp>
      <p:sp>
        <p:nvSpPr>
          <p:cNvPr id="57346" name="Content Placeholder 2">
            <a:extLst>
              <a:ext uri="{FF2B5EF4-FFF2-40B4-BE49-F238E27FC236}">
                <a16:creationId xmlns:a16="http://schemas.microsoft.com/office/drawing/2014/main" id="{BE66F03C-0FDC-42E4-AA9C-3FF3D191DA5F}"/>
              </a:ext>
            </a:extLst>
          </p:cNvPr>
          <p:cNvSpPr>
            <a:spLocks noGrp="1"/>
          </p:cNvSpPr>
          <p:nvPr>
            <p:ph idx="1"/>
          </p:nvPr>
        </p:nvSpPr>
        <p:spPr/>
        <p:txBody>
          <a:bodyPr/>
          <a:lstStyle/>
          <a:p>
            <a:r>
              <a:rPr lang="en-CA" altLang="en-US" dirty="0"/>
              <a:t>The flow of documents that have not reached either the company or the bank by the end of the accounting period is illustrated below:</a:t>
            </a:r>
            <a:endParaRPr lang="en-US" altLang="en-US" dirty="0"/>
          </a:p>
        </p:txBody>
      </p:sp>
      <p:pic>
        <p:nvPicPr>
          <p:cNvPr id="57347" name="Picture 3">
            <a:extLst>
              <a:ext uri="{FF2B5EF4-FFF2-40B4-BE49-F238E27FC236}">
                <a16:creationId xmlns:a16="http://schemas.microsoft.com/office/drawing/2014/main" id="{BF181EBA-80E2-4875-95EA-D5E02FF1C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2971800"/>
            <a:ext cx="8915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C15845C1-2456-4BCB-82D0-E82691C09BE9}"/>
              </a:ext>
            </a:extLst>
          </p:cNvPr>
          <p:cNvSpPr>
            <a:spLocks noGrp="1"/>
          </p:cNvSpPr>
          <p:nvPr>
            <p:ph type="title"/>
          </p:nvPr>
        </p:nvSpPr>
        <p:spPr/>
        <p:txBody>
          <a:bodyPr/>
          <a:lstStyle/>
          <a:p>
            <a:r>
              <a:rPr lang="en-US" altLang="en-US"/>
              <a:t>Bank Reconciliation Part 2</a:t>
            </a:r>
          </a:p>
        </p:txBody>
      </p:sp>
      <p:sp>
        <p:nvSpPr>
          <p:cNvPr id="58370" name="Content Placeholder 2">
            <a:extLst>
              <a:ext uri="{FF2B5EF4-FFF2-40B4-BE49-F238E27FC236}">
                <a16:creationId xmlns:a16="http://schemas.microsoft.com/office/drawing/2014/main" id="{70D2B23C-61D5-4767-8A57-DE5816DC4731}"/>
              </a:ext>
            </a:extLst>
          </p:cNvPr>
          <p:cNvSpPr>
            <a:spLocks noGrp="1"/>
          </p:cNvSpPr>
          <p:nvPr>
            <p:ph idx="1"/>
          </p:nvPr>
        </p:nvSpPr>
        <p:spPr/>
        <p:txBody>
          <a:bodyPr/>
          <a:lstStyle/>
          <a:p>
            <a:r>
              <a:rPr lang="en-CA" altLang="en-US" dirty="0"/>
              <a:t>Most common causes of differences between the ending bank balance and the ending book balance of cash are as follows:</a:t>
            </a:r>
          </a:p>
          <a:p>
            <a:pPr marL="788988" lvl="1" indent="-514350">
              <a:buFont typeface="Calibri" panose="020F0502020204030204" pitchFamily="34" charset="0"/>
              <a:buAutoNum type="arabicPeriod"/>
            </a:pPr>
            <a:r>
              <a:rPr lang="en-CA" altLang="en-US" sz="2400" dirty="0"/>
              <a:t>Outstanding cheques</a:t>
            </a:r>
            <a:endParaRPr lang="en-CA" altLang="en-US" sz="2400" dirty="0">
              <a:solidFill>
                <a:schemeClr val="tx1"/>
              </a:solidFill>
            </a:endParaRPr>
          </a:p>
          <a:p>
            <a:pPr marL="788988" lvl="1" indent="-514350">
              <a:buFont typeface="Calibri" panose="020F0502020204030204" pitchFamily="34" charset="0"/>
              <a:buAutoNum type="arabicPeriod"/>
            </a:pPr>
            <a:r>
              <a:rPr lang="en-CA" altLang="en-US" sz="2400" dirty="0">
                <a:solidFill>
                  <a:schemeClr val="tx1"/>
                </a:solidFill>
              </a:rPr>
              <a:t>Deposits in transit </a:t>
            </a:r>
          </a:p>
          <a:p>
            <a:pPr marL="788988" lvl="1" indent="-514350">
              <a:buFont typeface="Calibri" panose="020F0502020204030204" pitchFamily="34" charset="0"/>
              <a:buAutoNum type="arabicPeriod"/>
            </a:pPr>
            <a:r>
              <a:rPr lang="en-CA" altLang="en-US" sz="2400" dirty="0"/>
              <a:t>NSF cheques</a:t>
            </a:r>
          </a:p>
          <a:p>
            <a:pPr marL="788988" lvl="1" indent="-514350">
              <a:buFont typeface="Calibri" panose="020F0502020204030204" pitchFamily="34" charset="0"/>
              <a:buAutoNum type="arabicPeriod"/>
            </a:pPr>
            <a:r>
              <a:rPr lang="en-CA" altLang="en-US" sz="2400" dirty="0">
                <a:solidFill>
                  <a:schemeClr val="tx1"/>
                </a:solidFill>
              </a:rPr>
              <a:t>Bank service charges</a:t>
            </a:r>
          </a:p>
          <a:p>
            <a:pPr marL="788988" lvl="1" indent="-514350">
              <a:buFont typeface="Calibri" panose="020F0502020204030204" pitchFamily="34" charset="0"/>
              <a:buAutoNum type="arabicPeriod"/>
            </a:pPr>
            <a:r>
              <a:rPr lang="en-CA" altLang="en-US" sz="2400" dirty="0"/>
              <a:t>Interest</a:t>
            </a:r>
            <a:endParaRPr lang="en-CA" altLang="en-US" sz="2400" dirty="0">
              <a:solidFill>
                <a:schemeClr val="tx1"/>
              </a:solidFill>
            </a:endParaRPr>
          </a:p>
          <a:p>
            <a:pPr marL="788988" lvl="1" indent="-514350">
              <a:buFont typeface="Calibri" panose="020F0502020204030204" pitchFamily="34" charset="0"/>
              <a:buAutoNum type="arabicPeriod"/>
            </a:pPr>
            <a:r>
              <a:rPr lang="en-CA" altLang="en-US" sz="2400" dirty="0">
                <a:solidFill>
                  <a:schemeClr val="tx1"/>
                </a:solidFill>
              </a:rPr>
              <a:t>Errors</a:t>
            </a:r>
            <a:endParaRPr lang="en-US" altLang="en-US" sz="2400" dirty="0">
              <a:solidFill>
                <a:schemeClr val="tx1"/>
              </a:solidFill>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12D4FD61-FFEB-428C-A532-35FFBB4DF0C3}"/>
              </a:ext>
            </a:extLst>
          </p:cNvPr>
          <p:cNvSpPr>
            <a:spLocks noGrp="1"/>
          </p:cNvSpPr>
          <p:nvPr>
            <p:ph type="title"/>
          </p:nvPr>
        </p:nvSpPr>
        <p:spPr/>
        <p:txBody>
          <a:bodyPr/>
          <a:lstStyle/>
          <a:p>
            <a:r>
              <a:rPr lang="en-US" altLang="en-US" dirty="0"/>
              <a:t>Bank Reconciliation Illustrated</a:t>
            </a:r>
          </a:p>
        </p:txBody>
      </p:sp>
      <p:sp>
        <p:nvSpPr>
          <p:cNvPr id="24578" name="Content Placeholder 2">
            <a:extLst>
              <a:ext uri="{FF2B5EF4-FFF2-40B4-BE49-F238E27FC236}">
                <a16:creationId xmlns:a16="http://schemas.microsoft.com/office/drawing/2014/main" id="{3CCB1439-E6E7-4AA6-85BE-3463732C48BF}"/>
              </a:ext>
            </a:extLst>
          </p:cNvPr>
          <p:cNvSpPr>
            <a:spLocks noGrp="1"/>
          </p:cNvSpPr>
          <p:nvPr>
            <p:ph idx="1"/>
          </p:nvPr>
        </p:nvSpPr>
        <p:spPr/>
        <p:txBody>
          <a:bodyPr/>
          <a:lstStyle/>
          <a:p>
            <a:r>
              <a:rPr lang="en-US" altLang="en-US"/>
              <a:t>The general format for the bank reconciliation is:</a:t>
            </a:r>
          </a:p>
        </p:txBody>
      </p:sp>
      <p:graphicFrame>
        <p:nvGraphicFramePr>
          <p:cNvPr id="4" name="Table 3">
            <a:extLst>
              <a:ext uri="{FF2B5EF4-FFF2-40B4-BE49-F238E27FC236}">
                <a16:creationId xmlns:a16="http://schemas.microsoft.com/office/drawing/2014/main" id="{8E053FC9-A14F-409A-BB2E-34DB4EEB1BC2}"/>
              </a:ext>
            </a:extLst>
          </p:cNvPr>
          <p:cNvGraphicFramePr>
            <a:graphicFrameLocks noGrp="1"/>
          </p:cNvGraphicFramePr>
          <p:nvPr>
            <p:extLst>
              <p:ext uri="{D42A27DB-BD31-4B8C-83A1-F6EECF244321}">
                <p14:modId xmlns:p14="http://schemas.microsoft.com/office/powerpoint/2010/main" val="1740870709"/>
              </p:ext>
            </p:extLst>
          </p:nvPr>
        </p:nvGraphicFramePr>
        <p:xfrm>
          <a:off x="865188" y="2133600"/>
          <a:ext cx="7413624" cy="2170298"/>
        </p:xfrm>
        <a:graphic>
          <a:graphicData uri="http://schemas.openxmlformats.org/drawingml/2006/table">
            <a:tbl>
              <a:tblPr/>
              <a:tblGrid>
                <a:gridCol w="2565229">
                  <a:extLst>
                    <a:ext uri="{9D8B030D-6E8A-4147-A177-3AD203B41FA5}">
                      <a16:colId xmlns:a16="http://schemas.microsoft.com/office/drawing/2014/main" val="20000"/>
                    </a:ext>
                  </a:extLst>
                </a:gridCol>
                <a:gridCol w="178115">
                  <a:extLst>
                    <a:ext uri="{9D8B030D-6E8A-4147-A177-3AD203B41FA5}">
                      <a16:colId xmlns:a16="http://schemas.microsoft.com/office/drawing/2014/main" val="20001"/>
                    </a:ext>
                  </a:extLst>
                </a:gridCol>
                <a:gridCol w="533428">
                  <a:extLst>
                    <a:ext uri="{9D8B030D-6E8A-4147-A177-3AD203B41FA5}">
                      <a16:colId xmlns:a16="http://schemas.microsoft.com/office/drawing/2014/main" val="20002"/>
                    </a:ext>
                  </a:extLst>
                </a:gridCol>
                <a:gridCol w="228612">
                  <a:extLst>
                    <a:ext uri="{9D8B030D-6E8A-4147-A177-3AD203B41FA5}">
                      <a16:colId xmlns:a16="http://schemas.microsoft.com/office/drawing/2014/main" val="20003"/>
                    </a:ext>
                  </a:extLst>
                </a:gridCol>
                <a:gridCol w="3098657">
                  <a:extLst>
                    <a:ext uri="{9D8B030D-6E8A-4147-A177-3AD203B41FA5}">
                      <a16:colId xmlns:a16="http://schemas.microsoft.com/office/drawing/2014/main" val="20004"/>
                    </a:ext>
                  </a:extLst>
                </a:gridCol>
                <a:gridCol w="178115">
                  <a:extLst>
                    <a:ext uri="{9D8B030D-6E8A-4147-A177-3AD203B41FA5}">
                      <a16:colId xmlns:a16="http://schemas.microsoft.com/office/drawing/2014/main" val="20005"/>
                    </a:ext>
                  </a:extLst>
                </a:gridCol>
                <a:gridCol w="631468">
                  <a:extLst>
                    <a:ext uri="{9D8B030D-6E8A-4147-A177-3AD203B41FA5}">
                      <a16:colId xmlns:a16="http://schemas.microsoft.com/office/drawing/2014/main" val="20006"/>
                    </a:ext>
                  </a:extLst>
                </a:gridCol>
              </a:tblGrid>
              <a:tr h="457067">
                <a:tc>
                  <a:txBody>
                    <a:bodyPr/>
                    <a:lstStyle/>
                    <a:p>
                      <a:pPr algn="l" fontAlgn="base"/>
                      <a:r>
                        <a:rPr lang="en-CA" sz="1400">
                          <a:effectLst/>
                          <a:latin typeface="Times New Roman" panose="02020603050405020304" pitchFamily="18" charset="0"/>
                        </a:rPr>
                        <a:t>Ending cash balance per books</a:t>
                      </a:r>
                    </a:p>
                  </a:txBody>
                  <a:tcPr marL="152713" marR="76357" marT="76331" marB="22899"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r" fontAlgn="base"/>
                      <a:r>
                        <a:rPr lang="en-CA" sz="1400">
                          <a:effectLst/>
                          <a:latin typeface="Times New Roman" panose="02020603050405020304" pitchFamily="18" charset="0"/>
                        </a:rPr>
                        <a:t>$xxx</a:t>
                      </a:r>
                    </a:p>
                  </a:txBody>
                  <a:tcPr marL="76357" marR="76357" marT="76331" marB="22899"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Ending cash balance per bank statement</a:t>
                      </a:r>
                    </a:p>
                  </a:txBody>
                  <a:tcPr marL="76357" marR="76357" marT="76331" marB="22899"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r" fontAlgn="base"/>
                      <a:r>
                        <a:rPr lang="en-CA" sz="1400">
                          <a:effectLst/>
                          <a:latin typeface="Times New Roman" panose="02020603050405020304" pitchFamily="18" charset="0"/>
                        </a:rPr>
                        <a:t>$xxx</a:t>
                      </a:r>
                    </a:p>
                  </a:txBody>
                  <a:tcPr marL="76357" marR="152713" marT="76331" marB="22899"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0"/>
                  </a:ext>
                </a:extLst>
              </a:tr>
              <a:tr h="312528">
                <a:tc>
                  <a:txBody>
                    <a:bodyPr/>
                    <a:lstStyle/>
                    <a:p>
                      <a:pPr algn="l" fontAlgn="base"/>
                      <a:r>
                        <a:rPr lang="en-CA" sz="1400" dirty="0">
                          <a:effectLst/>
                          <a:latin typeface="Times New Roman" panose="02020603050405020304" pitchFamily="18" charset="0"/>
                        </a:rPr>
                        <a:t>+ Interest paid by bank</a:t>
                      </a:r>
                    </a:p>
                  </a:txBody>
                  <a:tcPr marL="152713" marR="76357" marT="76331" marB="2289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r" fontAlgn="base"/>
                      <a:r>
                        <a:rPr lang="en-CA" sz="1400">
                          <a:effectLst/>
                          <a:latin typeface="Times New Roman" panose="02020603050405020304" pitchFamily="18" charset="0"/>
                        </a:rPr>
                        <a:t>xx</a:t>
                      </a:r>
                    </a:p>
                  </a:txBody>
                  <a:tcPr marL="76357" marR="76357" marT="76331" marB="22899" anchor="ctr">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l" fontAlgn="base"/>
                      <a:r>
                        <a:rPr lang="en-CA" sz="1400">
                          <a:effectLst/>
                          <a:latin typeface="Times New Roman" panose="02020603050405020304" pitchFamily="18" charset="0"/>
                        </a:rPr>
                        <a:t>+ Deposits in transit</a:t>
                      </a:r>
                    </a:p>
                  </a:txBody>
                  <a:tcPr marL="76357" marR="76357" marT="76331" marB="22899" anchor="ctr">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r" fontAlgn="base"/>
                      <a:r>
                        <a:rPr lang="en-CA" sz="1400">
                          <a:effectLst/>
                          <a:latin typeface="Times New Roman" panose="02020603050405020304" pitchFamily="18" charset="0"/>
                        </a:rPr>
                        <a:t>xx</a:t>
                      </a:r>
                    </a:p>
                  </a:txBody>
                  <a:tcPr marL="76357" marR="152713" marT="76331" marB="2289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449251">
                <a:tc>
                  <a:txBody>
                    <a:bodyPr/>
                    <a:lstStyle/>
                    <a:p>
                      <a:pPr algn="l" fontAlgn="base"/>
                      <a:r>
                        <a:rPr lang="en-CA" sz="1400">
                          <a:effectLst/>
                          <a:latin typeface="Times New Roman" panose="02020603050405020304" pitchFamily="18" charset="0"/>
                        </a:rPr>
                        <a:t>− NSF cheques/Service charges</a:t>
                      </a:r>
                    </a:p>
                  </a:txBody>
                  <a:tcPr marL="152713" marR="76357" marT="76331" marB="2289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r" fontAlgn="base"/>
                      <a:r>
                        <a:rPr lang="en-CA" sz="1400">
                          <a:effectLst/>
                          <a:latin typeface="Times New Roman" panose="02020603050405020304" pitchFamily="18" charset="0"/>
                        </a:rPr>
                        <a:t>xx</a:t>
                      </a:r>
                    </a:p>
                  </a:txBody>
                  <a:tcPr marL="76357" marR="76357" marT="76331" marB="22899" anchor="ctr">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l" fontAlgn="base"/>
                      <a:r>
                        <a:rPr lang="en-CA" sz="1400">
                          <a:effectLst/>
                          <a:latin typeface="Times New Roman" panose="02020603050405020304" pitchFamily="18" charset="0"/>
                        </a:rPr>
                        <a:t>− Outstanding cheques</a:t>
                      </a:r>
                    </a:p>
                  </a:txBody>
                  <a:tcPr marL="76357" marR="76357" marT="76331" marB="22899" anchor="ctr">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r" fontAlgn="base"/>
                      <a:r>
                        <a:rPr lang="en-CA" sz="1400">
                          <a:effectLst/>
                          <a:latin typeface="Times New Roman" panose="02020603050405020304" pitchFamily="18" charset="0"/>
                        </a:rPr>
                        <a:t>xx</a:t>
                      </a:r>
                    </a:p>
                  </a:txBody>
                  <a:tcPr marL="76357" marR="152713" marT="76331" marB="2289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525826">
                <a:tc>
                  <a:txBody>
                    <a:bodyPr/>
                    <a:lstStyle/>
                    <a:p>
                      <a:pPr fontAlgn="base"/>
                      <a:r>
                        <a:rPr lang="en-CA" sz="1400" u="none" strike="noStrike" dirty="0">
                          <a:effectLst/>
                          <a:latin typeface="Times New Roman" panose="02020603050405020304" pitchFamily="18" charset="0"/>
                        </a:rPr>
                        <a:t>± Company errors                       </a:t>
                      </a:r>
                      <a:endParaRPr lang="en-CA" sz="1400" dirty="0">
                        <a:effectLst/>
                        <a:latin typeface="Times New Roman" panose="02020603050405020304" pitchFamily="18" charset="0"/>
                      </a:endParaRPr>
                    </a:p>
                  </a:txBody>
                  <a:tcPr marL="152713" marR="76357" marT="76331" marB="22899"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r" fontAlgn="base"/>
                      <a:r>
                        <a:rPr lang="en-CA" sz="1400" u="none" strike="noStrike">
                          <a:effectLst/>
                          <a:latin typeface="Times New Roman" panose="02020603050405020304" pitchFamily="18" charset="0"/>
                        </a:rPr>
                        <a:t>    xx</a:t>
                      </a:r>
                      <a:endParaRPr lang="en-CA" sz="1400">
                        <a:effectLst/>
                        <a:latin typeface="Times New Roman" panose="02020603050405020304" pitchFamily="18" charset="0"/>
                      </a:endParaRPr>
                    </a:p>
                  </a:txBody>
                  <a:tcPr marL="76357" marR="76357" marT="76331" marB="22899" anchor="ctr">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fontAlgn="base"/>
                      <a:r>
                        <a:rPr lang="en-CA" sz="1400" u="none" strike="noStrike" dirty="0">
                          <a:effectLst/>
                          <a:latin typeface="Times New Roman" panose="02020603050405020304" pitchFamily="18" charset="0"/>
                        </a:rPr>
                        <a:t>± Bank errors                                              </a:t>
                      </a:r>
                      <a:endParaRPr lang="en-CA" sz="1400" dirty="0">
                        <a:effectLst/>
                        <a:latin typeface="Times New Roman" panose="02020603050405020304" pitchFamily="18" charset="0"/>
                      </a:endParaRPr>
                    </a:p>
                  </a:txBody>
                  <a:tcPr marL="76357" marR="76357" marT="76331" marB="22899" anchor="ctr">
                    <a:lnL>
                      <a:noFill/>
                    </a:lnL>
                    <a:lnR>
                      <a:noFill/>
                    </a:lnR>
                    <a:lnT>
                      <a:noFill/>
                    </a:lnT>
                    <a:lnB>
                      <a:noFill/>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a:noFill/>
                    </a:lnB>
                    <a:solidFill>
                      <a:srgbClr val="FFFFFF"/>
                    </a:solidFill>
                  </a:tcPr>
                </a:tc>
                <a:tc>
                  <a:txBody>
                    <a:bodyPr/>
                    <a:lstStyle/>
                    <a:p>
                      <a:pPr algn="r" fontAlgn="base"/>
                      <a:r>
                        <a:rPr lang="en-CA" sz="1400" u="none" strike="noStrike">
                          <a:effectLst/>
                          <a:latin typeface="Times New Roman" panose="02020603050405020304" pitchFamily="18" charset="0"/>
                        </a:rPr>
                        <a:t>    xx</a:t>
                      </a:r>
                      <a:endParaRPr lang="en-CA" sz="1400">
                        <a:effectLst/>
                        <a:latin typeface="Times New Roman" panose="02020603050405020304" pitchFamily="18" charset="0"/>
                      </a:endParaRPr>
                    </a:p>
                  </a:txBody>
                  <a:tcPr marL="76357" marR="152713" marT="76331" marB="22899"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425440">
                <a:tc>
                  <a:txBody>
                    <a:bodyPr/>
                    <a:lstStyle/>
                    <a:p>
                      <a:pPr fontAlgn="base"/>
                      <a:r>
                        <a:rPr lang="en-CA" sz="1400">
                          <a:effectLst/>
                          <a:latin typeface="Times New Roman" panose="02020603050405020304" pitchFamily="18" charset="0"/>
                        </a:rPr>
                        <a:t>Ending correct cash balance</a:t>
                      </a:r>
                    </a:p>
                  </a:txBody>
                  <a:tcPr marL="152713" marR="76357" marT="76331" marB="22899"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sz="1400" u="none" strike="noStrike">
                          <a:effectLst/>
                          <a:latin typeface="Times New Roman" panose="02020603050405020304" pitchFamily="18" charset="0"/>
                        </a:rPr>
                        <a:t>$xxx</a:t>
                      </a:r>
                      <a:endParaRPr lang="en-CA" sz="1400">
                        <a:effectLst/>
                        <a:latin typeface="Times New Roman" panose="02020603050405020304" pitchFamily="18" charset="0"/>
                      </a:endParaRPr>
                    </a:p>
                  </a:txBody>
                  <a:tcPr marL="76357" marR="76357" marT="76331" marB="22899"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l" fontAlgn="base"/>
                      <a:r>
                        <a:rPr lang="en-CA" sz="1400">
                          <a:effectLst/>
                          <a:latin typeface="Times New Roman" panose="02020603050405020304" pitchFamily="18" charset="0"/>
                        </a:rPr>
                        <a:t>Ending correct cash balance</a:t>
                      </a:r>
                    </a:p>
                  </a:txBody>
                  <a:tcPr marL="76357" marR="76357" marT="76331" marB="22899"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400">
                          <a:effectLst/>
                          <a:latin typeface="Times New Roman" panose="02020603050405020304" pitchFamily="18" charset="0"/>
                        </a:rPr>
                        <a:t> </a:t>
                      </a:r>
                    </a:p>
                  </a:txBody>
                  <a:tcPr marL="76357" marR="76357" marT="76331" marB="22899"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r" fontAlgn="base"/>
                      <a:r>
                        <a:rPr lang="en-CA" sz="1400" u="none" strike="noStrike" dirty="0">
                          <a:effectLst/>
                          <a:latin typeface="Times New Roman" panose="02020603050405020304" pitchFamily="18" charset="0"/>
                        </a:rPr>
                        <a:t>$xxx</a:t>
                      </a:r>
                      <a:endParaRPr lang="en-CA" sz="1400" dirty="0">
                        <a:effectLst/>
                        <a:latin typeface="Times New Roman" panose="02020603050405020304" pitchFamily="18" charset="0"/>
                      </a:endParaRPr>
                    </a:p>
                  </a:txBody>
                  <a:tcPr marL="76357" marR="152713" marT="76331" marB="22899"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1F04BAEA-1B29-4F05-B824-13A9A9A636E7}"/>
              </a:ext>
            </a:extLst>
          </p:cNvPr>
          <p:cNvSpPr>
            <a:spLocks noGrp="1"/>
          </p:cNvSpPr>
          <p:nvPr>
            <p:ph type="title"/>
          </p:nvPr>
        </p:nvSpPr>
        <p:spPr/>
        <p:txBody>
          <a:bodyPr/>
          <a:lstStyle/>
          <a:p>
            <a:r>
              <a:rPr lang="en-US" altLang="en-US" dirty="0"/>
              <a:t>Bank Reconciliation Part 3</a:t>
            </a:r>
          </a:p>
        </p:txBody>
      </p:sp>
      <p:sp>
        <p:nvSpPr>
          <p:cNvPr id="3" name="Content Placeholder 2">
            <a:extLst>
              <a:ext uri="{FF2B5EF4-FFF2-40B4-BE49-F238E27FC236}">
                <a16:creationId xmlns:a16="http://schemas.microsoft.com/office/drawing/2014/main" id="{7AD4C98A-6035-42F5-B145-2977262C33B8}"/>
              </a:ext>
            </a:extLst>
          </p:cNvPr>
          <p:cNvSpPr>
            <a:spLocks noGrp="1"/>
          </p:cNvSpPr>
          <p:nvPr>
            <p:ph idx="1"/>
          </p:nvPr>
        </p:nvSpPr>
        <p:spPr/>
        <p:txBody>
          <a:bodyPr/>
          <a:lstStyle/>
          <a:p>
            <a:pPr>
              <a:buFont typeface="Wingdings 3" pitchFamily="2" charset="2"/>
              <a:buChar char=""/>
              <a:defRPr/>
            </a:pPr>
            <a:r>
              <a:rPr lang="en-US" dirty="0"/>
              <a:t>Steps to follow in preparing the bank reconciliation:</a:t>
            </a:r>
          </a:p>
          <a:p>
            <a:pPr marL="514350" indent="-514350">
              <a:buFont typeface="+mj-lt"/>
              <a:buAutoNum type="arabicPeriod"/>
              <a:defRPr/>
            </a:pPr>
            <a:r>
              <a:rPr lang="en-CA" sz="2400" dirty="0"/>
              <a:t>Identify the outstanding cheques</a:t>
            </a:r>
          </a:p>
          <a:p>
            <a:pPr marL="514350" indent="-514350">
              <a:buFont typeface="+mj-lt"/>
              <a:buAutoNum type="arabicPeriod"/>
              <a:defRPr/>
            </a:pPr>
            <a:r>
              <a:rPr lang="en-CA" sz="2400" dirty="0"/>
              <a:t>Identify the deposits in transit.</a:t>
            </a:r>
          </a:p>
          <a:p>
            <a:pPr marL="514350" indent="-514350">
              <a:buFont typeface="+mj-lt"/>
              <a:buAutoNum type="arabicPeriod"/>
              <a:defRPr/>
            </a:pPr>
            <a:r>
              <a:rPr lang="en-CA" sz="2400" dirty="0"/>
              <a:t>Identify bank charges and credits not recorded on the company’s books. </a:t>
            </a:r>
            <a:endParaRPr lang="en-US" sz="2400" dirty="0"/>
          </a:p>
          <a:p>
            <a:pPr marL="514350" indent="-514350">
              <a:buFont typeface="+mj-lt"/>
              <a:buAutoNum type="arabicPeriod"/>
              <a:defRPr/>
            </a:pPr>
            <a:r>
              <a:rPr lang="en-CA" sz="2400" dirty="0"/>
              <a:t>Determine the impact of errors.</a:t>
            </a:r>
            <a:endParaRPr lang="en-US" sz="2400" dirty="0"/>
          </a:p>
          <a:p>
            <a:pPr>
              <a:buFont typeface="Wingdings 3" pitchFamily="2" charset="2"/>
              <a:buChar char=""/>
              <a:defRPr/>
            </a:pPr>
            <a:r>
              <a:rPr lang="en-CA" b="1" dirty="0"/>
              <a:t>Note:</a:t>
            </a:r>
            <a:r>
              <a:rPr lang="en-CA" dirty="0"/>
              <a:t> all of the additions and deductions on the company’s-books side of the reconciliation need journal entries to update the cash account. The additions and deductions on the bank-statement side do not need journal entries because they will work out automatically when they clear the bank.</a:t>
            </a:r>
            <a:endParaRPr lang="en-US"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403235F6-F45F-47DA-A346-FE19D9B57E3C}"/>
              </a:ext>
            </a:extLst>
          </p:cNvPr>
          <p:cNvSpPr>
            <a:spLocks noGrp="1"/>
          </p:cNvSpPr>
          <p:nvPr>
            <p:ph type="title"/>
          </p:nvPr>
        </p:nvSpPr>
        <p:spPr>
          <a:xfrm>
            <a:off x="457200" y="274637"/>
            <a:ext cx="8229600" cy="792163"/>
          </a:xfrm>
        </p:spPr>
        <p:txBody>
          <a:bodyPr/>
          <a:lstStyle/>
          <a:p>
            <a:r>
              <a:rPr lang="en-US" altLang="en-US" dirty="0"/>
              <a:t>Appendix 5A: Recording Discounts and Returns Part 1</a:t>
            </a:r>
          </a:p>
        </p:txBody>
      </p:sp>
      <p:sp>
        <p:nvSpPr>
          <p:cNvPr id="26626" name="Content Placeholder 2">
            <a:extLst>
              <a:ext uri="{FF2B5EF4-FFF2-40B4-BE49-F238E27FC236}">
                <a16:creationId xmlns:a16="http://schemas.microsoft.com/office/drawing/2014/main" id="{BBA4BFCD-88C1-4318-B25D-280566D2B546}"/>
              </a:ext>
            </a:extLst>
          </p:cNvPr>
          <p:cNvSpPr>
            <a:spLocks noGrp="1"/>
          </p:cNvSpPr>
          <p:nvPr>
            <p:ph idx="1"/>
          </p:nvPr>
        </p:nvSpPr>
        <p:spPr/>
        <p:txBody>
          <a:bodyPr/>
          <a:lstStyle/>
          <a:p>
            <a:r>
              <a:rPr lang="en-CA" dirty="0"/>
              <a:t>The five-step model of revenue recognition illustrated in the chapter consists of five steps: </a:t>
            </a:r>
          </a:p>
          <a:p>
            <a:pPr lvl="1">
              <a:buFont typeface="+mj-lt"/>
              <a:buAutoNum type="arabicPeriod"/>
            </a:pPr>
            <a:r>
              <a:rPr lang="en-CA" sz="2400" dirty="0"/>
              <a:t>Identify the contract between the company and customer.</a:t>
            </a:r>
          </a:p>
          <a:p>
            <a:pPr lvl="1">
              <a:buFont typeface="+mj-lt"/>
              <a:buAutoNum type="arabicPeriod"/>
            </a:pPr>
            <a:r>
              <a:rPr lang="en-CA" sz="2400" dirty="0"/>
              <a:t>Identify the performance obligations (promised goods and services).</a:t>
            </a:r>
          </a:p>
          <a:p>
            <a:pPr lvl="1">
              <a:buFont typeface="+mj-lt"/>
              <a:buAutoNum type="arabicPeriod"/>
            </a:pPr>
            <a:r>
              <a:rPr lang="en-CA" sz="2400" dirty="0"/>
              <a:t>Determine the transaction price.</a:t>
            </a:r>
          </a:p>
          <a:p>
            <a:pPr lvl="1">
              <a:buFont typeface="+mj-lt"/>
              <a:buAutoNum type="arabicPeriod"/>
            </a:pPr>
            <a:r>
              <a:rPr lang="en-CA" sz="2400" dirty="0"/>
              <a:t>Allocate the transaction price to the performance obligations.</a:t>
            </a:r>
          </a:p>
          <a:p>
            <a:pPr lvl="1">
              <a:buFont typeface="+mj-lt"/>
              <a:buAutoNum type="arabicPeriod"/>
            </a:pPr>
            <a:r>
              <a:rPr lang="en-CA" sz="2400" dirty="0"/>
              <a:t>Recognize revenue when each performance obligation is satisfied (or over time if a service is provided over time).</a:t>
            </a:r>
          </a:p>
          <a:p>
            <a:r>
              <a:rPr lang="en-CA" dirty="0"/>
              <a:t>All five steps must be satisfied before revenue can be recognized.</a:t>
            </a:r>
          </a:p>
          <a:p>
            <a:endParaRPr lang="en-CA" altLang="en-US"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403235F6-F45F-47DA-A346-FE19D9B57E3C}"/>
              </a:ext>
            </a:extLst>
          </p:cNvPr>
          <p:cNvSpPr>
            <a:spLocks noGrp="1"/>
          </p:cNvSpPr>
          <p:nvPr>
            <p:ph type="title"/>
          </p:nvPr>
        </p:nvSpPr>
        <p:spPr>
          <a:xfrm>
            <a:off x="457200" y="274637"/>
            <a:ext cx="8229600" cy="792163"/>
          </a:xfrm>
        </p:spPr>
        <p:txBody>
          <a:bodyPr/>
          <a:lstStyle/>
          <a:p>
            <a:r>
              <a:rPr lang="en-US" altLang="en-US" dirty="0"/>
              <a:t>Appendix 5A: Recording Discounts and Returns Part 2</a:t>
            </a:r>
          </a:p>
        </p:txBody>
      </p:sp>
      <p:sp>
        <p:nvSpPr>
          <p:cNvPr id="26626" name="Content Placeholder 2">
            <a:extLst>
              <a:ext uri="{FF2B5EF4-FFF2-40B4-BE49-F238E27FC236}">
                <a16:creationId xmlns:a16="http://schemas.microsoft.com/office/drawing/2014/main" id="{BBA4BFCD-88C1-4318-B25D-280566D2B546}"/>
              </a:ext>
            </a:extLst>
          </p:cNvPr>
          <p:cNvSpPr>
            <a:spLocks noGrp="1"/>
          </p:cNvSpPr>
          <p:nvPr>
            <p:ph idx="1"/>
          </p:nvPr>
        </p:nvSpPr>
        <p:spPr/>
        <p:txBody>
          <a:bodyPr/>
          <a:lstStyle/>
          <a:p>
            <a:r>
              <a:rPr lang="en-CA" dirty="0"/>
              <a:t>This appendix considers three separate sales transactions involving:</a:t>
            </a:r>
          </a:p>
          <a:p>
            <a:pPr lvl="1"/>
            <a:r>
              <a:rPr lang="en-CA" sz="2400" dirty="0"/>
              <a:t>Credit card sales to customers</a:t>
            </a:r>
          </a:p>
          <a:p>
            <a:pPr lvl="1"/>
            <a:r>
              <a:rPr lang="en-CA" sz="2400" dirty="0"/>
              <a:t>Credit sales to businesses</a:t>
            </a:r>
          </a:p>
          <a:p>
            <a:pPr lvl="1"/>
            <a:r>
              <a:rPr lang="en-CA" sz="2400" dirty="0"/>
              <a:t>Sales returns</a:t>
            </a:r>
          </a:p>
          <a:p>
            <a:endParaRPr lang="en-CA" sz="800" dirty="0"/>
          </a:p>
          <a:p>
            <a:r>
              <a:rPr lang="en-CA" dirty="0"/>
              <a:t>The appendix goes through these three separate sales transactions and shows the journal entries to record them.</a:t>
            </a:r>
            <a:endParaRPr lang="en-CA" altLang="en-US" dirty="0"/>
          </a:p>
          <a:p>
            <a:endParaRPr lang="en-CA" dirty="0"/>
          </a:p>
          <a:p>
            <a:pPr lvl="1"/>
            <a:endParaRPr lang="en-CA" dirty="0"/>
          </a:p>
        </p:txBody>
      </p:sp>
    </p:spTree>
    <p:extLst>
      <p:ext uri="{BB962C8B-B14F-4D97-AF65-F5344CB8AC3E}">
        <p14:creationId xmlns:p14="http://schemas.microsoft.com/office/powerpoint/2010/main" val="371064864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403235F6-F45F-47DA-A346-FE19D9B57E3C}"/>
              </a:ext>
            </a:extLst>
          </p:cNvPr>
          <p:cNvSpPr>
            <a:spLocks noGrp="1"/>
          </p:cNvSpPr>
          <p:nvPr>
            <p:ph type="title"/>
          </p:nvPr>
        </p:nvSpPr>
        <p:spPr/>
        <p:txBody>
          <a:bodyPr/>
          <a:lstStyle/>
          <a:p>
            <a:r>
              <a:rPr lang="en-US" altLang="en-US"/>
              <a:t>End of Chapter Summary</a:t>
            </a:r>
          </a:p>
        </p:txBody>
      </p:sp>
      <p:sp>
        <p:nvSpPr>
          <p:cNvPr id="26626" name="Content Placeholder 2">
            <a:extLst>
              <a:ext uri="{FF2B5EF4-FFF2-40B4-BE49-F238E27FC236}">
                <a16:creationId xmlns:a16="http://schemas.microsoft.com/office/drawing/2014/main" id="{BBA4BFCD-88C1-4318-B25D-280566D2B546}"/>
              </a:ext>
            </a:extLst>
          </p:cNvPr>
          <p:cNvSpPr>
            <a:spLocks noGrp="1"/>
          </p:cNvSpPr>
          <p:nvPr>
            <p:ph idx="1"/>
          </p:nvPr>
        </p:nvSpPr>
        <p:spPr/>
        <p:txBody>
          <a:bodyPr/>
          <a:lstStyle/>
          <a:p>
            <a:r>
              <a:rPr lang="en-CA" dirty="0"/>
              <a:t>Credit card discounts, sales or cash discounts, and sales returns reduce net sales. Sales of bundled items must be accounted for using the five-step process to allocate the sales price to performance obligations.</a:t>
            </a:r>
          </a:p>
          <a:p>
            <a:endParaRPr lang="en-CA" sz="800" dirty="0"/>
          </a:p>
          <a:p>
            <a:r>
              <a:rPr lang="en-CA" dirty="0"/>
              <a:t>The gross profit percentage measures the ability to charge premium prices and produce goods and services at lower cost. </a:t>
            </a:r>
          </a:p>
          <a:p>
            <a:endParaRPr lang="en-CA" sz="800" dirty="0"/>
          </a:p>
          <a:p>
            <a:r>
              <a:rPr lang="en-CA" dirty="0"/>
              <a:t>Managers, analysts, and creditors use this ratio to assess the effectiveness of the company’s product development, marketing, and production strategy.</a:t>
            </a:r>
            <a:endParaRPr lang="en-CA" altLang="en-US" dirty="0"/>
          </a:p>
        </p:txBody>
      </p:sp>
    </p:spTree>
    <p:extLst>
      <p:ext uri="{BB962C8B-B14F-4D97-AF65-F5344CB8AC3E}">
        <p14:creationId xmlns:p14="http://schemas.microsoft.com/office/powerpoint/2010/main" val="760079134"/>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CE2FCEC1-73D5-446B-8F57-E6DD21CCDF1C}"/>
              </a:ext>
            </a:extLst>
          </p:cNvPr>
          <p:cNvSpPr>
            <a:spLocks noGrp="1"/>
          </p:cNvSpPr>
          <p:nvPr>
            <p:ph type="title"/>
          </p:nvPr>
        </p:nvSpPr>
        <p:spPr/>
        <p:txBody>
          <a:bodyPr/>
          <a:lstStyle/>
          <a:p>
            <a:r>
              <a:rPr lang="en-US" altLang="en-US"/>
              <a:t>End of Chapter Summary Continued</a:t>
            </a:r>
          </a:p>
        </p:txBody>
      </p:sp>
      <p:sp>
        <p:nvSpPr>
          <p:cNvPr id="27650" name="Content Placeholder 2">
            <a:extLst>
              <a:ext uri="{FF2B5EF4-FFF2-40B4-BE49-F238E27FC236}">
                <a16:creationId xmlns:a16="http://schemas.microsoft.com/office/drawing/2014/main" id="{BAD61724-B097-48D2-A3A9-E2828F52D110}"/>
              </a:ext>
            </a:extLst>
          </p:cNvPr>
          <p:cNvSpPr>
            <a:spLocks noGrp="1"/>
          </p:cNvSpPr>
          <p:nvPr>
            <p:ph idx="1"/>
          </p:nvPr>
        </p:nvSpPr>
        <p:spPr/>
        <p:txBody>
          <a:bodyPr/>
          <a:lstStyle/>
          <a:p>
            <a:r>
              <a:rPr lang="en-CA" dirty="0"/>
              <a:t>When receivables are material, companies must employ the allowance method to account for </a:t>
            </a:r>
            <a:r>
              <a:rPr lang="en-CA" dirty="0" err="1"/>
              <a:t>uncollectibles</a:t>
            </a:r>
            <a:r>
              <a:rPr lang="en-CA" dirty="0"/>
              <a:t>. The steps in the process are as follows:</a:t>
            </a:r>
          </a:p>
          <a:p>
            <a:pPr marL="457200" indent="-457200">
              <a:buFont typeface="+mj-lt"/>
              <a:buAutoNum type="arabicPeriod"/>
            </a:pPr>
            <a:r>
              <a:rPr lang="en-CA" sz="2400" dirty="0"/>
              <a:t>Write off specific accounts determined to be uncollectible during the period.</a:t>
            </a:r>
          </a:p>
          <a:p>
            <a:pPr marL="457200" indent="-457200">
              <a:buFont typeface="+mj-lt"/>
              <a:buAutoNum type="arabicPeriod"/>
            </a:pPr>
            <a:r>
              <a:rPr lang="en-CA" sz="2400" dirty="0"/>
              <a:t>Recover amounts previously written off.</a:t>
            </a:r>
          </a:p>
          <a:p>
            <a:pPr marL="457200" indent="-457200">
              <a:buFont typeface="+mj-lt"/>
              <a:buAutoNum type="arabicPeriod"/>
            </a:pPr>
            <a:r>
              <a:rPr lang="en-CA" sz="2400" dirty="0"/>
              <a:t>Prepare the end-of-period adjusting entry to record an estimate of bad debt expense.</a:t>
            </a:r>
          </a:p>
          <a:p>
            <a:r>
              <a:rPr lang="en-CA" dirty="0"/>
              <a:t>The adjusting entry reduces net earnings as well as net accounts receivable. The related expense must be recorded as an operating expense. The write-off of accounts receivable affects neither net earnings nor net accounts receivable.</a:t>
            </a:r>
            <a:endParaRPr lang="en-CA" altLang="en-US" dirty="0"/>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45E534FE17E0498B5AA208AC78CF6A" ma:contentTypeVersion="15" ma:contentTypeDescription="Create a new document." ma:contentTypeScope="" ma:versionID="49eaa7b98ea11864dca058dacee845ac">
  <xsd:schema xmlns:xsd="http://www.w3.org/2001/XMLSchema" xmlns:xs="http://www.w3.org/2001/XMLSchema" xmlns:p="http://schemas.microsoft.com/office/2006/metadata/properties" xmlns:ns3="94d99304-37c6-4b99-a998-6f4649dca8ad" xmlns:ns4="7afb0f48-51fa-41e1-ad8e-6ca091b04b7b" targetNamespace="http://schemas.microsoft.com/office/2006/metadata/properties" ma:root="true" ma:fieldsID="ed94db40c457dc2c0e4868393d362f9d" ns3:_="" ns4:_="">
    <xsd:import namespace="94d99304-37c6-4b99-a998-6f4649dca8ad"/>
    <xsd:import namespace="7afb0f48-51fa-41e1-ad8e-6ca091b04b7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4:SharedWithUsers" minOccurs="0"/>
                <xsd:element ref="ns4:SharedWithDetails" minOccurs="0"/>
                <xsd:element ref="ns4:SharingHintHash"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d99304-37c6-4b99-a998-6f4649dca8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fb0f48-51fa-41e1-ad8e-6ca091b04b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3F8042-D93F-47BA-BAC9-A5C38513A9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4d99304-37c6-4b99-a998-6f4649dca8ad"/>
    <ds:schemaRef ds:uri="7afb0f48-51fa-41e1-ad8e-6ca091b04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867F9B-6CC0-4042-BA45-BE8966321B34}">
  <ds:schemaRefs>
    <ds:schemaRef ds:uri="http://schemas.openxmlformats.org/package/2006/metadata/core-properties"/>
    <ds:schemaRef ds:uri="http://purl.org/dc/terms/"/>
    <ds:schemaRef ds:uri="http://purl.org/dc/dcmitype/"/>
    <ds:schemaRef ds:uri="http://schemas.microsoft.com/office/2006/metadata/properties"/>
    <ds:schemaRef ds:uri="http://schemas.microsoft.com/office/2006/documentManagement/types"/>
    <ds:schemaRef ds:uri="http://purl.org/dc/elements/1.1/"/>
    <ds:schemaRef ds:uri="7afb0f48-51fa-41e1-ad8e-6ca091b04b7b"/>
    <ds:schemaRef ds:uri="94d99304-37c6-4b99-a998-6f4649dca8ad"/>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DACDD068-7B72-4D80-AA45-694C93D7BB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5665</TotalTime>
  <Words>4552</Words>
  <Application>Microsoft Office PowerPoint</Application>
  <PresentationFormat>On-screen Show (4:3)</PresentationFormat>
  <Paragraphs>469</Paragraphs>
  <Slides>54</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54</vt:i4>
      </vt:variant>
    </vt:vector>
  </HeadingPairs>
  <TitlesOfParts>
    <vt:vector size="64" baseType="lpstr">
      <vt:lpstr>Arial</vt:lpstr>
      <vt:lpstr>Calibri</vt:lpstr>
      <vt:lpstr>inherit</vt:lpstr>
      <vt:lpstr>stix</vt:lpstr>
      <vt:lpstr>Tahoma</vt:lpstr>
      <vt:lpstr>Times New Roman</vt:lpstr>
      <vt:lpstr>Wingdings</vt:lpstr>
      <vt:lpstr>Wingdings 3</vt:lpstr>
      <vt:lpstr>1_Origin</vt:lpstr>
      <vt:lpstr>Origin</vt:lpstr>
      <vt:lpstr>PowerPoint Presentation</vt:lpstr>
      <vt:lpstr>Learning Objectives</vt:lpstr>
      <vt:lpstr>Learning Objectives Continued</vt:lpstr>
      <vt:lpstr>Accounting for Net Sales Revenue Part 1</vt:lpstr>
      <vt:lpstr>Accounting for Net Sales Revenue Part 2</vt:lpstr>
      <vt:lpstr>Accounting for Net Sales Revenue Part 3</vt:lpstr>
      <vt:lpstr>Motivating Sales and Collections</vt:lpstr>
      <vt:lpstr>Credit Card Sales to Customers</vt:lpstr>
      <vt:lpstr>Credit Card Sales to Customers - Example</vt:lpstr>
      <vt:lpstr>Sales Discounts to Businesses</vt:lpstr>
      <vt:lpstr>Sales Discounts to Businesses - Example</vt:lpstr>
      <vt:lpstr>Sales Returns</vt:lpstr>
      <vt:lpstr>Reporting Net Sales</vt:lpstr>
      <vt:lpstr>Revenue Recognition for Bundled Goods &amp; Services Part 1</vt:lpstr>
      <vt:lpstr>Revenue Recognition for Bundled Goods &amp; Services Part 2</vt:lpstr>
      <vt:lpstr>Key Ratio Analysis – Gross Profit Percentage</vt:lpstr>
      <vt:lpstr>Measuring and Reporting Receivables Part 1</vt:lpstr>
      <vt:lpstr>Measuring and Reporting Receivables Part 2</vt:lpstr>
      <vt:lpstr>Accounting for Bad Debts</vt:lpstr>
      <vt:lpstr>Allowance Method Part 1</vt:lpstr>
      <vt:lpstr>Allowance Method Part 2</vt:lpstr>
      <vt:lpstr>Recording Bad Debt Expense Estimates Part 1</vt:lpstr>
      <vt:lpstr>Recording Bad Debt Expense Estimates Part 2</vt:lpstr>
      <vt:lpstr>Writing Off Specific Doubtful Accounts</vt:lpstr>
      <vt:lpstr>Recovery of Bad Debts</vt:lpstr>
      <vt:lpstr>Summary of the Accounting Process</vt:lpstr>
      <vt:lpstr>Estimating Bad Debts</vt:lpstr>
      <vt:lpstr>Percentage of Credit Sales Method</vt:lpstr>
      <vt:lpstr>Aging of Accounts Receivable Method</vt:lpstr>
      <vt:lpstr>Aging of Accounts Receivable Method - Example</vt:lpstr>
      <vt:lpstr>Comparison of the Two Methods</vt:lpstr>
      <vt:lpstr>Actual Write-offs Compared with Estimates</vt:lpstr>
      <vt:lpstr>Prudence in the Valuation of Accounts Receivable Part 1</vt:lpstr>
      <vt:lpstr>Prudence in the Valuation of Accounts Receivable Part 2</vt:lpstr>
      <vt:lpstr>Key Ratio Analysis – Receivables Turnover Ratio</vt:lpstr>
      <vt:lpstr>Internal Control and Management Responsibility</vt:lpstr>
      <vt:lpstr>Control over Accounts Receivable</vt:lpstr>
      <vt:lpstr>Cash and Cash Equivalents Part 1</vt:lpstr>
      <vt:lpstr>Cash and Cash Equivalents Part 2</vt:lpstr>
      <vt:lpstr>Cash Management</vt:lpstr>
      <vt:lpstr>Internal Control of Cash</vt:lpstr>
      <vt:lpstr>Separation of Duties</vt:lpstr>
      <vt:lpstr>Separation of Duties Contributes to Strong Internal Control</vt:lpstr>
      <vt:lpstr>Typical Internal Controls for Cash</vt:lpstr>
      <vt:lpstr>Reconciliation of the Cash Accounts and the Bank Statements</vt:lpstr>
      <vt:lpstr>Need for Reconciliation</vt:lpstr>
      <vt:lpstr>Bank Reconciliation Part 1</vt:lpstr>
      <vt:lpstr>Bank Reconciliation Part 2</vt:lpstr>
      <vt:lpstr>Bank Reconciliation Illustrated</vt:lpstr>
      <vt:lpstr>Bank Reconciliation Part 3</vt:lpstr>
      <vt:lpstr>Appendix 5A: Recording Discounts and Returns Part 1</vt:lpstr>
      <vt:lpstr>Appendix 5A: Recording Discounts and Returns Part 2</vt:lpstr>
      <vt:lpstr>End of Chapter Summary</vt:lpstr>
      <vt:lpstr>End of Chapter Summary Continued</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6: Reporting and Interpreting Sales Revenue, Receivables, and Cash</dc:subject>
  <dc:creator>Robert G. Ducharme, MAcc, CPA, CA - University of Waterloo, School of Accounting and Finance</dc:creator>
  <cp:lastModifiedBy>James Moore</cp:lastModifiedBy>
  <cp:revision>66</cp:revision>
  <dcterms:created xsi:type="dcterms:W3CDTF">2010-03-30T15:03:05Z</dcterms:created>
  <dcterms:modified xsi:type="dcterms:W3CDTF">2023-10-23T19:26:30Z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0x010100A745E534FE17E0498B5AA208AC78CF6A</vt:lpwstr>
  </property>
</Properties>
</file>
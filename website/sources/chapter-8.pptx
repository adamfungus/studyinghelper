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4"/>
    <p:sldMasterId id="2147483746" r:id="rId5"/>
  </p:sldMasterIdLst>
  <p:notesMasterIdLst>
    <p:notesMasterId r:id="rId52"/>
  </p:notesMasterIdLst>
  <p:handoutMasterIdLst>
    <p:handoutMasterId r:id="rId53"/>
  </p:handoutMasterIdLst>
  <p:sldIdLst>
    <p:sldId id="305" r:id="rId6"/>
    <p:sldId id="446" r:id="rId7"/>
    <p:sldId id="371" r:id="rId8"/>
    <p:sldId id="448" r:id="rId9"/>
    <p:sldId id="449" r:id="rId10"/>
    <p:sldId id="489" r:id="rId11"/>
    <p:sldId id="490" r:id="rId12"/>
    <p:sldId id="491" r:id="rId13"/>
    <p:sldId id="453" r:id="rId14"/>
    <p:sldId id="452" r:id="rId15"/>
    <p:sldId id="493" r:id="rId16"/>
    <p:sldId id="494" r:id="rId17"/>
    <p:sldId id="495" r:id="rId18"/>
    <p:sldId id="496" r:id="rId19"/>
    <p:sldId id="456" r:id="rId20"/>
    <p:sldId id="454" r:id="rId21"/>
    <p:sldId id="497" r:id="rId22"/>
    <p:sldId id="498" r:id="rId23"/>
    <p:sldId id="455" r:id="rId24"/>
    <p:sldId id="457" r:id="rId25"/>
    <p:sldId id="458" r:id="rId26"/>
    <p:sldId id="459" r:id="rId27"/>
    <p:sldId id="460" r:id="rId28"/>
    <p:sldId id="499" r:id="rId29"/>
    <p:sldId id="501" r:id="rId30"/>
    <p:sldId id="461" r:id="rId31"/>
    <p:sldId id="500" r:id="rId32"/>
    <p:sldId id="462" r:id="rId33"/>
    <p:sldId id="464" r:id="rId34"/>
    <p:sldId id="466" r:id="rId35"/>
    <p:sldId id="465" r:id="rId36"/>
    <p:sldId id="467" r:id="rId37"/>
    <p:sldId id="468" r:id="rId38"/>
    <p:sldId id="469" r:id="rId39"/>
    <p:sldId id="470" r:id="rId40"/>
    <p:sldId id="471" r:id="rId41"/>
    <p:sldId id="473" r:id="rId42"/>
    <p:sldId id="476" r:id="rId43"/>
    <p:sldId id="477" r:id="rId44"/>
    <p:sldId id="478" r:id="rId45"/>
    <p:sldId id="480" r:id="rId46"/>
    <p:sldId id="481" r:id="rId47"/>
    <p:sldId id="484" r:id="rId48"/>
    <p:sldId id="485" r:id="rId49"/>
    <p:sldId id="447" r:id="rId50"/>
    <p:sldId id="488" r:id="rId5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08">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D1D1"/>
    <a:srgbClr val="0056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658624-8E87-4CCE-8792-99ACAE009D05}" v="3" dt="2023-01-12T15:22:53.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7120" autoAdjust="0"/>
    <p:restoredTop sz="83741" autoAdjust="0"/>
  </p:normalViewPr>
  <p:slideViewPr>
    <p:cSldViewPr>
      <p:cViewPr varScale="1">
        <p:scale>
          <a:sx n="115" d="100"/>
          <a:sy n="115" d="100"/>
        </p:scale>
        <p:origin x="1410" y="96"/>
      </p:cViewPr>
      <p:guideLst>
        <p:guide orient="horz" pos="220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82"/>
    </p:cViewPr>
  </p:sorterViewPr>
  <p:notesViewPr>
    <p:cSldViewPr>
      <p:cViewPr varScale="1">
        <p:scale>
          <a:sx n="53" d="100"/>
          <a:sy n="53" d="100"/>
        </p:scale>
        <p:origin x="-2610"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wartz, Stephanie" userId="aa8fa799-5957-4a86-b1b1-233f34a2fe0c" providerId="ADAL" clId="{4F658624-8E87-4CCE-8792-99ACAE009D05}"/>
    <pc:docChg chg="modMainMaster">
      <pc:chgData name="Schwartz, Stephanie" userId="aa8fa799-5957-4a86-b1b1-233f34a2fe0c" providerId="ADAL" clId="{4F658624-8E87-4CCE-8792-99ACAE009D05}" dt="2023-01-12T15:23:21.635" v="3" actId="20577"/>
      <pc:docMkLst>
        <pc:docMk/>
      </pc:docMkLst>
      <pc:sldMasterChg chg="modSp mod">
        <pc:chgData name="Schwartz, Stephanie" userId="aa8fa799-5957-4a86-b1b1-233f34a2fe0c" providerId="ADAL" clId="{4F658624-8E87-4CCE-8792-99ACAE009D05}" dt="2023-01-12T15:23:15.341" v="1" actId="20577"/>
        <pc:sldMasterMkLst>
          <pc:docMk/>
          <pc:sldMasterMk cId="0" sldId="2147483745"/>
        </pc:sldMasterMkLst>
        <pc:spChg chg="mod">
          <ac:chgData name="Schwartz, Stephanie" userId="aa8fa799-5957-4a86-b1b1-233f34a2fe0c" providerId="ADAL" clId="{4F658624-8E87-4CCE-8792-99ACAE009D05}" dt="2023-01-12T15:23:15.341" v="1" actId="20577"/>
          <ac:spMkLst>
            <pc:docMk/>
            <pc:sldMasterMk cId="0" sldId="2147483745"/>
            <ac:spMk id="14" creationId="{CF65E7BD-C3DA-491B-8438-DA2C0FB0F8E8}"/>
          </ac:spMkLst>
        </pc:spChg>
      </pc:sldMasterChg>
      <pc:sldMasterChg chg="modSp mod">
        <pc:chgData name="Schwartz, Stephanie" userId="aa8fa799-5957-4a86-b1b1-233f34a2fe0c" providerId="ADAL" clId="{4F658624-8E87-4CCE-8792-99ACAE009D05}" dt="2023-01-12T15:23:21.635" v="3" actId="20577"/>
        <pc:sldMasterMkLst>
          <pc:docMk/>
          <pc:sldMasterMk cId="0" sldId="2147483746"/>
        </pc:sldMasterMkLst>
        <pc:spChg chg="mod">
          <ac:chgData name="Schwartz, Stephanie" userId="aa8fa799-5957-4a86-b1b1-233f34a2fe0c" providerId="ADAL" clId="{4F658624-8E87-4CCE-8792-99ACAE009D05}" dt="2023-01-12T15:23:21.635" v="3" actId="20577"/>
          <ac:spMkLst>
            <pc:docMk/>
            <pc:sldMasterMk cId="0" sldId="2147483746"/>
            <ac:spMk id="8" creationId="{E7CFF7EA-7A28-431A-9D32-3C5452287C53}"/>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C6D4667-DC7F-4C18-B329-799BEE90A3FA}"/>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9-</a:t>
            </a:r>
            <a:fld id="{35498400-EA3F-4117-9942-B3EED70FE977}"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D9A006D-8B10-4F71-A6F6-7D84EE7F83C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A2B1D3F8-BBBB-49FC-90D0-36992816CDB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17C294F9-3494-4063-97DE-0FC7BEFAB40E}"/>
              </a:ext>
            </a:extLst>
          </p:cNvPr>
          <p:cNvSpPr>
            <a:spLocks noGrp="1"/>
          </p:cNvSpPr>
          <p:nvPr>
            <p:ph type="sldNum" sz="quarter" idx="5"/>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9-</a:t>
            </a:r>
            <a:fld id="{AC0CA501-9A0A-4EA6-94C9-BB5F0D4D766A}"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CA9FEB27-0EB0-4DCE-ACFC-50149AF8CB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63DEF1B1-704E-49E2-81AE-F6BCA9E847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a:t>Chapter 9: Reporting and Interpreting Current Liabilities. </a:t>
            </a:r>
          </a:p>
        </p:txBody>
      </p:sp>
      <p:sp>
        <p:nvSpPr>
          <p:cNvPr id="6147" name="Slide Number Placeholder 3">
            <a:extLst>
              <a:ext uri="{FF2B5EF4-FFF2-40B4-BE49-F238E27FC236}">
                <a16:creationId xmlns:a16="http://schemas.microsoft.com/office/drawing/2014/main" id="{1F855133-6F01-4CC7-8EB4-B64C6E8358EF}"/>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471B4D51-6A10-43A5-916E-92BF0F22A648}" type="slidenum">
              <a:rPr lang="en-US" altLang="en-US"/>
              <a:pPr algn="r" eaLnBrk="1" hangingPunct="1">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9-</a:t>
            </a:r>
            <a:fld id="{AC0CA501-9A0A-4EA6-94C9-BB5F0D4D766A}" type="slidenum">
              <a:rPr lang="en-US" altLang="en-US" smtClean="0"/>
              <a:pPr>
                <a:defRPr/>
              </a:pPr>
              <a:t>5</a:t>
            </a:fld>
            <a:endParaRPr lang="en-US" altLang="en-US"/>
          </a:p>
        </p:txBody>
      </p:sp>
    </p:spTree>
    <p:extLst>
      <p:ext uri="{BB962C8B-B14F-4D97-AF65-F5344CB8AC3E}">
        <p14:creationId xmlns:p14="http://schemas.microsoft.com/office/powerpoint/2010/main" val="3985647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9-</a:t>
            </a:r>
            <a:fld id="{AC0CA501-9A0A-4EA6-94C9-BB5F0D4D766A}" type="slidenum">
              <a:rPr lang="en-US" altLang="en-US" smtClean="0"/>
              <a:pPr>
                <a:defRPr/>
              </a:pPr>
              <a:t>6</a:t>
            </a:fld>
            <a:endParaRPr lang="en-US" altLang="en-US"/>
          </a:p>
        </p:txBody>
      </p:sp>
    </p:spTree>
    <p:extLst>
      <p:ext uri="{BB962C8B-B14F-4D97-AF65-F5344CB8AC3E}">
        <p14:creationId xmlns:p14="http://schemas.microsoft.com/office/powerpoint/2010/main" val="4152156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9-</a:t>
            </a:r>
            <a:fld id="{AC0CA501-9A0A-4EA6-94C9-BB5F0D4D766A}" type="slidenum">
              <a:rPr lang="en-US" altLang="en-US" smtClean="0"/>
              <a:pPr>
                <a:defRPr/>
              </a:pPr>
              <a:t>7</a:t>
            </a:fld>
            <a:endParaRPr lang="en-US" altLang="en-US"/>
          </a:p>
        </p:txBody>
      </p:sp>
    </p:spTree>
    <p:extLst>
      <p:ext uri="{BB962C8B-B14F-4D97-AF65-F5344CB8AC3E}">
        <p14:creationId xmlns:p14="http://schemas.microsoft.com/office/powerpoint/2010/main" val="1356704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9-</a:t>
            </a:r>
            <a:fld id="{AC0CA501-9A0A-4EA6-94C9-BB5F0D4D766A}" type="slidenum">
              <a:rPr lang="en-US" altLang="en-US" smtClean="0"/>
              <a:pPr>
                <a:defRPr/>
              </a:pPr>
              <a:t>8</a:t>
            </a:fld>
            <a:endParaRPr lang="en-US" altLang="en-US"/>
          </a:p>
        </p:txBody>
      </p:sp>
    </p:spTree>
    <p:extLst>
      <p:ext uri="{BB962C8B-B14F-4D97-AF65-F5344CB8AC3E}">
        <p14:creationId xmlns:p14="http://schemas.microsoft.com/office/powerpoint/2010/main" val="3176100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9-</a:t>
            </a:r>
            <a:fld id="{AC0CA501-9A0A-4EA6-94C9-BB5F0D4D766A}" type="slidenum">
              <a:rPr lang="en-US" altLang="en-US" smtClean="0"/>
              <a:pPr>
                <a:defRPr/>
              </a:pPr>
              <a:t>42</a:t>
            </a:fld>
            <a:endParaRPr lang="en-US" altLang="en-US"/>
          </a:p>
        </p:txBody>
      </p:sp>
    </p:spTree>
    <p:extLst>
      <p:ext uri="{BB962C8B-B14F-4D97-AF65-F5344CB8AC3E}">
        <p14:creationId xmlns:p14="http://schemas.microsoft.com/office/powerpoint/2010/main" val="3920058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646A0FCD-5A07-4E45-88EC-5504E02BEA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8" name="Notes Placeholder 2">
            <a:extLst>
              <a:ext uri="{FF2B5EF4-FFF2-40B4-BE49-F238E27FC236}">
                <a16:creationId xmlns:a16="http://schemas.microsoft.com/office/drawing/2014/main" id="{5D6A8DC4-4C8B-460B-ADFA-8B0D2742A18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0179" name="Slide Number Placeholder 3">
            <a:extLst>
              <a:ext uri="{FF2B5EF4-FFF2-40B4-BE49-F238E27FC236}">
                <a16:creationId xmlns:a16="http://schemas.microsoft.com/office/drawing/2014/main" id="{E7343A05-D0CB-4391-BE03-9E11E7999C0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latin typeface="Calibri" panose="020F0502020204030204" pitchFamily="34" charset="0"/>
              </a:rPr>
              <a:t>9-</a:t>
            </a:r>
            <a:fld id="{E8B96666-AAF7-44AD-9792-371623293330}" type="slidenum">
              <a:rPr lang="en-US" altLang="en-US" smtClean="0">
                <a:latin typeface="Calibri" panose="020F0502020204030204" pitchFamily="34" charset="0"/>
              </a:rPr>
              <a:pPr/>
              <a:t>46</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73907484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8572803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95282270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23146729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05517103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Tree>
    <p:extLst>
      <p:ext uri="{BB962C8B-B14F-4D97-AF65-F5344CB8AC3E}">
        <p14:creationId xmlns:p14="http://schemas.microsoft.com/office/powerpoint/2010/main" val="367639937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4828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1406968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rgbClr val="005654"/>
                </a:solidFill>
              </a:defRPr>
            </a:lvl1pPr>
          </a:lstStyle>
          <a:p>
            <a:r>
              <a:rPr lang="en-US" dirty="0"/>
              <a:t>Click to edit Master title style</a:t>
            </a:r>
            <a:endParaRPr lang="en-CA" dirty="0"/>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125534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8230002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90800106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71889107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211472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5240399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96832856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307554830"/>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72008434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59888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68863843"/>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3957844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188652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90331167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EE8AB366-4013-4583-A5D7-0D1A2881F115}"/>
              </a:ext>
            </a:extLst>
          </p:cNvPr>
          <p:cNvGrpSpPr>
            <a:grpSpLocks/>
          </p:cNvGrpSpPr>
          <p:nvPr userDrawn="1"/>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B0154C02-6FC1-4FC0-842D-FD851EBC0B5F}"/>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54E3DCFB-CB5E-4EE5-B687-5EC75A52EC6F}"/>
                </a:ext>
              </a:extLst>
            </p:cNvPr>
            <p:cNvSpPr>
              <a:spLocks noChangeArrowheads="1"/>
            </p:cNvSpPr>
            <p:nvPr/>
          </p:nvSpPr>
          <p:spPr bwMode="auto">
            <a:xfrm>
              <a:off x="582" y="2118"/>
              <a:ext cx="144" cy="806"/>
            </a:xfrm>
            <a:prstGeom prst="rect">
              <a:avLst/>
            </a:prstGeom>
            <a:solidFill>
              <a:srgbClr val="005654"/>
            </a:solidFill>
            <a:ln>
              <a:noFill/>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grpSp>
      <p:grpSp>
        <p:nvGrpSpPr>
          <p:cNvPr id="1027" name="Group 15">
            <a:extLst>
              <a:ext uri="{FF2B5EF4-FFF2-40B4-BE49-F238E27FC236}">
                <a16:creationId xmlns:a16="http://schemas.microsoft.com/office/drawing/2014/main" id="{303A5680-64AB-4B42-9C47-6F38F0FA80B4}"/>
              </a:ext>
            </a:extLst>
          </p:cNvPr>
          <p:cNvGrpSpPr>
            <a:grpSpLocks/>
          </p:cNvGrpSpPr>
          <p:nvPr userDrawn="1"/>
        </p:nvGrpSpPr>
        <p:grpSpPr bwMode="auto">
          <a:xfrm>
            <a:off x="914400" y="4724400"/>
            <a:ext cx="7315200" cy="685800"/>
            <a:chOff x="576" y="2976"/>
            <a:chExt cx="4608" cy="432"/>
          </a:xfrm>
        </p:grpSpPr>
        <p:sp>
          <p:nvSpPr>
            <p:cNvPr id="1034" name="Rectangle 10">
              <a:extLst>
                <a:ext uri="{FF2B5EF4-FFF2-40B4-BE49-F238E27FC236}">
                  <a16:creationId xmlns:a16="http://schemas.microsoft.com/office/drawing/2014/main" id="{CBC5F322-9CAA-4B22-A005-30C3299FF1E2}"/>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sp>
          <p:nvSpPr>
            <p:cNvPr id="1035" name="Rectangle 12">
              <a:extLst>
                <a:ext uri="{FF2B5EF4-FFF2-40B4-BE49-F238E27FC236}">
                  <a16:creationId xmlns:a16="http://schemas.microsoft.com/office/drawing/2014/main" id="{115BD9A6-2DB9-46D9-8D97-65351B0EDE9A}"/>
                </a:ext>
              </a:extLst>
            </p:cNvPr>
            <p:cNvSpPr>
              <a:spLocks noChangeArrowheads="1"/>
            </p:cNvSpPr>
            <p:nvPr/>
          </p:nvSpPr>
          <p:spPr bwMode="auto">
            <a:xfrm>
              <a:off x="576" y="2976"/>
              <a:ext cx="144" cy="432"/>
            </a:xfrm>
            <a:prstGeom prst="rect">
              <a:avLst/>
            </a:prstGeom>
            <a:solidFill>
              <a:srgbClr val="45D1D1"/>
            </a:solid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grpSp>
      <p:sp>
        <p:nvSpPr>
          <p:cNvPr id="1028" name="Freeform 9">
            <a:extLst>
              <a:ext uri="{FF2B5EF4-FFF2-40B4-BE49-F238E27FC236}">
                <a16:creationId xmlns:a16="http://schemas.microsoft.com/office/drawing/2014/main" id="{1AA2E82E-8954-44E6-A9F3-A45EAD7413DA}"/>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14" name="Rectangle 8">
            <a:extLst>
              <a:ext uri="{FF2B5EF4-FFF2-40B4-BE49-F238E27FC236}">
                <a16:creationId xmlns:a16="http://schemas.microsoft.com/office/drawing/2014/main" id="{CF65E7BD-C3DA-491B-8438-DA2C0FB0F8E8}"/>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2CEB038D-A5E7-405D-A77F-F2BD3BF83FBE}"/>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4"/>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rgbClr val="003366"/>
                </a:solidFill>
                <a:latin typeface="Calibri" panose="020F0502020204030204" pitchFamily="34" charset="0"/>
              </a:rPr>
            </a:br>
            <a:r>
              <a:rPr lang="en-US" altLang="en-US" dirty="0">
                <a:solidFill>
                  <a:schemeClr val="tx1"/>
                </a:solidFill>
                <a:latin typeface="Calibri" panose="020F0502020204030204" pitchFamily="34" charset="0"/>
              </a:rPr>
              <a:t>Eighth Canadian Edition</a:t>
            </a:r>
            <a:br>
              <a:rPr lang="en-US" altLang="en-US" dirty="0">
                <a:solidFill>
                  <a:schemeClr val="tx1"/>
                </a:solidFill>
                <a:latin typeface="Calibri" panose="020F0502020204030204" pitchFamily="34" charset="0"/>
              </a:rPr>
            </a:br>
            <a:br>
              <a:rPr lang="en-US" altLang="en-US" dirty="0">
                <a:solidFill>
                  <a:schemeClr val="tx1"/>
                </a:solidFill>
                <a:latin typeface="Calibri" panose="020F0502020204030204" pitchFamily="34" charset="0"/>
              </a:rPr>
            </a:br>
            <a:r>
              <a:rPr lang="en-US" altLang="en-US" b="1" dirty="0">
                <a:solidFill>
                  <a:schemeClr val="tx1"/>
                </a:solidFill>
                <a:latin typeface="Calibri" panose="020F0502020204030204" pitchFamily="34" charset="0"/>
              </a:rPr>
              <a:t>LIBBY, LIBBY, HODGE, KANAAN, STERLING</a:t>
            </a:r>
            <a:r>
              <a:rPr lang="en-US" altLang="en-US" dirty="0">
                <a:solidFill>
                  <a:schemeClr val="tx1"/>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pic>
        <p:nvPicPr>
          <p:cNvPr id="17" name="Picture 16" descr="A picture containing text, electronics, sign, green&#10;&#10;Description automatically generated">
            <a:extLst>
              <a:ext uri="{FF2B5EF4-FFF2-40B4-BE49-F238E27FC236}">
                <a16:creationId xmlns:a16="http://schemas.microsoft.com/office/drawing/2014/main" id="{17F176FA-73C8-2245-BE06-2C5E24571E2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
        <p:nvSpPr>
          <p:cNvPr id="18" name="Rectangle 12">
            <a:extLst>
              <a:ext uri="{FF2B5EF4-FFF2-40B4-BE49-F238E27FC236}">
                <a16:creationId xmlns:a16="http://schemas.microsoft.com/office/drawing/2014/main" id="{642CC9BB-AF8F-C34E-BC68-CA4AD54DF956}"/>
              </a:ext>
            </a:extLst>
          </p:cNvPr>
          <p:cNvSpPr>
            <a:spLocks noChangeArrowheads="1"/>
          </p:cNvSpPr>
          <p:nvPr userDrawn="1"/>
        </p:nvSpPr>
        <p:spPr bwMode="auto">
          <a:xfrm>
            <a:off x="1331913" y="5486400"/>
            <a:ext cx="6629400" cy="1025525"/>
          </a:xfrm>
          <a:prstGeom prst="rect">
            <a:avLst/>
          </a:prstGeom>
          <a:no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US" altLang="en-US" sz="1200" i="1" dirty="0">
              <a:solidFill>
                <a:schemeClr val="tx1"/>
              </a:solidFill>
              <a:latin typeface="Tahoma" panose="020B0604030504040204" pitchFamily="34" charset="0"/>
            </a:endParaRPr>
          </a:p>
          <a:p>
            <a:pPr algn="ctr">
              <a:defRPr/>
            </a:pPr>
            <a:r>
              <a:rPr lang="en-US" altLang="en-US" sz="1600" dirty="0">
                <a:solidFill>
                  <a:schemeClr val="tx1"/>
                </a:solidFill>
                <a:latin typeface="Tahoma" panose="020B0604030504040204" pitchFamily="34" charset="0"/>
              </a:rPr>
              <a:t>Prepared by </a:t>
            </a:r>
            <a:r>
              <a:rPr lang="en-US" altLang="en-US" sz="1600" i="1" dirty="0">
                <a:solidFill>
                  <a:schemeClr val="tx1"/>
                </a:solidFill>
                <a:latin typeface="Tahoma" panose="020B0604030504040204" pitchFamily="34" charset="0"/>
              </a:rPr>
              <a:t>Shannon Butler, CPA, CA, MEd</a:t>
            </a:r>
            <a:br>
              <a:rPr lang="en-US" altLang="en-US" sz="1600" dirty="0">
                <a:solidFill>
                  <a:schemeClr val="tx1"/>
                </a:solidFill>
                <a:latin typeface="Tahoma" panose="020B0604030504040204" pitchFamily="34" charset="0"/>
              </a:rPr>
            </a:br>
            <a:r>
              <a:rPr lang="en-US" altLang="en-US" sz="1600" i="1" dirty="0">
                <a:solidFill>
                  <a:schemeClr val="tx1"/>
                </a:solidFill>
                <a:latin typeface="Tahoma" panose="020B0604030504040204" pitchFamily="34" charset="0"/>
              </a:rPr>
              <a:t>Carleton University, </a:t>
            </a:r>
            <a:r>
              <a:rPr lang="en-US" altLang="en-US" sz="1600" i="1" dirty="0" err="1">
                <a:solidFill>
                  <a:schemeClr val="tx1"/>
                </a:solidFill>
                <a:latin typeface="Tahoma" panose="020B0604030504040204" pitchFamily="34" charset="0"/>
              </a:rPr>
              <a:t>Sprott</a:t>
            </a:r>
            <a:r>
              <a:rPr lang="en-US" altLang="en-US" sz="1600" i="1" dirty="0">
                <a:solidFill>
                  <a:schemeClr val="tx1"/>
                </a:solidFill>
                <a:latin typeface="Tahoma" panose="020B0604030504040204" pitchFamily="34" charset="0"/>
              </a:rPr>
              <a:t> School of Business</a:t>
            </a:r>
          </a:p>
        </p:txBody>
      </p:sp>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BD0522CF-03B5-4C7F-8E68-9EEBB22D4A2E}"/>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a:t>Click to edit Master title style</a:t>
            </a:r>
          </a:p>
        </p:txBody>
      </p:sp>
      <p:sp>
        <p:nvSpPr>
          <p:cNvPr id="2051" name="Text Placeholder 12">
            <a:extLst>
              <a:ext uri="{FF2B5EF4-FFF2-40B4-BE49-F238E27FC236}">
                <a16:creationId xmlns:a16="http://schemas.microsoft.com/office/drawing/2014/main" id="{D4C8FCD0-E9E8-4C28-BA18-ACA325BD2999}"/>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
        <p:nvSpPr>
          <p:cNvPr id="2052" name="Straight Connector 28">
            <a:extLst>
              <a:ext uri="{FF2B5EF4-FFF2-40B4-BE49-F238E27FC236}">
                <a16:creationId xmlns:a16="http://schemas.microsoft.com/office/drawing/2014/main" id="{0AF360D0-229E-4533-811E-DF03A1B1156E}"/>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1488D899-B782-4D6F-89CF-AAC553797ACD}"/>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2055" name="Text Box 9">
            <a:extLst>
              <a:ext uri="{FF2B5EF4-FFF2-40B4-BE49-F238E27FC236}">
                <a16:creationId xmlns:a16="http://schemas.microsoft.com/office/drawing/2014/main" id="{AAF5AA6D-047C-4F89-81A6-DC8011BEDF10}"/>
              </a:ext>
            </a:extLst>
          </p:cNvPr>
          <p:cNvSpPr txBox="1">
            <a:spLocks noChangeArrowheads="1"/>
          </p:cNvSpPr>
          <p:nvPr userDrawn="1"/>
        </p:nvSpPr>
        <p:spPr bwMode="auto">
          <a:xfrm>
            <a:off x="8229600" y="6546850"/>
            <a:ext cx="898525" cy="24447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dirty="0">
                <a:solidFill>
                  <a:schemeClr val="bg1"/>
                </a:solidFill>
              </a:rPr>
              <a:t>8-</a:t>
            </a:r>
            <a:fld id="{A331583E-2D1D-497F-8B04-7B9927B86FFF}" type="slidenum">
              <a:rPr lang="en-US" altLang="en-US" sz="1000" smtClean="0">
                <a:solidFill>
                  <a:schemeClr val="bg1"/>
                </a:solidFill>
              </a:rPr>
              <a:pPr algn="r" eaLnBrk="1" hangingPunct="1">
                <a:defRPr/>
              </a:pPr>
              <a:t>‹#›</a:t>
            </a:fld>
            <a:endParaRPr lang="en-CA" altLang="en-US" dirty="0"/>
          </a:p>
        </p:txBody>
      </p:sp>
      <p:sp>
        <p:nvSpPr>
          <p:cNvPr id="8" name="Rectangle 8">
            <a:extLst>
              <a:ext uri="{FF2B5EF4-FFF2-40B4-BE49-F238E27FC236}">
                <a16:creationId xmlns:a16="http://schemas.microsoft.com/office/drawing/2014/main" id="{E7CFF7EA-7A28-431A-9D32-3C5452287C53}"/>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ransition/>
  <p:txStyles>
    <p:titleStyle>
      <a:lvl1pPr algn="l" rtl="0" eaLnBrk="0" fontAlgn="base" hangingPunct="0">
        <a:spcBef>
          <a:spcPct val="0"/>
        </a:spcBef>
        <a:spcAft>
          <a:spcPct val="0"/>
        </a:spcAft>
        <a:defRPr sz="3200">
          <a:solidFill>
            <a:srgbClr val="005654"/>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rgbClr val="45D1D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1"/>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1"/>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57EB391B-BFCF-45C3-9748-E0AE26230CAB}"/>
              </a:ext>
            </a:extLst>
          </p:cNvPr>
          <p:cNvSpPr>
            <a:spLocks/>
          </p:cNvSpPr>
          <p:nvPr/>
        </p:nvSpPr>
        <p:spPr bwMode="auto">
          <a:xfrm>
            <a:off x="1143000" y="3352800"/>
            <a:ext cx="701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CA" altLang="en-US" sz="2800" b="1" dirty="0">
                <a:solidFill>
                  <a:srgbClr val="005654"/>
                </a:solidFill>
                <a:latin typeface="Calibri" panose="020F0502020204030204" pitchFamily="34" charset="0"/>
              </a:rPr>
              <a:t>Reporting and Interpreting</a:t>
            </a:r>
            <a:br>
              <a:rPr lang="en-CA" altLang="en-US" sz="2800" b="1" dirty="0">
                <a:solidFill>
                  <a:srgbClr val="005654"/>
                </a:solidFill>
                <a:latin typeface="Calibri" panose="020F0502020204030204" pitchFamily="34" charset="0"/>
              </a:rPr>
            </a:br>
            <a:r>
              <a:rPr lang="en-CA" altLang="en-US" sz="2800" b="1" dirty="0">
                <a:solidFill>
                  <a:srgbClr val="005654"/>
                </a:solidFill>
                <a:latin typeface="Calibri" panose="020F0502020204030204" pitchFamily="34" charset="0"/>
              </a:rPr>
              <a:t> Current Liabilities</a:t>
            </a:r>
          </a:p>
        </p:txBody>
      </p:sp>
      <p:sp>
        <p:nvSpPr>
          <p:cNvPr id="5122" name="Subtitle 4">
            <a:extLst>
              <a:ext uri="{FF2B5EF4-FFF2-40B4-BE49-F238E27FC236}">
                <a16:creationId xmlns:a16="http://schemas.microsoft.com/office/drawing/2014/main" id="{661FCA9E-167E-41F5-AD15-74260A6F26B8}"/>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sz="2800" b="1">
                <a:solidFill>
                  <a:srgbClr val="45D1D1"/>
                </a:solidFill>
                <a:latin typeface="Calibri" panose="020F0502020204030204" pitchFamily="34" charset="0"/>
              </a:rPr>
              <a:t>Chapter 8</a:t>
            </a: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33DF0207-83B5-49DF-8DB5-E92732A8AF2C}"/>
              </a:ext>
            </a:extLst>
          </p:cNvPr>
          <p:cNvSpPr>
            <a:spLocks noGrp="1"/>
          </p:cNvSpPr>
          <p:nvPr>
            <p:ph type="title"/>
          </p:nvPr>
        </p:nvSpPr>
        <p:spPr/>
        <p:txBody>
          <a:bodyPr/>
          <a:lstStyle/>
          <a:p>
            <a:r>
              <a:rPr lang="en-US" altLang="en-US"/>
              <a:t>Learning Objectives</a:t>
            </a:r>
          </a:p>
        </p:txBody>
      </p:sp>
      <p:sp>
        <p:nvSpPr>
          <p:cNvPr id="7170" name="Content Placeholder 2">
            <a:extLst>
              <a:ext uri="{FF2B5EF4-FFF2-40B4-BE49-F238E27FC236}">
                <a16:creationId xmlns:a16="http://schemas.microsoft.com/office/drawing/2014/main" id="{0227B8F3-6EE8-45D1-A438-E48A987EBEE8}"/>
              </a:ext>
            </a:extLst>
          </p:cNvPr>
          <p:cNvSpPr>
            <a:spLocks noGrp="1"/>
          </p:cNvSpPr>
          <p:nvPr>
            <p:ph idx="1"/>
          </p:nvPr>
        </p:nvSpPr>
        <p:spPr/>
        <p:txBody>
          <a:bodyPr/>
          <a:lstStyle/>
          <a:p>
            <a:r>
              <a:rPr lang="en-CA" altLang="en-US" b="1" dirty="0"/>
              <a:t>LO8-1 </a:t>
            </a:r>
            <a:r>
              <a:rPr lang="en-CA" altLang="en-US" dirty="0"/>
              <a:t>Define, measure, and report current liabilities.</a:t>
            </a:r>
          </a:p>
          <a:p>
            <a:r>
              <a:rPr lang="en-CA" altLang="en-US" b="1" dirty="0"/>
              <a:t>LO8-2 </a:t>
            </a:r>
            <a:r>
              <a:rPr lang="en-CA" altLang="en-US" dirty="0"/>
              <a:t>Compute and interpret the accounts payable turnover ratio.</a:t>
            </a:r>
          </a:p>
          <a:p>
            <a:r>
              <a:rPr lang="en-CA" altLang="en-US" b="1" dirty="0"/>
              <a:t>LO8-3 </a:t>
            </a:r>
            <a:r>
              <a:rPr lang="en-CA" altLang="en-US" dirty="0"/>
              <a:t>Report notes payable, and explain the time value of money.</a:t>
            </a:r>
          </a:p>
          <a:p>
            <a:r>
              <a:rPr lang="en-CA" altLang="en-US" b="1" dirty="0"/>
              <a:t>LO8-4 </a:t>
            </a:r>
            <a:r>
              <a:rPr lang="en-CA" altLang="en-US" dirty="0"/>
              <a:t>Report contingent liabilities.</a:t>
            </a:r>
          </a:p>
          <a:p>
            <a:r>
              <a:rPr lang="en-CA" altLang="en-US" b="1" dirty="0"/>
              <a:t>LO8-5 </a:t>
            </a:r>
            <a:r>
              <a:rPr lang="en-CA" altLang="en-US" dirty="0"/>
              <a:t>Explain the importance of working capital and its impact on cash flows.</a:t>
            </a:r>
          </a:p>
          <a:p>
            <a:r>
              <a:rPr lang="en-CA" altLang="en-US" b="1" dirty="0"/>
              <a:t>LO8-6 </a:t>
            </a:r>
            <a:r>
              <a:rPr lang="en-CA" altLang="en-US" dirty="0"/>
              <a:t>Compute and interpret the quick ratio.</a:t>
            </a:r>
          </a:p>
          <a:p>
            <a:endParaRPr lang="en-US"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BB7E1839-4E4F-4DEC-AAB3-4B9C6CC10931}"/>
              </a:ext>
            </a:extLst>
          </p:cNvPr>
          <p:cNvSpPr>
            <a:spLocks noGrp="1"/>
          </p:cNvSpPr>
          <p:nvPr>
            <p:ph type="title"/>
          </p:nvPr>
        </p:nvSpPr>
        <p:spPr/>
        <p:txBody>
          <a:bodyPr/>
          <a:lstStyle/>
          <a:p>
            <a:r>
              <a:rPr lang="en-US" altLang="en-US"/>
              <a:t>Learning Objectives Continued</a:t>
            </a:r>
          </a:p>
        </p:txBody>
      </p:sp>
      <p:sp>
        <p:nvSpPr>
          <p:cNvPr id="3" name="Content Placeholder 2">
            <a:extLst>
              <a:ext uri="{FF2B5EF4-FFF2-40B4-BE49-F238E27FC236}">
                <a16:creationId xmlns:a16="http://schemas.microsoft.com/office/drawing/2014/main" id="{BD259039-9EF3-44F4-9C21-517ADF5783C4}"/>
              </a:ext>
            </a:extLst>
          </p:cNvPr>
          <p:cNvSpPr>
            <a:spLocks noGrp="1"/>
          </p:cNvSpPr>
          <p:nvPr>
            <p:ph idx="1"/>
          </p:nvPr>
        </p:nvSpPr>
        <p:spPr/>
        <p:txBody>
          <a:bodyPr/>
          <a:lstStyle/>
          <a:p>
            <a:pPr marL="0" indent="0">
              <a:buFont typeface="Wingdings 3" pitchFamily="2" charset="2"/>
              <a:buNone/>
              <a:defRPr/>
            </a:pPr>
            <a:r>
              <a:rPr lang="en-CA" b="1" cap="all" dirty="0"/>
              <a:t>SUPPLEMENTARY MATERIAL</a:t>
            </a:r>
          </a:p>
          <a:p>
            <a:pPr>
              <a:buFont typeface="Wingdings 3" pitchFamily="2" charset="2"/>
              <a:buChar char=""/>
              <a:defRPr/>
            </a:pPr>
            <a:r>
              <a:rPr lang="en-CA" b="1" dirty="0"/>
              <a:t>LO8-S1 </a:t>
            </a:r>
            <a:r>
              <a:rPr lang="en-CA" dirty="0"/>
              <a:t>Compute and report deferred income taxes.</a:t>
            </a:r>
          </a:p>
          <a:p>
            <a:pPr>
              <a:buFont typeface="Wingdings 3" pitchFamily="2" charset="2"/>
              <a:buChar char=""/>
              <a:defRPr/>
            </a:pPr>
            <a:r>
              <a:rPr lang="en-CA" b="1" dirty="0"/>
              <a:t>LO8-S2 </a:t>
            </a:r>
            <a:r>
              <a:rPr lang="en-CA" dirty="0"/>
              <a:t>Compute and report present values of future cash flows.</a:t>
            </a:r>
          </a:p>
          <a:p>
            <a:pPr>
              <a:buFont typeface="Wingdings 3" pitchFamily="2" charset="2"/>
              <a:buChar char=""/>
              <a:defRPr/>
            </a:pPr>
            <a:r>
              <a:rPr lang="en-CA" b="1" dirty="0"/>
              <a:t>LO8-S3 </a:t>
            </a:r>
            <a:r>
              <a:rPr lang="en-CA" dirty="0"/>
              <a:t>Compute and report future value of a single amount. (Online)</a:t>
            </a:r>
          </a:p>
          <a:p>
            <a:pPr>
              <a:buFont typeface="Wingdings 3" pitchFamily="2" charset="2"/>
              <a:buChar char=""/>
              <a:defRPr/>
            </a:pPr>
            <a:r>
              <a:rPr lang="en-CA" b="1" dirty="0"/>
              <a:t>LO8-S4 </a:t>
            </a:r>
            <a:r>
              <a:rPr lang="en-CA" dirty="0"/>
              <a:t>Compute and report future value of an annuity. (Online)</a:t>
            </a:r>
          </a:p>
          <a:p>
            <a:pPr>
              <a:buFont typeface="Wingdings 3" pitchFamily="2" charset="2"/>
              <a:buChar char=""/>
              <a:defRPr/>
            </a:pPr>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77D5282F-7E41-40F7-A361-13945A0C79F1}"/>
              </a:ext>
            </a:extLst>
          </p:cNvPr>
          <p:cNvSpPr>
            <a:spLocks noGrp="1"/>
          </p:cNvSpPr>
          <p:nvPr>
            <p:ph type="title"/>
          </p:nvPr>
        </p:nvSpPr>
        <p:spPr/>
        <p:txBody>
          <a:bodyPr/>
          <a:lstStyle/>
          <a:p>
            <a:r>
              <a:rPr lang="en-US" altLang="en-US"/>
              <a:t>Understanding the Business</a:t>
            </a:r>
          </a:p>
        </p:txBody>
      </p:sp>
      <p:sp>
        <p:nvSpPr>
          <p:cNvPr id="3" name="Content Placeholder 2">
            <a:extLst>
              <a:ext uri="{FF2B5EF4-FFF2-40B4-BE49-F238E27FC236}">
                <a16:creationId xmlns:a16="http://schemas.microsoft.com/office/drawing/2014/main" id="{A790247F-CF61-4D25-99F6-30D16D66C2C0}"/>
              </a:ext>
            </a:extLst>
          </p:cNvPr>
          <p:cNvSpPr>
            <a:spLocks noGrp="1"/>
          </p:cNvSpPr>
          <p:nvPr>
            <p:ph idx="1"/>
          </p:nvPr>
        </p:nvSpPr>
        <p:spPr/>
        <p:txBody>
          <a:bodyPr/>
          <a:lstStyle/>
          <a:p>
            <a:pPr>
              <a:buFont typeface="Wingdings 3" pitchFamily="2" charset="2"/>
              <a:buChar char=""/>
              <a:defRPr/>
            </a:pPr>
            <a:r>
              <a:rPr lang="en-US" dirty="0"/>
              <a:t>The acquisition of assets is financed from two sources:</a:t>
            </a:r>
          </a:p>
          <a:p>
            <a:pPr marL="514350" indent="-514350">
              <a:buFont typeface="+mj-lt"/>
              <a:buAutoNum type="arabicPeriod"/>
              <a:defRPr/>
            </a:pPr>
            <a:r>
              <a:rPr lang="en-US" dirty="0"/>
              <a:t>Debt </a:t>
            </a:r>
            <a:r>
              <a:rPr lang="en-US" dirty="0">
                <a:sym typeface="Wingdings" pitchFamily="2" charset="2"/>
              </a:rPr>
              <a:t> Funds from creditors.</a:t>
            </a:r>
          </a:p>
          <a:p>
            <a:pPr marL="514350" indent="-514350">
              <a:buFont typeface="+mj-lt"/>
              <a:buAutoNum type="arabicPeriod"/>
              <a:defRPr/>
            </a:pPr>
            <a:r>
              <a:rPr lang="en-US" dirty="0">
                <a:sym typeface="Wingdings" pitchFamily="2" charset="2"/>
              </a:rPr>
              <a:t>Equity  Funds from shareholders.</a:t>
            </a:r>
          </a:p>
          <a:p>
            <a:pPr marL="514350" indent="-514350">
              <a:buFont typeface="+mj-lt"/>
              <a:buAutoNum type="arabicPeriod"/>
              <a:defRPr/>
            </a:pPr>
            <a:endParaRPr lang="en-US" dirty="0"/>
          </a:p>
          <a:p>
            <a:pPr>
              <a:buFont typeface="Wingdings 3" pitchFamily="2" charset="2"/>
              <a:buChar char=""/>
              <a:defRPr/>
            </a:pPr>
            <a:r>
              <a:rPr lang="en-US" dirty="0"/>
              <a:t>The mix of debt and equity for a company is called the capital structure.</a:t>
            </a:r>
          </a:p>
          <a:p>
            <a:pPr>
              <a:buFont typeface="Wingdings 3" pitchFamily="2" charset="2"/>
              <a:buChar char=""/>
              <a:defRPr/>
            </a:pPr>
            <a:r>
              <a:rPr lang="en-US" dirty="0"/>
              <a:t>Debt is considered riskier than equity.</a:t>
            </a:r>
          </a:p>
          <a:p>
            <a:pPr>
              <a:buFont typeface="Wingdings 3" pitchFamily="2" charset="2"/>
              <a:buChar char=""/>
              <a:defRPr/>
            </a:pPr>
            <a:r>
              <a:rPr lang="en-US" dirty="0"/>
              <a:t>Debt payments are legal obligations.</a:t>
            </a:r>
          </a:p>
          <a:p>
            <a:pPr>
              <a:buFont typeface="Wingdings 3" pitchFamily="2" charset="2"/>
              <a:buChar char=""/>
              <a:defRPr/>
            </a:pPr>
            <a:r>
              <a:rPr lang="en-US" dirty="0"/>
              <a:t>Creditors can force bankruptcy.</a:t>
            </a:r>
          </a:p>
          <a:p>
            <a:pPr>
              <a:buFont typeface="Wingdings 3" pitchFamily="2" charset="2"/>
              <a:buChar char=""/>
              <a:defRPr/>
            </a:pPr>
            <a:r>
              <a:rPr lang="en-US" dirty="0"/>
              <a:t>Creditors can require sale of assets.</a:t>
            </a:r>
          </a:p>
          <a:p>
            <a:pPr>
              <a:buFont typeface="Wingdings 3" pitchFamily="2" charset="2"/>
              <a:buChar char=""/>
              <a:defRPr/>
            </a:pP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E75B74E7-B70C-4DED-AA7F-1A8E57297D48}"/>
              </a:ext>
            </a:extLst>
          </p:cNvPr>
          <p:cNvSpPr>
            <a:spLocks noGrp="1"/>
          </p:cNvSpPr>
          <p:nvPr>
            <p:ph type="title"/>
          </p:nvPr>
        </p:nvSpPr>
        <p:spPr/>
        <p:txBody>
          <a:bodyPr/>
          <a:lstStyle/>
          <a:p>
            <a:r>
              <a:rPr lang="en-US" altLang="en-US" dirty="0"/>
              <a:t>Liabilities Defined and Classified Part 1</a:t>
            </a:r>
          </a:p>
        </p:txBody>
      </p:sp>
      <p:sp>
        <p:nvSpPr>
          <p:cNvPr id="22530" name="Content Placeholder 2">
            <a:extLst>
              <a:ext uri="{FF2B5EF4-FFF2-40B4-BE49-F238E27FC236}">
                <a16:creationId xmlns:a16="http://schemas.microsoft.com/office/drawing/2014/main" id="{A871A4B5-0E70-4191-A890-AC43A4120B9C}"/>
              </a:ext>
            </a:extLst>
          </p:cNvPr>
          <p:cNvSpPr>
            <a:spLocks noGrp="1"/>
          </p:cNvSpPr>
          <p:nvPr>
            <p:ph idx="1"/>
          </p:nvPr>
        </p:nvSpPr>
        <p:spPr/>
        <p:txBody>
          <a:bodyPr/>
          <a:lstStyle/>
          <a:p>
            <a:r>
              <a:rPr lang="en-US" altLang="en-US" dirty="0"/>
              <a:t>Liabilities are defined as present debts or obligations of the entity that result from past transactions, which will be paid with assets or services.</a:t>
            </a:r>
          </a:p>
          <a:p>
            <a:endParaRPr lang="en-US" altLang="en-US" sz="1200" dirty="0"/>
          </a:p>
          <a:p>
            <a:r>
              <a:rPr lang="en-CA" altLang="en-US" b="1" dirty="0"/>
              <a:t>Current liabilities</a:t>
            </a:r>
            <a:r>
              <a:rPr lang="en-CA" altLang="en-US" dirty="0"/>
              <a:t> are short-term obligations that will be settled within the coming year by providing cash, goods, other current assets, or services. </a:t>
            </a:r>
          </a:p>
          <a:p>
            <a:endParaRPr lang="en-CA" altLang="en-US" sz="1200" dirty="0"/>
          </a:p>
          <a:p>
            <a:r>
              <a:rPr lang="en-CA" altLang="en-US" dirty="0"/>
              <a:t>Non-current liabilities include all other liabilities.</a:t>
            </a:r>
          </a:p>
          <a:p>
            <a:endParaRPr lang="en-CA" altLang="en-US" sz="1200" dirty="0"/>
          </a:p>
          <a:p>
            <a:r>
              <a:rPr lang="en-CA" dirty="0"/>
              <a:t>Most liabilities are recorded as they occur during the accounting period.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E75B74E7-B70C-4DED-AA7F-1A8E57297D48}"/>
              </a:ext>
            </a:extLst>
          </p:cNvPr>
          <p:cNvSpPr>
            <a:spLocks noGrp="1"/>
          </p:cNvSpPr>
          <p:nvPr>
            <p:ph type="title"/>
          </p:nvPr>
        </p:nvSpPr>
        <p:spPr/>
        <p:txBody>
          <a:bodyPr/>
          <a:lstStyle/>
          <a:p>
            <a:r>
              <a:rPr lang="en-US" altLang="en-US" dirty="0"/>
              <a:t>Liabilities Defined and Classified Part 2</a:t>
            </a:r>
          </a:p>
        </p:txBody>
      </p:sp>
      <p:sp>
        <p:nvSpPr>
          <p:cNvPr id="22530" name="Content Placeholder 2">
            <a:extLst>
              <a:ext uri="{FF2B5EF4-FFF2-40B4-BE49-F238E27FC236}">
                <a16:creationId xmlns:a16="http://schemas.microsoft.com/office/drawing/2014/main" id="{A871A4B5-0E70-4191-A890-AC43A4120B9C}"/>
              </a:ext>
            </a:extLst>
          </p:cNvPr>
          <p:cNvSpPr>
            <a:spLocks noGrp="1"/>
          </p:cNvSpPr>
          <p:nvPr>
            <p:ph idx="1"/>
          </p:nvPr>
        </p:nvSpPr>
        <p:spPr/>
        <p:txBody>
          <a:bodyPr/>
          <a:lstStyle/>
          <a:p>
            <a:r>
              <a:rPr lang="en-CA" dirty="0"/>
              <a:t>However, specific liabilities that can be determined with accuracy, such as salaries payable and interest payable, require accrual through adjusting entries at the end of the accounting period, prior to the preparation of financial statements.</a:t>
            </a:r>
          </a:p>
          <a:p>
            <a:endParaRPr lang="en-CA" sz="1200" dirty="0"/>
          </a:p>
          <a:p>
            <a:r>
              <a:rPr lang="en-CA" dirty="0"/>
              <a:t>For other types of liabilities, the exact amounts will not be known with certainty until a future event, but they must be estimated and recorded if they relate to transactions that occurred during the accounting period.</a:t>
            </a:r>
          </a:p>
          <a:p>
            <a:endParaRPr lang="en-CA" sz="1200" dirty="0"/>
          </a:p>
          <a:p>
            <a:r>
              <a:rPr lang="en-CA" dirty="0"/>
              <a:t>Such liabilities are referred to as </a:t>
            </a:r>
            <a:r>
              <a:rPr lang="en-CA" i="1" dirty="0"/>
              <a:t>provisions</a:t>
            </a:r>
            <a:r>
              <a:rPr lang="en-CA" dirty="0"/>
              <a:t> on the statement of financial position.</a:t>
            </a:r>
            <a:endParaRPr lang="en-US" altLang="en-US" dirty="0"/>
          </a:p>
        </p:txBody>
      </p:sp>
    </p:spTree>
    <p:extLst>
      <p:ext uri="{BB962C8B-B14F-4D97-AF65-F5344CB8AC3E}">
        <p14:creationId xmlns:p14="http://schemas.microsoft.com/office/powerpoint/2010/main" val="111753908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E75B74E7-B70C-4DED-AA7F-1A8E57297D48}"/>
              </a:ext>
            </a:extLst>
          </p:cNvPr>
          <p:cNvSpPr>
            <a:spLocks noGrp="1"/>
          </p:cNvSpPr>
          <p:nvPr>
            <p:ph type="title"/>
          </p:nvPr>
        </p:nvSpPr>
        <p:spPr/>
        <p:txBody>
          <a:bodyPr/>
          <a:lstStyle/>
          <a:p>
            <a:r>
              <a:rPr lang="en-US" altLang="en-US" dirty="0"/>
              <a:t>Liabilities Defined and Classified Part 3</a:t>
            </a:r>
          </a:p>
        </p:txBody>
      </p:sp>
      <p:sp>
        <p:nvSpPr>
          <p:cNvPr id="22530" name="Content Placeholder 2">
            <a:extLst>
              <a:ext uri="{FF2B5EF4-FFF2-40B4-BE49-F238E27FC236}">
                <a16:creationId xmlns:a16="http://schemas.microsoft.com/office/drawing/2014/main" id="{A871A4B5-0E70-4191-A890-AC43A4120B9C}"/>
              </a:ext>
            </a:extLst>
          </p:cNvPr>
          <p:cNvSpPr>
            <a:spLocks noGrp="1"/>
          </p:cNvSpPr>
          <p:nvPr>
            <p:ph idx="1"/>
          </p:nvPr>
        </p:nvSpPr>
        <p:spPr/>
        <p:txBody>
          <a:bodyPr/>
          <a:lstStyle/>
          <a:p>
            <a:r>
              <a:rPr lang="en-CA" dirty="0"/>
              <a:t>In particular cases, it may not be possible to provide a reasonable estimate of a potential future liability that is contingent on a future event. </a:t>
            </a:r>
          </a:p>
          <a:p>
            <a:endParaRPr lang="en-CA" sz="1200" dirty="0"/>
          </a:p>
          <a:p>
            <a:r>
              <a:rPr lang="en-CA" dirty="0"/>
              <a:t>Relevant information about contingent liabilities must, therefore, be disclosed in notes to the financial statements.</a:t>
            </a:r>
            <a:endParaRPr lang="en-US" altLang="en-US" dirty="0"/>
          </a:p>
        </p:txBody>
      </p:sp>
    </p:spTree>
    <p:extLst>
      <p:ext uri="{BB962C8B-B14F-4D97-AF65-F5344CB8AC3E}">
        <p14:creationId xmlns:p14="http://schemas.microsoft.com/office/powerpoint/2010/main" val="209502407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2056C512-79B5-4EFB-B6B9-632C32B81870}"/>
              </a:ext>
            </a:extLst>
          </p:cNvPr>
          <p:cNvSpPr>
            <a:spLocks noGrp="1"/>
          </p:cNvSpPr>
          <p:nvPr>
            <p:ph type="title"/>
          </p:nvPr>
        </p:nvSpPr>
        <p:spPr/>
        <p:txBody>
          <a:bodyPr/>
          <a:lstStyle/>
          <a:p>
            <a:r>
              <a:rPr lang="en-US" altLang="en-US"/>
              <a:t>Current Liabilities</a:t>
            </a:r>
          </a:p>
        </p:txBody>
      </p:sp>
      <p:pic>
        <p:nvPicPr>
          <p:cNvPr id="5" name="Picture 4">
            <a:extLst>
              <a:ext uri="{FF2B5EF4-FFF2-40B4-BE49-F238E27FC236}">
                <a16:creationId xmlns:a16="http://schemas.microsoft.com/office/drawing/2014/main" id="{562CDAC8-E13A-8146-9AE0-60D7277D1788}"/>
              </a:ext>
            </a:extLst>
          </p:cNvPr>
          <p:cNvPicPr>
            <a:picLocks noChangeAspect="1"/>
          </p:cNvPicPr>
          <p:nvPr/>
        </p:nvPicPr>
        <p:blipFill>
          <a:blip r:embed="rId3"/>
          <a:stretch>
            <a:fillRect/>
          </a:stretch>
        </p:blipFill>
        <p:spPr>
          <a:xfrm>
            <a:off x="632219" y="1600200"/>
            <a:ext cx="7879562" cy="4318000"/>
          </a:xfrm>
          <a:prstGeom prst="rect">
            <a:avLst/>
          </a:prstGeom>
        </p:spPr>
      </p:pic>
    </p:spTree>
    <p:extLst>
      <p:ext uri="{BB962C8B-B14F-4D97-AF65-F5344CB8AC3E}">
        <p14:creationId xmlns:p14="http://schemas.microsoft.com/office/powerpoint/2010/main" val="382452286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ED18B8D5-4847-4B56-8CE2-C6AB2867F729}"/>
              </a:ext>
            </a:extLst>
          </p:cNvPr>
          <p:cNvSpPr>
            <a:spLocks noGrp="1"/>
          </p:cNvSpPr>
          <p:nvPr>
            <p:ph type="title"/>
          </p:nvPr>
        </p:nvSpPr>
        <p:spPr>
          <a:xfrm>
            <a:off x="457200" y="304800"/>
            <a:ext cx="8229600" cy="609600"/>
          </a:xfrm>
        </p:spPr>
        <p:txBody>
          <a:bodyPr/>
          <a:lstStyle/>
          <a:p>
            <a:r>
              <a:rPr lang="en-US" altLang="en-US" dirty="0"/>
              <a:t>Accounts Payable</a:t>
            </a:r>
          </a:p>
        </p:txBody>
      </p:sp>
      <p:sp>
        <p:nvSpPr>
          <p:cNvPr id="3" name="Content Placeholder 2">
            <a:extLst>
              <a:ext uri="{FF2B5EF4-FFF2-40B4-BE49-F238E27FC236}">
                <a16:creationId xmlns:a16="http://schemas.microsoft.com/office/drawing/2014/main" id="{5951F111-3D24-4685-B743-D9B2D7F73CD9}"/>
              </a:ext>
            </a:extLst>
          </p:cNvPr>
          <p:cNvSpPr>
            <a:spLocks noGrp="1"/>
          </p:cNvSpPr>
          <p:nvPr>
            <p:ph idx="1"/>
          </p:nvPr>
        </p:nvSpPr>
        <p:spPr>
          <a:xfrm>
            <a:off x="457200" y="1066800"/>
            <a:ext cx="8229600" cy="5334000"/>
          </a:xfrm>
        </p:spPr>
        <p:txBody>
          <a:bodyPr/>
          <a:lstStyle/>
          <a:p>
            <a:pPr>
              <a:buFont typeface="Wingdings 3" pitchFamily="2" charset="2"/>
              <a:buChar char=""/>
              <a:defRPr/>
            </a:pPr>
            <a:r>
              <a:rPr lang="en-CA" dirty="0"/>
              <a:t>Most companies purchase goods and services from other businesses in the course of running their day-to-day operations. </a:t>
            </a:r>
          </a:p>
          <a:p>
            <a:pPr>
              <a:buFont typeface="Wingdings 3" pitchFamily="2" charset="2"/>
              <a:buChar char=""/>
              <a:defRPr/>
            </a:pPr>
            <a:endParaRPr lang="en-CA" sz="1200" dirty="0"/>
          </a:p>
          <a:p>
            <a:pPr>
              <a:buFont typeface="Wingdings 3" pitchFamily="2" charset="2"/>
              <a:buChar char=""/>
              <a:defRPr/>
            </a:pPr>
            <a:r>
              <a:rPr lang="en-CA" dirty="0"/>
              <a:t>Typically, these supplies and services are purchased on credit with cash payments made after the goods and services have been received. </a:t>
            </a:r>
          </a:p>
          <a:p>
            <a:pPr>
              <a:buFont typeface="Wingdings 3" pitchFamily="2" charset="2"/>
              <a:buChar char=""/>
              <a:defRPr/>
            </a:pPr>
            <a:endParaRPr lang="en-CA" sz="1200" dirty="0"/>
          </a:p>
          <a:p>
            <a:pPr>
              <a:buFont typeface="Wingdings 3" pitchFamily="2" charset="2"/>
              <a:buChar char=""/>
              <a:defRPr/>
            </a:pPr>
            <a:r>
              <a:rPr lang="en-CA" dirty="0"/>
              <a:t>Most companies list such obligations on their statement of financial position as </a:t>
            </a:r>
            <a:r>
              <a:rPr lang="en-CA" i="1" dirty="0"/>
              <a:t>accounts payable</a:t>
            </a:r>
            <a:r>
              <a:rPr lang="en-CA" dirty="0"/>
              <a:t>, also called </a:t>
            </a:r>
            <a:r>
              <a:rPr lang="en-CA" i="1" dirty="0"/>
              <a:t>trade accounts payable</a:t>
            </a:r>
            <a:r>
              <a:rPr lang="en-CA" dirty="0"/>
              <a:t>.</a:t>
            </a:r>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8AEC3BC8-F3D3-4924-AE53-ADEEE068D354}"/>
              </a:ext>
            </a:extLst>
          </p:cNvPr>
          <p:cNvSpPr>
            <a:spLocks noGrp="1"/>
          </p:cNvSpPr>
          <p:nvPr>
            <p:ph type="title"/>
          </p:nvPr>
        </p:nvSpPr>
        <p:spPr/>
        <p:txBody>
          <a:bodyPr/>
          <a:lstStyle/>
          <a:p>
            <a:r>
              <a:rPr lang="en-US" altLang="en-US"/>
              <a:t>Key Ratio Analysis – A/P Turnover Ratio</a:t>
            </a:r>
          </a:p>
        </p:txBody>
      </p:sp>
      <p:sp>
        <p:nvSpPr>
          <p:cNvPr id="9218" name="Content Placeholder 2">
            <a:extLst>
              <a:ext uri="{FF2B5EF4-FFF2-40B4-BE49-F238E27FC236}">
                <a16:creationId xmlns:a16="http://schemas.microsoft.com/office/drawing/2014/main" id="{28B368EC-D4EE-4C51-BA8E-2A6FD032F75A}"/>
              </a:ext>
            </a:extLst>
          </p:cNvPr>
          <p:cNvSpPr>
            <a:spLocks noGrp="1"/>
          </p:cNvSpPr>
          <p:nvPr>
            <p:ph idx="1"/>
          </p:nvPr>
        </p:nvSpPr>
        <p:spPr>
          <a:xfrm>
            <a:off x="381000" y="1143000"/>
            <a:ext cx="8229600" cy="5334000"/>
          </a:xfrm>
        </p:spPr>
        <p:txBody>
          <a:bodyPr/>
          <a:lstStyle/>
          <a:p>
            <a:r>
              <a:rPr lang="en-CA" altLang="en-US" b="1" dirty="0"/>
              <a:t>ANALYTICAL QUESTION</a:t>
            </a:r>
            <a:r>
              <a:rPr lang="en-CA" altLang="en-US" dirty="0"/>
              <a:t> → How efficient is management at meeting its obligations to suppliers?</a:t>
            </a:r>
          </a:p>
          <a:p>
            <a:r>
              <a:rPr lang="en-CA" altLang="en-US" b="1" dirty="0"/>
              <a:t>RATIO AND COMPARISONS</a:t>
            </a:r>
            <a:r>
              <a:rPr lang="en-CA" altLang="en-US" dirty="0"/>
              <a:t> → The </a:t>
            </a:r>
            <a:r>
              <a:rPr lang="en-CA" altLang="en-US" i="1" dirty="0"/>
              <a:t>accounts payable turnover ratio</a:t>
            </a:r>
            <a:r>
              <a:rPr lang="en-CA" altLang="en-US" dirty="0"/>
              <a:t> is a measure of how quickly management is paying trade suppliers. Analysts use this ratio as a measure of liquidity. It is computed as follows:</a:t>
            </a:r>
          </a:p>
          <a:p>
            <a:endParaRPr lang="en-CA" altLang="en-US" dirty="0"/>
          </a:p>
          <a:p>
            <a:endParaRPr lang="en-CA" altLang="en-US" dirty="0"/>
          </a:p>
          <a:p>
            <a:endParaRPr lang="en-CA" altLang="en-US" dirty="0"/>
          </a:p>
          <a:p>
            <a:r>
              <a:rPr lang="en-CA" altLang="en-US" dirty="0"/>
              <a:t>A high turnover ratio normally suggests that a company is paying its suppliers in a timely manner.</a:t>
            </a:r>
          </a:p>
          <a:p>
            <a:endParaRPr lang="en-US" altLang="en-US" dirty="0"/>
          </a:p>
          <a:p>
            <a:endParaRPr lang="en-US" altLang="en-US" dirty="0"/>
          </a:p>
          <a:p>
            <a:endParaRPr lang="en-US" altLang="en-US" dirty="0"/>
          </a:p>
          <a:p>
            <a:endParaRPr lang="en-US" altLang="en-US" dirty="0"/>
          </a:p>
          <a:p>
            <a:endParaRPr lang="en-US" altLang="en-US" dirty="0"/>
          </a:p>
        </p:txBody>
      </p:sp>
      <p:grpSp>
        <p:nvGrpSpPr>
          <p:cNvPr id="9219" name="Group 3">
            <a:extLst>
              <a:ext uri="{FF2B5EF4-FFF2-40B4-BE49-F238E27FC236}">
                <a16:creationId xmlns:a16="http://schemas.microsoft.com/office/drawing/2014/main" id="{D8DBD578-E484-41FB-B3E7-251D698834EB}"/>
              </a:ext>
            </a:extLst>
          </p:cNvPr>
          <p:cNvGrpSpPr>
            <a:grpSpLocks/>
          </p:cNvGrpSpPr>
          <p:nvPr/>
        </p:nvGrpSpPr>
        <p:grpSpPr bwMode="auto">
          <a:xfrm>
            <a:off x="935039" y="3987801"/>
            <a:ext cx="6319837" cy="804863"/>
            <a:chOff x="440" y="1123"/>
            <a:chExt cx="3981" cy="507"/>
          </a:xfrm>
        </p:grpSpPr>
        <p:sp>
          <p:nvSpPr>
            <p:cNvPr id="9220" name="Rectangle 4">
              <a:extLst>
                <a:ext uri="{FF2B5EF4-FFF2-40B4-BE49-F238E27FC236}">
                  <a16:creationId xmlns:a16="http://schemas.microsoft.com/office/drawing/2014/main" id="{7528A133-2B49-462D-B66B-420729F3460A}"/>
                </a:ext>
              </a:extLst>
            </p:cNvPr>
            <p:cNvSpPr>
              <a:spLocks noChangeArrowheads="1"/>
            </p:cNvSpPr>
            <p:nvPr/>
          </p:nvSpPr>
          <p:spPr bwMode="auto">
            <a:xfrm>
              <a:off x="440" y="1186"/>
              <a:ext cx="1285"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000" b="1" dirty="0">
                  <a:latin typeface="Arial" panose="020B0604020202020204" pitchFamily="34" charset="0"/>
                </a:rPr>
                <a:t> A/P Turnover</a:t>
              </a:r>
            </a:p>
            <a:p>
              <a:pPr algn="ctr">
                <a:spcBef>
                  <a:spcPct val="0"/>
                </a:spcBef>
                <a:buClrTx/>
                <a:buSzTx/>
                <a:buFontTx/>
                <a:buNone/>
              </a:pPr>
              <a:r>
                <a:rPr lang="en-CA" altLang="en-US" sz="2000" b="1" dirty="0">
                  <a:latin typeface="Arial" panose="020B0604020202020204" pitchFamily="34" charset="0"/>
                </a:rPr>
                <a:t>ratio</a:t>
              </a:r>
            </a:p>
          </p:txBody>
        </p:sp>
        <p:sp>
          <p:nvSpPr>
            <p:cNvPr id="9221" name="Rectangle 5">
              <a:extLst>
                <a:ext uri="{FF2B5EF4-FFF2-40B4-BE49-F238E27FC236}">
                  <a16:creationId xmlns:a16="http://schemas.microsoft.com/office/drawing/2014/main" id="{1F4906D4-DFB9-499F-A7AA-9BFFB9D86D64}"/>
                </a:ext>
              </a:extLst>
            </p:cNvPr>
            <p:cNvSpPr>
              <a:spLocks noChangeArrowheads="1"/>
            </p:cNvSpPr>
            <p:nvPr/>
          </p:nvSpPr>
          <p:spPr bwMode="auto">
            <a:xfrm>
              <a:off x="2195" y="1123"/>
              <a:ext cx="2178"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000" b="1">
                  <a:latin typeface="Arial" panose="020B0604020202020204" pitchFamily="34" charset="0"/>
                </a:rPr>
                <a:t>Cost of Sales</a:t>
              </a:r>
              <a:br>
                <a:rPr lang="en-CA" altLang="en-US" sz="2000" b="1">
                  <a:latin typeface="Arial" panose="020B0604020202020204" pitchFamily="34" charset="0"/>
                </a:rPr>
              </a:br>
              <a:r>
                <a:rPr lang="en-CA" altLang="en-US" sz="2000" b="1">
                  <a:latin typeface="Arial" panose="020B0604020202020204" pitchFamily="34" charset="0"/>
                </a:rPr>
                <a:t>Average Accounts Payable</a:t>
              </a:r>
            </a:p>
          </p:txBody>
        </p:sp>
        <p:sp>
          <p:nvSpPr>
            <p:cNvPr id="9222" name="Rectangle 6">
              <a:extLst>
                <a:ext uri="{FF2B5EF4-FFF2-40B4-BE49-F238E27FC236}">
                  <a16:creationId xmlns:a16="http://schemas.microsoft.com/office/drawing/2014/main" id="{947C5DE6-4201-4B32-BAE2-759DE415D5D1}"/>
                </a:ext>
              </a:extLst>
            </p:cNvPr>
            <p:cNvSpPr>
              <a:spLocks noChangeArrowheads="1"/>
            </p:cNvSpPr>
            <p:nvPr/>
          </p:nvSpPr>
          <p:spPr bwMode="auto">
            <a:xfrm>
              <a:off x="1725" y="1283"/>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000" b="1">
                  <a:latin typeface="Arial" panose="020B0604020202020204" pitchFamily="34" charset="0"/>
                </a:rPr>
                <a:t>=</a:t>
              </a:r>
            </a:p>
          </p:txBody>
        </p:sp>
        <p:sp>
          <p:nvSpPr>
            <p:cNvPr id="9223" name="Line 7">
              <a:extLst>
                <a:ext uri="{FF2B5EF4-FFF2-40B4-BE49-F238E27FC236}">
                  <a16:creationId xmlns:a16="http://schemas.microsoft.com/office/drawing/2014/main" id="{4BDED761-6E3B-4463-B169-6B97B2855745}"/>
                </a:ext>
              </a:extLst>
            </p:cNvPr>
            <p:cNvSpPr>
              <a:spLocks noChangeShapeType="1"/>
            </p:cNvSpPr>
            <p:nvPr/>
          </p:nvSpPr>
          <p:spPr bwMode="auto">
            <a:xfrm>
              <a:off x="2133" y="1395"/>
              <a:ext cx="2288"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ED18B8D5-4847-4B56-8CE2-C6AB2867F729}"/>
              </a:ext>
            </a:extLst>
          </p:cNvPr>
          <p:cNvSpPr>
            <a:spLocks noGrp="1"/>
          </p:cNvSpPr>
          <p:nvPr>
            <p:ph type="title"/>
          </p:nvPr>
        </p:nvSpPr>
        <p:spPr>
          <a:xfrm>
            <a:off x="457200" y="304800"/>
            <a:ext cx="8229600" cy="609600"/>
          </a:xfrm>
        </p:spPr>
        <p:txBody>
          <a:bodyPr/>
          <a:lstStyle/>
          <a:p>
            <a:r>
              <a:rPr lang="en-US" altLang="en-US" dirty="0"/>
              <a:t>Accrued Liabilities</a:t>
            </a:r>
          </a:p>
        </p:txBody>
      </p:sp>
      <p:sp>
        <p:nvSpPr>
          <p:cNvPr id="3" name="Content Placeholder 2">
            <a:extLst>
              <a:ext uri="{FF2B5EF4-FFF2-40B4-BE49-F238E27FC236}">
                <a16:creationId xmlns:a16="http://schemas.microsoft.com/office/drawing/2014/main" id="{5951F111-3D24-4685-B743-D9B2D7F73CD9}"/>
              </a:ext>
            </a:extLst>
          </p:cNvPr>
          <p:cNvSpPr>
            <a:spLocks noGrp="1"/>
          </p:cNvSpPr>
          <p:nvPr>
            <p:ph idx="1"/>
          </p:nvPr>
        </p:nvSpPr>
        <p:spPr>
          <a:xfrm>
            <a:off x="457200" y="990600"/>
            <a:ext cx="8305800" cy="5334000"/>
          </a:xfrm>
        </p:spPr>
        <p:txBody>
          <a:bodyPr/>
          <a:lstStyle/>
          <a:p>
            <a:pPr marL="342900" indent="-342900" eaLnBrk="1" hangingPunct="1">
              <a:lnSpc>
                <a:spcPct val="90000"/>
              </a:lnSpc>
              <a:buFont typeface="Wingdings 3" pitchFamily="2" charset="2"/>
              <a:buChar char=""/>
              <a:defRPr/>
            </a:pPr>
            <a:r>
              <a:rPr lang="en-CA" altLang="en-US" b="1" dirty="0"/>
              <a:t>Accrued liabilities </a:t>
            </a:r>
            <a:r>
              <a:rPr lang="en-CA" altLang="en-US" dirty="0"/>
              <a:t>are expenses that have been incurred before the end of an accounting period but have not yet been paid.</a:t>
            </a:r>
          </a:p>
          <a:p>
            <a:pPr marL="342900" indent="-342900" eaLnBrk="1" hangingPunct="1">
              <a:lnSpc>
                <a:spcPct val="90000"/>
              </a:lnSpc>
              <a:buFont typeface="Wingdings 3" pitchFamily="2" charset="2"/>
              <a:buChar char=""/>
              <a:defRPr/>
            </a:pPr>
            <a:endParaRPr lang="en-CA" altLang="en-US" sz="1200" dirty="0"/>
          </a:p>
          <a:p>
            <a:pPr marL="342900" indent="-342900" eaLnBrk="1" hangingPunct="1">
              <a:lnSpc>
                <a:spcPct val="90000"/>
              </a:lnSpc>
              <a:buFont typeface="Wingdings 3" pitchFamily="2" charset="2"/>
              <a:buChar char=""/>
              <a:defRPr/>
            </a:pPr>
            <a:r>
              <a:rPr lang="en-CA" altLang="en-US" b="1" dirty="0">
                <a:solidFill>
                  <a:schemeClr val="tx1"/>
                </a:solidFill>
              </a:rPr>
              <a:t>Income taxes payable </a:t>
            </a:r>
            <a:r>
              <a:rPr lang="en-CA" altLang="en-US" b="1" dirty="0">
                <a:solidFill>
                  <a:schemeClr val="tx1"/>
                </a:solidFill>
                <a:sym typeface="Wingdings" pitchFamily="2" charset="2"/>
              </a:rPr>
              <a:t> </a:t>
            </a:r>
            <a:r>
              <a:rPr lang="en-CA" altLang="en-US" dirty="0">
                <a:solidFill>
                  <a:schemeClr val="tx1"/>
                </a:solidFill>
              </a:rPr>
              <a:t>corporations must pay taxes on income from active business operations, property income and capital gains arising from the sale of assets.</a:t>
            </a:r>
          </a:p>
          <a:p>
            <a:pPr marL="342900" indent="-342900" eaLnBrk="1" hangingPunct="1">
              <a:lnSpc>
                <a:spcPct val="90000"/>
              </a:lnSpc>
              <a:buFont typeface="Wingdings 3" pitchFamily="2" charset="2"/>
              <a:buChar char=""/>
              <a:defRPr/>
            </a:pPr>
            <a:endParaRPr lang="en-CA" altLang="en-US" sz="1200" dirty="0">
              <a:solidFill>
                <a:schemeClr val="tx1"/>
              </a:solidFill>
            </a:endParaRPr>
          </a:p>
          <a:p>
            <a:pPr marL="342900" indent="-342900" eaLnBrk="1" hangingPunct="1">
              <a:lnSpc>
                <a:spcPct val="90000"/>
              </a:lnSpc>
              <a:buFont typeface="Wingdings 3" pitchFamily="2" charset="2"/>
              <a:buChar char=""/>
              <a:defRPr/>
            </a:pPr>
            <a:r>
              <a:rPr lang="en-CA" altLang="en-US" b="1" dirty="0">
                <a:solidFill>
                  <a:schemeClr val="tx1"/>
                </a:solidFill>
              </a:rPr>
              <a:t>Sales Taxes </a:t>
            </a:r>
            <a:r>
              <a:rPr lang="en-CA" altLang="en-US" b="1" dirty="0">
                <a:solidFill>
                  <a:schemeClr val="tx1"/>
                </a:solidFill>
                <a:sym typeface="Wingdings" pitchFamily="2" charset="2"/>
              </a:rPr>
              <a:t> </a:t>
            </a:r>
            <a:r>
              <a:rPr lang="en-CA" dirty="0"/>
              <a:t>companies are often required to collect and pay other types of taxes and fees, depending on the specific industry and geographical location in which they operate. These taxes add to the cost of producing and selling goods and services and are eventually passed on to customers through higher sales prices.</a:t>
            </a:r>
            <a:endParaRPr lang="en-CA" b="1" dirty="0"/>
          </a:p>
          <a:p>
            <a:pPr>
              <a:buFont typeface="Wingdings 3" pitchFamily="2" charset="2"/>
              <a:buChar char=""/>
              <a:defRPr/>
            </a:pPr>
            <a:endParaRPr lang="en-US" dirty="0"/>
          </a:p>
        </p:txBody>
      </p:sp>
    </p:spTree>
    <p:extLst>
      <p:ext uri="{BB962C8B-B14F-4D97-AF65-F5344CB8AC3E}">
        <p14:creationId xmlns:p14="http://schemas.microsoft.com/office/powerpoint/2010/main" val="324137181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ED18B8D5-4847-4B56-8CE2-C6AB2867F729}"/>
              </a:ext>
            </a:extLst>
          </p:cNvPr>
          <p:cNvSpPr>
            <a:spLocks noGrp="1"/>
          </p:cNvSpPr>
          <p:nvPr>
            <p:ph type="title"/>
          </p:nvPr>
        </p:nvSpPr>
        <p:spPr>
          <a:xfrm>
            <a:off x="457200" y="304800"/>
            <a:ext cx="8229600" cy="609600"/>
          </a:xfrm>
        </p:spPr>
        <p:txBody>
          <a:bodyPr/>
          <a:lstStyle/>
          <a:p>
            <a:r>
              <a:rPr lang="en-US" altLang="en-US" dirty="0"/>
              <a:t>Payroll Liabilities</a:t>
            </a:r>
          </a:p>
        </p:txBody>
      </p:sp>
      <p:sp>
        <p:nvSpPr>
          <p:cNvPr id="3" name="Content Placeholder 2">
            <a:extLst>
              <a:ext uri="{FF2B5EF4-FFF2-40B4-BE49-F238E27FC236}">
                <a16:creationId xmlns:a16="http://schemas.microsoft.com/office/drawing/2014/main" id="{5951F111-3D24-4685-B743-D9B2D7F73CD9}"/>
              </a:ext>
            </a:extLst>
          </p:cNvPr>
          <p:cNvSpPr>
            <a:spLocks noGrp="1"/>
          </p:cNvSpPr>
          <p:nvPr>
            <p:ph idx="1"/>
          </p:nvPr>
        </p:nvSpPr>
        <p:spPr>
          <a:xfrm>
            <a:off x="457200" y="1066800"/>
            <a:ext cx="8305800" cy="5334000"/>
          </a:xfrm>
        </p:spPr>
        <p:txBody>
          <a:bodyPr/>
          <a:lstStyle/>
          <a:p>
            <a:pPr marL="342900" indent="-342900" eaLnBrk="1" hangingPunct="1">
              <a:lnSpc>
                <a:spcPct val="90000"/>
              </a:lnSpc>
              <a:buFont typeface="Wingdings 3" pitchFamily="2" charset="2"/>
              <a:buChar char=""/>
              <a:defRPr/>
            </a:pPr>
            <a:r>
              <a:rPr lang="en-CA" dirty="0"/>
              <a:t>At the end of each accounting period, employees will usually have earned salaries that have not been paid.</a:t>
            </a:r>
          </a:p>
          <a:p>
            <a:pPr marL="342900" indent="-342900" eaLnBrk="1" hangingPunct="1">
              <a:lnSpc>
                <a:spcPct val="90000"/>
              </a:lnSpc>
              <a:buFont typeface="Wingdings 3" pitchFamily="2" charset="2"/>
              <a:buChar char=""/>
              <a:defRPr/>
            </a:pPr>
            <a:r>
              <a:rPr lang="en-CA" dirty="0"/>
              <a:t>Unpaid salaries may be reported as part of a general accrued liability account on the statement of financial position or as a separate item.</a:t>
            </a:r>
          </a:p>
          <a:p>
            <a:pPr marL="342900" indent="-342900" eaLnBrk="1" hangingPunct="1">
              <a:lnSpc>
                <a:spcPct val="90000"/>
              </a:lnSpc>
              <a:buFont typeface="Wingdings 3" pitchFamily="2" charset="2"/>
              <a:buChar char=""/>
              <a:defRPr/>
            </a:pPr>
            <a:r>
              <a:rPr lang="en-CA" dirty="0"/>
              <a:t>In addition to reporting salaries that have been earned but are unpaid, companies must also report the cost of unpaid benefits, which include retirement programs, vacation time, employment insurance, and health insurance that employees have earned during the reporting period but have not taken or been paid.</a:t>
            </a:r>
          </a:p>
          <a:p>
            <a:pPr marL="342900" indent="-342900" eaLnBrk="1" hangingPunct="1">
              <a:lnSpc>
                <a:spcPct val="90000"/>
              </a:lnSpc>
              <a:buFont typeface="Wingdings 3" pitchFamily="2" charset="2"/>
              <a:buChar char=""/>
              <a:defRPr/>
            </a:pPr>
            <a:r>
              <a:rPr lang="en-CA" dirty="0"/>
              <a:t>Employers must also remit income tax and other social benefit contributions on behalf of their employees to the appropriate government agencies. </a:t>
            </a:r>
            <a:endParaRPr lang="en-US" dirty="0"/>
          </a:p>
        </p:txBody>
      </p:sp>
    </p:spTree>
    <p:extLst>
      <p:ext uri="{BB962C8B-B14F-4D97-AF65-F5344CB8AC3E}">
        <p14:creationId xmlns:p14="http://schemas.microsoft.com/office/powerpoint/2010/main" val="175474106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ED18B8D5-4847-4B56-8CE2-C6AB2867F729}"/>
              </a:ext>
            </a:extLst>
          </p:cNvPr>
          <p:cNvSpPr>
            <a:spLocks noGrp="1"/>
          </p:cNvSpPr>
          <p:nvPr>
            <p:ph type="title"/>
          </p:nvPr>
        </p:nvSpPr>
        <p:spPr>
          <a:xfrm>
            <a:off x="457200" y="304800"/>
            <a:ext cx="8229600" cy="609600"/>
          </a:xfrm>
        </p:spPr>
        <p:txBody>
          <a:bodyPr/>
          <a:lstStyle/>
          <a:p>
            <a:r>
              <a:rPr lang="en-US" altLang="en-US" dirty="0"/>
              <a:t>Employee Deductions Part 1</a:t>
            </a:r>
          </a:p>
        </p:txBody>
      </p:sp>
      <p:sp>
        <p:nvSpPr>
          <p:cNvPr id="3" name="Content Placeholder 2">
            <a:extLst>
              <a:ext uri="{FF2B5EF4-FFF2-40B4-BE49-F238E27FC236}">
                <a16:creationId xmlns:a16="http://schemas.microsoft.com/office/drawing/2014/main" id="{5951F111-3D24-4685-B743-D9B2D7F73CD9}"/>
              </a:ext>
            </a:extLst>
          </p:cNvPr>
          <p:cNvSpPr>
            <a:spLocks noGrp="1"/>
          </p:cNvSpPr>
          <p:nvPr>
            <p:ph idx="1"/>
          </p:nvPr>
        </p:nvSpPr>
        <p:spPr>
          <a:xfrm>
            <a:off x="457200" y="1066800"/>
            <a:ext cx="8305800" cy="5334000"/>
          </a:xfrm>
        </p:spPr>
        <p:txBody>
          <a:bodyPr/>
          <a:lstStyle/>
          <a:p>
            <a:pPr marL="342900" indent="-342900" eaLnBrk="1" hangingPunct="1">
              <a:lnSpc>
                <a:spcPct val="90000"/>
              </a:lnSpc>
              <a:buFont typeface="Wingdings 3" pitchFamily="2" charset="2"/>
              <a:buChar char=""/>
              <a:defRPr/>
            </a:pPr>
            <a:r>
              <a:rPr lang="en-CA" dirty="0"/>
              <a:t>Federal and provincial laws require the employer to deduct an appropriate amount of income tax each period from the gross earnings of each employee. </a:t>
            </a:r>
          </a:p>
          <a:p>
            <a:pPr marL="342900" indent="-342900" eaLnBrk="1" hangingPunct="1">
              <a:lnSpc>
                <a:spcPct val="90000"/>
              </a:lnSpc>
              <a:buFont typeface="Wingdings 3" pitchFamily="2" charset="2"/>
              <a:buChar char=""/>
              <a:defRPr/>
            </a:pPr>
            <a:endParaRPr lang="en-CA" sz="1200" dirty="0"/>
          </a:p>
          <a:p>
            <a:pPr marL="342900" indent="-342900" eaLnBrk="1" hangingPunct="1">
              <a:lnSpc>
                <a:spcPct val="90000"/>
              </a:lnSpc>
              <a:buFont typeface="Wingdings 3" pitchFamily="2" charset="2"/>
              <a:buChar char=""/>
              <a:defRPr/>
            </a:pPr>
            <a:r>
              <a:rPr lang="en-CA" dirty="0"/>
              <a:t>Employee income tax is usually the largest amount withheld from wages and salaries by the employer. </a:t>
            </a:r>
          </a:p>
          <a:p>
            <a:pPr marL="342900" indent="-342900" eaLnBrk="1" hangingPunct="1">
              <a:lnSpc>
                <a:spcPct val="90000"/>
              </a:lnSpc>
              <a:buFont typeface="Wingdings 3" pitchFamily="2" charset="2"/>
              <a:buChar char=""/>
              <a:defRPr/>
            </a:pPr>
            <a:endParaRPr lang="en-CA" sz="1200" dirty="0"/>
          </a:p>
          <a:p>
            <a:pPr marL="342900" indent="-342900" eaLnBrk="1" hangingPunct="1">
              <a:lnSpc>
                <a:spcPct val="90000"/>
              </a:lnSpc>
              <a:buFont typeface="Wingdings 3" pitchFamily="2" charset="2"/>
              <a:buChar char=""/>
              <a:defRPr/>
            </a:pPr>
            <a:r>
              <a:rPr lang="en-CA" dirty="0"/>
              <a:t>The amount of income tax withheld from the employee’s salary is recorded by the employer as a current liability between the date of deduction and the date on which the amount held is remitted to the government. </a:t>
            </a:r>
          </a:p>
        </p:txBody>
      </p:sp>
    </p:spTree>
    <p:extLst>
      <p:ext uri="{BB962C8B-B14F-4D97-AF65-F5344CB8AC3E}">
        <p14:creationId xmlns:p14="http://schemas.microsoft.com/office/powerpoint/2010/main" val="7533815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ED18B8D5-4847-4B56-8CE2-C6AB2867F729}"/>
              </a:ext>
            </a:extLst>
          </p:cNvPr>
          <p:cNvSpPr>
            <a:spLocks noGrp="1"/>
          </p:cNvSpPr>
          <p:nvPr>
            <p:ph type="title"/>
          </p:nvPr>
        </p:nvSpPr>
        <p:spPr>
          <a:xfrm>
            <a:off x="457200" y="304800"/>
            <a:ext cx="8229600" cy="609600"/>
          </a:xfrm>
        </p:spPr>
        <p:txBody>
          <a:bodyPr/>
          <a:lstStyle/>
          <a:p>
            <a:r>
              <a:rPr lang="en-US" altLang="en-US" dirty="0"/>
              <a:t>Employee Deductions Part 2</a:t>
            </a:r>
          </a:p>
        </p:txBody>
      </p:sp>
      <p:sp>
        <p:nvSpPr>
          <p:cNvPr id="3" name="Content Placeholder 2">
            <a:extLst>
              <a:ext uri="{FF2B5EF4-FFF2-40B4-BE49-F238E27FC236}">
                <a16:creationId xmlns:a16="http://schemas.microsoft.com/office/drawing/2014/main" id="{5951F111-3D24-4685-B743-D9B2D7F73CD9}"/>
              </a:ext>
            </a:extLst>
          </p:cNvPr>
          <p:cNvSpPr>
            <a:spLocks noGrp="1"/>
          </p:cNvSpPr>
          <p:nvPr>
            <p:ph idx="1"/>
          </p:nvPr>
        </p:nvSpPr>
        <p:spPr>
          <a:xfrm>
            <a:off x="457200" y="1066800"/>
            <a:ext cx="8305800" cy="5334000"/>
          </a:xfrm>
        </p:spPr>
        <p:txBody>
          <a:bodyPr/>
          <a:lstStyle/>
          <a:p>
            <a:pPr marL="342900" indent="-342900" eaLnBrk="1" hangingPunct="1">
              <a:lnSpc>
                <a:spcPct val="90000"/>
              </a:lnSpc>
              <a:buFont typeface="Wingdings 3" pitchFamily="2" charset="2"/>
              <a:buChar char=""/>
              <a:defRPr/>
            </a:pPr>
            <a:r>
              <a:rPr lang="en-CA" dirty="0"/>
              <a:t>Additional amounts are deducted from the gross earnings for Employment Insurance (EI); for contributions to the Canada Pension Plan (CPP), or Quebec Pension Plan (QPP) in the province of Quebec; for future retirement benefits; for health insurance; and for other contributions that you and your employer must remit to the appropriate agencies.</a:t>
            </a:r>
            <a:endParaRPr lang="en-US" dirty="0"/>
          </a:p>
        </p:txBody>
      </p:sp>
    </p:spTree>
    <p:extLst>
      <p:ext uri="{BB962C8B-B14F-4D97-AF65-F5344CB8AC3E}">
        <p14:creationId xmlns:p14="http://schemas.microsoft.com/office/powerpoint/2010/main" val="202970307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7977E710-88A4-4B62-926B-524D443F77E2}"/>
              </a:ext>
            </a:extLst>
          </p:cNvPr>
          <p:cNvSpPr>
            <a:spLocks noGrp="1"/>
          </p:cNvSpPr>
          <p:nvPr>
            <p:ph type="title"/>
          </p:nvPr>
        </p:nvSpPr>
        <p:spPr/>
        <p:txBody>
          <a:bodyPr/>
          <a:lstStyle/>
          <a:p>
            <a:r>
              <a:rPr lang="en-US" altLang="en-US" dirty="0"/>
              <a:t>Deferred Revenue</a:t>
            </a:r>
          </a:p>
        </p:txBody>
      </p:sp>
      <p:sp>
        <p:nvSpPr>
          <p:cNvPr id="26626" name="Content Placeholder 2">
            <a:extLst>
              <a:ext uri="{FF2B5EF4-FFF2-40B4-BE49-F238E27FC236}">
                <a16:creationId xmlns:a16="http://schemas.microsoft.com/office/drawing/2014/main" id="{0CAB8CD3-312C-4904-86C4-CA5AE6F90AC2}"/>
              </a:ext>
            </a:extLst>
          </p:cNvPr>
          <p:cNvSpPr>
            <a:spLocks noGrp="1"/>
          </p:cNvSpPr>
          <p:nvPr>
            <p:ph idx="1"/>
          </p:nvPr>
        </p:nvSpPr>
        <p:spPr/>
        <p:txBody>
          <a:bodyPr/>
          <a:lstStyle/>
          <a:p>
            <a:r>
              <a:rPr lang="en-CA" altLang="en-US" dirty="0"/>
              <a:t>Typically, cash is paid when a product or service is delivered, or soon thereafter.  In some cases, however, cash is paid in advance of delivery. </a:t>
            </a:r>
          </a:p>
          <a:p>
            <a:endParaRPr lang="en-CA" altLang="en-US" sz="1200" dirty="0"/>
          </a:p>
          <a:p>
            <a:r>
              <a:rPr lang="en-CA" altLang="en-US" dirty="0"/>
              <a:t>When a company collects cash before the related revenue has been earned, the cash is called </a:t>
            </a:r>
            <a:r>
              <a:rPr lang="en-CA" altLang="en-US" b="1" dirty="0"/>
              <a:t>deferred revenue.</a:t>
            </a:r>
          </a:p>
          <a:p>
            <a:endParaRPr lang="en-CA" altLang="en-US" sz="1200" b="1" dirty="0"/>
          </a:p>
          <a:p>
            <a:r>
              <a:rPr lang="en-US" altLang="en-US" dirty="0"/>
              <a:t>Deferred revenues are reported as a liability because cash has been collected but the related revenue has not been earned by the end of the accounting period.</a:t>
            </a:r>
          </a:p>
          <a:p>
            <a:endParaRPr lang="en-CA" altLang="en-US" sz="2400" dirty="0">
              <a:latin typeface="Arial" panose="020B0604020202020204" pitchFamily="34" charset="0"/>
            </a:endParaRPr>
          </a:p>
          <a:p>
            <a:endParaRPr lang="en-US" altLang="en-US" dirty="0"/>
          </a:p>
          <a:p>
            <a:endParaRPr lang="en-US"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1D2D18F8-85A7-459D-BEE8-4BCD30B567B5}"/>
              </a:ext>
            </a:extLst>
          </p:cNvPr>
          <p:cNvSpPr>
            <a:spLocks noGrp="1"/>
          </p:cNvSpPr>
          <p:nvPr>
            <p:ph type="title"/>
          </p:nvPr>
        </p:nvSpPr>
        <p:spPr/>
        <p:txBody>
          <a:bodyPr/>
          <a:lstStyle/>
          <a:p>
            <a:r>
              <a:rPr lang="en-US" altLang="en-US" dirty="0"/>
              <a:t>Notes Payable Part 1</a:t>
            </a:r>
          </a:p>
        </p:txBody>
      </p:sp>
      <p:sp>
        <p:nvSpPr>
          <p:cNvPr id="3" name="Content Placeholder 2">
            <a:extLst>
              <a:ext uri="{FF2B5EF4-FFF2-40B4-BE49-F238E27FC236}">
                <a16:creationId xmlns:a16="http://schemas.microsoft.com/office/drawing/2014/main" id="{29D74797-958F-44E4-8BC1-76ECF9CE8F4A}"/>
              </a:ext>
            </a:extLst>
          </p:cNvPr>
          <p:cNvSpPr>
            <a:spLocks noGrp="1"/>
          </p:cNvSpPr>
          <p:nvPr>
            <p:ph idx="1"/>
          </p:nvPr>
        </p:nvSpPr>
        <p:spPr/>
        <p:txBody>
          <a:bodyPr/>
          <a:lstStyle/>
          <a:p>
            <a:pPr>
              <a:buFont typeface="Wingdings 3" pitchFamily="2" charset="2"/>
              <a:buChar char=""/>
              <a:defRPr/>
            </a:pPr>
            <a:r>
              <a:rPr lang="en-CA" dirty="0"/>
              <a:t>When a company borrows money, it normally signs a formal written contract with a bank and reports the amount borrowed as a </a:t>
            </a:r>
            <a:r>
              <a:rPr lang="en-CA" i="1" dirty="0"/>
              <a:t>note payable</a:t>
            </a:r>
            <a:r>
              <a:rPr lang="en-CA" dirty="0"/>
              <a:t>. </a:t>
            </a:r>
          </a:p>
          <a:p>
            <a:pPr>
              <a:buFont typeface="Wingdings 3" pitchFamily="2" charset="2"/>
              <a:buChar char=""/>
              <a:defRPr/>
            </a:pPr>
            <a:endParaRPr lang="en-CA" sz="1200" dirty="0"/>
          </a:p>
          <a:p>
            <a:pPr>
              <a:buFont typeface="Wingdings 3" pitchFamily="2" charset="2"/>
              <a:buChar char=""/>
              <a:defRPr/>
            </a:pPr>
            <a:r>
              <a:rPr lang="en-CA" dirty="0"/>
              <a:t>The contract specifies the amount borrowed, the date by which it must be repaid, and the interest rate associated with the debt. </a:t>
            </a:r>
          </a:p>
          <a:p>
            <a:pPr>
              <a:buFont typeface="Wingdings 3" pitchFamily="2" charset="2"/>
              <a:buChar char=""/>
              <a:defRPr/>
            </a:pPr>
            <a:endParaRPr lang="en-CA" sz="1200" dirty="0"/>
          </a:p>
          <a:p>
            <a:pPr>
              <a:buFont typeface="Wingdings 3" pitchFamily="2" charset="2"/>
              <a:buChar char=""/>
              <a:defRPr/>
            </a:pPr>
            <a:r>
              <a:rPr lang="en-CA" dirty="0"/>
              <a:t>Notes payable can vary in amount borrowed, the interest charged, and length of time of the contract.</a:t>
            </a:r>
            <a:endParaRPr lang="en-US" sz="2600" dirty="0">
              <a:solidFill>
                <a:schemeClr val="tx1"/>
              </a:solidFill>
              <a:effectLst>
                <a:outerShdw blurRad="38100" dist="38100" dir="2700000" algn="tl">
                  <a:srgbClr val="FFFFFF"/>
                </a:outerShdw>
              </a:effectLst>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1D2D18F8-85A7-459D-BEE8-4BCD30B567B5}"/>
              </a:ext>
            </a:extLst>
          </p:cNvPr>
          <p:cNvSpPr>
            <a:spLocks noGrp="1"/>
          </p:cNvSpPr>
          <p:nvPr>
            <p:ph type="title"/>
          </p:nvPr>
        </p:nvSpPr>
        <p:spPr/>
        <p:txBody>
          <a:bodyPr/>
          <a:lstStyle/>
          <a:p>
            <a:r>
              <a:rPr lang="en-US" altLang="en-US" dirty="0"/>
              <a:t>Notes Payable Part 2</a:t>
            </a:r>
          </a:p>
        </p:txBody>
      </p:sp>
      <p:sp>
        <p:nvSpPr>
          <p:cNvPr id="3" name="Content Placeholder 2">
            <a:extLst>
              <a:ext uri="{FF2B5EF4-FFF2-40B4-BE49-F238E27FC236}">
                <a16:creationId xmlns:a16="http://schemas.microsoft.com/office/drawing/2014/main" id="{29D74797-958F-44E4-8BC1-76ECF9CE8F4A}"/>
              </a:ext>
            </a:extLst>
          </p:cNvPr>
          <p:cNvSpPr>
            <a:spLocks noGrp="1"/>
          </p:cNvSpPr>
          <p:nvPr>
            <p:ph idx="1"/>
          </p:nvPr>
        </p:nvSpPr>
        <p:spPr/>
        <p:txBody>
          <a:bodyPr/>
          <a:lstStyle/>
          <a:p>
            <a:pPr>
              <a:buFont typeface="Wingdings 3" pitchFamily="2" charset="2"/>
              <a:buChar char=""/>
              <a:defRPr/>
            </a:pPr>
            <a:r>
              <a:rPr lang="en-CA" altLang="en-US" dirty="0"/>
              <a:t>The </a:t>
            </a:r>
            <a:r>
              <a:rPr lang="en-CA" altLang="en-US" b="1" dirty="0"/>
              <a:t>time value of money </a:t>
            </a:r>
            <a:r>
              <a:rPr lang="en-CA" altLang="en-US" dirty="0"/>
              <a:t>is interest that is associated with the use of money over time.</a:t>
            </a:r>
          </a:p>
          <a:p>
            <a:pPr>
              <a:buFont typeface="Wingdings 3" pitchFamily="2" charset="2"/>
              <a:buChar char=""/>
              <a:defRPr/>
            </a:pPr>
            <a:endParaRPr lang="en-CA" altLang="en-US" sz="1200" dirty="0"/>
          </a:p>
          <a:p>
            <a:pPr>
              <a:buFont typeface="Wingdings 3" pitchFamily="2" charset="2"/>
              <a:buChar char=""/>
              <a:defRPr/>
            </a:pPr>
            <a:r>
              <a:rPr lang="en-CA" dirty="0"/>
              <a:t>To the </a:t>
            </a:r>
            <a:r>
              <a:rPr lang="en-CA" i="1" dirty="0"/>
              <a:t>borrower</a:t>
            </a:r>
            <a:r>
              <a:rPr lang="en-CA" dirty="0"/>
              <a:t>, interest reflects the cost of using someone else’s money and is therefore an expense. </a:t>
            </a:r>
          </a:p>
          <a:p>
            <a:pPr>
              <a:buFont typeface="Wingdings 3" pitchFamily="2" charset="2"/>
              <a:buChar char=""/>
              <a:defRPr/>
            </a:pPr>
            <a:endParaRPr lang="en-CA" sz="1200" dirty="0"/>
          </a:p>
          <a:p>
            <a:pPr>
              <a:buFont typeface="Wingdings 3" pitchFamily="2" charset="2"/>
              <a:buChar char=""/>
              <a:defRPr/>
            </a:pPr>
            <a:r>
              <a:rPr lang="en-CA" dirty="0"/>
              <a:t>To </a:t>
            </a:r>
            <a:r>
              <a:rPr lang="en-CA" i="1" dirty="0"/>
              <a:t>creditors</a:t>
            </a:r>
            <a:r>
              <a:rPr lang="en-CA" dirty="0"/>
              <a:t>, interest reflects the benefit of allowing someone else to use their money and is therefore revenue.</a:t>
            </a:r>
            <a:endParaRPr lang="en-CA" altLang="en-US" dirty="0"/>
          </a:p>
          <a:p>
            <a:pPr>
              <a:buFont typeface="Wingdings 3" pitchFamily="2" charset="2"/>
              <a:buChar char=""/>
              <a:defRPr/>
            </a:pPr>
            <a:endParaRPr lang="en-CA" altLang="en-US" sz="1200" dirty="0"/>
          </a:p>
          <a:p>
            <a:pPr marL="274638" lvl="1" indent="0">
              <a:buFont typeface="Wingdings 3" pitchFamily="2" charset="2"/>
              <a:buNone/>
              <a:defRPr/>
            </a:pPr>
            <a:endParaRPr lang="en-US" sz="2600" dirty="0">
              <a:solidFill>
                <a:schemeClr val="tx1"/>
              </a:solidFill>
              <a:effectLst>
                <a:outerShdw blurRad="38100" dist="38100" dir="2700000" algn="tl">
                  <a:srgbClr val="FFFFFF"/>
                </a:outerShdw>
              </a:effectLst>
            </a:endParaRPr>
          </a:p>
        </p:txBody>
      </p:sp>
    </p:spTree>
    <p:extLst>
      <p:ext uri="{BB962C8B-B14F-4D97-AF65-F5344CB8AC3E}">
        <p14:creationId xmlns:p14="http://schemas.microsoft.com/office/powerpoint/2010/main" val="367632147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1D2D18F8-85A7-459D-BEE8-4BCD30B567B5}"/>
              </a:ext>
            </a:extLst>
          </p:cNvPr>
          <p:cNvSpPr>
            <a:spLocks noGrp="1"/>
          </p:cNvSpPr>
          <p:nvPr>
            <p:ph type="title"/>
          </p:nvPr>
        </p:nvSpPr>
        <p:spPr/>
        <p:txBody>
          <a:bodyPr/>
          <a:lstStyle/>
          <a:p>
            <a:r>
              <a:rPr lang="en-US" altLang="en-US" dirty="0"/>
              <a:t>Notes Payable Part 3</a:t>
            </a:r>
          </a:p>
        </p:txBody>
      </p:sp>
      <p:sp>
        <p:nvSpPr>
          <p:cNvPr id="3" name="Content Placeholder 2">
            <a:extLst>
              <a:ext uri="{FF2B5EF4-FFF2-40B4-BE49-F238E27FC236}">
                <a16:creationId xmlns:a16="http://schemas.microsoft.com/office/drawing/2014/main" id="{29D74797-958F-44E4-8BC1-76ECF9CE8F4A}"/>
              </a:ext>
            </a:extLst>
          </p:cNvPr>
          <p:cNvSpPr>
            <a:spLocks noGrp="1"/>
          </p:cNvSpPr>
          <p:nvPr>
            <p:ph idx="1"/>
          </p:nvPr>
        </p:nvSpPr>
        <p:spPr/>
        <p:txBody>
          <a:bodyPr/>
          <a:lstStyle/>
          <a:p>
            <a:pPr>
              <a:buFont typeface="Wingdings 3" pitchFamily="2" charset="2"/>
              <a:buChar char=""/>
              <a:defRPr/>
            </a:pPr>
            <a:r>
              <a:rPr lang="en-CA" dirty="0"/>
              <a:t>You need three pieces of information to calculate interest: </a:t>
            </a:r>
          </a:p>
          <a:p>
            <a:pPr lvl="1">
              <a:buFont typeface="Wingdings 3" pitchFamily="2" charset="2"/>
              <a:buChar char=""/>
              <a:defRPr/>
            </a:pPr>
            <a:r>
              <a:rPr lang="en-CA" sz="2600" dirty="0"/>
              <a:t>(1) the principal (i.e., the cash that was borrowed), </a:t>
            </a:r>
          </a:p>
          <a:p>
            <a:pPr lvl="1">
              <a:buFont typeface="Wingdings 3" pitchFamily="2" charset="2"/>
              <a:buChar char=""/>
              <a:defRPr/>
            </a:pPr>
            <a:r>
              <a:rPr lang="en-CA" sz="2600" dirty="0"/>
              <a:t>(2) the annual interest rate, and </a:t>
            </a:r>
          </a:p>
          <a:p>
            <a:pPr lvl="1">
              <a:buFont typeface="Wingdings 3" pitchFamily="2" charset="2"/>
              <a:buChar char=""/>
              <a:defRPr/>
            </a:pPr>
            <a:r>
              <a:rPr lang="en-CA" sz="2600" dirty="0"/>
              <a:t>(3) the time period for the loan. </a:t>
            </a:r>
          </a:p>
          <a:p>
            <a:pPr lvl="1">
              <a:buFont typeface="Wingdings 3" pitchFamily="2" charset="2"/>
              <a:buChar char=""/>
              <a:defRPr/>
            </a:pPr>
            <a:endParaRPr lang="en-CA" sz="1200" dirty="0"/>
          </a:p>
          <a:p>
            <a:pPr marL="0" indent="0">
              <a:buNone/>
              <a:defRPr/>
            </a:pPr>
            <a:endParaRPr lang="en-US" sz="1200" dirty="0">
              <a:effectLst>
                <a:outerShdw blurRad="38100" dist="38100" dir="2700000" algn="tl">
                  <a:srgbClr val="FFFFFF"/>
                </a:outerShdw>
              </a:effectLst>
            </a:endParaRPr>
          </a:p>
          <a:p>
            <a:pPr marL="0" indent="0">
              <a:buNone/>
              <a:defRPr/>
            </a:pPr>
            <a:r>
              <a:rPr lang="en-US" dirty="0">
                <a:effectLst>
                  <a:outerShdw blurRad="38100" dist="38100" dir="2700000" algn="tl">
                    <a:srgbClr val="FFFFFF"/>
                  </a:outerShdw>
                </a:effectLst>
              </a:rPr>
              <a:t>Interest for the period = </a:t>
            </a:r>
          </a:p>
          <a:p>
            <a:pPr marL="0" indent="0">
              <a:buNone/>
              <a:defRPr/>
            </a:pPr>
            <a:r>
              <a:rPr lang="en-US" dirty="0">
                <a:effectLst>
                  <a:outerShdw blurRad="38100" dist="38100" dir="2700000" algn="tl">
                    <a:srgbClr val="FFFFFF"/>
                  </a:outerShdw>
                </a:effectLst>
              </a:rPr>
              <a:t>	</a:t>
            </a:r>
            <a:r>
              <a:rPr lang="en-US" u="sng" dirty="0">
                <a:effectLst>
                  <a:outerShdw blurRad="38100" dist="38100" dir="2700000" algn="tl">
                    <a:srgbClr val="FFFFFF"/>
                  </a:outerShdw>
                </a:effectLst>
              </a:rPr>
              <a:t>Principal x Annual interest rate x Number of months </a:t>
            </a:r>
          </a:p>
          <a:p>
            <a:pPr marL="0" indent="0">
              <a:buNone/>
              <a:defRPr/>
            </a:pPr>
            <a:r>
              <a:rPr lang="en-US" dirty="0">
                <a:effectLst>
                  <a:outerShdw blurRad="38100" dist="38100" dir="2700000" algn="tl">
                    <a:srgbClr val="FFFFFF"/>
                  </a:outerShdw>
                </a:effectLst>
              </a:rPr>
              <a:t>			         12 months</a:t>
            </a:r>
            <a:endParaRPr lang="en-CA" dirty="0"/>
          </a:p>
        </p:txBody>
      </p:sp>
    </p:spTree>
    <p:extLst>
      <p:ext uri="{BB962C8B-B14F-4D97-AF65-F5344CB8AC3E}">
        <p14:creationId xmlns:p14="http://schemas.microsoft.com/office/powerpoint/2010/main" val="75598683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93F57F8C-F952-414B-999D-29DF7505C95C}"/>
              </a:ext>
            </a:extLst>
          </p:cNvPr>
          <p:cNvSpPr>
            <a:spLocks noGrp="1"/>
          </p:cNvSpPr>
          <p:nvPr>
            <p:ph type="title"/>
          </p:nvPr>
        </p:nvSpPr>
        <p:spPr/>
        <p:txBody>
          <a:bodyPr/>
          <a:lstStyle/>
          <a:p>
            <a:r>
              <a:rPr lang="en-US" altLang="en-US" dirty="0"/>
              <a:t>Current Portion of Long-Term Debt</a:t>
            </a:r>
          </a:p>
        </p:txBody>
      </p:sp>
      <p:sp>
        <p:nvSpPr>
          <p:cNvPr id="25602" name="Content Placeholder 2">
            <a:extLst>
              <a:ext uri="{FF2B5EF4-FFF2-40B4-BE49-F238E27FC236}">
                <a16:creationId xmlns:a16="http://schemas.microsoft.com/office/drawing/2014/main" id="{F5FD27D9-CBDA-4BDF-8E24-427A6A6324FA}"/>
              </a:ext>
            </a:extLst>
          </p:cNvPr>
          <p:cNvSpPr>
            <a:spLocks noGrp="1"/>
          </p:cNvSpPr>
          <p:nvPr>
            <p:ph idx="1"/>
          </p:nvPr>
        </p:nvSpPr>
        <p:spPr/>
        <p:txBody>
          <a:bodyPr/>
          <a:lstStyle/>
          <a:p>
            <a:r>
              <a:rPr lang="en-CA" altLang="en-US" dirty="0"/>
              <a:t>Long-term debt is split between the current portion and the non-current portion.</a:t>
            </a:r>
          </a:p>
          <a:p>
            <a:endParaRPr lang="en-CA" altLang="en-US" sz="1200" dirty="0"/>
          </a:p>
          <a:p>
            <a:r>
              <a:rPr lang="en-CA" altLang="en-US" dirty="0"/>
              <a:t>The current portion of long-term debt is any portion of a note payable that is due within one year, or the operating cycle, whichever is longer.</a:t>
            </a:r>
          </a:p>
          <a:p>
            <a:endParaRPr lang="en-US" alt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17CBA8A4-4533-4B63-BA04-81EA73BD1668}"/>
              </a:ext>
            </a:extLst>
          </p:cNvPr>
          <p:cNvSpPr>
            <a:spLocks noGrp="1"/>
          </p:cNvSpPr>
          <p:nvPr>
            <p:ph type="title"/>
          </p:nvPr>
        </p:nvSpPr>
        <p:spPr/>
        <p:txBody>
          <a:bodyPr/>
          <a:lstStyle/>
          <a:p>
            <a:r>
              <a:rPr lang="en-US" altLang="en-US" dirty="0"/>
              <a:t>Provisions Part 1</a:t>
            </a:r>
          </a:p>
        </p:txBody>
      </p:sp>
      <p:sp>
        <p:nvSpPr>
          <p:cNvPr id="27650" name="Content Placeholder 2">
            <a:extLst>
              <a:ext uri="{FF2B5EF4-FFF2-40B4-BE49-F238E27FC236}">
                <a16:creationId xmlns:a16="http://schemas.microsoft.com/office/drawing/2014/main" id="{8535D0E5-5096-4AD0-81D3-68AEDE7C7D3D}"/>
              </a:ext>
            </a:extLst>
          </p:cNvPr>
          <p:cNvSpPr>
            <a:spLocks noGrp="1"/>
          </p:cNvSpPr>
          <p:nvPr>
            <p:ph idx="1"/>
          </p:nvPr>
        </p:nvSpPr>
        <p:spPr/>
        <p:txBody>
          <a:bodyPr/>
          <a:lstStyle/>
          <a:p>
            <a:pPr eaLnBrk="1" hangingPunct="1"/>
            <a:r>
              <a:rPr lang="en-CA" altLang="en-US" dirty="0"/>
              <a:t>When either the amount or the timing of the liability is uncertain, it is referred to as </a:t>
            </a:r>
            <a:r>
              <a:rPr lang="en-CA" altLang="en-US" b="1" dirty="0"/>
              <a:t>provision</a:t>
            </a:r>
            <a:r>
              <a:rPr lang="en-CA" altLang="en-US" dirty="0"/>
              <a:t>.</a:t>
            </a:r>
          </a:p>
          <a:p>
            <a:pPr eaLnBrk="1" hangingPunct="1"/>
            <a:endParaRPr lang="en-CA" altLang="en-US" sz="1200" dirty="0"/>
          </a:p>
          <a:p>
            <a:pPr eaLnBrk="1" hangingPunct="1"/>
            <a:r>
              <a:rPr lang="en-CA" altLang="en-US" dirty="0"/>
              <a:t>A provision must be recognized when the following conditions are met:</a:t>
            </a:r>
          </a:p>
          <a:p>
            <a:pPr marL="788988" lvl="1" indent="-514350" eaLnBrk="1" hangingPunct="1">
              <a:buFont typeface="Calibri" panose="020F0502020204030204" pitchFamily="34" charset="0"/>
              <a:buAutoNum type="arabicPeriod"/>
            </a:pPr>
            <a:r>
              <a:rPr lang="en-CA" altLang="en-US" sz="2600" dirty="0"/>
              <a:t>A</a:t>
            </a:r>
            <a:r>
              <a:rPr lang="en-CA" altLang="en-US" sz="2600" dirty="0">
                <a:solidFill>
                  <a:schemeClr val="tx1"/>
                </a:solidFill>
              </a:rPr>
              <a:t>n entity has a present obligation as a result of a past event,</a:t>
            </a:r>
          </a:p>
          <a:p>
            <a:pPr marL="788988" lvl="1" indent="-514350" eaLnBrk="1" hangingPunct="1">
              <a:buFont typeface="Calibri" panose="020F0502020204030204" pitchFamily="34" charset="0"/>
              <a:buAutoNum type="arabicPeriod"/>
            </a:pPr>
            <a:r>
              <a:rPr lang="en-CA" altLang="en-US" sz="2600" dirty="0"/>
              <a:t>I</a:t>
            </a:r>
            <a:r>
              <a:rPr lang="en-CA" altLang="en-US" sz="2600" dirty="0">
                <a:solidFill>
                  <a:schemeClr val="tx1"/>
                </a:solidFill>
              </a:rPr>
              <a:t>t is probable that cash or other assets will be required to settle the obligation, and</a:t>
            </a:r>
          </a:p>
          <a:p>
            <a:pPr marL="788988" lvl="1" indent="-514350" eaLnBrk="1" hangingPunct="1">
              <a:buFont typeface="Calibri" panose="020F0502020204030204" pitchFamily="34" charset="0"/>
              <a:buAutoNum type="arabicPeriod"/>
            </a:pPr>
            <a:r>
              <a:rPr lang="en-CA" altLang="en-US" sz="2600" dirty="0"/>
              <a:t>A</a:t>
            </a:r>
            <a:r>
              <a:rPr lang="en-CA" altLang="en-US" sz="2600" dirty="0">
                <a:solidFill>
                  <a:schemeClr val="tx1"/>
                </a:solidFill>
              </a:rPr>
              <a:t> reliable estimate can be made of the amount of the obligation.</a:t>
            </a:r>
          </a:p>
          <a:p>
            <a:endParaRPr lang="en-US"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8E38AB66-D35D-4FDC-B0A6-37D01F97D113}"/>
              </a:ext>
            </a:extLst>
          </p:cNvPr>
          <p:cNvSpPr>
            <a:spLocks noGrp="1"/>
          </p:cNvSpPr>
          <p:nvPr>
            <p:ph type="title"/>
          </p:nvPr>
        </p:nvSpPr>
        <p:spPr/>
        <p:txBody>
          <a:bodyPr/>
          <a:lstStyle/>
          <a:p>
            <a:r>
              <a:rPr lang="en-US" altLang="en-US" dirty="0"/>
              <a:t>Provisions Part 2</a:t>
            </a:r>
          </a:p>
        </p:txBody>
      </p:sp>
      <p:sp>
        <p:nvSpPr>
          <p:cNvPr id="28674" name="Content Placeholder 2">
            <a:extLst>
              <a:ext uri="{FF2B5EF4-FFF2-40B4-BE49-F238E27FC236}">
                <a16:creationId xmlns:a16="http://schemas.microsoft.com/office/drawing/2014/main" id="{DDD8A6D7-873F-4C4D-BFBF-7E215736E94E}"/>
              </a:ext>
            </a:extLst>
          </p:cNvPr>
          <p:cNvSpPr>
            <a:spLocks noGrp="1"/>
          </p:cNvSpPr>
          <p:nvPr>
            <p:ph idx="1"/>
          </p:nvPr>
        </p:nvSpPr>
        <p:spPr/>
        <p:txBody>
          <a:bodyPr/>
          <a:lstStyle/>
          <a:p>
            <a:pPr eaLnBrk="1" hangingPunct="1"/>
            <a:r>
              <a:rPr lang="en-CA" altLang="en-US" dirty="0"/>
              <a:t>Examples of provisions include:</a:t>
            </a:r>
          </a:p>
          <a:p>
            <a:pPr lvl="1" eaLnBrk="1" hangingPunct="1"/>
            <a:r>
              <a:rPr lang="en-CA" altLang="en-US" sz="2600" dirty="0">
                <a:solidFill>
                  <a:schemeClr val="tx1"/>
                </a:solidFill>
              </a:rPr>
              <a:t>Estimated liabilities for warranties, </a:t>
            </a:r>
          </a:p>
          <a:p>
            <a:pPr lvl="1" eaLnBrk="1" hangingPunct="1"/>
            <a:r>
              <a:rPr lang="en-CA" altLang="en-US" sz="2600" dirty="0"/>
              <a:t>Product returns and allowances,</a:t>
            </a:r>
            <a:endParaRPr lang="en-CA" altLang="en-US" sz="2600" dirty="0">
              <a:solidFill>
                <a:schemeClr val="tx1"/>
              </a:solidFill>
            </a:endParaRPr>
          </a:p>
          <a:p>
            <a:pPr lvl="1" eaLnBrk="1" hangingPunct="1"/>
            <a:r>
              <a:rPr lang="en-CA" altLang="en-US" sz="2600" dirty="0">
                <a:solidFill>
                  <a:schemeClr val="tx1"/>
                </a:solidFill>
              </a:rPr>
              <a:t>Legal and tax disputes that arise in the ordinary course of business, </a:t>
            </a:r>
          </a:p>
          <a:p>
            <a:pPr lvl="1" eaLnBrk="1" hangingPunct="1"/>
            <a:r>
              <a:rPr lang="en-CA" altLang="en-US" sz="2600" dirty="0">
                <a:solidFill>
                  <a:schemeClr val="tx1"/>
                </a:solidFill>
              </a:rPr>
              <a:t>Closing of stores or specific operations, and </a:t>
            </a:r>
          </a:p>
          <a:p>
            <a:pPr lvl="1" eaLnBrk="1" hangingPunct="1"/>
            <a:r>
              <a:rPr lang="en-CA" altLang="en-US" sz="2600" dirty="0">
                <a:solidFill>
                  <a:schemeClr val="tx1"/>
                </a:solidFill>
              </a:rPr>
              <a:t>Restructuring of the production, sales, or administrative structures.</a:t>
            </a:r>
          </a:p>
          <a:p>
            <a:endParaRPr lang="en-US"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6884FB52-8DC6-4B46-8E12-0E6FE168A87C}"/>
              </a:ext>
            </a:extLst>
          </p:cNvPr>
          <p:cNvSpPr>
            <a:spLocks noGrp="1"/>
          </p:cNvSpPr>
          <p:nvPr>
            <p:ph type="title"/>
          </p:nvPr>
        </p:nvSpPr>
        <p:spPr/>
        <p:txBody>
          <a:bodyPr/>
          <a:lstStyle/>
          <a:p>
            <a:r>
              <a:rPr lang="en-US" altLang="en-US" dirty="0"/>
              <a:t>Contingent Liabilities Part 1</a:t>
            </a:r>
          </a:p>
        </p:txBody>
      </p:sp>
      <p:sp>
        <p:nvSpPr>
          <p:cNvPr id="29698" name="Content Placeholder 2">
            <a:extLst>
              <a:ext uri="{FF2B5EF4-FFF2-40B4-BE49-F238E27FC236}">
                <a16:creationId xmlns:a16="http://schemas.microsoft.com/office/drawing/2014/main" id="{E152CCFD-6558-4261-A2D2-65E32BB126B3}"/>
              </a:ext>
            </a:extLst>
          </p:cNvPr>
          <p:cNvSpPr>
            <a:spLocks noGrp="1"/>
          </p:cNvSpPr>
          <p:nvPr>
            <p:ph idx="1"/>
          </p:nvPr>
        </p:nvSpPr>
        <p:spPr/>
        <p:txBody>
          <a:bodyPr/>
          <a:lstStyle/>
          <a:p>
            <a:r>
              <a:rPr lang="en-CA" altLang="en-US"/>
              <a:t>A </a:t>
            </a:r>
            <a:r>
              <a:rPr lang="en-CA" altLang="en-US" b="1"/>
              <a:t>contingent liability</a:t>
            </a:r>
            <a:r>
              <a:rPr lang="en-CA" altLang="en-US"/>
              <a:t> is a possible liability that is created as a result of a past event, and which may or may not become a recorded liability, depending on future events.</a:t>
            </a:r>
            <a:endParaRPr lang="en-US" altLang="en-US"/>
          </a:p>
        </p:txBody>
      </p:sp>
      <p:pic>
        <p:nvPicPr>
          <p:cNvPr id="2" name="Picture 1">
            <a:extLst>
              <a:ext uri="{FF2B5EF4-FFF2-40B4-BE49-F238E27FC236}">
                <a16:creationId xmlns:a16="http://schemas.microsoft.com/office/drawing/2014/main" id="{1AFC3FF0-490D-DF4D-8326-A3D6E9A28C87}"/>
              </a:ext>
            </a:extLst>
          </p:cNvPr>
          <p:cNvPicPr>
            <a:picLocks noChangeAspect="1"/>
          </p:cNvPicPr>
          <p:nvPr/>
        </p:nvPicPr>
        <p:blipFill>
          <a:blip r:embed="rId2"/>
          <a:stretch>
            <a:fillRect/>
          </a:stretch>
        </p:blipFill>
        <p:spPr>
          <a:xfrm>
            <a:off x="1055194" y="2819400"/>
            <a:ext cx="7033612" cy="3207327"/>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182A1B0A-6124-46E2-99A9-3406115F20BE}"/>
              </a:ext>
            </a:extLst>
          </p:cNvPr>
          <p:cNvSpPr>
            <a:spLocks noGrp="1"/>
          </p:cNvSpPr>
          <p:nvPr>
            <p:ph type="title"/>
          </p:nvPr>
        </p:nvSpPr>
        <p:spPr/>
        <p:txBody>
          <a:bodyPr/>
          <a:lstStyle/>
          <a:p>
            <a:r>
              <a:rPr lang="en-US" altLang="en-US" dirty="0"/>
              <a:t>Contingent Liabilities Part 2</a:t>
            </a:r>
          </a:p>
        </p:txBody>
      </p:sp>
      <p:graphicFrame>
        <p:nvGraphicFramePr>
          <p:cNvPr id="5" name="Table 5">
            <a:extLst>
              <a:ext uri="{FF2B5EF4-FFF2-40B4-BE49-F238E27FC236}">
                <a16:creationId xmlns:a16="http://schemas.microsoft.com/office/drawing/2014/main" id="{376CF8ED-F859-C840-AC70-113001FD2AA5}"/>
              </a:ext>
            </a:extLst>
          </p:cNvPr>
          <p:cNvGraphicFramePr>
            <a:graphicFrameLocks noGrp="1"/>
          </p:cNvGraphicFramePr>
          <p:nvPr>
            <p:ph idx="1"/>
            <p:extLst>
              <p:ext uri="{D42A27DB-BD31-4B8C-83A1-F6EECF244321}">
                <p14:modId xmlns:p14="http://schemas.microsoft.com/office/powerpoint/2010/main" val="3661720740"/>
              </p:ext>
            </p:extLst>
          </p:nvPr>
        </p:nvGraphicFramePr>
        <p:xfrm>
          <a:off x="228600" y="1280160"/>
          <a:ext cx="8686800" cy="4663440"/>
        </p:xfrm>
        <a:graphic>
          <a:graphicData uri="http://schemas.openxmlformats.org/drawingml/2006/table">
            <a:tbl>
              <a:tblPr firstRow="1" bandRow="1">
                <a:tableStyleId>{2D5ABB26-0587-4C30-8999-92F81FD0307C}</a:tableStyleId>
              </a:tblPr>
              <a:tblGrid>
                <a:gridCol w="3816927">
                  <a:extLst>
                    <a:ext uri="{9D8B030D-6E8A-4147-A177-3AD203B41FA5}">
                      <a16:colId xmlns:a16="http://schemas.microsoft.com/office/drawing/2014/main" val="1402440996"/>
                    </a:ext>
                  </a:extLst>
                </a:gridCol>
                <a:gridCol w="2332567">
                  <a:extLst>
                    <a:ext uri="{9D8B030D-6E8A-4147-A177-3AD203B41FA5}">
                      <a16:colId xmlns:a16="http://schemas.microsoft.com/office/drawing/2014/main" val="2377727580"/>
                    </a:ext>
                  </a:extLst>
                </a:gridCol>
                <a:gridCol w="2537306">
                  <a:extLst>
                    <a:ext uri="{9D8B030D-6E8A-4147-A177-3AD203B41FA5}">
                      <a16:colId xmlns:a16="http://schemas.microsoft.com/office/drawing/2014/main" val="1498554243"/>
                    </a:ext>
                  </a:extLst>
                </a:gridCol>
              </a:tblGrid>
              <a:tr h="370840">
                <a:tc>
                  <a:txBody>
                    <a:bodyPr/>
                    <a:lstStyle/>
                    <a:p>
                      <a:r>
                        <a:rPr lang="en-CA" sz="1800" b="1" dirty="0"/>
                        <a:t>Level of Certainty of the Present or Possible Obligation</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b="1" dirty="0"/>
                        <a:t>Should a Liability Be Recognized?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b="1" dirty="0"/>
                        <a:t>Disclosure Requirements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0554082"/>
                  </a:ext>
                </a:extLst>
              </a:tr>
              <a:tr h="370840">
                <a:tc>
                  <a:txBody>
                    <a:bodyPr/>
                    <a:lstStyle/>
                    <a:p>
                      <a:r>
                        <a:rPr lang="en-CA" sz="1800" dirty="0"/>
                        <a:t>There is a present obligation that probably requires an outflow of resources.</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8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0446207"/>
                  </a:ext>
                </a:extLst>
              </a:tr>
              <a:tr h="370840">
                <a:tc>
                  <a:txBody>
                    <a:bodyPr/>
                    <a:lstStyle/>
                    <a:p>
                      <a:pPr>
                        <a:buFont typeface="+mj-lt"/>
                        <a:buAutoNum type="arabicPeriod"/>
                      </a:pPr>
                      <a:r>
                        <a:rPr lang="en-CA" sz="1800"/>
                        <a:t>The amount of the liability can be estimated reliably.</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a:t>A provision must be recognized.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a:t>Disclosure of the provision is required.</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6661404"/>
                  </a:ext>
                </a:extLst>
              </a:tr>
              <a:tr h="370840">
                <a:tc>
                  <a:txBody>
                    <a:bodyPr/>
                    <a:lstStyle/>
                    <a:p>
                      <a:pPr>
                        <a:buFont typeface="+mj-lt"/>
                        <a:buAutoNum type="arabicPeriod" startAt="2"/>
                      </a:pPr>
                      <a:r>
                        <a:rPr lang="en-CA" sz="1800"/>
                        <a:t>The amount of the liability cannot be estimated reliably.</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a:t>No provision shall be recognized.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a:t>Disclosure is required for the contingency.</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7152059"/>
                  </a:ext>
                </a:extLst>
              </a:tr>
              <a:tr h="370840">
                <a:tc>
                  <a:txBody>
                    <a:bodyPr/>
                    <a:lstStyle/>
                    <a:p>
                      <a:r>
                        <a:rPr lang="en-CA" sz="1800" dirty="0"/>
                        <a:t>There is either a present or a possible obligation that may, but probably will not, require an outflow of resources.</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a:t>No provision shall be recognized.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a:t>Disclosure is required for the contingency.</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1417715"/>
                  </a:ext>
                </a:extLst>
              </a:tr>
              <a:tr h="370840">
                <a:tc>
                  <a:txBody>
                    <a:bodyPr/>
                    <a:lstStyle/>
                    <a:p>
                      <a:r>
                        <a:rPr lang="en-CA" sz="1800" dirty="0"/>
                        <a:t>There is either a present or a possible obligation where the likelihood of an outflow of resources is remote.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a:t>No provision shall be recognized.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a:t>Disclosure is not required.</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494260"/>
                  </a:ext>
                </a:extLst>
              </a:tr>
            </a:tbl>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2BBC2D5E-16BF-4534-997A-E3A947813A75}"/>
              </a:ext>
            </a:extLst>
          </p:cNvPr>
          <p:cNvSpPr>
            <a:spLocks noGrp="1"/>
          </p:cNvSpPr>
          <p:nvPr>
            <p:ph type="title"/>
          </p:nvPr>
        </p:nvSpPr>
        <p:spPr>
          <a:xfrm>
            <a:off x="457200" y="198437"/>
            <a:ext cx="8229600" cy="792163"/>
          </a:xfrm>
        </p:spPr>
        <p:txBody>
          <a:bodyPr/>
          <a:lstStyle/>
          <a:p>
            <a:r>
              <a:rPr lang="en-CA" altLang="en-US" dirty="0"/>
              <a:t>International Perspective – It is a Matter of Degree of Certainty Part 1</a:t>
            </a:r>
            <a:endParaRPr lang="en-US" altLang="en-US" dirty="0"/>
          </a:p>
        </p:txBody>
      </p:sp>
      <p:sp>
        <p:nvSpPr>
          <p:cNvPr id="3" name="Content Placeholder 2">
            <a:extLst>
              <a:ext uri="{FF2B5EF4-FFF2-40B4-BE49-F238E27FC236}">
                <a16:creationId xmlns:a16="http://schemas.microsoft.com/office/drawing/2014/main" id="{63D073B7-6703-418B-A0B4-55697DE0DECD}"/>
              </a:ext>
            </a:extLst>
          </p:cNvPr>
          <p:cNvSpPr>
            <a:spLocks noGrp="1"/>
          </p:cNvSpPr>
          <p:nvPr>
            <p:ph idx="1"/>
          </p:nvPr>
        </p:nvSpPr>
        <p:spPr/>
        <p:txBody>
          <a:bodyPr/>
          <a:lstStyle/>
          <a:p>
            <a:pPr>
              <a:buFont typeface="Wingdings 3" pitchFamily="2" charset="2"/>
              <a:buChar char=""/>
              <a:defRPr/>
            </a:pPr>
            <a:r>
              <a:rPr lang="en-CA" dirty="0"/>
              <a:t>The assessment of future probabilities is inherently subjective, but both IFRS and U.S. GAAP provide some guidance. </a:t>
            </a:r>
          </a:p>
          <a:p>
            <a:pPr>
              <a:buFont typeface="Wingdings 3" pitchFamily="2" charset="2"/>
              <a:buChar char=""/>
              <a:defRPr/>
            </a:pPr>
            <a:endParaRPr lang="en-CA" sz="1200" dirty="0"/>
          </a:p>
          <a:p>
            <a:pPr>
              <a:buFont typeface="Wingdings 3" pitchFamily="2" charset="2"/>
              <a:buChar char=""/>
              <a:defRPr/>
            </a:pPr>
            <a:r>
              <a:rPr lang="en-CA" dirty="0"/>
              <a:t>Under IFRS, “probable” is defined as </a:t>
            </a:r>
            <a:r>
              <a:rPr lang="en-CA" i="1" dirty="0"/>
              <a:t>more likely than not to occur</a:t>
            </a:r>
            <a:r>
              <a:rPr lang="en-CA" dirty="0"/>
              <a:t>, which implies more than a 50 percent chance of occurring. </a:t>
            </a:r>
          </a:p>
          <a:p>
            <a:pPr>
              <a:buFont typeface="Wingdings 3" pitchFamily="2" charset="2"/>
              <a:buChar char=""/>
              <a:defRPr/>
            </a:pPr>
            <a:endParaRPr lang="en-CA" sz="1200" dirty="0"/>
          </a:p>
          <a:p>
            <a:pPr>
              <a:buFont typeface="Wingdings 3" pitchFamily="2" charset="2"/>
              <a:buChar char=""/>
              <a:defRPr/>
            </a:pPr>
            <a:r>
              <a:rPr lang="en-CA" dirty="0"/>
              <a:t>Under U.S. GAAP, “probable” has been defined as </a:t>
            </a:r>
            <a:r>
              <a:rPr lang="en-CA" i="1" dirty="0"/>
              <a:t>likely to occur</a:t>
            </a:r>
            <a:r>
              <a:rPr lang="en-CA" dirty="0"/>
              <a:t>, which is commonly interpreted to mean having a greater than 70 percent chance of occurring. </a:t>
            </a:r>
          </a:p>
          <a:p>
            <a:pPr>
              <a:buFont typeface="Wingdings 3" pitchFamily="2" charset="2"/>
              <a:buChar char=""/>
              <a:defRPr/>
            </a:pPr>
            <a:endParaRPr lang="en-US" dirty="0"/>
          </a:p>
        </p:txBody>
      </p:sp>
    </p:spTree>
    <p:extLst>
      <p:ext uri="{BB962C8B-B14F-4D97-AF65-F5344CB8AC3E}">
        <p14:creationId xmlns:p14="http://schemas.microsoft.com/office/powerpoint/2010/main" val="302364875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2BBC2D5E-16BF-4534-997A-E3A947813A75}"/>
              </a:ext>
            </a:extLst>
          </p:cNvPr>
          <p:cNvSpPr>
            <a:spLocks noGrp="1"/>
          </p:cNvSpPr>
          <p:nvPr>
            <p:ph type="title"/>
          </p:nvPr>
        </p:nvSpPr>
        <p:spPr>
          <a:xfrm>
            <a:off x="457200" y="198437"/>
            <a:ext cx="8229600" cy="792163"/>
          </a:xfrm>
        </p:spPr>
        <p:txBody>
          <a:bodyPr/>
          <a:lstStyle/>
          <a:p>
            <a:r>
              <a:rPr lang="en-CA" altLang="en-US" dirty="0"/>
              <a:t>International Perspective – It is a Matter of Degree of Certainty Part 2</a:t>
            </a:r>
            <a:endParaRPr lang="en-US" altLang="en-US" dirty="0"/>
          </a:p>
        </p:txBody>
      </p:sp>
      <p:sp>
        <p:nvSpPr>
          <p:cNvPr id="3" name="Content Placeholder 2">
            <a:extLst>
              <a:ext uri="{FF2B5EF4-FFF2-40B4-BE49-F238E27FC236}">
                <a16:creationId xmlns:a16="http://schemas.microsoft.com/office/drawing/2014/main" id="{63D073B7-6703-418B-A0B4-55697DE0DECD}"/>
              </a:ext>
            </a:extLst>
          </p:cNvPr>
          <p:cNvSpPr>
            <a:spLocks noGrp="1"/>
          </p:cNvSpPr>
          <p:nvPr>
            <p:ph idx="1"/>
          </p:nvPr>
        </p:nvSpPr>
        <p:spPr/>
        <p:txBody>
          <a:bodyPr/>
          <a:lstStyle/>
          <a:p>
            <a:pPr>
              <a:buFont typeface="Wingdings 3" pitchFamily="2" charset="2"/>
              <a:buChar char=""/>
              <a:defRPr/>
            </a:pPr>
            <a:r>
              <a:rPr lang="en-CA" dirty="0"/>
              <a:t>This difference means that for some contingent liabilities, IFRS would require the reporting of a liability on the statement of financial position whereas U.S. GAAP would simply require note disclosure. </a:t>
            </a:r>
          </a:p>
          <a:p>
            <a:pPr>
              <a:buFont typeface="Wingdings 3" pitchFamily="2" charset="2"/>
              <a:buChar char=""/>
              <a:defRPr/>
            </a:pPr>
            <a:endParaRPr lang="en-CA" sz="1200" dirty="0"/>
          </a:p>
          <a:p>
            <a:pPr>
              <a:buFont typeface="Wingdings 3" pitchFamily="2" charset="2"/>
              <a:buChar char=""/>
              <a:defRPr/>
            </a:pPr>
            <a:r>
              <a:rPr lang="en-CA" dirty="0"/>
              <a:t>The more stringent requirement under IFRS reflects a more prudent way of providing relevant information to investors, creditors, and other users, primarily because it advances the timing of recording liabilities.</a:t>
            </a:r>
            <a:endParaRPr lang="en-CA" dirty="0">
              <a:effectLst>
                <a:outerShdw blurRad="38100" dist="38100" dir="2700000" algn="tl">
                  <a:srgbClr val="000000"/>
                </a:outerShdw>
              </a:effectLst>
            </a:endParaRPr>
          </a:p>
          <a:p>
            <a:pPr>
              <a:buFont typeface="Wingdings 3" pitchFamily="2" charset="2"/>
              <a:buChar char=""/>
              <a:defRPr/>
            </a:pPr>
            <a:endParaRPr lang="en-US" dirty="0"/>
          </a:p>
          <a:p>
            <a:pPr>
              <a:buFont typeface="Wingdings 3" pitchFamily="2" charset="2"/>
              <a:buChar char=""/>
              <a:defRPr/>
            </a:pPr>
            <a:endParaRPr lang="en-US" dirty="0"/>
          </a:p>
        </p:txBody>
      </p:sp>
    </p:spTree>
    <p:extLst>
      <p:ext uri="{BB962C8B-B14F-4D97-AF65-F5344CB8AC3E}">
        <p14:creationId xmlns:p14="http://schemas.microsoft.com/office/powerpoint/2010/main" val="133168581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2BBC2D5E-16BF-4534-997A-E3A947813A75}"/>
              </a:ext>
            </a:extLst>
          </p:cNvPr>
          <p:cNvSpPr>
            <a:spLocks noGrp="1"/>
          </p:cNvSpPr>
          <p:nvPr>
            <p:ph type="title"/>
          </p:nvPr>
        </p:nvSpPr>
        <p:spPr/>
        <p:txBody>
          <a:bodyPr/>
          <a:lstStyle/>
          <a:p>
            <a:r>
              <a:rPr lang="en-CA" altLang="en-US" dirty="0"/>
              <a:t>ESG Reporting Part 1</a:t>
            </a:r>
            <a:endParaRPr lang="en-US" altLang="en-US" dirty="0"/>
          </a:p>
        </p:txBody>
      </p:sp>
      <p:sp>
        <p:nvSpPr>
          <p:cNvPr id="3" name="Content Placeholder 2">
            <a:extLst>
              <a:ext uri="{FF2B5EF4-FFF2-40B4-BE49-F238E27FC236}">
                <a16:creationId xmlns:a16="http://schemas.microsoft.com/office/drawing/2014/main" id="{63D073B7-6703-418B-A0B4-55697DE0DECD}"/>
              </a:ext>
            </a:extLst>
          </p:cNvPr>
          <p:cNvSpPr>
            <a:spLocks noGrp="1"/>
          </p:cNvSpPr>
          <p:nvPr>
            <p:ph idx="1"/>
          </p:nvPr>
        </p:nvSpPr>
        <p:spPr/>
        <p:txBody>
          <a:bodyPr/>
          <a:lstStyle/>
          <a:p>
            <a:pPr>
              <a:buFont typeface="Wingdings 3" pitchFamily="2" charset="2"/>
              <a:buChar char=""/>
              <a:defRPr/>
            </a:pPr>
            <a:r>
              <a:rPr lang="en-CA" dirty="0"/>
              <a:t>The Canada Energy Regulator (CER) states the aspiration of regulation is to assure the health of people by keeping the environment (soil, air, water) uncontaminated as resource extraction and harvesting proceeds. </a:t>
            </a:r>
          </a:p>
          <a:p>
            <a:pPr>
              <a:buFont typeface="Wingdings 3" pitchFamily="2" charset="2"/>
              <a:buChar char=""/>
              <a:defRPr/>
            </a:pPr>
            <a:r>
              <a:rPr lang="en-CA" dirty="0"/>
              <a:t>The laws and regulations apply not to the depletion of resources but to the remediation of land altered by extraction of resources. </a:t>
            </a:r>
          </a:p>
          <a:p>
            <a:pPr>
              <a:buFont typeface="Wingdings 3" pitchFamily="2" charset="2"/>
              <a:buChar char=""/>
              <a:defRPr/>
            </a:pPr>
            <a:r>
              <a:rPr lang="en-CA" dirty="0"/>
              <a:t>While remediation is not restoration, related costs are significant and can give rise to significant contingent liabilities.  </a:t>
            </a:r>
            <a:endParaRPr lang="en-US" dirty="0"/>
          </a:p>
          <a:p>
            <a:pPr>
              <a:buFont typeface="Wingdings 3" pitchFamily="2" charset="2"/>
              <a:buChar char=""/>
              <a:defRPr/>
            </a:pPr>
            <a:r>
              <a:rPr lang="en-CA" dirty="0"/>
              <a:t>It is illegal in Canada for companies to abandon sites without decontaminating them.</a:t>
            </a:r>
            <a:endParaRPr 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2BBC2D5E-16BF-4534-997A-E3A947813A75}"/>
              </a:ext>
            </a:extLst>
          </p:cNvPr>
          <p:cNvSpPr>
            <a:spLocks noGrp="1"/>
          </p:cNvSpPr>
          <p:nvPr>
            <p:ph type="title"/>
          </p:nvPr>
        </p:nvSpPr>
        <p:spPr/>
        <p:txBody>
          <a:bodyPr/>
          <a:lstStyle/>
          <a:p>
            <a:r>
              <a:rPr lang="en-CA" altLang="en-US" dirty="0"/>
              <a:t>ESG Reporting Part 2</a:t>
            </a:r>
            <a:endParaRPr lang="en-US" altLang="en-US" dirty="0"/>
          </a:p>
        </p:txBody>
      </p:sp>
      <p:sp>
        <p:nvSpPr>
          <p:cNvPr id="3" name="Content Placeholder 2">
            <a:extLst>
              <a:ext uri="{FF2B5EF4-FFF2-40B4-BE49-F238E27FC236}">
                <a16:creationId xmlns:a16="http://schemas.microsoft.com/office/drawing/2014/main" id="{63D073B7-6703-418B-A0B4-55697DE0DECD}"/>
              </a:ext>
            </a:extLst>
          </p:cNvPr>
          <p:cNvSpPr>
            <a:spLocks noGrp="1"/>
          </p:cNvSpPr>
          <p:nvPr>
            <p:ph idx="1"/>
          </p:nvPr>
        </p:nvSpPr>
        <p:spPr>
          <a:xfrm>
            <a:off x="457200" y="1066800"/>
            <a:ext cx="8229600" cy="5334000"/>
          </a:xfrm>
        </p:spPr>
        <p:txBody>
          <a:bodyPr/>
          <a:lstStyle/>
          <a:p>
            <a:r>
              <a:rPr lang="en-CA" dirty="0"/>
              <a:t>Canada has enacted 21 sets of laws to protect the environment against contamination.</a:t>
            </a:r>
          </a:p>
          <a:p>
            <a:r>
              <a:rPr lang="en-CA" dirty="0"/>
              <a:t>The government expects companies to put measures in place to anticipate, prevent, and mitigate contamination, and if it occurs, to manage, contain, and remediate contamination. </a:t>
            </a:r>
          </a:p>
          <a:p>
            <a:r>
              <a:rPr lang="en-CA" dirty="0"/>
              <a:t>Remediation, management, and mitigation must be reported immediately to CER and other regulators as well as all other parties affected. </a:t>
            </a:r>
          </a:p>
          <a:p>
            <a:r>
              <a:rPr lang="en-CA" dirty="0"/>
              <a:t>Non-compliance with environmental laws and regulations can result in significant financial penalties and expenses that must be reported on financial statements according to accounting standards.</a:t>
            </a:r>
          </a:p>
          <a:p>
            <a:pPr>
              <a:buFont typeface="Wingdings 3" pitchFamily="2" charset="2"/>
              <a:buChar char=""/>
              <a:defRPr/>
            </a:pPr>
            <a:endParaRPr lang="en-US" dirty="0"/>
          </a:p>
        </p:txBody>
      </p:sp>
    </p:spTree>
    <p:extLst>
      <p:ext uri="{BB962C8B-B14F-4D97-AF65-F5344CB8AC3E}">
        <p14:creationId xmlns:p14="http://schemas.microsoft.com/office/powerpoint/2010/main" val="75361595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9CDC968A-C404-49C4-99C3-3C0CC6816F53}"/>
              </a:ext>
            </a:extLst>
          </p:cNvPr>
          <p:cNvSpPr>
            <a:spLocks noGrp="1"/>
          </p:cNvSpPr>
          <p:nvPr>
            <p:ph type="title"/>
          </p:nvPr>
        </p:nvSpPr>
        <p:spPr/>
        <p:txBody>
          <a:bodyPr/>
          <a:lstStyle/>
          <a:p>
            <a:r>
              <a:rPr lang="en-US" altLang="en-US"/>
              <a:t>Working Capital Management</a:t>
            </a:r>
          </a:p>
        </p:txBody>
      </p:sp>
      <p:sp>
        <p:nvSpPr>
          <p:cNvPr id="3" name="Content Placeholder 2">
            <a:extLst>
              <a:ext uri="{FF2B5EF4-FFF2-40B4-BE49-F238E27FC236}">
                <a16:creationId xmlns:a16="http://schemas.microsoft.com/office/drawing/2014/main" id="{CBAFE96E-5B86-47AA-ACCF-98E1C7CDAC63}"/>
              </a:ext>
            </a:extLst>
          </p:cNvPr>
          <p:cNvSpPr>
            <a:spLocks noGrp="1"/>
          </p:cNvSpPr>
          <p:nvPr>
            <p:ph idx="1"/>
          </p:nvPr>
        </p:nvSpPr>
        <p:spPr/>
        <p:txBody>
          <a:bodyPr/>
          <a:lstStyle/>
          <a:p>
            <a:pPr>
              <a:buFont typeface="Wingdings 3" pitchFamily="2" charset="2"/>
              <a:buChar char=""/>
              <a:defRPr/>
            </a:pPr>
            <a:r>
              <a:rPr lang="en-US" b="1" dirty="0"/>
              <a:t>Working Capital </a:t>
            </a:r>
            <a:r>
              <a:rPr lang="en-US" dirty="0"/>
              <a:t>= Current Assets – Current Liabilities</a:t>
            </a:r>
          </a:p>
          <a:p>
            <a:pPr>
              <a:buFont typeface="Wingdings 3" pitchFamily="2" charset="2"/>
              <a:buChar char=""/>
              <a:defRPr/>
            </a:pPr>
            <a:endParaRPr lang="en-US" sz="1200" dirty="0"/>
          </a:p>
          <a:p>
            <a:pPr>
              <a:buFont typeface="Wingdings 3" pitchFamily="2" charset="2"/>
              <a:buChar char=""/>
              <a:defRPr/>
            </a:pPr>
            <a:r>
              <a:rPr lang="en-US" dirty="0"/>
              <a:t>Changes in working capital accounts are important to managers and analysts because they have a direct impact on cash flows from operating activities reported on the statement of cash flows. </a:t>
            </a:r>
          </a:p>
          <a:p>
            <a:pPr>
              <a:buFont typeface="Wingdings 3" pitchFamily="2" charset="2"/>
              <a:buChar char=""/>
              <a:defRPr/>
            </a:pPr>
            <a:endParaRPr lang="en-US" sz="1200" dirty="0"/>
          </a:p>
          <a:p>
            <a:pPr>
              <a:buFont typeface="Wingdings 3" pitchFamily="2" charset="2"/>
              <a:buChar char=""/>
              <a:defRPr/>
            </a:pPr>
            <a:r>
              <a:rPr lang="en-CA" b="1" dirty="0"/>
              <a:t>Liquidity</a:t>
            </a:r>
            <a:r>
              <a:rPr lang="en-CA" dirty="0"/>
              <a:t> is the ability to pay current obligations. </a:t>
            </a:r>
          </a:p>
          <a:p>
            <a:pPr>
              <a:buFont typeface="Wingdings 3" pitchFamily="2" charset="2"/>
              <a:buChar char=""/>
              <a:defRPr/>
            </a:pPr>
            <a:endParaRPr lang="en-US" dirty="0"/>
          </a:p>
          <a:p>
            <a:pPr>
              <a:buFont typeface="Wingdings 3" pitchFamily="2" charset="2"/>
              <a:buChar char=""/>
              <a:defRPr/>
            </a:pPr>
            <a:endParaRPr lang="en-US" sz="2400" dirty="0">
              <a:solidFill>
                <a:schemeClr val="accent2">
                  <a:lumMod val="50000"/>
                </a:schemeClr>
              </a:solidFill>
              <a:latin typeface="Arial" charset="0"/>
            </a:endParaRPr>
          </a:p>
          <a:p>
            <a:pPr>
              <a:buFont typeface="Wingdings 3" pitchFamily="2" charset="2"/>
              <a:buChar char=""/>
              <a:defRPr/>
            </a:pPr>
            <a:endParaRPr 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DC8274D4-D576-4B94-AE30-D717C0D6583D}"/>
              </a:ext>
            </a:extLst>
          </p:cNvPr>
          <p:cNvSpPr>
            <a:spLocks noGrp="1"/>
          </p:cNvSpPr>
          <p:nvPr>
            <p:ph type="title"/>
          </p:nvPr>
        </p:nvSpPr>
        <p:spPr/>
        <p:txBody>
          <a:bodyPr/>
          <a:lstStyle/>
          <a:p>
            <a:r>
              <a:rPr lang="en-US" altLang="en-US"/>
              <a:t>Key Ratio Analysis – Quick Ratio</a:t>
            </a:r>
          </a:p>
        </p:txBody>
      </p:sp>
      <p:sp>
        <p:nvSpPr>
          <p:cNvPr id="3" name="Content Placeholder 2">
            <a:extLst>
              <a:ext uri="{FF2B5EF4-FFF2-40B4-BE49-F238E27FC236}">
                <a16:creationId xmlns:a16="http://schemas.microsoft.com/office/drawing/2014/main" id="{66EF241F-3D26-4C83-9764-15F3CA54DB58}"/>
              </a:ext>
            </a:extLst>
          </p:cNvPr>
          <p:cNvSpPr>
            <a:spLocks noGrp="1"/>
          </p:cNvSpPr>
          <p:nvPr>
            <p:ph idx="1"/>
          </p:nvPr>
        </p:nvSpPr>
        <p:spPr/>
        <p:txBody>
          <a:bodyPr/>
          <a:lstStyle/>
          <a:p>
            <a:pPr>
              <a:buFont typeface="Wingdings 3" pitchFamily="2" charset="2"/>
              <a:buChar char=""/>
              <a:defRPr/>
            </a:pPr>
            <a:r>
              <a:rPr lang="en-CA" b="1" dirty="0"/>
              <a:t>ANALYTICAL QUESTION</a:t>
            </a:r>
            <a:r>
              <a:rPr lang="en-CA" dirty="0"/>
              <a:t> → Does the company currently have the resources to pay its short-term debt?</a:t>
            </a:r>
          </a:p>
          <a:p>
            <a:pPr>
              <a:buFont typeface="Wingdings 3" pitchFamily="2" charset="2"/>
              <a:buChar char=""/>
              <a:defRPr/>
            </a:pPr>
            <a:r>
              <a:rPr lang="en-CA" b="1" dirty="0"/>
              <a:t>RATIO AND COMPARISONS</a:t>
            </a:r>
            <a:r>
              <a:rPr lang="en-CA" dirty="0"/>
              <a:t> → Analysts use the </a:t>
            </a:r>
            <a:r>
              <a:rPr lang="en-CA" i="1" dirty="0"/>
              <a:t>quick ratio</a:t>
            </a:r>
            <a:r>
              <a:rPr lang="en-CA" dirty="0"/>
              <a:t> as an indicator of the amount of quick assets (cash, short-term investments, and net receivables) available to satisfy current liabilities. It is computed as follows:</a:t>
            </a:r>
            <a:endParaRPr lang="en-US" dirty="0"/>
          </a:p>
          <a:p>
            <a:pPr>
              <a:buFont typeface="Wingdings 3" pitchFamily="2" charset="2"/>
              <a:buChar char=""/>
              <a:defRPr/>
            </a:pPr>
            <a:endParaRPr lang="en-US" sz="800" dirty="0"/>
          </a:p>
          <a:p>
            <a:pPr marL="0" indent="0" algn="ctr">
              <a:buFont typeface="Wingdings 3" pitchFamily="2" charset="2"/>
              <a:buNone/>
              <a:defRPr/>
            </a:pPr>
            <a:r>
              <a:rPr lang="en-CA" sz="2400" b="1" dirty="0">
                <a:latin typeface="Arial" charset="0"/>
              </a:rPr>
              <a:t>Quick Ratio = Quick Assets / Current Liabilities</a:t>
            </a:r>
          </a:p>
          <a:p>
            <a:pPr marL="0" indent="0" algn="ctr">
              <a:buFont typeface="Wingdings 3" pitchFamily="2" charset="2"/>
              <a:buNone/>
              <a:defRPr/>
            </a:pPr>
            <a:endParaRPr lang="en-US" sz="200" dirty="0"/>
          </a:p>
          <a:p>
            <a:pPr>
              <a:buFont typeface="Wingdings 3" pitchFamily="2" charset="2"/>
              <a:buChar char=""/>
              <a:defRPr/>
            </a:pPr>
            <a:r>
              <a:rPr lang="en-US" dirty="0"/>
              <a:t>A</a:t>
            </a:r>
            <a:r>
              <a:rPr lang="en-CA" dirty="0"/>
              <a:t> high ratio normally suggests good liquidity, but too high a ratio suggests inefficient use of resources. Many strong companies use sophisticated management techniques to minimize funds invested in current assets, and as a result, have quick ratios that are very low.</a:t>
            </a:r>
            <a:endParaRPr lang="en-US" dirty="0"/>
          </a:p>
          <a:p>
            <a:pPr>
              <a:buFont typeface="Wingdings 3" pitchFamily="2" charset="2"/>
              <a:buChar char=""/>
              <a:defRPr/>
            </a:pPr>
            <a:endParaRPr lang="en-US" dirty="0"/>
          </a:p>
          <a:p>
            <a:pPr>
              <a:buFont typeface="Wingdings 3" pitchFamily="2" charset="2"/>
              <a:buChar char=""/>
              <a:defRPr/>
            </a:pPr>
            <a:endParaRPr 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7A469F37-D121-4326-A27A-6C6D8135EEA1}"/>
              </a:ext>
            </a:extLst>
          </p:cNvPr>
          <p:cNvSpPr>
            <a:spLocks noGrp="1"/>
          </p:cNvSpPr>
          <p:nvPr>
            <p:ph type="title"/>
          </p:nvPr>
        </p:nvSpPr>
        <p:spPr>
          <a:xfrm>
            <a:off x="457200" y="228600"/>
            <a:ext cx="8229600" cy="792163"/>
          </a:xfrm>
        </p:spPr>
        <p:txBody>
          <a:bodyPr/>
          <a:lstStyle/>
          <a:p>
            <a:r>
              <a:rPr lang="en-US" altLang="en-US" dirty="0"/>
              <a:t>Appendix 8A: Deferred Income Tax Assets and Liabilities Part 1</a:t>
            </a:r>
          </a:p>
        </p:txBody>
      </p:sp>
      <p:sp>
        <p:nvSpPr>
          <p:cNvPr id="34818" name="Content Placeholder 2">
            <a:extLst>
              <a:ext uri="{FF2B5EF4-FFF2-40B4-BE49-F238E27FC236}">
                <a16:creationId xmlns:a16="http://schemas.microsoft.com/office/drawing/2014/main" id="{612A6A6B-7631-41FB-8A4B-57DF3BD2BE98}"/>
              </a:ext>
            </a:extLst>
          </p:cNvPr>
          <p:cNvSpPr>
            <a:spLocks noGrp="1"/>
          </p:cNvSpPr>
          <p:nvPr>
            <p:ph idx="1"/>
          </p:nvPr>
        </p:nvSpPr>
        <p:spPr/>
        <p:txBody>
          <a:bodyPr/>
          <a:lstStyle/>
          <a:p>
            <a:pPr eaLnBrk="1" hangingPunct="1"/>
            <a:r>
              <a:rPr lang="en-CA" altLang="en-US" b="1" dirty="0"/>
              <a:t>Permanent differences </a:t>
            </a:r>
            <a:r>
              <a:rPr lang="en-CA" altLang="en-US" dirty="0">
                <a:sym typeface="Wingdings" panose="05000000000000000000" pitchFamily="2" charset="2"/>
              </a:rPr>
              <a:t> </a:t>
            </a:r>
            <a:r>
              <a:rPr lang="en-CA" altLang="en-US" dirty="0"/>
              <a:t>arise from specific differences between rules that govern the preparation of financial statements (IFRS) and tax returns (</a:t>
            </a:r>
            <a:r>
              <a:rPr lang="en-CA" altLang="en-US" i="1" dirty="0"/>
              <a:t>Income Tax Act</a:t>
            </a:r>
            <a:r>
              <a:rPr lang="en-CA" altLang="en-US" dirty="0"/>
              <a:t>). Specifically, some types of revenue are exempt from tax while other types of expenses are not deductible in computing taxable income.</a:t>
            </a:r>
          </a:p>
          <a:p>
            <a:pPr eaLnBrk="1" hangingPunct="1"/>
            <a:endParaRPr lang="en-CA" altLang="en-US" sz="1200" dirty="0"/>
          </a:p>
          <a:p>
            <a:pPr eaLnBrk="1" hangingPunct="1"/>
            <a:r>
              <a:rPr lang="en-CA" altLang="en-US" b="1" dirty="0"/>
              <a:t>Temporary Differences </a:t>
            </a:r>
            <a:r>
              <a:rPr lang="en-CA" altLang="en-US" dirty="0">
                <a:sym typeface="Wingdings" panose="05000000000000000000" pitchFamily="2" charset="2"/>
              </a:rPr>
              <a:t></a:t>
            </a:r>
            <a:r>
              <a:rPr lang="en-CA" altLang="en-US" dirty="0"/>
              <a:t> are timing differences that cause deferred income taxes and will reverse, or turn around, in the future.</a:t>
            </a:r>
          </a:p>
          <a:p>
            <a:pPr eaLnBrk="1" hangingPunct="1"/>
            <a:endParaRPr lang="en-CA" altLang="en-US" dirty="0"/>
          </a:p>
          <a:p>
            <a:endParaRPr lang="en-US"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221D4460-E9B1-4B27-8DDC-0E1485BD3717}"/>
              </a:ext>
            </a:extLst>
          </p:cNvPr>
          <p:cNvSpPr>
            <a:spLocks noGrp="1"/>
          </p:cNvSpPr>
          <p:nvPr>
            <p:ph type="title"/>
          </p:nvPr>
        </p:nvSpPr>
        <p:spPr>
          <a:xfrm>
            <a:off x="457200" y="274637"/>
            <a:ext cx="8229600" cy="792163"/>
          </a:xfrm>
        </p:spPr>
        <p:txBody>
          <a:bodyPr/>
          <a:lstStyle/>
          <a:p>
            <a:r>
              <a:rPr lang="en-US" altLang="en-US" dirty="0"/>
              <a:t>Appendix 8A: Deferred Income Tax Assets and Liabilities Part 2</a:t>
            </a:r>
          </a:p>
        </p:txBody>
      </p:sp>
      <p:sp>
        <p:nvSpPr>
          <p:cNvPr id="35842" name="Content Placeholder 2">
            <a:extLst>
              <a:ext uri="{FF2B5EF4-FFF2-40B4-BE49-F238E27FC236}">
                <a16:creationId xmlns:a16="http://schemas.microsoft.com/office/drawing/2014/main" id="{822758F9-CEBB-4F8A-9FB4-A235F8AC6F6F}"/>
              </a:ext>
            </a:extLst>
          </p:cNvPr>
          <p:cNvSpPr>
            <a:spLocks noGrp="1"/>
          </p:cNvSpPr>
          <p:nvPr>
            <p:ph idx="1"/>
          </p:nvPr>
        </p:nvSpPr>
        <p:spPr/>
        <p:txBody>
          <a:bodyPr/>
          <a:lstStyle/>
          <a:p>
            <a:r>
              <a:rPr lang="en-CA" altLang="en-US" b="1"/>
              <a:t>Temporary differences </a:t>
            </a:r>
            <a:r>
              <a:rPr lang="en-CA" altLang="en-US"/>
              <a:t>of the following types result in complex accounting:</a:t>
            </a:r>
          </a:p>
          <a:p>
            <a:pPr marL="731838" lvl="1" indent="-457200">
              <a:buFont typeface="Calibri" panose="020F0502020204030204" pitchFamily="34" charset="0"/>
              <a:buAutoNum type="arabicPeriod"/>
            </a:pPr>
            <a:r>
              <a:rPr lang="en-CA" altLang="en-US" sz="2600">
                <a:solidFill>
                  <a:schemeClr val="tx1"/>
                </a:solidFill>
              </a:rPr>
              <a:t>Product warranty costs that are recognized as a liability and an expense for financial reporting purposes when the related products are sold, but they are deductible for tax purposes only when payments under the warranty are made.</a:t>
            </a:r>
          </a:p>
          <a:p>
            <a:pPr marL="731838" lvl="1" indent="-457200">
              <a:buFont typeface="Calibri" panose="020F0502020204030204" pitchFamily="34" charset="0"/>
              <a:buAutoNum type="arabicPeriod"/>
            </a:pPr>
            <a:r>
              <a:rPr lang="en-CA" altLang="en-US" sz="2600">
                <a:solidFill>
                  <a:schemeClr val="tx1"/>
                </a:solidFill>
              </a:rPr>
              <a:t>Long-lived assets, including development costs, which are usually depreciated by using the straight-line method for financial reporting purposes, are depreciated on an accelerated basis (capital cost allowance) for tax purposes.</a:t>
            </a:r>
          </a:p>
          <a:p>
            <a:endParaRPr lang="en-US"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2C673DBD-472F-4476-B950-DC349E0084F8}"/>
              </a:ext>
            </a:extLst>
          </p:cNvPr>
          <p:cNvSpPr>
            <a:spLocks noGrp="1"/>
          </p:cNvSpPr>
          <p:nvPr>
            <p:ph type="title"/>
          </p:nvPr>
        </p:nvSpPr>
        <p:spPr>
          <a:xfrm>
            <a:off x="457200" y="274637"/>
            <a:ext cx="8229600" cy="792163"/>
          </a:xfrm>
        </p:spPr>
        <p:txBody>
          <a:bodyPr/>
          <a:lstStyle/>
          <a:p>
            <a:r>
              <a:rPr lang="en-US" altLang="en-US" dirty="0"/>
              <a:t>Appendix 8A: Deferred Income Tax Assets and Liabilities Part 3</a:t>
            </a:r>
          </a:p>
        </p:txBody>
      </p:sp>
      <p:sp>
        <p:nvSpPr>
          <p:cNvPr id="36866" name="Content Placeholder 2">
            <a:extLst>
              <a:ext uri="{FF2B5EF4-FFF2-40B4-BE49-F238E27FC236}">
                <a16:creationId xmlns:a16="http://schemas.microsoft.com/office/drawing/2014/main" id="{BFCC71DE-9B7F-4999-80D3-F113E21DC61A}"/>
              </a:ext>
            </a:extLst>
          </p:cNvPr>
          <p:cNvSpPr>
            <a:spLocks noGrp="1"/>
          </p:cNvSpPr>
          <p:nvPr>
            <p:ph idx="1"/>
          </p:nvPr>
        </p:nvSpPr>
        <p:spPr/>
        <p:txBody>
          <a:bodyPr/>
          <a:lstStyle/>
          <a:p>
            <a:r>
              <a:rPr lang="en-CA" altLang="en-US" dirty="0"/>
              <a:t>IFRS is the set of rules for preparing financial statements, which results in income tax expense.</a:t>
            </a:r>
          </a:p>
          <a:p>
            <a:endParaRPr lang="en-CA" altLang="en-US" sz="1200" dirty="0"/>
          </a:p>
          <a:p>
            <a:r>
              <a:rPr lang="en-CA" altLang="en-US" dirty="0"/>
              <a:t>The Income Tax Act is the set of rules for preparing tax returns, which results in income taxes payable.</a:t>
            </a:r>
          </a:p>
          <a:p>
            <a:endParaRPr lang="en-CA" altLang="en-US" sz="1200" dirty="0"/>
          </a:p>
          <a:p>
            <a:r>
              <a:rPr lang="en-CA" altLang="en-US" dirty="0"/>
              <a:t>Usually, income tax expense does not equal income tax payable.</a:t>
            </a:r>
          </a:p>
          <a:p>
            <a:endParaRPr lang="en-CA" altLang="en-US" sz="1200" dirty="0"/>
          </a:p>
          <a:p>
            <a:r>
              <a:rPr lang="en-CA" altLang="en-US" dirty="0"/>
              <a:t>The difference between income tax expense and income tax payable is recorded in an account called a </a:t>
            </a:r>
            <a:r>
              <a:rPr lang="en-CA" altLang="en-US" b="1" dirty="0"/>
              <a:t>Deferred Income Tax</a:t>
            </a:r>
            <a:r>
              <a:rPr lang="en-CA" altLang="en-US" dirty="0"/>
              <a:t>.</a:t>
            </a:r>
          </a:p>
          <a:p>
            <a:endParaRPr lang="en-CA" altLang="en-US" dirty="0"/>
          </a:p>
          <a:p>
            <a:endParaRPr lang="en-CA" altLang="en-US" dirty="0"/>
          </a:p>
          <a:p>
            <a:endParaRPr lang="en-US" alt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A5AFA725-18A0-4212-B077-435E68614BF5}"/>
              </a:ext>
            </a:extLst>
          </p:cNvPr>
          <p:cNvSpPr>
            <a:spLocks noGrp="1"/>
          </p:cNvSpPr>
          <p:nvPr>
            <p:ph type="title"/>
          </p:nvPr>
        </p:nvSpPr>
        <p:spPr/>
        <p:txBody>
          <a:bodyPr/>
          <a:lstStyle/>
          <a:p>
            <a:r>
              <a:rPr lang="en-CA" altLang="en-US" dirty="0"/>
              <a:t>Appendix 8B: Present Value Concepts Part 1</a:t>
            </a:r>
            <a:endParaRPr lang="en-US" altLang="en-US" dirty="0"/>
          </a:p>
        </p:txBody>
      </p:sp>
      <p:sp>
        <p:nvSpPr>
          <p:cNvPr id="37890" name="Content Placeholder 2">
            <a:extLst>
              <a:ext uri="{FF2B5EF4-FFF2-40B4-BE49-F238E27FC236}">
                <a16:creationId xmlns:a16="http://schemas.microsoft.com/office/drawing/2014/main" id="{26B80DA3-D8EB-4C30-82AE-0225A7A1650A}"/>
              </a:ext>
            </a:extLst>
          </p:cNvPr>
          <p:cNvSpPr>
            <a:spLocks noGrp="1"/>
          </p:cNvSpPr>
          <p:nvPr>
            <p:ph idx="1"/>
          </p:nvPr>
        </p:nvSpPr>
        <p:spPr/>
        <p:txBody>
          <a:bodyPr/>
          <a:lstStyle/>
          <a:p>
            <a:r>
              <a:rPr lang="en-CA" altLang="en-US"/>
              <a:t>The concept of </a:t>
            </a:r>
            <a:r>
              <a:rPr lang="en-CA" altLang="en-US" b="1"/>
              <a:t>present value (PV) </a:t>
            </a:r>
            <a:r>
              <a:rPr lang="en-CA" altLang="en-US"/>
              <a:t>is based on the time value of money that we introduced earlier in this chapter.</a:t>
            </a:r>
          </a:p>
          <a:p>
            <a:endParaRPr lang="en-CA" altLang="en-US" sz="1200"/>
          </a:p>
          <a:p>
            <a:r>
              <a:rPr lang="en-CA" altLang="en-US"/>
              <a:t>It provides a foundation for measuring and reporting long-term notes and bonds. </a:t>
            </a:r>
          </a:p>
          <a:p>
            <a:endParaRPr lang="en-CA" altLang="en-US" sz="1200"/>
          </a:p>
          <a:p>
            <a:r>
              <a:rPr lang="en-CA" altLang="en-US" b="1"/>
              <a:t>Present value</a:t>
            </a:r>
            <a:r>
              <a:rPr lang="en-CA" altLang="en-US"/>
              <a:t> is the current cash equivalent of an amount to be received in the future, or a future amount discounted for compound interest. </a:t>
            </a:r>
          </a:p>
          <a:p>
            <a:endParaRPr lang="en-CA" altLang="en-US" sz="1200"/>
          </a:p>
          <a:p>
            <a:r>
              <a:rPr lang="en-CA" altLang="en-US"/>
              <a:t>Money received today is worth more than money to be received one year from today (or at any other future date) because it can be used to earn interest.</a:t>
            </a:r>
            <a:endParaRPr lang="en-US"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D8972FC7-1A41-4514-A104-E4F6B421B13C}"/>
              </a:ext>
            </a:extLst>
          </p:cNvPr>
          <p:cNvSpPr>
            <a:spLocks noGrp="1"/>
          </p:cNvSpPr>
          <p:nvPr>
            <p:ph type="title"/>
          </p:nvPr>
        </p:nvSpPr>
        <p:spPr/>
        <p:txBody>
          <a:bodyPr/>
          <a:lstStyle/>
          <a:p>
            <a:r>
              <a:rPr lang="en-CA" altLang="en-US" dirty="0"/>
              <a:t>Appendix 8B: Present Value Concepts Part 2</a:t>
            </a:r>
            <a:endParaRPr lang="en-US" altLang="en-US" dirty="0"/>
          </a:p>
        </p:txBody>
      </p:sp>
      <p:sp>
        <p:nvSpPr>
          <p:cNvPr id="38914" name="Content Placeholder 2">
            <a:extLst>
              <a:ext uri="{FF2B5EF4-FFF2-40B4-BE49-F238E27FC236}">
                <a16:creationId xmlns:a16="http://schemas.microsoft.com/office/drawing/2014/main" id="{33446C54-7A83-4F0F-8552-BD6B5B9632D7}"/>
              </a:ext>
            </a:extLst>
          </p:cNvPr>
          <p:cNvSpPr>
            <a:spLocks noGrp="1"/>
          </p:cNvSpPr>
          <p:nvPr>
            <p:ph idx="1"/>
          </p:nvPr>
        </p:nvSpPr>
        <p:spPr/>
        <p:txBody>
          <a:bodyPr/>
          <a:lstStyle/>
          <a:p>
            <a:r>
              <a:rPr lang="en-CA" altLang="en-US" dirty="0"/>
              <a:t>With a present value problem, you know the dollar amount of a cash flow that will occur in the future and need to determine its value now. </a:t>
            </a:r>
          </a:p>
          <a:p>
            <a:endParaRPr lang="en-CA" altLang="en-US" sz="1200" dirty="0"/>
          </a:p>
          <a:p>
            <a:r>
              <a:rPr lang="en-CA" altLang="en-US" dirty="0"/>
              <a:t>The opposite situation occurs when you know the dollar amount of a cash flow that occurs today and need to determine its value at some point in the future. </a:t>
            </a:r>
          </a:p>
          <a:p>
            <a:endParaRPr lang="en-CA" altLang="en-US" sz="1200" dirty="0"/>
          </a:p>
          <a:p>
            <a:r>
              <a:rPr lang="en-CA" altLang="en-US" dirty="0"/>
              <a:t>These problems are called </a:t>
            </a:r>
            <a:r>
              <a:rPr lang="en-CA" altLang="en-US" b="1" dirty="0"/>
              <a:t>future value </a:t>
            </a:r>
            <a:r>
              <a:rPr lang="en-CA" altLang="en-US" dirty="0"/>
              <a:t>problems. </a:t>
            </a:r>
          </a:p>
          <a:p>
            <a:endParaRPr lang="en-CA" altLang="en-US" sz="1200" dirty="0"/>
          </a:p>
          <a:p>
            <a:r>
              <a:rPr lang="en-CA" altLang="en-US" b="1" dirty="0"/>
              <a:t>Future value</a:t>
            </a:r>
            <a:r>
              <a:rPr lang="en-CA" altLang="en-US" dirty="0"/>
              <a:t> is the sum to which an amount will increase as a result of compound interest. </a:t>
            </a:r>
            <a:endParaRPr lang="en-US" alt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27659F48-EE92-49F5-85F7-8AA595CDA050}"/>
              </a:ext>
            </a:extLst>
          </p:cNvPr>
          <p:cNvSpPr>
            <a:spLocks noGrp="1"/>
          </p:cNvSpPr>
          <p:nvPr>
            <p:ph type="title"/>
          </p:nvPr>
        </p:nvSpPr>
        <p:spPr/>
        <p:txBody>
          <a:bodyPr/>
          <a:lstStyle/>
          <a:p>
            <a:r>
              <a:rPr lang="en-CA" altLang="en-US" dirty="0"/>
              <a:t>Appendix 8B: Present Value Concepts Part 3</a:t>
            </a:r>
            <a:endParaRPr lang="en-US" altLang="en-US" dirty="0"/>
          </a:p>
        </p:txBody>
      </p:sp>
      <p:sp>
        <p:nvSpPr>
          <p:cNvPr id="39938" name="Content Placeholder 2">
            <a:extLst>
              <a:ext uri="{FF2B5EF4-FFF2-40B4-BE49-F238E27FC236}">
                <a16:creationId xmlns:a16="http://schemas.microsoft.com/office/drawing/2014/main" id="{9DF50AA2-CF1A-4E0B-AEDA-10FB1536150C}"/>
              </a:ext>
            </a:extLst>
          </p:cNvPr>
          <p:cNvSpPr>
            <a:spLocks noGrp="1"/>
          </p:cNvSpPr>
          <p:nvPr>
            <p:ph idx="1"/>
          </p:nvPr>
        </p:nvSpPr>
        <p:spPr/>
        <p:txBody>
          <a:bodyPr/>
          <a:lstStyle/>
          <a:p>
            <a:r>
              <a:rPr lang="en-CA" altLang="en-US"/>
              <a:t>Present and future value problems may involve two types of cash flow: a single payment or an annuity (a series of cash payments).</a:t>
            </a:r>
          </a:p>
          <a:p>
            <a:endParaRPr lang="en-CA" altLang="en-US" sz="1200" baseline="30000"/>
          </a:p>
          <a:p>
            <a:r>
              <a:rPr lang="en-CA" altLang="en-US"/>
              <a:t>Therefore, four different situations are related to the time value of money:</a:t>
            </a:r>
          </a:p>
          <a:p>
            <a:pPr lvl="1"/>
            <a:r>
              <a:rPr lang="en-CA" altLang="en-US" sz="2600">
                <a:solidFill>
                  <a:schemeClr val="tx1"/>
                </a:solidFill>
              </a:rPr>
              <a:t>Present value of a single payment</a:t>
            </a:r>
          </a:p>
          <a:p>
            <a:pPr lvl="1"/>
            <a:r>
              <a:rPr lang="en-CA" altLang="en-US" sz="2600">
                <a:solidFill>
                  <a:schemeClr val="tx1"/>
                </a:solidFill>
              </a:rPr>
              <a:t>Future value of a single payment</a:t>
            </a:r>
          </a:p>
          <a:p>
            <a:pPr lvl="1"/>
            <a:r>
              <a:rPr lang="en-CA" altLang="en-US" sz="2600">
                <a:solidFill>
                  <a:schemeClr val="tx1"/>
                </a:solidFill>
              </a:rPr>
              <a:t>Present value of an annuity</a:t>
            </a:r>
          </a:p>
          <a:p>
            <a:pPr lvl="1"/>
            <a:r>
              <a:rPr lang="en-CA" altLang="en-US" sz="2600">
                <a:solidFill>
                  <a:schemeClr val="tx1"/>
                </a:solidFill>
              </a:rPr>
              <a:t>Future value of an annuity</a:t>
            </a:r>
          </a:p>
          <a:p>
            <a:endParaRPr lang="en-US"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EBF9EA0A-214D-4511-82A1-EF73CB4C7C58}"/>
              </a:ext>
            </a:extLst>
          </p:cNvPr>
          <p:cNvSpPr>
            <a:spLocks noGrp="1"/>
          </p:cNvSpPr>
          <p:nvPr>
            <p:ph type="title"/>
          </p:nvPr>
        </p:nvSpPr>
        <p:spPr>
          <a:xfrm>
            <a:off x="457200" y="198437"/>
            <a:ext cx="8229600" cy="792163"/>
          </a:xfrm>
        </p:spPr>
        <p:txBody>
          <a:bodyPr/>
          <a:lstStyle/>
          <a:p>
            <a:r>
              <a:rPr lang="en-CA" altLang="en-US" dirty="0"/>
              <a:t>Appendix 8B: </a:t>
            </a:r>
            <a:r>
              <a:rPr lang="en-US" altLang="en-US" dirty="0"/>
              <a:t>Present Value of a Single Amount Part 1</a:t>
            </a:r>
          </a:p>
        </p:txBody>
      </p:sp>
      <p:sp>
        <p:nvSpPr>
          <p:cNvPr id="40962" name="Content Placeholder 2">
            <a:extLst>
              <a:ext uri="{FF2B5EF4-FFF2-40B4-BE49-F238E27FC236}">
                <a16:creationId xmlns:a16="http://schemas.microsoft.com/office/drawing/2014/main" id="{58C3FBCF-1C54-440A-8D7D-9DD1DF8B6E4B}"/>
              </a:ext>
            </a:extLst>
          </p:cNvPr>
          <p:cNvSpPr>
            <a:spLocks noGrp="1"/>
          </p:cNvSpPr>
          <p:nvPr>
            <p:ph idx="1"/>
          </p:nvPr>
        </p:nvSpPr>
        <p:spPr/>
        <p:txBody>
          <a:bodyPr/>
          <a:lstStyle/>
          <a:p>
            <a:r>
              <a:rPr lang="en-CA" altLang="en-US"/>
              <a:t>The present value of a single amount is the amount of cash you are willing to accept today in lieu of a cash receipt at some date in the future.</a:t>
            </a:r>
          </a:p>
          <a:p>
            <a:endParaRPr lang="en-CA" altLang="en-US"/>
          </a:p>
          <a:p>
            <a:endParaRPr lang="en-CA" altLang="en-US"/>
          </a:p>
          <a:p>
            <a:endParaRPr lang="en-CA" altLang="en-US"/>
          </a:p>
          <a:p>
            <a:endParaRPr lang="en-CA" altLang="en-US"/>
          </a:p>
        </p:txBody>
      </p:sp>
      <p:pic>
        <p:nvPicPr>
          <p:cNvPr id="40963" name="Picture 3">
            <a:extLst>
              <a:ext uri="{FF2B5EF4-FFF2-40B4-BE49-F238E27FC236}">
                <a16:creationId xmlns:a16="http://schemas.microsoft.com/office/drawing/2014/main" id="{B302488B-5CBE-4126-9DF3-966E03D25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2895600"/>
            <a:ext cx="80200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3C45085F-4BF2-418F-B9F5-A3B5282E4E19}"/>
              </a:ext>
            </a:extLst>
          </p:cNvPr>
          <p:cNvSpPr>
            <a:spLocks noGrp="1"/>
          </p:cNvSpPr>
          <p:nvPr>
            <p:ph type="title"/>
          </p:nvPr>
        </p:nvSpPr>
        <p:spPr>
          <a:xfrm>
            <a:off x="457200" y="198437"/>
            <a:ext cx="8229600" cy="792163"/>
          </a:xfrm>
        </p:spPr>
        <p:txBody>
          <a:bodyPr/>
          <a:lstStyle/>
          <a:p>
            <a:r>
              <a:rPr lang="en-CA" altLang="en-US" dirty="0"/>
              <a:t>Appendix 8B: </a:t>
            </a:r>
            <a:r>
              <a:rPr lang="en-US" altLang="en-US" dirty="0"/>
              <a:t>Present Value of a Single Amount </a:t>
            </a:r>
            <a:r>
              <a:rPr lang="en-CA" altLang="en-US" dirty="0"/>
              <a:t>Part 2</a:t>
            </a:r>
            <a:endParaRPr lang="en-US" altLang="en-US" dirty="0"/>
          </a:p>
        </p:txBody>
      </p:sp>
      <p:sp>
        <p:nvSpPr>
          <p:cNvPr id="41986" name="Content Placeholder 2">
            <a:extLst>
              <a:ext uri="{FF2B5EF4-FFF2-40B4-BE49-F238E27FC236}">
                <a16:creationId xmlns:a16="http://schemas.microsoft.com/office/drawing/2014/main" id="{4BE71C2C-7186-4DD5-8E41-9A619D4D50B9}"/>
              </a:ext>
            </a:extLst>
          </p:cNvPr>
          <p:cNvSpPr>
            <a:spLocks noGrp="1"/>
          </p:cNvSpPr>
          <p:nvPr>
            <p:ph idx="1"/>
          </p:nvPr>
        </p:nvSpPr>
        <p:spPr/>
        <p:txBody>
          <a:bodyPr/>
          <a:lstStyle/>
          <a:p>
            <a:r>
              <a:rPr lang="en-CA" altLang="en-US"/>
              <a:t>To calculate the present value of an amount to be received in the future, we subtract interest that is earned over time from the amount to be received in the future.</a:t>
            </a:r>
          </a:p>
          <a:p>
            <a:endParaRPr lang="en-CA" altLang="en-US" sz="1200"/>
          </a:p>
          <a:p>
            <a:r>
              <a:rPr lang="en-CA" altLang="en-US"/>
              <a:t>You discount the amount to be received in the future at interest rate </a:t>
            </a:r>
            <a:r>
              <a:rPr lang="en-CA" altLang="en-US" i="1"/>
              <a:t>i</a:t>
            </a:r>
            <a:r>
              <a:rPr lang="en-CA" altLang="en-US"/>
              <a:t> for </a:t>
            </a:r>
            <a:r>
              <a:rPr lang="en-CA" altLang="en-US" i="1"/>
              <a:t>n</a:t>
            </a:r>
            <a:r>
              <a:rPr lang="en-CA" altLang="en-US"/>
              <a:t> periods. </a:t>
            </a:r>
          </a:p>
          <a:p>
            <a:endParaRPr lang="en-CA" altLang="en-US" sz="1200"/>
          </a:p>
          <a:p>
            <a:r>
              <a:rPr lang="en-CA" altLang="en-US"/>
              <a:t>The formula to calculate the present value of a single amount is:</a:t>
            </a:r>
            <a:endParaRPr lang="en-US" altLang="en-US"/>
          </a:p>
        </p:txBody>
      </p:sp>
      <p:pic>
        <p:nvPicPr>
          <p:cNvPr id="41987" name="Picture 5">
            <a:extLst>
              <a:ext uri="{FF2B5EF4-FFF2-40B4-BE49-F238E27FC236}">
                <a16:creationId xmlns:a16="http://schemas.microsoft.com/office/drawing/2014/main" id="{BA39C72D-61FE-4145-AB40-D85728D90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754563"/>
            <a:ext cx="5013325"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61974C42-F450-48EA-A60B-F7B211CE6F69}"/>
              </a:ext>
            </a:extLst>
          </p:cNvPr>
          <p:cNvSpPr>
            <a:spLocks noGrp="1"/>
          </p:cNvSpPr>
          <p:nvPr>
            <p:ph type="title"/>
          </p:nvPr>
        </p:nvSpPr>
        <p:spPr/>
        <p:txBody>
          <a:bodyPr/>
          <a:lstStyle/>
          <a:p>
            <a:r>
              <a:rPr lang="en-CA" altLang="en-US" dirty="0"/>
              <a:t>Appendix 8B: </a:t>
            </a:r>
            <a:r>
              <a:rPr lang="en-US" altLang="en-US" dirty="0"/>
              <a:t>Present Value of an Annuity </a:t>
            </a:r>
            <a:r>
              <a:rPr lang="en-CA" altLang="en-US" dirty="0"/>
              <a:t>Part 1</a:t>
            </a:r>
            <a:endParaRPr lang="en-US" altLang="en-US" dirty="0"/>
          </a:p>
        </p:txBody>
      </p:sp>
      <p:sp>
        <p:nvSpPr>
          <p:cNvPr id="45058" name="Content Placeholder 2">
            <a:extLst>
              <a:ext uri="{FF2B5EF4-FFF2-40B4-BE49-F238E27FC236}">
                <a16:creationId xmlns:a16="http://schemas.microsoft.com/office/drawing/2014/main" id="{844D0B54-7A47-4EA0-862E-DAE2BAFB18F5}"/>
              </a:ext>
            </a:extLst>
          </p:cNvPr>
          <p:cNvSpPr>
            <a:spLocks noGrp="1"/>
          </p:cNvSpPr>
          <p:nvPr>
            <p:ph idx="1"/>
          </p:nvPr>
        </p:nvSpPr>
        <p:spPr/>
        <p:txBody>
          <a:bodyPr/>
          <a:lstStyle/>
          <a:p>
            <a:r>
              <a:rPr lang="en-CA" altLang="en-US" dirty="0"/>
              <a:t>An </a:t>
            </a:r>
            <a:r>
              <a:rPr lang="en-CA" altLang="en-US" b="1" dirty="0"/>
              <a:t>annuity</a:t>
            </a:r>
            <a:r>
              <a:rPr lang="en-CA" altLang="en-US" dirty="0"/>
              <a:t> is a series of consecutive payments characterized by:</a:t>
            </a:r>
          </a:p>
          <a:p>
            <a:pPr marL="731838" lvl="1" indent="-457200">
              <a:buFont typeface="Calibri" panose="020F0502020204030204" pitchFamily="34" charset="0"/>
              <a:buAutoNum type="arabicPeriod"/>
            </a:pPr>
            <a:r>
              <a:rPr lang="en-CA" altLang="en-US" sz="2600" dirty="0">
                <a:solidFill>
                  <a:schemeClr val="tx1"/>
                </a:solidFill>
              </a:rPr>
              <a:t>An equal dollar amount each interest period</a:t>
            </a:r>
          </a:p>
          <a:p>
            <a:pPr marL="731838" lvl="1" indent="-457200">
              <a:buFont typeface="Calibri" panose="020F0502020204030204" pitchFamily="34" charset="0"/>
              <a:buAutoNum type="arabicPeriod"/>
            </a:pPr>
            <a:r>
              <a:rPr lang="en-CA" altLang="en-US" sz="2600" dirty="0">
                <a:solidFill>
                  <a:schemeClr val="tx1"/>
                </a:solidFill>
              </a:rPr>
              <a:t>Interest periods of equal length (year, half-year, quarter, or month)</a:t>
            </a:r>
          </a:p>
          <a:p>
            <a:pPr marL="731838" lvl="1" indent="-457200">
              <a:buFont typeface="Calibri" panose="020F0502020204030204" pitchFamily="34" charset="0"/>
              <a:buAutoNum type="arabicPeriod"/>
            </a:pPr>
            <a:r>
              <a:rPr lang="en-CA" altLang="en-US" sz="2600" dirty="0">
                <a:solidFill>
                  <a:schemeClr val="tx1"/>
                </a:solidFill>
              </a:rPr>
              <a:t>An equal interest rate each interest period</a:t>
            </a:r>
          </a:p>
          <a:p>
            <a:pPr marL="731838" lvl="1" indent="-457200">
              <a:buFont typeface="Calibri" panose="020F0502020204030204" pitchFamily="34" charset="0"/>
              <a:buAutoNum type="arabicPeriod"/>
            </a:pPr>
            <a:endParaRPr lang="en-CA" altLang="en-US" sz="1200" dirty="0">
              <a:solidFill>
                <a:schemeClr val="tx1"/>
              </a:solidFill>
            </a:endParaRPr>
          </a:p>
          <a:p>
            <a:r>
              <a:rPr lang="en-CA" altLang="en-US" dirty="0"/>
              <a:t>Examples of annuities are monthly payments on an automobile or a home loan, annual contributions to a savings account, and monthly retirement benefits.</a:t>
            </a:r>
          </a:p>
          <a:p>
            <a:endParaRPr lang="en-US" alt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AF0FF5E7-DE7E-4000-B398-0E1CE9D38C2E}"/>
              </a:ext>
            </a:extLst>
          </p:cNvPr>
          <p:cNvSpPr>
            <a:spLocks noGrp="1"/>
          </p:cNvSpPr>
          <p:nvPr>
            <p:ph type="title"/>
          </p:nvPr>
        </p:nvSpPr>
        <p:spPr/>
        <p:txBody>
          <a:bodyPr/>
          <a:lstStyle/>
          <a:p>
            <a:r>
              <a:rPr lang="en-CA" altLang="en-US" dirty="0"/>
              <a:t>Appendix 8B: </a:t>
            </a:r>
            <a:r>
              <a:rPr lang="en-US" altLang="en-US" dirty="0"/>
              <a:t>Present Value of an Annuity </a:t>
            </a:r>
            <a:r>
              <a:rPr lang="en-CA" altLang="en-US" dirty="0"/>
              <a:t>Part 2</a:t>
            </a:r>
            <a:endParaRPr lang="en-US" altLang="en-US" dirty="0"/>
          </a:p>
        </p:txBody>
      </p:sp>
      <p:sp>
        <p:nvSpPr>
          <p:cNvPr id="46082" name="Content Placeholder 2">
            <a:extLst>
              <a:ext uri="{FF2B5EF4-FFF2-40B4-BE49-F238E27FC236}">
                <a16:creationId xmlns:a16="http://schemas.microsoft.com/office/drawing/2014/main" id="{B57617A8-28C2-493B-9B18-854EF89D9440}"/>
              </a:ext>
            </a:extLst>
          </p:cNvPr>
          <p:cNvSpPr>
            <a:spLocks noGrp="1"/>
          </p:cNvSpPr>
          <p:nvPr>
            <p:ph idx="1"/>
          </p:nvPr>
        </p:nvSpPr>
        <p:spPr/>
        <p:txBody>
          <a:bodyPr/>
          <a:lstStyle/>
          <a:p>
            <a:r>
              <a:rPr lang="en-CA" altLang="en-US" dirty="0"/>
              <a:t>The present value of an annuity is the value now of a series of equal amounts to be received (or paid) each period for some specified number of periods in the future. </a:t>
            </a:r>
          </a:p>
          <a:p>
            <a:endParaRPr lang="en-CA" altLang="en-US" sz="1200" dirty="0"/>
          </a:p>
          <a:p>
            <a:r>
              <a:rPr lang="en-CA" altLang="en-US" dirty="0"/>
              <a:t>It is calculated by discounting each of the equal periodic amounts. </a:t>
            </a:r>
          </a:p>
          <a:p>
            <a:endParaRPr lang="en-CA" altLang="en-US" sz="1200" dirty="0"/>
          </a:p>
          <a:p>
            <a:r>
              <a:rPr lang="en-CA" altLang="en-US" dirty="0"/>
              <a:t>A good example of this type of problem is a retirement program that offers the retiree a monthly income after retirement. </a:t>
            </a:r>
            <a:endParaRPr lang="en-US"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D9771D26-5F1C-4EBF-870B-9A26415E3397}"/>
              </a:ext>
            </a:extLst>
          </p:cNvPr>
          <p:cNvSpPr>
            <a:spLocks noGrp="1"/>
          </p:cNvSpPr>
          <p:nvPr>
            <p:ph type="title"/>
          </p:nvPr>
        </p:nvSpPr>
        <p:spPr/>
        <p:txBody>
          <a:bodyPr/>
          <a:lstStyle/>
          <a:p>
            <a:r>
              <a:rPr lang="en-CA" altLang="en-US" dirty="0"/>
              <a:t>Appendix 8B: </a:t>
            </a:r>
            <a:r>
              <a:rPr lang="en-US" altLang="en-US" dirty="0"/>
              <a:t>Present Value of an Annuity </a:t>
            </a:r>
            <a:r>
              <a:rPr lang="en-CA" altLang="en-US" dirty="0"/>
              <a:t>Part 3</a:t>
            </a:r>
            <a:endParaRPr lang="en-US" altLang="en-US" dirty="0"/>
          </a:p>
        </p:txBody>
      </p:sp>
      <p:pic>
        <p:nvPicPr>
          <p:cNvPr id="3" name="Picture 2">
            <a:extLst>
              <a:ext uri="{FF2B5EF4-FFF2-40B4-BE49-F238E27FC236}">
                <a16:creationId xmlns:a16="http://schemas.microsoft.com/office/drawing/2014/main" id="{FB8BECF2-D5A8-AE48-A74A-C9F960D685B7}"/>
              </a:ext>
            </a:extLst>
          </p:cNvPr>
          <p:cNvPicPr>
            <a:picLocks noChangeAspect="1"/>
          </p:cNvPicPr>
          <p:nvPr/>
        </p:nvPicPr>
        <p:blipFill>
          <a:blip r:embed="rId2"/>
          <a:stretch>
            <a:fillRect/>
          </a:stretch>
        </p:blipFill>
        <p:spPr>
          <a:xfrm>
            <a:off x="580061" y="2603500"/>
            <a:ext cx="7701733" cy="3111500"/>
          </a:xfrm>
          <a:prstGeom prst="rect">
            <a:avLst/>
          </a:prstGeom>
        </p:spPr>
      </p:pic>
      <p:sp>
        <p:nvSpPr>
          <p:cNvPr id="6" name="Content Placeholder 2">
            <a:extLst>
              <a:ext uri="{FF2B5EF4-FFF2-40B4-BE49-F238E27FC236}">
                <a16:creationId xmlns:a16="http://schemas.microsoft.com/office/drawing/2014/main" id="{5861CDBD-E4AD-CF4C-8891-0B7CAC5DF103}"/>
              </a:ext>
            </a:extLst>
          </p:cNvPr>
          <p:cNvSpPr>
            <a:spLocks noGrp="1"/>
          </p:cNvSpPr>
          <p:nvPr>
            <p:ph idx="1"/>
          </p:nvPr>
        </p:nvSpPr>
        <p:spPr>
          <a:xfrm>
            <a:off x="457200" y="1143000"/>
            <a:ext cx="8229600" cy="5334000"/>
          </a:xfrm>
        </p:spPr>
        <p:txBody>
          <a:bodyPr/>
          <a:lstStyle/>
          <a:p>
            <a:r>
              <a:rPr lang="en-CA" altLang="en-US" dirty="0"/>
              <a:t>The </a:t>
            </a:r>
            <a:r>
              <a:rPr lang="en-CA" dirty="0"/>
              <a:t>present value of an annuity of $1 for three periods at 4 percent may be represented graphically, as follows:</a:t>
            </a:r>
            <a:endParaRPr lang="en-US" alt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33070A82-5A4B-478F-B8ED-F5AC32E317BA}"/>
              </a:ext>
            </a:extLst>
          </p:cNvPr>
          <p:cNvSpPr>
            <a:spLocks noGrp="1"/>
          </p:cNvSpPr>
          <p:nvPr>
            <p:ph type="title"/>
          </p:nvPr>
        </p:nvSpPr>
        <p:spPr>
          <a:xfrm>
            <a:off x="457200" y="198437"/>
            <a:ext cx="8229600" cy="792163"/>
          </a:xfrm>
        </p:spPr>
        <p:txBody>
          <a:bodyPr/>
          <a:lstStyle/>
          <a:p>
            <a:r>
              <a:rPr lang="en-US" altLang="en-US" dirty="0"/>
              <a:t>Appendix 8E: Future Value of a Single Amount Part 1</a:t>
            </a:r>
          </a:p>
        </p:txBody>
      </p:sp>
      <p:sp>
        <p:nvSpPr>
          <p:cNvPr id="49154" name="Content Placeholder 2">
            <a:extLst>
              <a:ext uri="{FF2B5EF4-FFF2-40B4-BE49-F238E27FC236}">
                <a16:creationId xmlns:a16="http://schemas.microsoft.com/office/drawing/2014/main" id="{5CD7108F-F055-49F1-A3A8-E348EEEEACB3}"/>
              </a:ext>
            </a:extLst>
          </p:cNvPr>
          <p:cNvSpPr>
            <a:spLocks noGrp="1"/>
          </p:cNvSpPr>
          <p:nvPr>
            <p:ph idx="1"/>
          </p:nvPr>
        </p:nvSpPr>
        <p:spPr/>
        <p:txBody>
          <a:bodyPr/>
          <a:lstStyle/>
          <a:p>
            <a:r>
              <a:rPr lang="en-CA" altLang="en-US" dirty="0"/>
              <a:t>The future value of a single amount </a:t>
            </a:r>
            <a:r>
              <a:rPr lang="en-CA" altLang="en-US" dirty="0">
                <a:sym typeface="Wingdings" panose="05000000000000000000" pitchFamily="2" charset="2"/>
              </a:rPr>
              <a:t> </a:t>
            </a:r>
            <a:r>
              <a:rPr lang="en-CA" altLang="en-US" dirty="0"/>
              <a:t>calculating how much money you will have in the future as a result of investing a certain amount at the present time. </a:t>
            </a:r>
          </a:p>
          <a:p>
            <a:endParaRPr lang="en-CA" altLang="en-US" sz="1200" dirty="0"/>
          </a:p>
          <a:p>
            <a:r>
              <a:rPr lang="en-CA" altLang="en-US" dirty="0"/>
              <a:t>To solve a future value problem, you need to know three items:</a:t>
            </a:r>
          </a:p>
          <a:p>
            <a:pPr marL="731838" lvl="1" indent="-457200">
              <a:buFont typeface="Calibri" panose="020F0502020204030204" pitchFamily="34" charset="0"/>
              <a:buAutoNum type="arabicPeriod"/>
            </a:pPr>
            <a:r>
              <a:rPr lang="en-CA" altLang="en-US" sz="2600" dirty="0">
                <a:solidFill>
                  <a:schemeClr val="tx1"/>
                </a:solidFill>
              </a:rPr>
              <a:t>The amount to be invested.</a:t>
            </a:r>
          </a:p>
          <a:p>
            <a:pPr marL="731838" lvl="1" indent="-457200">
              <a:buFont typeface="Calibri" panose="020F0502020204030204" pitchFamily="34" charset="0"/>
              <a:buAutoNum type="arabicPeriod"/>
            </a:pPr>
            <a:r>
              <a:rPr lang="en-CA" altLang="en-US" sz="2600" dirty="0">
                <a:solidFill>
                  <a:schemeClr val="tx1"/>
                </a:solidFill>
              </a:rPr>
              <a:t>The interest rate (</a:t>
            </a:r>
            <a:r>
              <a:rPr lang="en-CA" altLang="en-US" sz="2600" i="1" dirty="0" err="1">
                <a:solidFill>
                  <a:schemeClr val="tx1"/>
                </a:solidFill>
              </a:rPr>
              <a:t>i</a:t>
            </a:r>
            <a:r>
              <a:rPr lang="en-CA" altLang="en-US" sz="2600" dirty="0">
                <a:solidFill>
                  <a:schemeClr val="tx1"/>
                </a:solidFill>
              </a:rPr>
              <a:t>) that the amount will earn.</a:t>
            </a:r>
          </a:p>
          <a:p>
            <a:pPr marL="731838" lvl="1" indent="-457200">
              <a:buFont typeface="Calibri" panose="020F0502020204030204" pitchFamily="34" charset="0"/>
              <a:buAutoNum type="arabicPeriod"/>
            </a:pPr>
            <a:r>
              <a:rPr lang="en-CA" altLang="en-US" sz="2600" dirty="0">
                <a:solidFill>
                  <a:schemeClr val="tx1"/>
                </a:solidFill>
              </a:rPr>
              <a:t>The number of periods (</a:t>
            </a:r>
            <a:r>
              <a:rPr lang="en-CA" altLang="en-US" sz="2600" i="1" dirty="0">
                <a:solidFill>
                  <a:schemeClr val="tx1"/>
                </a:solidFill>
              </a:rPr>
              <a:t>n</a:t>
            </a:r>
            <a:r>
              <a:rPr lang="en-CA" altLang="en-US" sz="2600" dirty="0">
                <a:solidFill>
                  <a:schemeClr val="tx1"/>
                </a:solidFill>
              </a:rPr>
              <a:t>) in which the amount will earn interest.</a:t>
            </a:r>
          </a:p>
          <a:p>
            <a:endParaRPr lang="en-US" alt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437D3202-3360-4E2B-B165-D5516B7736F0}"/>
              </a:ext>
            </a:extLst>
          </p:cNvPr>
          <p:cNvSpPr>
            <a:spLocks noGrp="1"/>
          </p:cNvSpPr>
          <p:nvPr>
            <p:ph type="title"/>
          </p:nvPr>
        </p:nvSpPr>
        <p:spPr>
          <a:xfrm>
            <a:off x="457200" y="198437"/>
            <a:ext cx="8229600" cy="792163"/>
          </a:xfrm>
        </p:spPr>
        <p:txBody>
          <a:bodyPr/>
          <a:lstStyle/>
          <a:p>
            <a:r>
              <a:rPr lang="en-US" altLang="en-US" dirty="0"/>
              <a:t>Appendix 8E: Future Value of a Single Amount </a:t>
            </a:r>
            <a:r>
              <a:rPr lang="en-CA" altLang="en-US" dirty="0"/>
              <a:t>Part 2</a:t>
            </a:r>
            <a:endParaRPr lang="en-US" altLang="en-US" dirty="0"/>
          </a:p>
        </p:txBody>
      </p:sp>
      <p:sp>
        <p:nvSpPr>
          <p:cNvPr id="12290" name="Content Placeholder 2">
            <a:extLst>
              <a:ext uri="{FF2B5EF4-FFF2-40B4-BE49-F238E27FC236}">
                <a16:creationId xmlns:a16="http://schemas.microsoft.com/office/drawing/2014/main" id="{2F1C6F1E-5B1C-4200-B65C-9A417927720D}"/>
              </a:ext>
            </a:extLst>
          </p:cNvPr>
          <p:cNvSpPr>
            <a:spLocks noGrp="1"/>
          </p:cNvSpPr>
          <p:nvPr>
            <p:ph idx="1"/>
          </p:nvPr>
        </p:nvSpPr>
        <p:spPr/>
        <p:txBody>
          <a:bodyPr/>
          <a:lstStyle/>
          <a:p>
            <a:r>
              <a:rPr lang="en-CA" altLang="en-US" dirty="0"/>
              <a:t>Since the future value concept is based on compound interest, the amount of interest for each period is calculated by multiplying the interest rate by the principal plus any interest not paid out in prior periods.</a:t>
            </a:r>
          </a:p>
          <a:p>
            <a:endParaRPr lang="en-CA" altLang="en-US" sz="1200" dirty="0"/>
          </a:p>
          <a:p>
            <a:r>
              <a:rPr lang="en-CA" altLang="en-US" dirty="0"/>
              <a:t>Graphically, the calculation of the future value of $1 for three periods and an interest rate of 4 percent may be represented as follows:</a:t>
            </a:r>
            <a:endParaRPr lang="en-US" altLang="en-US" dirty="0"/>
          </a:p>
        </p:txBody>
      </p:sp>
      <p:pic>
        <p:nvPicPr>
          <p:cNvPr id="12291" name="Picture 5">
            <a:extLst>
              <a:ext uri="{FF2B5EF4-FFF2-40B4-BE49-F238E27FC236}">
                <a16:creationId xmlns:a16="http://schemas.microsoft.com/office/drawing/2014/main" id="{983806FD-6F2F-42BA-A8AD-03FFA4246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0" y="4254500"/>
            <a:ext cx="6350000"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EDC667EB-26CE-4CF3-AE54-CB72D73D7730}"/>
              </a:ext>
            </a:extLst>
          </p:cNvPr>
          <p:cNvSpPr>
            <a:spLocks noGrp="1"/>
          </p:cNvSpPr>
          <p:nvPr>
            <p:ph type="title"/>
          </p:nvPr>
        </p:nvSpPr>
        <p:spPr/>
        <p:txBody>
          <a:bodyPr/>
          <a:lstStyle/>
          <a:p>
            <a:r>
              <a:rPr lang="en-US" altLang="en-US" dirty="0"/>
              <a:t>Appendix 8E: Future Value of an Annuity </a:t>
            </a:r>
            <a:r>
              <a:rPr lang="en-CA" altLang="en-US" dirty="0"/>
              <a:t>Part 1</a:t>
            </a:r>
            <a:endParaRPr lang="en-US" altLang="en-US" dirty="0"/>
          </a:p>
        </p:txBody>
      </p:sp>
      <p:sp>
        <p:nvSpPr>
          <p:cNvPr id="15362" name="Content Placeholder 2">
            <a:extLst>
              <a:ext uri="{FF2B5EF4-FFF2-40B4-BE49-F238E27FC236}">
                <a16:creationId xmlns:a16="http://schemas.microsoft.com/office/drawing/2014/main" id="{7AC51264-1EAF-46A2-AB4C-D20D202FFBDB}"/>
              </a:ext>
            </a:extLst>
          </p:cNvPr>
          <p:cNvSpPr>
            <a:spLocks noGrp="1"/>
          </p:cNvSpPr>
          <p:nvPr>
            <p:ph idx="1"/>
          </p:nvPr>
        </p:nvSpPr>
        <p:spPr/>
        <p:txBody>
          <a:bodyPr/>
          <a:lstStyle/>
          <a:p>
            <a:r>
              <a:rPr lang="en-CA" altLang="en-US"/>
              <a:t>The future value of an annuity calculation will tell you how much money you will have in the future, if you save a fixed amount of money each month. </a:t>
            </a:r>
          </a:p>
          <a:p>
            <a:endParaRPr lang="en-CA" altLang="en-US" sz="1200"/>
          </a:p>
          <a:p>
            <a:r>
              <a:rPr lang="en-CA" altLang="en-US"/>
              <a:t>The future value of an annuity includes </a:t>
            </a:r>
            <a:r>
              <a:rPr lang="en-CA" altLang="en-US" i="1"/>
              <a:t>compound interest</a:t>
            </a:r>
            <a:r>
              <a:rPr lang="en-CA" altLang="en-US"/>
              <a:t> on each payment from the date of payment to the end of the term of the annuity. </a:t>
            </a:r>
          </a:p>
          <a:p>
            <a:endParaRPr lang="en-CA" altLang="en-US" sz="1200"/>
          </a:p>
          <a:p>
            <a:r>
              <a:rPr lang="en-CA" altLang="en-US"/>
              <a:t>Each new payment accumulates less interest than prior payments only because the number of periods remaining to accumulate interest decreases. </a:t>
            </a:r>
          </a:p>
          <a:p>
            <a:endParaRPr lang="en-US" altLang="en-US" sz="2400" b="1">
              <a:latin typeface="Arial" panose="020B0604020202020204" pitchFamily="34" charset="0"/>
            </a:endParaRPr>
          </a:p>
          <a:p>
            <a:endParaRPr lang="en-US" alt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E619C25F-B2DF-47DE-8785-69C9B2776B4B}"/>
              </a:ext>
            </a:extLst>
          </p:cNvPr>
          <p:cNvSpPr>
            <a:spLocks noGrp="1"/>
          </p:cNvSpPr>
          <p:nvPr>
            <p:ph type="title"/>
          </p:nvPr>
        </p:nvSpPr>
        <p:spPr/>
        <p:txBody>
          <a:bodyPr/>
          <a:lstStyle/>
          <a:p>
            <a:r>
              <a:rPr lang="en-US" altLang="en-US" dirty="0"/>
              <a:t>Appendix 8E: Future Value of an Annuity </a:t>
            </a:r>
            <a:r>
              <a:rPr lang="en-CA" altLang="en-US" dirty="0"/>
              <a:t>Part 2</a:t>
            </a:r>
            <a:endParaRPr lang="en-US" altLang="en-US" dirty="0"/>
          </a:p>
        </p:txBody>
      </p:sp>
      <p:sp>
        <p:nvSpPr>
          <p:cNvPr id="16386" name="Content Placeholder 2">
            <a:extLst>
              <a:ext uri="{FF2B5EF4-FFF2-40B4-BE49-F238E27FC236}">
                <a16:creationId xmlns:a16="http://schemas.microsoft.com/office/drawing/2014/main" id="{901FE525-FCB9-4B32-9869-1A91EE4B715D}"/>
              </a:ext>
            </a:extLst>
          </p:cNvPr>
          <p:cNvSpPr>
            <a:spLocks noGrp="1"/>
          </p:cNvSpPr>
          <p:nvPr>
            <p:ph idx="1"/>
          </p:nvPr>
        </p:nvSpPr>
        <p:spPr/>
        <p:txBody>
          <a:bodyPr/>
          <a:lstStyle/>
          <a:p>
            <a:r>
              <a:rPr lang="en-CA" altLang="en-US"/>
              <a:t>The future value of an annuity of $1 for three periods at 4 percent may be represented graphically as follows:</a:t>
            </a:r>
          </a:p>
          <a:p>
            <a:endParaRPr lang="en-US" altLang="en-US" sz="2400" b="1">
              <a:latin typeface="Arial" panose="020B0604020202020204" pitchFamily="34" charset="0"/>
            </a:endParaRPr>
          </a:p>
          <a:p>
            <a:endParaRPr lang="en-US" altLang="en-US"/>
          </a:p>
        </p:txBody>
      </p:sp>
      <p:pic>
        <p:nvPicPr>
          <p:cNvPr id="16387" name="Picture 3">
            <a:extLst>
              <a:ext uri="{FF2B5EF4-FFF2-40B4-BE49-F238E27FC236}">
                <a16:creationId xmlns:a16="http://schemas.microsoft.com/office/drawing/2014/main" id="{BD5829D1-F518-499B-8636-18E9987F2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546350"/>
            <a:ext cx="7446963"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007FB8A6-4F2D-4E2C-8371-B32E5567F098}"/>
              </a:ext>
            </a:extLst>
          </p:cNvPr>
          <p:cNvSpPr>
            <a:spLocks noGrp="1"/>
          </p:cNvSpPr>
          <p:nvPr>
            <p:ph type="title"/>
          </p:nvPr>
        </p:nvSpPr>
        <p:spPr/>
        <p:txBody>
          <a:bodyPr/>
          <a:lstStyle/>
          <a:p>
            <a:r>
              <a:rPr lang="en-US" altLang="en-US"/>
              <a:t>End of Chapter Summary</a:t>
            </a:r>
          </a:p>
        </p:txBody>
      </p:sp>
      <p:sp>
        <p:nvSpPr>
          <p:cNvPr id="19458" name="Content Placeholder 2">
            <a:extLst>
              <a:ext uri="{FF2B5EF4-FFF2-40B4-BE49-F238E27FC236}">
                <a16:creationId xmlns:a16="http://schemas.microsoft.com/office/drawing/2014/main" id="{B41994F0-D4E7-4CFC-B513-25DB6D4883EF}"/>
              </a:ext>
            </a:extLst>
          </p:cNvPr>
          <p:cNvSpPr>
            <a:spLocks noGrp="1"/>
          </p:cNvSpPr>
          <p:nvPr>
            <p:ph idx="1"/>
          </p:nvPr>
        </p:nvSpPr>
        <p:spPr/>
        <p:txBody>
          <a:bodyPr/>
          <a:lstStyle/>
          <a:p>
            <a:r>
              <a:rPr lang="en-CA" altLang="en-US" dirty="0"/>
              <a:t>Accountants define liabilities as obligations arising from past transactions that will be settled in the future by some transfer or use of assets or provision of services.</a:t>
            </a:r>
          </a:p>
          <a:p>
            <a:endParaRPr lang="en-CA" altLang="en-US" sz="800" dirty="0"/>
          </a:p>
          <a:p>
            <a:r>
              <a:rPr lang="en-CA" altLang="en-US" dirty="0"/>
              <a:t>They are classified on the statement of financial position as either current or non-current. </a:t>
            </a:r>
          </a:p>
          <a:p>
            <a:endParaRPr lang="en-CA" altLang="en-US" sz="800" dirty="0"/>
          </a:p>
          <a:p>
            <a:r>
              <a:rPr lang="en-CA" altLang="en-US" dirty="0"/>
              <a:t>A note payable specifies the amount borrowed, when it must be repaid, and the interest rate associated with the debt. Accountants must report the debt and the interest as it accrues. </a:t>
            </a:r>
          </a:p>
          <a:p>
            <a:endParaRPr lang="en-CA" altLang="en-US" sz="800" dirty="0"/>
          </a:p>
          <a:p>
            <a:r>
              <a:rPr lang="en-CA" altLang="en-US" dirty="0"/>
              <a:t>The time value of money refers to the fact that interest accrues on borrowed money with the passage of time.</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5C9F2D74-98CC-4166-9F61-F86461B8D7AF}"/>
              </a:ext>
            </a:extLst>
          </p:cNvPr>
          <p:cNvSpPr>
            <a:spLocks noGrp="1"/>
          </p:cNvSpPr>
          <p:nvPr>
            <p:ph type="title"/>
          </p:nvPr>
        </p:nvSpPr>
        <p:spPr/>
        <p:txBody>
          <a:bodyPr/>
          <a:lstStyle/>
          <a:p>
            <a:r>
              <a:rPr lang="en-US" altLang="en-US"/>
              <a:t>End of Chapter Summary Continued</a:t>
            </a:r>
          </a:p>
        </p:txBody>
      </p:sp>
      <p:sp>
        <p:nvSpPr>
          <p:cNvPr id="20482" name="Content Placeholder 2">
            <a:extLst>
              <a:ext uri="{FF2B5EF4-FFF2-40B4-BE49-F238E27FC236}">
                <a16:creationId xmlns:a16="http://schemas.microsoft.com/office/drawing/2014/main" id="{915C86F7-C2DF-4304-B8EB-1C9BA2AA4E27}"/>
              </a:ext>
            </a:extLst>
          </p:cNvPr>
          <p:cNvSpPr>
            <a:spLocks noGrp="1"/>
          </p:cNvSpPr>
          <p:nvPr>
            <p:ph idx="1"/>
          </p:nvPr>
        </p:nvSpPr>
        <p:spPr/>
        <p:txBody>
          <a:bodyPr/>
          <a:lstStyle/>
          <a:p>
            <a:r>
              <a:rPr lang="en-CA" altLang="en-US" dirty="0"/>
              <a:t>A contingency is a possible liability that has arisen as a result of a past event. </a:t>
            </a:r>
          </a:p>
          <a:p>
            <a:endParaRPr lang="en-CA" altLang="en-US" sz="800" dirty="0"/>
          </a:p>
          <a:p>
            <a:r>
              <a:rPr lang="en-CA" altLang="en-US" dirty="0"/>
              <a:t>Contingencies are disclosed in a note if it is not probable that cash or other assets will be required to settle the obligation, or if the amount of the obligation cannot be measured with sufficient reliability.</a:t>
            </a:r>
          </a:p>
          <a:p>
            <a:endParaRPr lang="en-CA" altLang="en-US" sz="800" dirty="0"/>
          </a:p>
          <a:p>
            <a:r>
              <a:rPr lang="en-CA" dirty="0"/>
              <a:t>Working capital is defined as current assets minus current liabilities.</a:t>
            </a:r>
          </a:p>
          <a:p>
            <a:endParaRPr lang="en-CA" sz="800" dirty="0"/>
          </a:p>
          <a:p>
            <a:r>
              <a:rPr lang="en-CA" altLang="en-US" dirty="0"/>
              <a:t>The quick ratio is a comparison of the most liquid or quick assets (cash, short-term investments, and net receivables) to current liabilities. </a:t>
            </a:r>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F903EFA6F1304185B8B76D382796C3" ma:contentTypeVersion="12" ma:contentTypeDescription="Create a new document." ma:contentTypeScope="" ma:versionID="8327e696ad964eaa8757dd69c911c21b">
  <xsd:schema xmlns:xsd="http://www.w3.org/2001/XMLSchema" xmlns:xs="http://www.w3.org/2001/XMLSchema" xmlns:p="http://schemas.microsoft.com/office/2006/metadata/properties" xmlns:ns2="ae52743f-d902-49b8-9d67-4e33f635a226" xmlns:ns3="c565d9a4-9658-4688-95dd-39b4aa857904" targetNamespace="http://schemas.microsoft.com/office/2006/metadata/properties" ma:root="true" ma:fieldsID="9bdd7b4fa1f3b16ad4a21c7811265856" ns2:_="" ns3:_="">
    <xsd:import namespace="ae52743f-d902-49b8-9d67-4e33f635a226"/>
    <xsd:import namespace="c565d9a4-9658-4688-95dd-39b4aa85790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52743f-d902-49b8-9d67-4e33f635a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65d9a4-9658-4688-95dd-39b4aa85790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7f1666-22d5-4ad8-96bb-8851b0759287}" ma:internalName="TaxCatchAll" ma:showField="CatchAllData" ma:web="c565d9a4-9658-4688-95dd-39b4aa85790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565d9a4-9658-4688-95dd-39b4aa857904" xsi:nil="true"/>
    <lcf76f155ced4ddcb4097134ff3c332f xmlns="ae52743f-d902-49b8-9d67-4e33f635a22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4CB0399-77DC-4F31-88E7-E6701BDEF1BB}">
  <ds:schemaRefs>
    <ds:schemaRef ds:uri="http://schemas.microsoft.com/sharepoint/v3/contenttype/forms"/>
  </ds:schemaRefs>
</ds:datastoreItem>
</file>

<file path=customXml/itemProps2.xml><?xml version="1.0" encoding="utf-8"?>
<ds:datastoreItem xmlns:ds="http://schemas.openxmlformats.org/officeDocument/2006/customXml" ds:itemID="{E042302F-346F-427E-B0AC-1E29F5116C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52743f-d902-49b8-9d67-4e33f635a226"/>
    <ds:schemaRef ds:uri="c565d9a4-9658-4688-95dd-39b4aa8579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6704A7-967A-4E89-9858-36A8D1A93407}">
  <ds:schemaRefs>
    <ds:schemaRef ds:uri="http://schemas.microsoft.com/office/2006/metadata/properties"/>
    <ds:schemaRef ds:uri="http://schemas.microsoft.com/office/infopath/2007/PartnerControls"/>
    <ds:schemaRef ds:uri="c565d9a4-9658-4688-95dd-39b4aa857904"/>
    <ds:schemaRef ds:uri="ae52743f-d902-49b8-9d67-4e33f635a226"/>
  </ds:schemaRefs>
</ds:datastoreItem>
</file>

<file path=docProps/app.xml><?xml version="1.0" encoding="utf-8"?>
<Properties xmlns="http://schemas.openxmlformats.org/officeDocument/2006/extended-properties" xmlns:vt="http://schemas.openxmlformats.org/officeDocument/2006/docPropsVTypes">
  <Template/>
  <TotalTime>2526</TotalTime>
  <Words>3480</Words>
  <Application>Microsoft Office PowerPoint</Application>
  <PresentationFormat>On-screen Show (4:3)</PresentationFormat>
  <Paragraphs>292</Paragraphs>
  <Slides>46</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46</vt:i4>
      </vt:variant>
    </vt:vector>
  </HeadingPairs>
  <TitlesOfParts>
    <vt:vector size="54" baseType="lpstr">
      <vt:lpstr>Arial</vt:lpstr>
      <vt:lpstr>Calibri</vt:lpstr>
      <vt:lpstr>Tahoma</vt:lpstr>
      <vt:lpstr>Times New Roman</vt:lpstr>
      <vt:lpstr>Wingdings</vt:lpstr>
      <vt:lpstr>Wingdings 3</vt:lpstr>
      <vt:lpstr>1_Origin</vt:lpstr>
      <vt:lpstr>Origin</vt:lpstr>
      <vt:lpstr>PowerPoint Presentation</vt:lpstr>
      <vt:lpstr>Learning Objectives</vt:lpstr>
      <vt:lpstr>Learning Objectives Continued</vt:lpstr>
      <vt:lpstr>Understanding the Business</vt:lpstr>
      <vt:lpstr>Liabilities Defined and Classified Part 1</vt:lpstr>
      <vt:lpstr>Liabilities Defined and Classified Part 2</vt:lpstr>
      <vt:lpstr>Liabilities Defined and Classified Part 3</vt:lpstr>
      <vt:lpstr>Current Liabilities</vt:lpstr>
      <vt:lpstr>Accounts Payable</vt:lpstr>
      <vt:lpstr>Key Ratio Analysis – A/P Turnover Ratio</vt:lpstr>
      <vt:lpstr>Accrued Liabilities</vt:lpstr>
      <vt:lpstr>Payroll Liabilities</vt:lpstr>
      <vt:lpstr>Employee Deductions Part 1</vt:lpstr>
      <vt:lpstr>Employee Deductions Part 2</vt:lpstr>
      <vt:lpstr>Deferred Revenue</vt:lpstr>
      <vt:lpstr>Notes Payable Part 1</vt:lpstr>
      <vt:lpstr>Notes Payable Part 2</vt:lpstr>
      <vt:lpstr>Notes Payable Part 3</vt:lpstr>
      <vt:lpstr>Current Portion of Long-Term Debt</vt:lpstr>
      <vt:lpstr>Provisions Part 1</vt:lpstr>
      <vt:lpstr>Provisions Part 2</vt:lpstr>
      <vt:lpstr>Contingent Liabilities Part 1</vt:lpstr>
      <vt:lpstr>Contingent Liabilities Part 2</vt:lpstr>
      <vt:lpstr>International Perspective – It is a Matter of Degree of Certainty Part 1</vt:lpstr>
      <vt:lpstr>International Perspective – It is a Matter of Degree of Certainty Part 2</vt:lpstr>
      <vt:lpstr>ESG Reporting Part 1</vt:lpstr>
      <vt:lpstr>ESG Reporting Part 2</vt:lpstr>
      <vt:lpstr>Working Capital Management</vt:lpstr>
      <vt:lpstr>Key Ratio Analysis – Quick Ratio</vt:lpstr>
      <vt:lpstr>Appendix 8A: Deferred Income Tax Assets and Liabilities Part 1</vt:lpstr>
      <vt:lpstr>Appendix 8A: Deferred Income Tax Assets and Liabilities Part 2</vt:lpstr>
      <vt:lpstr>Appendix 8A: Deferred Income Tax Assets and Liabilities Part 3</vt:lpstr>
      <vt:lpstr>Appendix 8B: Present Value Concepts Part 1</vt:lpstr>
      <vt:lpstr>Appendix 8B: Present Value Concepts Part 2</vt:lpstr>
      <vt:lpstr>Appendix 8B: Present Value Concepts Part 3</vt:lpstr>
      <vt:lpstr>Appendix 8B: Present Value of a Single Amount Part 1</vt:lpstr>
      <vt:lpstr>Appendix 8B: Present Value of a Single Amount Part 2</vt:lpstr>
      <vt:lpstr>Appendix 8B: Present Value of an Annuity Part 1</vt:lpstr>
      <vt:lpstr>Appendix 8B: Present Value of an Annuity Part 2</vt:lpstr>
      <vt:lpstr>Appendix 8B: Present Value of an Annuity Part 3</vt:lpstr>
      <vt:lpstr>Appendix 8E: Future Value of a Single Amount Part 1</vt:lpstr>
      <vt:lpstr>Appendix 8E: Future Value of a Single Amount Part 2</vt:lpstr>
      <vt:lpstr>Appendix 8E: Future Value of an Annuity Part 1</vt:lpstr>
      <vt:lpstr>Appendix 8E: Future Value of an Annuity Part 2</vt:lpstr>
      <vt:lpstr>End of Chapter Summary</vt:lpstr>
      <vt:lpstr>End of Chapter Summary Continued</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9: Reporting and Interpreting Current Liabilities</dc:subject>
  <dc:creator>Robert G. Ducharme, MAcc, CPA, CA - University of Waterloo, School of Accounting and Finance</dc:creator>
  <cp:lastModifiedBy>Schwartz, Stephanie</cp:lastModifiedBy>
  <cp:revision>59</cp:revision>
  <dcterms:created xsi:type="dcterms:W3CDTF">2010-03-30T15:03:05Z</dcterms:created>
  <dcterms:modified xsi:type="dcterms:W3CDTF">2023-01-12T15:23:23Z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0x0101004AF903EFA6F1304185B8B76D382796C3</vt:lpwstr>
  </property>
  <property fmtid="{D5CDD505-2E9C-101B-9397-08002B2CF9AE}" pid="4" name="MediaServiceImageTags">
    <vt:lpwstr/>
  </property>
</Properties>
</file>
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4"/>
    <p:sldMasterId id="2147483798" r:id="rId5"/>
  </p:sldMasterIdLst>
  <p:notesMasterIdLst>
    <p:notesMasterId r:id="rId54"/>
  </p:notesMasterIdLst>
  <p:handoutMasterIdLst>
    <p:handoutMasterId r:id="rId55"/>
  </p:handoutMasterIdLst>
  <p:sldIdLst>
    <p:sldId id="262" r:id="rId6"/>
    <p:sldId id="446" r:id="rId7"/>
    <p:sldId id="371" r:id="rId8"/>
    <p:sldId id="448" r:id="rId9"/>
    <p:sldId id="449" r:id="rId10"/>
    <p:sldId id="450" r:id="rId11"/>
    <p:sldId id="451" r:id="rId12"/>
    <p:sldId id="452" r:id="rId13"/>
    <p:sldId id="454" r:id="rId14"/>
    <p:sldId id="455" r:id="rId15"/>
    <p:sldId id="456" r:id="rId16"/>
    <p:sldId id="457" r:id="rId17"/>
    <p:sldId id="458" r:id="rId18"/>
    <p:sldId id="459" r:id="rId19"/>
    <p:sldId id="460" r:id="rId20"/>
    <p:sldId id="487" r:id="rId21"/>
    <p:sldId id="461" r:id="rId22"/>
    <p:sldId id="489" r:id="rId23"/>
    <p:sldId id="490" r:id="rId24"/>
    <p:sldId id="491" r:id="rId25"/>
    <p:sldId id="462" r:id="rId26"/>
    <p:sldId id="463" r:id="rId27"/>
    <p:sldId id="464" r:id="rId28"/>
    <p:sldId id="465" r:id="rId29"/>
    <p:sldId id="466" r:id="rId30"/>
    <p:sldId id="488" r:id="rId31"/>
    <p:sldId id="467" r:id="rId32"/>
    <p:sldId id="469" r:id="rId33"/>
    <p:sldId id="470" r:id="rId34"/>
    <p:sldId id="471" r:id="rId35"/>
    <p:sldId id="472" r:id="rId36"/>
    <p:sldId id="473" r:id="rId37"/>
    <p:sldId id="475" r:id="rId38"/>
    <p:sldId id="476" r:id="rId39"/>
    <p:sldId id="477" r:id="rId40"/>
    <p:sldId id="478" r:id="rId41"/>
    <p:sldId id="479" r:id="rId42"/>
    <p:sldId id="486" r:id="rId43"/>
    <p:sldId id="480" r:id="rId44"/>
    <p:sldId id="481" r:id="rId45"/>
    <p:sldId id="492" r:id="rId46"/>
    <p:sldId id="278" r:id="rId47"/>
    <p:sldId id="296" r:id="rId48"/>
    <p:sldId id="482" r:id="rId49"/>
    <p:sldId id="483" r:id="rId50"/>
    <p:sldId id="484" r:id="rId51"/>
    <p:sldId id="447" r:id="rId52"/>
    <p:sldId id="485" r:id="rId5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E6818-FCF8-41C8-B0AA-9EB8F9CE3300}" v="3" dt="2023-01-12T15:27:21.5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295" autoAdjust="0"/>
    <p:restoredTop sz="85208" autoAdjust="0"/>
  </p:normalViewPr>
  <p:slideViewPr>
    <p:cSldViewPr>
      <p:cViewPr varScale="1">
        <p:scale>
          <a:sx n="115" d="100"/>
          <a:sy n="115" d="100"/>
        </p:scale>
        <p:origin x="12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80"/>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0DFE6818-FCF8-41C8-B0AA-9EB8F9CE3300}"/>
    <pc:docChg chg="modMainMaster">
      <pc:chgData name="Schwartz, Stephanie" userId="aa8fa799-5957-4a86-b1b1-233f34a2fe0c" providerId="ADAL" clId="{0DFE6818-FCF8-41C8-B0AA-9EB8F9CE3300}" dt="2023-01-12T15:29:24.606" v="3" actId="20577"/>
      <pc:docMkLst>
        <pc:docMk/>
      </pc:docMkLst>
      <pc:sldMasterChg chg="modSp mod">
        <pc:chgData name="Schwartz, Stephanie" userId="aa8fa799-5957-4a86-b1b1-233f34a2fe0c" providerId="ADAL" clId="{0DFE6818-FCF8-41C8-B0AA-9EB8F9CE3300}" dt="2023-01-12T15:29:17.524" v="1" actId="20577"/>
        <pc:sldMasterMkLst>
          <pc:docMk/>
          <pc:sldMasterMk cId="0" sldId="2147483797"/>
        </pc:sldMasterMkLst>
        <pc:spChg chg="mod">
          <ac:chgData name="Schwartz, Stephanie" userId="aa8fa799-5957-4a86-b1b1-233f34a2fe0c" providerId="ADAL" clId="{0DFE6818-FCF8-41C8-B0AA-9EB8F9CE3300}" dt="2023-01-12T15:29:17.524" v="1" actId="20577"/>
          <ac:spMkLst>
            <pc:docMk/>
            <pc:sldMasterMk cId="0" sldId="2147483797"/>
            <ac:spMk id="14" creationId="{1DD57E94-B93C-4C00-9708-46DC7143F522}"/>
          </ac:spMkLst>
        </pc:spChg>
      </pc:sldMasterChg>
      <pc:sldMasterChg chg="modSp mod">
        <pc:chgData name="Schwartz, Stephanie" userId="aa8fa799-5957-4a86-b1b1-233f34a2fe0c" providerId="ADAL" clId="{0DFE6818-FCF8-41C8-B0AA-9EB8F9CE3300}" dt="2023-01-12T15:29:24.606" v="3" actId="20577"/>
        <pc:sldMasterMkLst>
          <pc:docMk/>
          <pc:sldMasterMk cId="0" sldId="2147483798"/>
        </pc:sldMasterMkLst>
        <pc:spChg chg="mod">
          <ac:chgData name="Schwartz, Stephanie" userId="aa8fa799-5957-4a86-b1b1-233f34a2fe0c" providerId="ADAL" clId="{0DFE6818-FCF8-41C8-B0AA-9EB8F9CE3300}" dt="2023-01-12T15:29:24.606" v="3" actId="20577"/>
          <ac:spMkLst>
            <pc:docMk/>
            <pc:sldMasterMk cId="0" sldId="2147483798"/>
            <ac:spMk id="8" creationId="{66F3003D-20D4-4BE4-B949-45BEE3550979}"/>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CB906D8-1CE1-4B03-88D0-130AA8469AE8}"/>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5-</a:t>
            </a:r>
            <a:fld id="{0E33BEA8-EC12-482A-B26E-2C5C82ED2D2D}"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7C555E4-54D4-44DC-9429-7157AAE8FAE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0D8A370D-29AA-44DE-9AA0-BCD9B4E4F7D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63A88962-2204-49AD-BC45-09E08C3C7DF4}"/>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5-</a:t>
            </a:r>
            <a:fld id="{0966FC8B-4961-4FC1-A795-DAA4FADBC6AF}"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CAF34461-5FDA-4913-85C4-A9E86A6CFB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191A6F4B-20A8-4BF7-946D-5E3F12B88E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CA" altLang="en-US"/>
              <a:t>Chapter 5: Reporting and Interpreting Cash Flows</a:t>
            </a:r>
          </a:p>
        </p:txBody>
      </p:sp>
      <p:sp>
        <p:nvSpPr>
          <p:cNvPr id="6147" name="Slide Number Placeholder 3">
            <a:extLst>
              <a:ext uri="{FF2B5EF4-FFF2-40B4-BE49-F238E27FC236}">
                <a16:creationId xmlns:a16="http://schemas.microsoft.com/office/drawing/2014/main" id="{FBE09F0B-38FB-4E17-88DB-843750C66E7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353867-917C-43EB-97EA-471DA0CD5D72}"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8CCA8F26-CBDB-4B09-9742-CE8C31A08CE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5CB20F5-5DBF-416A-AD37-A223EE02F3C5}" type="slidenum">
              <a:rPr lang="en-US" altLang="en-US" smtClean="0"/>
              <a:pPr>
                <a:spcBef>
                  <a:spcPct val="0"/>
                </a:spcBef>
              </a:pPr>
              <a:t>42</a:t>
            </a:fld>
            <a:endParaRPr lang="en-US" altLang="en-US"/>
          </a:p>
        </p:txBody>
      </p:sp>
      <p:sp>
        <p:nvSpPr>
          <p:cNvPr id="27650" name="Rectangle 2">
            <a:extLst>
              <a:ext uri="{FF2B5EF4-FFF2-40B4-BE49-F238E27FC236}">
                <a16:creationId xmlns:a16="http://schemas.microsoft.com/office/drawing/2014/main" id="{07212668-617A-474F-B8CA-47C2723152D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61D7C717-EF45-4C1E-A4D2-1706698851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BB79DDDA-61E6-44C4-AF56-BA02C55FBAF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0B88446-72E9-49BB-B8F0-9BFB9480CC8C}" type="slidenum">
              <a:rPr lang="en-US" altLang="en-US" smtClean="0"/>
              <a:pPr>
                <a:spcBef>
                  <a:spcPct val="0"/>
                </a:spcBef>
              </a:pPr>
              <a:t>43</a:t>
            </a:fld>
            <a:endParaRPr lang="en-US" altLang="en-US"/>
          </a:p>
        </p:txBody>
      </p:sp>
      <p:sp>
        <p:nvSpPr>
          <p:cNvPr id="29698" name="Rectangle 1026">
            <a:extLst>
              <a:ext uri="{FF2B5EF4-FFF2-40B4-BE49-F238E27FC236}">
                <a16:creationId xmlns:a16="http://schemas.microsoft.com/office/drawing/2014/main" id="{82CE7D36-1B93-4EE4-9429-24A26A894CC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1027">
            <a:extLst>
              <a:ext uri="{FF2B5EF4-FFF2-40B4-BE49-F238E27FC236}">
                <a16:creationId xmlns:a16="http://schemas.microsoft.com/office/drawing/2014/main" id="{90E88E33-467A-46D8-8C08-FEB0CE33686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0139415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1158326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0525270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7669863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7579162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Tree>
    <p:extLst>
      <p:ext uri="{BB962C8B-B14F-4D97-AF65-F5344CB8AC3E}">
        <p14:creationId xmlns:p14="http://schemas.microsoft.com/office/powerpoint/2010/main" val="397184759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33788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2297354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223494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7601337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291264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09690928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6216126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9689608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4732876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23107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187875674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99109"/>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5891111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4244019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780013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530482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E3615F91-C634-44DC-914E-A677F122B12F}"/>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88889FB9-3307-4E11-A7F9-F4334777A38F}"/>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04E65C1A-3F3F-4776-A9A2-DA79769DD46C}"/>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solidFill>
                  <a:srgbClr val="FFFFFF"/>
                </a:solidFill>
                <a:latin typeface="Calibri" panose="020F0502020204030204" pitchFamily="34" charset="0"/>
              </a:endParaRPr>
            </a:p>
          </p:txBody>
        </p:sp>
      </p:grpSp>
      <p:grpSp>
        <p:nvGrpSpPr>
          <p:cNvPr id="1027" name="Group 15">
            <a:extLst>
              <a:ext uri="{FF2B5EF4-FFF2-40B4-BE49-F238E27FC236}">
                <a16:creationId xmlns:a16="http://schemas.microsoft.com/office/drawing/2014/main" id="{716CA7E8-C86F-4016-8114-7277EBE9DC72}"/>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E0973111-EB5C-4884-8B6B-19C358693BE1}"/>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C6D9DEE2-8954-4C18-94CB-1DAF0D5B554D}"/>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43CCA9B7-8194-4BA3-A881-4AE4CD09C863}"/>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1DD57E94-B93C-4C00-9708-46DC7143F522}"/>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CA81A670-4FED-4510-84F5-13A804D93F29}"/>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chemeClr val="tx1"/>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F38C06F2-0200-374C-BAD2-E884C3040C6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C4B74528-B82C-DF43-94BB-94BEEE700163}"/>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C803A420-E624-44C9-A765-7841F9E005EF}"/>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dirty="0"/>
              <a:t>Click to edit Master title style</a:t>
            </a:r>
          </a:p>
        </p:txBody>
      </p:sp>
      <p:sp>
        <p:nvSpPr>
          <p:cNvPr id="2051" name="Text Placeholder 12">
            <a:extLst>
              <a:ext uri="{FF2B5EF4-FFF2-40B4-BE49-F238E27FC236}">
                <a16:creationId xmlns:a16="http://schemas.microsoft.com/office/drawing/2014/main" id="{CE836EE2-228C-4947-9C9F-5456199289A9}"/>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
        <p:nvSpPr>
          <p:cNvPr id="2052" name="Straight Connector 28">
            <a:extLst>
              <a:ext uri="{FF2B5EF4-FFF2-40B4-BE49-F238E27FC236}">
                <a16:creationId xmlns:a16="http://schemas.microsoft.com/office/drawing/2014/main" id="{63857331-DDB3-4112-846F-015A43CCBA4C}"/>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9DDE192D-706A-45D8-BC2F-66E03E0C80F4}"/>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98504397-E62E-4295-B1E8-8DE790962CFD}"/>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11-</a:t>
            </a:r>
            <a:fld id="{919540B4-E7AB-407C-81E9-5C08D8D3D3A9}"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66F3003D-20D4-4BE4-B949-45BEE3550979}"/>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C01A3F2F-FF13-43A7-AE02-ECEF76480174}"/>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Statement of Cash Flows</a:t>
            </a:r>
          </a:p>
        </p:txBody>
      </p:sp>
      <p:sp>
        <p:nvSpPr>
          <p:cNvPr id="5122" name="Subtitle 4">
            <a:extLst>
              <a:ext uri="{FF2B5EF4-FFF2-40B4-BE49-F238E27FC236}">
                <a16:creationId xmlns:a16="http://schemas.microsoft.com/office/drawing/2014/main" id="{C73F7E84-8F28-4012-8A4B-4561767455BD}"/>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11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8CA27763-F21B-4286-9187-74DF9B9A535D}"/>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FF52E9E1-4432-4651-826E-A369863ABFB8}"/>
              </a:ext>
            </a:extLst>
          </p:cNvPr>
          <p:cNvSpPr>
            <a:spLocks noGrp="1"/>
          </p:cNvSpPr>
          <p:nvPr>
            <p:ph idx="1"/>
          </p:nvPr>
        </p:nvSpPr>
        <p:spPr/>
        <p:txBody>
          <a:bodyPr/>
          <a:lstStyle/>
          <a:p>
            <a:r>
              <a:rPr lang="en-CA" altLang="en-US" b="1" dirty="0"/>
              <a:t>LO11-1 </a:t>
            </a:r>
            <a:r>
              <a:rPr lang="en-CA" altLang="en-US" dirty="0"/>
              <a:t>Classify cash flow items into cash flows from operating, investing, and financing activities.</a:t>
            </a:r>
          </a:p>
          <a:p>
            <a:r>
              <a:rPr lang="en-CA" altLang="en-US" b="1" dirty="0"/>
              <a:t>LO11-2 </a:t>
            </a:r>
            <a:r>
              <a:rPr lang="en-CA" altLang="en-US" dirty="0"/>
              <a:t>Report and interpret cash flows from operating activities, using the indirect method.</a:t>
            </a:r>
          </a:p>
          <a:p>
            <a:r>
              <a:rPr lang="en-CA" altLang="en-US" b="1" dirty="0"/>
              <a:t>LO11-3 </a:t>
            </a:r>
            <a:r>
              <a:rPr lang="en-CA" altLang="en-US" dirty="0"/>
              <a:t>Analyze and interpret the quality of earnings ratio.</a:t>
            </a:r>
          </a:p>
          <a:p>
            <a:r>
              <a:rPr lang="en-CA" altLang="en-US" b="1" dirty="0"/>
              <a:t>LO11-4 </a:t>
            </a:r>
            <a:r>
              <a:rPr lang="en-CA" altLang="en-US" dirty="0"/>
              <a:t>Report and interpret cash flows from investing activities.</a:t>
            </a:r>
          </a:p>
          <a:p>
            <a:r>
              <a:rPr lang="en-CA" altLang="en-US" b="1" dirty="0"/>
              <a:t>LO11-5 </a:t>
            </a:r>
            <a:r>
              <a:rPr lang="en-CA" altLang="en-US" dirty="0"/>
              <a:t>Analyze and interpret the capital expenditures ratio.</a:t>
            </a:r>
          </a:p>
          <a:p>
            <a:r>
              <a:rPr lang="en-CA" altLang="en-US" b="1" dirty="0"/>
              <a:t>LO11-6 </a:t>
            </a:r>
            <a:r>
              <a:rPr lang="en-CA" altLang="en-US" dirty="0"/>
              <a:t>Report and interpret cash flows from financing activities.</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F8251B98-4760-4385-B38E-55382C455FC8}"/>
              </a:ext>
            </a:extLst>
          </p:cNvPr>
          <p:cNvSpPr>
            <a:spLocks noGrp="1"/>
          </p:cNvSpPr>
          <p:nvPr>
            <p:ph type="title"/>
          </p:nvPr>
        </p:nvSpPr>
        <p:spPr/>
        <p:txBody>
          <a:bodyPr/>
          <a:lstStyle/>
          <a:p>
            <a:r>
              <a:rPr lang="en-US" altLang="en-US"/>
              <a:t>Learning Objectives Continued</a:t>
            </a:r>
          </a:p>
        </p:txBody>
      </p:sp>
      <p:sp>
        <p:nvSpPr>
          <p:cNvPr id="3" name="Content Placeholder 2">
            <a:extLst>
              <a:ext uri="{FF2B5EF4-FFF2-40B4-BE49-F238E27FC236}">
                <a16:creationId xmlns:a16="http://schemas.microsoft.com/office/drawing/2014/main" id="{CD0026D4-0547-4DBE-8B29-2E7181B176BC}"/>
              </a:ext>
            </a:extLst>
          </p:cNvPr>
          <p:cNvSpPr>
            <a:spLocks noGrp="1"/>
          </p:cNvSpPr>
          <p:nvPr>
            <p:ph idx="1"/>
          </p:nvPr>
        </p:nvSpPr>
        <p:spPr/>
        <p:txBody>
          <a:bodyPr/>
          <a:lstStyle/>
          <a:p>
            <a:pPr>
              <a:buFont typeface="Wingdings 3" pitchFamily="2" charset="2"/>
              <a:buChar char=""/>
              <a:defRPr/>
            </a:pPr>
            <a:r>
              <a:rPr lang="en-CA" altLang="en-US" b="1" dirty="0"/>
              <a:t>LO11-7 </a:t>
            </a:r>
            <a:r>
              <a:rPr lang="en-CA" dirty="0"/>
              <a:t>Explain the format of the statement of cash flows and additional cash flow disclosures.</a:t>
            </a:r>
          </a:p>
          <a:p>
            <a:pPr>
              <a:buFont typeface="Wingdings 3" pitchFamily="2" charset="2"/>
              <a:buChar char=""/>
              <a:defRPr/>
            </a:pPr>
            <a:endParaRPr lang="en-CA" sz="1200" b="1" cap="all" dirty="0"/>
          </a:p>
          <a:p>
            <a:pPr marL="0" indent="0">
              <a:buFont typeface="Wingdings 3" pitchFamily="2" charset="2"/>
              <a:buNone/>
              <a:defRPr/>
            </a:pPr>
            <a:r>
              <a:rPr lang="en-CA" b="1" cap="all" dirty="0"/>
              <a:t>SUPPLEMENTARY MATERIAL</a:t>
            </a:r>
          </a:p>
          <a:p>
            <a:pPr>
              <a:buFont typeface="Wingdings 3" pitchFamily="2" charset="2"/>
              <a:buChar char=""/>
              <a:defRPr/>
            </a:pPr>
            <a:r>
              <a:rPr lang="en-CA" b="1" dirty="0"/>
              <a:t>LO11-S1 </a:t>
            </a:r>
            <a:r>
              <a:rPr lang="en-CA" dirty="0"/>
              <a:t>Report cash flows related to disposal of long-lived assets, using the indirect method.</a:t>
            </a:r>
          </a:p>
          <a:p>
            <a:pPr>
              <a:buFont typeface="Wingdings 3" pitchFamily="2" charset="2"/>
              <a:buChar char=""/>
              <a:defRPr/>
            </a:pPr>
            <a:r>
              <a:rPr lang="en-CA" b="1" dirty="0"/>
              <a:t>LO11-S2 </a:t>
            </a:r>
            <a:r>
              <a:rPr lang="en-CA" dirty="0"/>
              <a:t>Report and interpret cash flows from operating activities, using the direct method.</a:t>
            </a:r>
          </a:p>
          <a:p>
            <a:pPr>
              <a:buFont typeface="Wingdings 3" pitchFamily="2" charset="2"/>
              <a:buChar char=""/>
              <a:defRPr/>
            </a:pPr>
            <a:r>
              <a:rPr lang="en-CA" b="1" dirty="0"/>
              <a:t>LO11-S3</a:t>
            </a:r>
            <a:r>
              <a:rPr lang="en-CA" dirty="0"/>
              <a:t> Use the T-account approach to prepare the statement of cash flows under the indirect method.</a:t>
            </a:r>
          </a:p>
          <a:p>
            <a:pPr>
              <a:buFont typeface="Wingdings 3" pitchFamily="2" charset="2"/>
              <a:buChar char=""/>
              <a:defRPr/>
            </a:pPr>
            <a:r>
              <a:rPr lang="en-CA" b="1" dirty="0"/>
              <a:t>LO11-S4 </a:t>
            </a:r>
            <a:r>
              <a:rPr lang="en-CA" dirty="0"/>
              <a:t>Report the statement of cash flows using the spreadsheet approach. (Online)</a:t>
            </a:r>
          </a:p>
          <a:p>
            <a:pPr>
              <a:buFont typeface="Wingdings 3" pitchFamily="2" charset="2"/>
              <a:buChar char=""/>
              <a:defRPr/>
            </a:pPr>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F053633E-B032-431B-875F-752E4D257D14}"/>
              </a:ext>
            </a:extLst>
          </p:cNvPr>
          <p:cNvSpPr>
            <a:spLocks noGrp="1"/>
          </p:cNvSpPr>
          <p:nvPr>
            <p:ph type="title"/>
          </p:nvPr>
        </p:nvSpPr>
        <p:spPr/>
        <p:txBody>
          <a:bodyPr/>
          <a:lstStyle/>
          <a:p>
            <a:r>
              <a:rPr lang="en-CA" altLang="en-US" dirty="0"/>
              <a:t>Classifications of Cash Flows Part 1</a:t>
            </a:r>
            <a:endParaRPr lang="en-US" altLang="en-US" dirty="0"/>
          </a:p>
        </p:txBody>
      </p:sp>
      <p:sp>
        <p:nvSpPr>
          <p:cNvPr id="33794" name="Content Placeholder 2">
            <a:extLst>
              <a:ext uri="{FF2B5EF4-FFF2-40B4-BE49-F238E27FC236}">
                <a16:creationId xmlns:a16="http://schemas.microsoft.com/office/drawing/2014/main" id="{185C51C4-526A-42F9-9916-ED901B191B5D}"/>
              </a:ext>
            </a:extLst>
          </p:cNvPr>
          <p:cNvSpPr>
            <a:spLocks noGrp="1"/>
          </p:cNvSpPr>
          <p:nvPr>
            <p:ph idx="1"/>
          </p:nvPr>
        </p:nvSpPr>
        <p:spPr/>
        <p:txBody>
          <a:bodyPr/>
          <a:lstStyle/>
          <a:p>
            <a:r>
              <a:rPr lang="en-CA" altLang="en-US" dirty="0"/>
              <a:t>The statement of cash flows explains how the cash balance at the beginning of the period changed to another cash balance at the end of the period. </a:t>
            </a:r>
          </a:p>
          <a:p>
            <a:endParaRPr lang="en-CA" altLang="en-US" sz="800" dirty="0"/>
          </a:p>
          <a:p>
            <a:r>
              <a:rPr lang="en-CA" altLang="en-US" dirty="0"/>
              <a:t>The definition of cash for the purpose of the cash flow statement includes cash and cash equivalents. </a:t>
            </a:r>
          </a:p>
          <a:p>
            <a:endParaRPr lang="en-CA" altLang="en-US" sz="800" dirty="0"/>
          </a:p>
          <a:p>
            <a:r>
              <a:rPr lang="en-CA" altLang="en-US" b="1" dirty="0"/>
              <a:t>Cash equivalents</a:t>
            </a:r>
            <a:r>
              <a:rPr lang="en-CA" altLang="en-US" dirty="0"/>
              <a:t> are short-term, highly liquid investments that are both:</a:t>
            </a:r>
          </a:p>
          <a:p>
            <a:pPr marL="731838" lvl="1" indent="-457200">
              <a:buFont typeface="Calibri" panose="020F0502020204030204" pitchFamily="34" charset="0"/>
              <a:buAutoNum type="arabicPeriod"/>
            </a:pPr>
            <a:r>
              <a:rPr lang="en-CA" altLang="en-US" sz="2400" dirty="0"/>
              <a:t>R</a:t>
            </a:r>
            <a:r>
              <a:rPr lang="en-CA" altLang="en-US" sz="2400" dirty="0">
                <a:solidFill>
                  <a:schemeClr val="tx1"/>
                </a:solidFill>
              </a:rPr>
              <a:t>eadily convertible to known amounts of cash, and</a:t>
            </a:r>
          </a:p>
          <a:p>
            <a:pPr marL="731838" lvl="1" indent="-457200">
              <a:buFont typeface="Calibri" panose="020F0502020204030204" pitchFamily="34" charset="0"/>
              <a:buAutoNum type="arabicPeriod"/>
            </a:pPr>
            <a:r>
              <a:rPr lang="en-CA" altLang="en-US" sz="2400" dirty="0">
                <a:solidFill>
                  <a:schemeClr val="tx1"/>
                </a:solidFill>
              </a:rPr>
              <a:t>Three months or less to their maturity and subject to an insignificant risk of changes in value.</a:t>
            </a:r>
          </a:p>
          <a:p>
            <a:endParaRPr lang="en-US"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186E08F4-15BF-45F6-A2FA-3997886CBBC7}"/>
              </a:ext>
            </a:extLst>
          </p:cNvPr>
          <p:cNvSpPr>
            <a:spLocks noGrp="1"/>
          </p:cNvSpPr>
          <p:nvPr>
            <p:ph type="title"/>
          </p:nvPr>
        </p:nvSpPr>
        <p:spPr/>
        <p:txBody>
          <a:bodyPr/>
          <a:lstStyle/>
          <a:p>
            <a:r>
              <a:rPr lang="en-CA" altLang="en-US" dirty="0"/>
              <a:t>Classifications of Cash Flows Part 2</a:t>
            </a:r>
            <a:endParaRPr lang="en-US" altLang="en-US" dirty="0"/>
          </a:p>
        </p:txBody>
      </p:sp>
      <p:sp>
        <p:nvSpPr>
          <p:cNvPr id="34818" name="Content Placeholder 2">
            <a:extLst>
              <a:ext uri="{FF2B5EF4-FFF2-40B4-BE49-F238E27FC236}">
                <a16:creationId xmlns:a16="http://schemas.microsoft.com/office/drawing/2014/main" id="{E51E198C-9429-4E32-BD3D-6C1B1B299DE1}"/>
              </a:ext>
            </a:extLst>
          </p:cNvPr>
          <p:cNvSpPr>
            <a:spLocks noGrp="1"/>
          </p:cNvSpPr>
          <p:nvPr>
            <p:ph idx="1"/>
          </p:nvPr>
        </p:nvSpPr>
        <p:spPr/>
        <p:txBody>
          <a:bodyPr/>
          <a:lstStyle/>
          <a:p>
            <a:r>
              <a:rPr lang="en-CA" altLang="en-US" dirty="0"/>
              <a:t>The statement of cash flows reports cash inflows and outflows based on three broad categories: (1) operating activities, (2) investing activities, and (3) financing activities. </a:t>
            </a:r>
          </a:p>
          <a:p>
            <a:endParaRPr lang="en-CA" altLang="en-US" sz="800" dirty="0"/>
          </a:p>
          <a:p>
            <a:r>
              <a:rPr lang="en-CA" altLang="en-US" dirty="0"/>
              <a:t>Together, these three cash flow categories explain the change in cash from the beginning balance to the ending balance on the statement of financial position.</a:t>
            </a:r>
            <a:endParaRPr lang="en-US"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4164481B-BCA2-4752-956A-253B0CA04636}"/>
              </a:ext>
            </a:extLst>
          </p:cNvPr>
          <p:cNvSpPr>
            <a:spLocks noGrp="1"/>
          </p:cNvSpPr>
          <p:nvPr>
            <p:ph type="title"/>
          </p:nvPr>
        </p:nvSpPr>
        <p:spPr/>
        <p:txBody>
          <a:bodyPr/>
          <a:lstStyle/>
          <a:p>
            <a:r>
              <a:rPr lang="en-US" altLang="en-US"/>
              <a:t>Cash flows from Operating Activities</a:t>
            </a:r>
          </a:p>
        </p:txBody>
      </p:sp>
      <p:sp>
        <p:nvSpPr>
          <p:cNvPr id="35842" name="Content Placeholder 2">
            <a:extLst>
              <a:ext uri="{FF2B5EF4-FFF2-40B4-BE49-F238E27FC236}">
                <a16:creationId xmlns:a16="http://schemas.microsoft.com/office/drawing/2014/main" id="{4307E96F-8D81-4537-9363-4C62ED715A29}"/>
              </a:ext>
            </a:extLst>
          </p:cNvPr>
          <p:cNvSpPr>
            <a:spLocks noGrp="1"/>
          </p:cNvSpPr>
          <p:nvPr>
            <p:ph idx="1"/>
          </p:nvPr>
        </p:nvSpPr>
        <p:spPr/>
        <p:txBody>
          <a:bodyPr/>
          <a:lstStyle/>
          <a:p>
            <a:r>
              <a:rPr lang="en-CA" altLang="en-US" dirty="0"/>
              <a:t>Cash flows from operating activities are the cash inflows and cash outflows that directly relate to revenues and expenses reported on the statement of earnings. </a:t>
            </a:r>
          </a:p>
          <a:p>
            <a:endParaRPr lang="en-CA" altLang="en-US" sz="800" dirty="0"/>
          </a:p>
          <a:p>
            <a:r>
              <a:rPr lang="en-CA" altLang="en-US" dirty="0"/>
              <a:t>There are two alternative approaches for presenting the operating activities section of the statement: the </a:t>
            </a:r>
            <a:r>
              <a:rPr lang="en-CA" altLang="en-US" b="1" dirty="0"/>
              <a:t>direct method </a:t>
            </a:r>
            <a:r>
              <a:rPr lang="en-CA" altLang="en-US" dirty="0"/>
              <a:t>and the </a:t>
            </a:r>
            <a:r>
              <a:rPr lang="en-CA" altLang="en-US" b="1" dirty="0"/>
              <a:t>indirect method</a:t>
            </a:r>
            <a:r>
              <a:rPr lang="en-CA" altLang="en-US" dirty="0"/>
              <a:t>.</a:t>
            </a:r>
          </a:p>
          <a:p>
            <a:endParaRPr lang="en-CA" altLang="en-US" sz="800" dirty="0"/>
          </a:p>
          <a:p>
            <a:r>
              <a:rPr lang="en-CA" altLang="en-US" dirty="0"/>
              <a:t>It is important to remember that the </a:t>
            </a:r>
            <a:r>
              <a:rPr lang="en-CA" dirty="0"/>
              <a:t>direct and indirect methods are simply alternative ways to calculate the same amount. The net cash provided by (used in) operating activities is always the same, whether it is calculated by using the direct or the indirect method.</a:t>
            </a:r>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91CB3941-5CE2-4BE0-914B-85E4AB055848}"/>
              </a:ext>
            </a:extLst>
          </p:cNvPr>
          <p:cNvSpPr>
            <a:spLocks noGrp="1"/>
          </p:cNvSpPr>
          <p:nvPr>
            <p:ph type="title"/>
          </p:nvPr>
        </p:nvSpPr>
        <p:spPr/>
        <p:txBody>
          <a:bodyPr/>
          <a:lstStyle/>
          <a:p>
            <a:r>
              <a:rPr lang="en-US" altLang="en-US"/>
              <a:t>The Direct Method</a:t>
            </a:r>
          </a:p>
        </p:txBody>
      </p:sp>
      <p:sp>
        <p:nvSpPr>
          <p:cNvPr id="3" name="Content Placeholder 2">
            <a:extLst>
              <a:ext uri="{FF2B5EF4-FFF2-40B4-BE49-F238E27FC236}">
                <a16:creationId xmlns:a16="http://schemas.microsoft.com/office/drawing/2014/main" id="{70AA2432-210B-4DA6-A38B-89E32C5C3DB3}"/>
              </a:ext>
            </a:extLst>
          </p:cNvPr>
          <p:cNvSpPr>
            <a:spLocks noGrp="1"/>
          </p:cNvSpPr>
          <p:nvPr>
            <p:ph idx="1"/>
          </p:nvPr>
        </p:nvSpPr>
        <p:spPr/>
        <p:txBody>
          <a:bodyPr/>
          <a:lstStyle/>
          <a:p>
            <a:pPr>
              <a:buFont typeface="Wingdings 3" pitchFamily="2" charset="2"/>
              <a:buChar char=""/>
              <a:defRPr/>
            </a:pPr>
            <a:r>
              <a:rPr lang="en-CA" dirty="0"/>
              <a:t>The </a:t>
            </a:r>
            <a:r>
              <a:rPr lang="en-CA" b="1" dirty="0"/>
              <a:t>direct method</a:t>
            </a:r>
            <a:r>
              <a:rPr lang="en-CA" dirty="0"/>
              <a:t> reports the components of cash flows from operating activities listed as gross receipts and gross payments:</a:t>
            </a:r>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r>
              <a:rPr lang="en-CA" dirty="0"/>
              <a:t>The difference between the inflows and outflows is called the </a:t>
            </a:r>
            <a:r>
              <a:rPr lang="en-CA" i="1" dirty="0"/>
              <a:t>net cash provided by (used in) operating activities</a:t>
            </a:r>
            <a:r>
              <a:rPr lang="en-CA" dirty="0"/>
              <a:t>. </a:t>
            </a:r>
          </a:p>
          <a:p>
            <a:pPr marL="0" indent="0">
              <a:buFont typeface="Wingdings 3" pitchFamily="2" charset="2"/>
              <a:buNone/>
              <a:defRPr/>
            </a:pPr>
            <a:endParaRPr lang="en-CA" dirty="0"/>
          </a:p>
        </p:txBody>
      </p:sp>
      <p:graphicFrame>
        <p:nvGraphicFramePr>
          <p:cNvPr id="4" name="Table 3">
            <a:extLst>
              <a:ext uri="{FF2B5EF4-FFF2-40B4-BE49-F238E27FC236}">
                <a16:creationId xmlns:a16="http://schemas.microsoft.com/office/drawing/2014/main" id="{E7C5F266-1FDB-464C-9C4D-4971CC2E6F0D}"/>
              </a:ext>
            </a:extLst>
          </p:cNvPr>
          <p:cNvGraphicFramePr>
            <a:graphicFrameLocks noGrp="1"/>
          </p:cNvGraphicFramePr>
          <p:nvPr>
            <p:extLst>
              <p:ext uri="{D42A27DB-BD31-4B8C-83A1-F6EECF244321}">
                <p14:modId xmlns:p14="http://schemas.microsoft.com/office/powerpoint/2010/main" val="1201894875"/>
              </p:ext>
            </p:extLst>
          </p:nvPr>
        </p:nvGraphicFramePr>
        <p:xfrm>
          <a:off x="457200" y="2613024"/>
          <a:ext cx="8229600" cy="2416176"/>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98250">
                <a:tc>
                  <a:txBody>
                    <a:bodyPr/>
                    <a:lstStyle/>
                    <a:p>
                      <a:pPr algn="ctr" fontAlgn="base"/>
                      <a:r>
                        <a:rPr lang="en-CA" sz="1800" b="1" dirty="0">
                          <a:solidFill>
                            <a:srgbClr val="333333"/>
                          </a:solidFill>
                          <a:effectLst/>
                          <a:latin typeface="inherit"/>
                        </a:rPr>
                        <a:t>Inflows</a:t>
                      </a:r>
                      <a:endParaRPr lang="en-CA" sz="1800" dirty="0">
                        <a:solidFill>
                          <a:srgbClr val="333333"/>
                        </a:solidFill>
                        <a:effectLst/>
                        <a:latin typeface="Times New Roman" panose="02020603050405020304" pitchFamily="18" charset="0"/>
                      </a:endParaRPr>
                    </a:p>
                  </a:txBody>
                  <a:tcPr marL="190500" marR="95250" marT="95275" marB="28583"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solidFill>
                            <a:srgbClr val="333333"/>
                          </a:solidFill>
                          <a:effectLst/>
                          <a:latin typeface="inherit"/>
                        </a:rPr>
                        <a:t>Outflows</a:t>
                      </a:r>
                      <a:endParaRPr lang="en-CA" sz="1800">
                        <a:solidFill>
                          <a:srgbClr val="333333"/>
                        </a:solidFill>
                        <a:effectLst/>
                        <a:latin typeface="Times New Roman" panose="02020603050405020304" pitchFamily="18" charset="0"/>
                      </a:endParaRPr>
                    </a:p>
                  </a:txBody>
                  <a:tcPr marL="95250" marR="190500" marT="95275" marB="28583"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98250">
                <a:tc>
                  <a:txBody>
                    <a:bodyPr/>
                    <a:lstStyle/>
                    <a:p>
                      <a:pPr fontAlgn="base"/>
                      <a:r>
                        <a:rPr lang="en-CA" sz="1800" i="1">
                          <a:solidFill>
                            <a:srgbClr val="333333"/>
                          </a:solidFill>
                          <a:effectLst/>
                          <a:latin typeface="inherit"/>
                        </a:rPr>
                        <a:t>Cash received from</a:t>
                      </a:r>
                      <a:endParaRPr lang="en-CA" sz="1800">
                        <a:solidFill>
                          <a:srgbClr val="333333"/>
                        </a:solidFill>
                        <a:effectLst/>
                        <a:latin typeface="Times New Roman" panose="02020603050405020304" pitchFamily="18" charset="0"/>
                      </a:endParaRPr>
                    </a:p>
                  </a:txBody>
                  <a:tcPr marL="190500" marR="95250" marT="95275" marB="28583"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800" i="1">
                          <a:solidFill>
                            <a:srgbClr val="333333"/>
                          </a:solidFill>
                          <a:effectLst/>
                          <a:latin typeface="inherit"/>
                        </a:rPr>
                        <a:t>Cash paid for</a:t>
                      </a:r>
                      <a:endParaRPr lang="en-CA" sz="1800">
                        <a:solidFill>
                          <a:srgbClr val="333333"/>
                        </a:solidFill>
                        <a:effectLst/>
                        <a:latin typeface="Times New Roman" panose="02020603050405020304" pitchFamily="18" charset="0"/>
                      </a:endParaRPr>
                    </a:p>
                  </a:txBody>
                  <a:tcPr marL="95250" marR="190500" marT="95275" marB="28583"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672642">
                <a:tc>
                  <a:txBody>
                    <a:bodyPr/>
                    <a:lstStyle/>
                    <a:p>
                      <a:pPr fontAlgn="base"/>
                      <a:r>
                        <a:rPr lang="en-CA" sz="1800">
                          <a:solidFill>
                            <a:srgbClr val="333333"/>
                          </a:solidFill>
                          <a:effectLst/>
                          <a:latin typeface="Times New Roman" panose="02020603050405020304" pitchFamily="18" charset="0"/>
                        </a:rPr>
                        <a:t>Customers</a:t>
                      </a:r>
                    </a:p>
                  </a:txBody>
                  <a:tcPr marL="190500" marR="95250" marT="95275" marB="2858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800">
                          <a:solidFill>
                            <a:srgbClr val="333333"/>
                          </a:solidFill>
                          <a:effectLst/>
                          <a:latin typeface="Times New Roman" panose="02020603050405020304" pitchFamily="18" charset="0"/>
                        </a:rPr>
                        <a:t>Purchase of services (electricity, etc.) and goods for resale</a:t>
                      </a:r>
                    </a:p>
                  </a:txBody>
                  <a:tcPr marL="95250" marR="190500" marT="95275" marB="28583"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947034">
                <a:tc>
                  <a:txBody>
                    <a:bodyPr/>
                    <a:lstStyle/>
                    <a:p>
                      <a:pPr fontAlgn="base"/>
                      <a:r>
                        <a:rPr lang="en-CA" sz="1800" dirty="0">
                          <a:solidFill>
                            <a:srgbClr val="333333"/>
                          </a:solidFill>
                          <a:effectLst/>
                          <a:latin typeface="Times New Roman" panose="02020603050405020304" pitchFamily="18" charset="0"/>
                        </a:rPr>
                        <a:t>Dividends and interest on investments</a:t>
                      </a:r>
                    </a:p>
                  </a:txBody>
                  <a:tcPr marL="190500" marR="95250" marT="95275" marB="28583"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dirty="0">
                          <a:solidFill>
                            <a:srgbClr val="333333"/>
                          </a:solidFill>
                          <a:effectLst/>
                          <a:latin typeface="Times New Roman" panose="02020603050405020304" pitchFamily="18" charset="0"/>
                        </a:rPr>
                        <a:t>Salaries and wages</a:t>
                      </a:r>
                    </a:p>
                    <a:p>
                      <a:pPr fontAlgn="base"/>
                      <a:r>
                        <a:rPr lang="en-CA" sz="1800" dirty="0">
                          <a:solidFill>
                            <a:srgbClr val="333333"/>
                          </a:solidFill>
                          <a:effectLst/>
                          <a:latin typeface="Times New Roman" panose="02020603050405020304" pitchFamily="18" charset="0"/>
                        </a:rPr>
                        <a:t>Income taxes</a:t>
                      </a:r>
                    </a:p>
                    <a:p>
                      <a:pPr fontAlgn="base"/>
                      <a:r>
                        <a:rPr lang="en-CA" sz="1800" dirty="0">
                          <a:solidFill>
                            <a:srgbClr val="333333"/>
                          </a:solidFill>
                          <a:effectLst/>
                          <a:latin typeface="Times New Roman" panose="02020603050405020304" pitchFamily="18" charset="0"/>
                        </a:rPr>
                        <a:t>Interest on borrowings</a:t>
                      </a:r>
                    </a:p>
                  </a:txBody>
                  <a:tcPr marL="95250" marR="190500" marT="95275" marB="28583"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9A7346BE-1F8F-420B-9A0F-57A1D5FC7FB0}"/>
              </a:ext>
            </a:extLst>
          </p:cNvPr>
          <p:cNvSpPr>
            <a:spLocks noGrp="1"/>
          </p:cNvSpPr>
          <p:nvPr>
            <p:ph type="title"/>
          </p:nvPr>
        </p:nvSpPr>
        <p:spPr/>
        <p:txBody>
          <a:bodyPr/>
          <a:lstStyle/>
          <a:p>
            <a:r>
              <a:rPr lang="en-US" altLang="en-US"/>
              <a:t>The Indirect Method</a:t>
            </a:r>
          </a:p>
        </p:txBody>
      </p:sp>
      <p:sp>
        <p:nvSpPr>
          <p:cNvPr id="3" name="Content Placeholder 2">
            <a:extLst>
              <a:ext uri="{FF2B5EF4-FFF2-40B4-BE49-F238E27FC236}">
                <a16:creationId xmlns:a16="http://schemas.microsoft.com/office/drawing/2014/main" id="{A42F6D07-44DB-4A30-8C72-72EDFCF00A92}"/>
              </a:ext>
            </a:extLst>
          </p:cNvPr>
          <p:cNvSpPr>
            <a:spLocks noGrp="1"/>
          </p:cNvSpPr>
          <p:nvPr>
            <p:ph idx="1"/>
          </p:nvPr>
        </p:nvSpPr>
        <p:spPr/>
        <p:txBody>
          <a:bodyPr/>
          <a:lstStyle/>
          <a:p>
            <a:pPr marL="0" indent="0">
              <a:buFont typeface="Wingdings 3" pitchFamily="2" charset="2"/>
              <a:buNone/>
              <a:defRPr/>
            </a:pPr>
            <a:endParaRPr lang="en-CA" sz="200" dirty="0"/>
          </a:p>
          <a:p>
            <a:pPr>
              <a:buFont typeface="Wingdings 3" pitchFamily="2" charset="2"/>
              <a:buChar char=""/>
              <a:defRPr/>
            </a:pPr>
            <a:r>
              <a:rPr lang="en-CA" dirty="0"/>
              <a:t>The </a:t>
            </a:r>
            <a:r>
              <a:rPr lang="en-CA" b="1" dirty="0"/>
              <a:t>indirect method</a:t>
            </a:r>
            <a:r>
              <a:rPr lang="en-CA" dirty="0"/>
              <a:t> starts with net earnings for the period and then eliminates non-cash items to arrive at net cash inflow (outflow) from operating activities:</a:t>
            </a:r>
          </a:p>
          <a:p>
            <a:pPr>
              <a:buFont typeface="Wingdings 3" pitchFamily="2" charset="2"/>
              <a:buChar char=""/>
              <a:defRPr/>
            </a:pPr>
            <a:endParaRPr lang="en-US" dirty="0"/>
          </a:p>
        </p:txBody>
      </p:sp>
      <p:graphicFrame>
        <p:nvGraphicFramePr>
          <p:cNvPr id="5" name="Table 4">
            <a:extLst>
              <a:ext uri="{FF2B5EF4-FFF2-40B4-BE49-F238E27FC236}">
                <a16:creationId xmlns:a16="http://schemas.microsoft.com/office/drawing/2014/main" id="{695786D9-0E84-4228-BE20-EC13CD55CE6B}"/>
              </a:ext>
            </a:extLst>
          </p:cNvPr>
          <p:cNvGraphicFramePr>
            <a:graphicFrameLocks noGrp="1"/>
          </p:cNvGraphicFramePr>
          <p:nvPr>
            <p:extLst>
              <p:ext uri="{D42A27DB-BD31-4B8C-83A1-F6EECF244321}">
                <p14:modId xmlns:p14="http://schemas.microsoft.com/office/powerpoint/2010/main" val="166067241"/>
              </p:ext>
            </p:extLst>
          </p:nvPr>
        </p:nvGraphicFramePr>
        <p:xfrm>
          <a:off x="457200" y="3276600"/>
          <a:ext cx="8229600" cy="1194237"/>
        </p:xfrm>
        <a:graphic>
          <a:graphicData uri="http://schemas.openxmlformats.org/drawingml/2006/table">
            <a:tbl>
              <a:tblPr/>
              <a:tblGrid>
                <a:gridCol w="8229600">
                  <a:extLst>
                    <a:ext uri="{9D8B030D-6E8A-4147-A177-3AD203B41FA5}">
                      <a16:colId xmlns:a16="http://schemas.microsoft.com/office/drawing/2014/main" val="20000"/>
                    </a:ext>
                  </a:extLst>
                </a:gridCol>
              </a:tblGrid>
              <a:tr h="397933">
                <a:tc>
                  <a:txBody>
                    <a:bodyPr/>
                    <a:lstStyle/>
                    <a:p>
                      <a:pPr fontAlgn="base"/>
                      <a:r>
                        <a:rPr lang="en-CA" sz="1800" dirty="0">
                          <a:effectLst/>
                        </a:rPr>
                        <a:t>       Net earnings</a:t>
                      </a:r>
                    </a:p>
                  </a:txBody>
                  <a:tcPr marL="190500" marR="190500" marT="95199" marB="2856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397933">
                <a:tc>
                  <a:txBody>
                    <a:bodyPr/>
                    <a:lstStyle/>
                    <a:p>
                      <a:pPr fontAlgn="base"/>
                      <a:r>
                        <a:rPr lang="en-CA" sz="1800">
                          <a:effectLst/>
                        </a:rPr>
                        <a:t>+/− Adjustments for non-cash items</a:t>
                      </a:r>
                    </a:p>
                  </a:txBody>
                  <a:tcPr marL="190500" marR="190500" marT="95199" marB="2856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933">
                <a:tc>
                  <a:txBody>
                    <a:bodyPr/>
                    <a:lstStyle/>
                    <a:p>
                      <a:pPr fontAlgn="base"/>
                      <a:r>
                        <a:rPr lang="en-CA" sz="1800" dirty="0">
                          <a:effectLst/>
                        </a:rPr>
                        <a:t>       Net cash provided by (used in) operating activities</a:t>
                      </a:r>
                    </a:p>
                  </a:txBody>
                  <a:tcPr marL="190500" marR="190500" marT="95199" marB="2856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4235D6D5-24D9-4A91-80FB-8C40523E797C}"/>
              </a:ext>
            </a:extLst>
          </p:cNvPr>
          <p:cNvSpPr>
            <a:spLocks noGrp="1"/>
          </p:cNvSpPr>
          <p:nvPr>
            <p:ph type="title"/>
          </p:nvPr>
        </p:nvSpPr>
        <p:spPr/>
        <p:txBody>
          <a:bodyPr/>
          <a:lstStyle/>
          <a:p>
            <a:r>
              <a:rPr lang="en-US" altLang="en-US"/>
              <a:t>Cash Flows from Investing Activities</a:t>
            </a:r>
          </a:p>
        </p:txBody>
      </p:sp>
      <p:sp>
        <p:nvSpPr>
          <p:cNvPr id="11266" name="Content Placeholder 2">
            <a:extLst>
              <a:ext uri="{FF2B5EF4-FFF2-40B4-BE49-F238E27FC236}">
                <a16:creationId xmlns:a16="http://schemas.microsoft.com/office/drawing/2014/main" id="{499CDA00-B403-421B-A18E-CB164D264D9A}"/>
              </a:ext>
            </a:extLst>
          </p:cNvPr>
          <p:cNvSpPr>
            <a:spLocks noGrp="1"/>
          </p:cNvSpPr>
          <p:nvPr>
            <p:ph idx="1"/>
          </p:nvPr>
        </p:nvSpPr>
        <p:spPr>
          <a:xfrm>
            <a:off x="457200" y="1143000"/>
            <a:ext cx="8382000" cy="5334000"/>
          </a:xfrm>
        </p:spPr>
        <p:txBody>
          <a:bodyPr/>
          <a:lstStyle/>
          <a:p>
            <a:r>
              <a:rPr lang="en-CA" altLang="en-US" dirty="0"/>
              <a:t>Cash flows from investing activities are </a:t>
            </a:r>
            <a:r>
              <a:rPr lang="en-CA" dirty="0"/>
              <a:t>cash inflows and outflows related to the purchase and sale of long-lived productive assets and investments in the securities of other companies. Typical cash flows from investing activities include </a:t>
            </a:r>
            <a:r>
              <a:rPr lang="en-CA" altLang="en-US" dirty="0"/>
              <a:t>the following:</a:t>
            </a:r>
          </a:p>
          <a:p>
            <a:endParaRPr lang="en-CA" altLang="en-US" sz="1000" dirty="0"/>
          </a:p>
          <a:p>
            <a:endParaRPr lang="en-CA" altLang="en-US" sz="2000" dirty="0"/>
          </a:p>
          <a:p>
            <a:endParaRPr lang="en-CA" altLang="en-US" dirty="0"/>
          </a:p>
          <a:p>
            <a:endParaRPr lang="en-CA" altLang="en-US" dirty="0"/>
          </a:p>
          <a:p>
            <a:endParaRPr lang="en-CA" altLang="en-US" dirty="0"/>
          </a:p>
          <a:p>
            <a:endParaRPr lang="en-CA" altLang="en-US" sz="1400" dirty="0"/>
          </a:p>
          <a:p>
            <a:r>
              <a:rPr lang="en-CA" altLang="en-US" dirty="0"/>
              <a:t>The difference between these cash inflows and outflows is called </a:t>
            </a:r>
            <a:r>
              <a:rPr lang="en-CA" altLang="en-US" i="1" dirty="0"/>
              <a:t>net cash provided by (used in) investing activities</a:t>
            </a:r>
            <a:r>
              <a:rPr lang="en-CA" altLang="en-US" dirty="0"/>
              <a:t>. </a:t>
            </a:r>
            <a:endParaRPr lang="en-US" altLang="en-US" dirty="0"/>
          </a:p>
        </p:txBody>
      </p:sp>
      <p:graphicFrame>
        <p:nvGraphicFramePr>
          <p:cNvPr id="6" name="Table 5">
            <a:extLst>
              <a:ext uri="{FF2B5EF4-FFF2-40B4-BE49-F238E27FC236}">
                <a16:creationId xmlns:a16="http://schemas.microsoft.com/office/drawing/2014/main" id="{6B2B4250-0B7A-40B3-AEF2-FD5F91388528}"/>
              </a:ext>
            </a:extLst>
          </p:cNvPr>
          <p:cNvGraphicFramePr>
            <a:graphicFrameLocks noGrp="1"/>
          </p:cNvGraphicFramePr>
          <p:nvPr>
            <p:extLst>
              <p:ext uri="{D42A27DB-BD31-4B8C-83A1-F6EECF244321}">
                <p14:modId xmlns:p14="http://schemas.microsoft.com/office/powerpoint/2010/main" val="3510838365"/>
              </p:ext>
            </p:extLst>
          </p:nvPr>
        </p:nvGraphicFramePr>
        <p:xfrm>
          <a:off x="457200" y="3344862"/>
          <a:ext cx="8229600" cy="2141538"/>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98204">
                <a:tc>
                  <a:txBody>
                    <a:bodyPr/>
                    <a:lstStyle/>
                    <a:p>
                      <a:pPr algn="ctr" fontAlgn="base"/>
                      <a:r>
                        <a:rPr lang="en-CA" sz="1800" b="1" dirty="0">
                          <a:effectLst/>
                          <a:latin typeface="stix"/>
                        </a:rPr>
                        <a:t>Inflows</a:t>
                      </a:r>
                      <a:endParaRPr lang="en-CA" sz="1800" dirty="0">
                        <a:effectLst/>
                        <a:latin typeface="Times New Roman" panose="02020603050405020304" pitchFamily="18" charset="0"/>
                      </a:endParaRPr>
                    </a:p>
                  </a:txBody>
                  <a:tcPr marL="190500" marR="95250" marT="95264" marB="28579"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effectLst/>
                          <a:latin typeface="stix"/>
                        </a:rPr>
                        <a:t>Outflows</a:t>
                      </a:r>
                      <a:endParaRPr lang="en-CA" sz="1800">
                        <a:effectLst/>
                        <a:latin typeface="Times New Roman" panose="02020603050405020304" pitchFamily="18" charset="0"/>
                      </a:endParaRPr>
                    </a:p>
                  </a:txBody>
                  <a:tcPr marL="95250" marR="190500" marT="95264" marB="28579"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98204">
                <a:tc>
                  <a:txBody>
                    <a:bodyPr/>
                    <a:lstStyle/>
                    <a:p>
                      <a:pPr fontAlgn="base"/>
                      <a:r>
                        <a:rPr lang="en-CA" sz="1800" i="1" dirty="0">
                          <a:effectLst/>
                          <a:latin typeface="inherit"/>
                        </a:rPr>
                        <a:t>Cash received from</a:t>
                      </a:r>
                      <a:endParaRPr lang="en-CA" sz="1800" dirty="0">
                        <a:effectLst/>
                        <a:latin typeface="Times New Roman" panose="02020603050405020304" pitchFamily="18" charset="0"/>
                      </a:endParaRPr>
                    </a:p>
                  </a:txBody>
                  <a:tcPr marL="190500" marR="95250" marT="95264" marB="28579"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800" i="1">
                          <a:effectLst/>
                          <a:latin typeface="inherit"/>
                        </a:rPr>
                        <a:t>Cash paid for</a:t>
                      </a:r>
                      <a:endParaRPr lang="en-CA" sz="1800">
                        <a:effectLst/>
                        <a:latin typeface="Times New Roman" panose="02020603050405020304" pitchFamily="18" charset="0"/>
                      </a:endParaRPr>
                    </a:p>
                  </a:txBody>
                  <a:tcPr marL="95250" marR="190500" marT="95264" marB="28579"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672565">
                <a:tc>
                  <a:txBody>
                    <a:bodyPr/>
                    <a:lstStyle/>
                    <a:p>
                      <a:pPr fontAlgn="base"/>
                      <a:r>
                        <a:rPr lang="en-CA" sz="1800" dirty="0">
                          <a:effectLst/>
                          <a:latin typeface="stix"/>
                        </a:rPr>
                        <a:t>Sale or disposal of property, plant, and equipment</a:t>
                      </a:r>
                      <a:endParaRPr lang="en-CA" sz="1800" dirty="0">
                        <a:effectLst/>
                        <a:latin typeface="Times New Roman" panose="02020603050405020304" pitchFamily="18" charset="0"/>
                      </a:endParaRP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800">
                          <a:effectLst/>
                          <a:latin typeface="stix"/>
                        </a:rPr>
                        <a:t>Purchase of property, plant, and equipment</a:t>
                      </a:r>
                      <a:endParaRPr lang="en-CA" sz="1800">
                        <a:effectLst/>
                        <a:latin typeface="Times New Roman" panose="02020603050405020304" pitchFamily="18" charset="0"/>
                      </a:endParaRP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672565">
                <a:tc>
                  <a:txBody>
                    <a:bodyPr/>
                    <a:lstStyle/>
                    <a:p>
                      <a:pPr fontAlgn="base"/>
                      <a:r>
                        <a:rPr lang="en-CA" sz="1800" dirty="0">
                          <a:effectLst/>
                          <a:latin typeface="stix"/>
                        </a:rPr>
                        <a:t>Sale or maturity of investments in securities</a:t>
                      </a:r>
                      <a:endParaRPr lang="en-CA" sz="1800" dirty="0">
                        <a:effectLst/>
                        <a:latin typeface="Times New Roman" panose="02020603050405020304" pitchFamily="18" charset="0"/>
                      </a:endParaRPr>
                    </a:p>
                  </a:txBody>
                  <a:tcPr marL="190500" marR="95250" marT="95264" marB="28579"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dirty="0">
                          <a:effectLst/>
                          <a:latin typeface="stix"/>
                        </a:rPr>
                        <a:t>Purchase of investments in securities</a:t>
                      </a:r>
                      <a:endParaRPr lang="en-CA" sz="1800" dirty="0">
                        <a:effectLst/>
                        <a:latin typeface="Times New Roman" panose="02020603050405020304" pitchFamily="18" charset="0"/>
                      </a:endParaRPr>
                    </a:p>
                  </a:txBody>
                  <a:tcPr marL="95250" marR="190500" marT="95264" marB="28579"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9DDFB18F-BF1F-49C7-BED1-54D8ED400FDB}"/>
              </a:ext>
            </a:extLst>
          </p:cNvPr>
          <p:cNvSpPr>
            <a:spLocks noGrp="1"/>
          </p:cNvSpPr>
          <p:nvPr>
            <p:ph type="title"/>
          </p:nvPr>
        </p:nvSpPr>
        <p:spPr>
          <a:xfrm>
            <a:off x="457200" y="304800"/>
            <a:ext cx="8229600" cy="609600"/>
          </a:xfrm>
        </p:spPr>
        <p:txBody>
          <a:bodyPr/>
          <a:lstStyle/>
          <a:p>
            <a:r>
              <a:rPr lang="en-US" altLang="en-US" dirty="0"/>
              <a:t>Cash Flows from Financing Activities</a:t>
            </a:r>
          </a:p>
        </p:txBody>
      </p:sp>
      <p:sp>
        <p:nvSpPr>
          <p:cNvPr id="12290" name="Content Placeholder 2">
            <a:extLst>
              <a:ext uri="{FF2B5EF4-FFF2-40B4-BE49-F238E27FC236}">
                <a16:creationId xmlns:a16="http://schemas.microsoft.com/office/drawing/2014/main" id="{2CC27618-8CDC-461F-8938-5677CED01286}"/>
              </a:ext>
            </a:extLst>
          </p:cNvPr>
          <p:cNvSpPr>
            <a:spLocks noGrp="1"/>
          </p:cNvSpPr>
          <p:nvPr>
            <p:ph idx="1"/>
          </p:nvPr>
        </p:nvSpPr>
        <p:spPr>
          <a:xfrm>
            <a:off x="457200" y="990600"/>
            <a:ext cx="8305800" cy="5562600"/>
          </a:xfrm>
        </p:spPr>
        <p:txBody>
          <a:bodyPr/>
          <a:lstStyle/>
          <a:p>
            <a:pPr>
              <a:lnSpc>
                <a:spcPts val="2700"/>
              </a:lnSpc>
            </a:pPr>
            <a:r>
              <a:rPr lang="en-CA" altLang="en-US" b="1" dirty="0"/>
              <a:t>Cash flows from financing activities</a:t>
            </a:r>
            <a:r>
              <a:rPr lang="en-CA" altLang="en-US" dirty="0"/>
              <a:t> are cash inflows and outflows related to external sources (owners and creditors)  to finance the enterprise and its operations. Usual cash flows from financing activities include:</a:t>
            </a:r>
          </a:p>
          <a:p>
            <a:pPr>
              <a:lnSpc>
                <a:spcPts val="2700"/>
              </a:lnSpc>
            </a:pPr>
            <a:endParaRPr lang="en-CA" altLang="en-US" sz="800" dirty="0"/>
          </a:p>
          <a:p>
            <a:endParaRPr lang="en-CA" altLang="en-US" dirty="0"/>
          </a:p>
          <a:p>
            <a:endParaRPr lang="en-CA" altLang="en-US" dirty="0"/>
          </a:p>
          <a:p>
            <a:endParaRPr lang="en-CA" altLang="en-US" dirty="0"/>
          </a:p>
          <a:p>
            <a:endParaRPr lang="en-CA" altLang="en-US" dirty="0"/>
          </a:p>
          <a:p>
            <a:endParaRPr lang="en-CA" altLang="en-US" sz="1200" dirty="0"/>
          </a:p>
          <a:p>
            <a:endParaRPr lang="en-US" altLang="en-US" sz="2400" dirty="0"/>
          </a:p>
          <a:p>
            <a:endParaRPr lang="en-CA" altLang="en-US" sz="800" dirty="0"/>
          </a:p>
          <a:p>
            <a:pPr>
              <a:lnSpc>
                <a:spcPts val="2700"/>
              </a:lnSpc>
            </a:pPr>
            <a:r>
              <a:rPr lang="en-CA" altLang="en-US" dirty="0"/>
              <a:t>The difference between these cash inflows and outflows is called </a:t>
            </a:r>
            <a:r>
              <a:rPr lang="en-CA" altLang="en-US" i="1" dirty="0"/>
              <a:t>net cash provided by (used in) financing activities</a:t>
            </a:r>
            <a:r>
              <a:rPr lang="en-CA" altLang="en-US" dirty="0"/>
              <a:t>.</a:t>
            </a:r>
            <a:endParaRPr lang="en-US" altLang="en-US" dirty="0"/>
          </a:p>
        </p:txBody>
      </p:sp>
      <p:graphicFrame>
        <p:nvGraphicFramePr>
          <p:cNvPr id="5" name="Table 4">
            <a:extLst>
              <a:ext uri="{FF2B5EF4-FFF2-40B4-BE49-F238E27FC236}">
                <a16:creationId xmlns:a16="http://schemas.microsoft.com/office/drawing/2014/main" id="{1DBECFFA-7C45-432C-B4FF-761DC39FF1D6}"/>
              </a:ext>
            </a:extLst>
          </p:cNvPr>
          <p:cNvGraphicFramePr>
            <a:graphicFrameLocks noGrp="1"/>
          </p:cNvGraphicFramePr>
          <p:nvPr>
            <p:extLst>
              <p:ext uri="{D42A27DB-BD31-4B8C-83A1-F6EECF244321}">
                <p14:modId xmlns:p14="http://schemas.microsoft.com/office/powerpoint/2010/main" val="1818694432"/>
              </p:ext>
            </p:extLst>
          </p:nvPr>
        </p:nvGraphicFramePr>
        <p:xfrm>
          <a:off x="533400" y="2488068"/>
          <a:ext cx="8077200" cy="2998332"/>
        </p:xfrm>
        <a:graphic>
          <a:graphicData uri="http://schemas.openxmlformats.org/drawingml/2006/table">
            <a:tbl>
              <a:tblPr/>
              <a:tblGrid>
                <a:gridCol w="2904959">
                  <a:extLst>
                    <a:ext uri="{9D8B030D-6E8A-4147-A177-3AD203B41FA5}">
                      <a16:colId xmlns:a16="http://schemas.microsoft.com/office/drawing/2014/main" val="20000"/>
                    </a:ext>
                  </a:extLst>
                </a:gridCol>
                <a:gridCol w="5172241">
                  <a:extLst>
                    <a:ext uri="{9D8B030D-6E8A-4147-A177-3AD203B41FA5}">
                      <a16:colId xmlns:a16="http://schemas.microsoft.com/office/drawing/2014/main" val="20001"/>
                    </a:ext>
                  </a:extLst>
                </a:gridCol>
              </a:tblGrid>
              <a:tr h="398070">
                <a:tc>
                  <a:txBody>
                    <a:bodyPr/>
                    <a:lstStyle/>
                    <a:p>
                      <a:pPr algn="ctr" fontAlgn="base"/>
                      <a:r>
                        <a:rPr lang="en-CA" sz="1800" b="1" dirty="0">
                          <a:effectLst/>
                          <a:latin typeface="stix"/>
                        </a:rPr>
                        <a:t>Inflows</a:t>
                      </a:r>
                      <a:endParaRPr lang="en-CA" sz="1800" dirty="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dirty="0">
                          <a:effectLst/>
                          <a:latin typeface="stix"/>
                        </a:rPr>
                        <a:t>Outflows</a:t>
                      </a:r>
                      <a:endParaRPr lang="en-CA" sz="1800" dirty="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7595">
                <a:tc>
                  <a:txBody>
                    <a:bodyPr/>
                    <a:lstStyle/>
                    <a:p>
                      <a:pPr fontAlgn="base"/>
                      <a:r>
                        <a:rPr lang="en-CA" sz="1600" i="1">
                          <a:effectLst/>
                          <a:latin typeface="inherit"/>
                        </a:rPr>
                        <a:t>Cash received from</a:t>
                      </a:r>
                      <a:endParaRPr lang="en-CA" sz="160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600" i="1" dirty="0">
                          <a:effectLst/>
                          <a:latin typeface="inherit"/>
                        </a:rPr>
                        <a:t>Cash paid for</a:t>
                      </a:r>
                      <a:endParaRPr lang="en-CA" sz="1600" dirty="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611389">
                <a:tc>
                  <a:txBody>
                    <a:bodyPr/>
                    <a:lstStyle/>
                    <a:p>
                      <a:pPr fontAlgn="base"/>
                      <a:r>
                        <a:rPr lang="en-CA" sz="1600" dirty="0">
                          <a:effectLst/>
                          <a:latin typeface="stix"/>
                        </a:rPr>
                        <a:t>Borrowing on notes, mortgages, bonds, etc. from creditors</a:t>
                      </a:r>
                      <a:endParaRPr lang="en-CA" sz="1600" dirty="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600" dirty="0">
                          <a:effectLst/>
                          <a:latin typeface="stix"/>
                        </a:rPr>
                        <a:t>Repayment of principal to creditors</a:t>
                      </a:r>
                      <a:endParaRPr lang="en-CA" sz="1600" dirty="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503643">
                <a:tc>
                  <a:txBody>
                    <a:bodyPr/>
                    <a:lstStyle/>
                    <a:p>
                      <a:pPr fontAlgn="base"/>
                      <a:r>
                        <a:rPr lang="en-CA" sz="1600" dirty="0">
                          <a:effectLst/>
                          <a:latin typeface="stix"/>
                        </a:rPr>
                        <a:t>Issuing shares to shareholders</a:t>
                      </a:r>
                      <a:endParaRPr lang="en-CA" sz="1600" dirty="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600" dirty="0">
                          <a:effectLst/>
                          <a:latin typeface="stix"/>
                        </a:rPr>
                        <a:t>Interest on borrowings if it is classified as a financing activity</a:t>
                      </a:r>
                      <a:endParaRPr lang="en-CA" sz="1600" dirty="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382833">
                <a:tc>
                  <a:txBody>
                    <a:bodyPr/>
                    <a:lstStyle/>
                    <a:p>
                      <a:pPr fontAlgn="base"/>
                      <a:endParaRPr lang="en-CA" sz="170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600">
                          <a:effectLst/>
                          <a:latin typeface="stix"/>
                        </a:rPr>
                        <a:t>Repurchasing shares from shareholders</a:t>
                      </a:r>
                      <a:endParaRPr lang="en-CA" sz="160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382833">
                <a:tc>
                  <a:txBody>
                    <a:bodyPr/>
                    <a:lstStyle/>
                    <a:p>
                      <a:pPr fontAlgn="base"/>
                      <a:endParaRPr lang="en-CA" sz="1700" dirty="0">
                        <a:effectLst/>
                        <a:latin typeface="Times New Roman" panose="02020603050405020304" pitchFamily="18" charset="0"/>
                      </a:endParaRPr>
                    </a:p>
                  </a:txBody>
                  <a:tcPr marL="190500" marR="95250" marT="95232" marB="28570"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600" dirty="0">
                          <a:effectLst/>
                          <a:latin typeface="stix"/>
                        </a:rPr>
                        <a:t>Dividends to shareholders</a:t>
                      </a:r>
                      <a:endParaRPr lang="en-CA" sz="1600" dirty="0">
                        <a:effectLst/>
                        <a:latin typeface="Times New Roman" panose="02020603050405020304" pitchFamily="18" charset="0"/>
                      </a:endParaRPr>
                    </a:p>
                  </a:txBody>
                  <a:tcPr marL="95250" marR="190500" marT="95232" marB="28570"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DA01A282-309F-431E-8BD3-FC8B06DE3121}"/>
              </a:ext>
            </a:extLst>
          </p:cNvPr>
          <p:cNvSpPr>
            <a:spLocks noGrp="1"/>
          </p:cNvSpPr>
          <p:nvPr>
            <p:ph type="title"/>
          </p:nvPr>
        </p:nvSpPr>
        <p:spPr/>
        <p:txBody>
          <a:bodyPr/>
          <a:lstStyle/>
          <a:p>
            <a:r>
              <a:rPr lang="en-US" altLang="en-US"/>
              <a:t>Net Increase (Decrease) in Cash</a:t>
            </a:r>
          </a:p>
        </p:txBody>
      </p:sp>
      <p:sp>
        <p:nvSpPr>
          <p:cNvPr id="37890" name="Content Placeholder 2">
            <a:extLst>
              <a:ext uri="{FF2B5EF4-FFF2-40B4-BE49-F238E27FC236}">
                <a16:creationId xmlns:a16="http://schemas.microsoft.com/office/drawing/2014/main" id="{DBD9586C-14AC-475A-956D-F6185F076F7A}"/>
              </a:ext>
            </a:extLst>
          </p:cNvPr>
          <p:cNvSpPr>
            <a:spLocks noGrp="1"/>
          </p:cNvSpPr>
          <p:nvPr>
            <p:ph idx="1"/>
          </p:nvPr>
        </p:nvSpPr>
        <p:spPr/>
        <p:txBody>
          <a:bodyPr/>
          <a:lstStyle/>
          <a:p>
            <a:r>
              <a:rPr lang="en-CA" dirty="0"/>
              <a:t>The combination of the net cash flows provided by (used in) operating, investing, and financing activities must equal the net increase (decrease) in cash for the reporting period. </a:t>
            </a:r>
            <a:endParaRPr lang="en-US"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FEB2A910-F851-44DC-AC38-B2C7E68CEA7B}"/>
              </a:ext>
            </a:extLst>
          </p:cNvPr>
          <p:cNvSpPr>
            <a:spLocks noGrp="1"/>
          </p:cNvSpPr>
          <p:nvPr>
            <p:ph type="title"/>
          </p:nvPr>
        </p:nvSpPr>
        <p:spPr>
          <a:xfrm>
            <a:off x="457200" y="198437"/>
            <a:ext cx="8229600" cy="792163"/>
          </a:xfrm>
        </p:spPr>
        <p:txBody>
          <a:bodyPr/>
          <a:lstStyle/>
          <a:p>
            <a:r>
              <a:rPr lang="en-US" altLang="en-US" dirty="0"/>
              <a:t>Relationships to the Statement of Financial Position and the Statement of Earnings Part 1</a:t>
            </a:r>
          </a:p>
        </p:txBody>
      </p:sp>
      <p:sp>
        <p:nvSpPr>
          <p:cNvPr id="3" name="Content Placeholder 2">
            <a:extLst>
              <a:ext uri="{FF2B5EF4-FFF2-40B4-BE49-F238E27FC236}">
                <a16:creationId xmlns:a16="http://schemas.microsoft.com/office/drawing/2014/main" id="{53093EC0-5B3C-4A0E-9A52-8E061B3297D0}"/>
              </a:ext>
            </a:extLst>
          </p:cNvPr>
          <p:cNvSpPr>
            <a:spLocks noGrp="1"/>
          </p:cNvSpPr>
          <p:nvPr>
            <p:ph idx="1"/>
          </p:nvPr>
        </p:nvSpPr>
        <p:spPr/>
        <p:txBody>
          <a:bodyPr/>
          <a:lstStyle/>
          <a:p>
            <a:pPr>
              <a:buFont typeface="Wingdings 3" pitchFamily="2" charset="2"/>
              <a:buChar char=""/>
              <a:defRPr/>
            </a:pPr>
            <a:r>
              <a:rPr lang="en-CA" dirty="0"/>
              <a:t>To prepare the statement of cash flows, the following data is needed:</a:t>
            </a:r>
          </a:p>
          <a:p>
            <a:pPr marL="514350" indent="-514350">
              <a:buFont typeface="+mj-lt"/>
              <a:buAutoNum type="arabicPeriod"/>
              <a:defRPr/>
            </a:pPr>
            <a:r>
              <a:rPr lang="en-CA" i="1" dirty="0"/>
              <a:t>Comparative statements of financial position</a:t>
            </a:r>
            <a:r>
              <a:rPr lang="en-CA" dirty="0"/>
              <a:t>, which are used to compute the cash flows from all activities (operating, investing, and financing).</a:t>
            </a:r>
          </a:p>
          <a:p>
            <a:pPr marL="514350" indent="-514350">
              <a:buFont typeface="+mj-lt"/>
              <a:buAutoNum type="arabicPeriod"/>
              <a:defRPr/>
            </a:pPr>
            <a:r>
              <a:rPr lang="en-CA" dirty="0"/>
              <a:t>A </a:t>
            </a:r>
            <a:r>
              <a:rPr lang="en-CA" i="1" dirty="0"/>
              <a:t>complete statement of earnings</a:t>
            </a:r>
            <a:r>
              <a:rPr lang="en-CA" dirty="0"/>
              <a:t>, which is used primarily to identify cash flows from operating activities.</a:t>
            </a:r>
          </a:p>
          <a:p>
            <a:pPr marL="514350" indent="-514350">
              <a:buFont typeface="+mj-lt"/>
              <a:buAutoNum type="arabicPeriod"/>
              <a:defRPr/>
            </a:pPr>
            <a:r>
              <a:rPr lang="en-CA" i="1" dirty="0"/>
              <a:t>Additional details</a:t>
            </a:r>
            <a:r>
              <a:rPr lang="en-CA" dirty="0"/>
              <a:t> concerning selected accounts because often the net change in an account balance during the year does not reveal the underlying nature of the cash flows.</a:t>
            </a:r>
          </a:p>
          <a:p>
            <a:pPr>
              <a:buFont typeface="Wingdings 3" pitchFamily="2" charset="2"/>
              <a:buChar char=""/>
              <a:defRPr/>
            </a:pPr>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C5C17857-1BBB-4290-8248-F428F3E2D9BC}"/>
              </a:ext>
            </a:extLst>
          </p:cNvPr>
          <p:cNvSpPr>
            <a:spLocks noGrp="1"/>
          </p:cNvSpPr>
          <p:nvPr>
            <p:ph type="title"/>
          </p:nvPr>
        </p:nvSpPr>
        <p:spPr>
          <a:xfrm>
            <a:off x="457200" y="198437"/>
            <a:ext cx="8229600" cy="792163"/>
          </a:xfrm>
        </p:spPr>
        <p:txBody>
          <a:bodyPr/>
          <a:lstStyle/>
          <a:p>
            <a:r>
              <a:rPr lang="en-US" altLang="en-US" dirty="0"/>
              <a:t>Relationships to the Statement of Financial Position and the Statement of Earnings Part 2</a:t>
            </a:r>
          </a:p>
        </p:txBody>
      </p:sp>
      <p:sp>
        <p:nvSpPr>
          <p:cNvPr id="3" name="Content Placeholder 2">
            <a:extLst>
              <a:ext uri="{FF2B5EF4-FFF2-40B4-BE49-F238E27FC236}">
                <a16:creationId xmlns:a16="http://schemas.microsoft.com/office/drawing/2014/main" id="{4FD1446E-F80A-4C53-B902-05CB3E3E6012}"/>
              </a:ext>
            </a:extLst>
          </p:cNvPr>
          <p:cNvSpPr>
            <a:spLocks noGrp="1"/>
          </p:cNvSpPr>
          <p:nvPr>
            <p:ph idx="1"/>
          </p:nvPr>
        </p:nvSpPr>
        <p:spPr/>
        <p:txBody>
          <a:bodyPr/>
          <a:lstStyle/>
          <a:p>
            <a:pPr>
              <a:buFont typeface="Wingdings 3" pitchFamily="2" charset="2"/>
              <a:buChar char=""/>
              <a:defRPr/>
            </a:pPr>
            <a:r>
              <a:rPr lang="en-CA" dirty="0"/>
              <a:t>The approach to preparing and understanding the statement of cash flows focuses on the </a:t>
            </a:r>
            <a:r>
              <a:rPr lang="en-CA" i="1" dirty="0"/>
              <a:t>changes</a:t>
            </a:r>
            <a:r>
              <a:rPr lang="en-CA" dirty="0"/>
              <a:t> in the accounts that are reported on the statement of financial position. </a:t>
            </a:r>
          </a:p>
          <a:p>
            <a:pPr>
              <a:buFont typeface="Wingdings 3" pitchFamily="2" charset="2"/>
              <a:buChar char=""/>
              <a:defRPr/>
            </a:pPr>
            <a:r>
              <a:rPr lang="en-CA" dirty="0"/>
              <a:t>It relies on a simple algebraic manipulation of the accounting equation as follows: </a:t>
            </a:r>
          </a:p>
          <a:p>
            <a:pPr marL="0" indent="0">
              <a:buFont typeface="Wingdings 3" pitchFamily="2" charset="2"/>
              <a:buNone/>
              <a:defRPr/>
            </a:pPr>
            <a:endParaRPr lang="en-CA" sz="400" dirty="0"/>
          </a:p>
          <a:p>
            <a:pPr marL="0" indent="0" algn="ctr">
              <a:buFont typeface="Wingdings 3" pitchFamily="2" charset="2"/>
              <a:buNone/>
              <a:defRPr/>
            </a:pPr>
            <a:r>
              <a:rPr lang="en-CA" b="1" dirty="0"/>
              <a:t>Assets = Liabilities + Shareholders’ equity</a:t>
            </a:r>
          </a:p>
          <a:p>
            <a:pPr marL="0" indent="0" algn="ctr">
              <a:buFont typeface="Wingdings 3" pitchFamily="2" charset="2"/>
              <a:buNone/>
              <a:defRPr/>
            </a:pPr>
            <a:r>
              <a:rPr lang="en-CA" b="1" dirty="0"/>
              <a:t>Cash + Non-cash assets = Liabilities + Shareholders’ equity</a:t>
            </a:r>
          </a:p>
          <a:p>
            <a:pPr marL="0" indent="0" algn="ctr">
              <a:buFont typeface="Wingdings 3" pitchFamily="2" charset="2"/>
              <a:buNone/>
              <a:defRPr/>
            </a:pPr>
            <a:r>
              <a:rPr lang="en-CA" b="1" dirty="0"/>
              <a:t>Cash = Liabilities + Shareholders’ equity – Non-cash assets </a:t>
            </a:r>
          </a:p>
          <a:p>
            <a:pPr marL="0" indent="0" algn="ctr">
              <a:buFont typeface="Wingdings 3" pitchFamily="2" charset="2"/>
              <a:buNone/>
              <a:defRPr/>
            </a:pPr>
            <a:r>
              <a:rPr lang="en-US" b="1" dirty="0"/>
              <a:t>Therefore...</a:t>
            </a:r>
          </a:p>
          <a:p>
            <a:pPr marL="0" indent="0" algn="ctr">
              <a:buFont typeface="Wingdings 3" pitchFamily="2" charset="2"/>
              <a:buNone/>
              <a:defRPr/>
            </a:pPr>
            <a:endParaRPr lang="en-US" b="1" dirty="0"/>
          </a:p>
        </p:txBody>
      </p:sp>
      <p:pic>
        <p:nvPicPr>
          <p:cNvPr id="39939" name="Picture 4">
            <a:extLst>
              <a:ext uri="{FF2B5EF4-FFF2-40B4-BE49-F238E27FC236}">
                <a16:creationId xmlns:a16="http://schemas.microsoft.com/office/drawing/2014/main" id="{6BE054BA-6687-4820-ADF6-F3A2C3DEE8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175" y="5867400"/>
            <a:ext cx="8121650" cy="457200"/>
          </a:xfrm>
          <a:prstGeom prst="rect">
            <a:avLst/>
          </a:prstGeom>
          <a:noFill/>
          <a:ln w="444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927E40E4-24BE-47C0-BAEF-FC7FCC16D4BF}"/>
              </a:ext>
            </a:extLst>
          </p:cNvPr>
          <p:cNvSpPr>
            <a:spLocks noGrp="1"/>
          </p:cNvSpPr>
          <p:nvPr>
            <p:ph type="title"/>
          </p:nvPr>
        </p:nvSpPr>
        <p:spPr>
          <a:xfrm>
            <a:off x="457200" y="198437"/>
            <a:ext cx="8229600" cy="792163"/>
          </a:xfrm>
        </p:spPr>
        <p:txBody>
          <a:bodyPr/>
          <a:lstStyle/>
          <a:p>
            <a:r>
              <a:rPr lang="en-US" altLang="en-US" dirty="0"/>
              <a:t>Relationships to the Statement of Financial Position and the Statement of Earnings Part 3</a:t>
            </a:r>
          </a:p>
        </p:txBody>
      </p:sp>
      <p:sp>
        <p:nvSpPr>
          <p:cNvPr id="13314" name="Content Placeholder 2">
            <a:extLst>
              <a:ext uri="{FF2B5EF4-FFF2-40B4-BE49-F238E27FC236}">
                <a16:creationId xmlns:a16="http://schemas.microsoft.com/office/drawing/2014/main" id="{F1F9F6E9-7B84-449F-B891-1A74C4C4D766}"/>
              </a:ext>
            </a:extLst>
          </p:cNvPr>
          <p:cNvSpPr>
            <a:spLocks noGrp="1"/>
          </p:cNvSpPr>
          <p:nvPr>
            <p:ph idx="1"/>
          </p:nvPr>
        </p:nvSpPr>
        <p:spPr/>
        <p:txBody>
          <a:bodyPr/>
          <a:lstStyle/>
          <a:p>
            <a:r>
              <a:rPr lang="en-CA" altLang="en-US"/>
              <a:t>In general, increases in cash are associated with decreases in non-cash asset accounts or increases in liability and shareholders’ equity accounts. </a:t>
            </a:r>
          </a:p>
          <a:p>
            <a:r>
              <a:rPr lang="en-CA" altLang="en-US"/>
              <a:t>In contrast, cash decreases when non-cash assets increase, and when liabilities or shareholders’ equity decrease:</a:t>
            </a:r>
            <a:endParaRPr lang="en-US" altLang="en-US"/>
          </a:p>
        </p:txBody>
      </p:sp>
      <p:sp>
        <p:nvSpPr>
          <p:cNvPr id="13315" name="AutoShape 1">
            <a:extLst>
              <a:ext uri="{FF2B5EF4-FFF2-40B4-BE49-F238E27FC236}">
                <a16:creationId xmlns:a16="http://schemas.microsoft.com/office/drawing/2014/main" id="{159ACF23-5B0C-477F-B254-C5E28C8BA8A1}"/>
              </a:ext>
            </a:extLst>
          </p:cNvPr>
          <p:cNvSpPr>
            <a:spLocks noChangeAspect="1" noChangeArrowheads="1"/>
          </p:cNvSpPr>
          <p:nvPr/>
        </p:nvSpPr>
        <p:spPr bwMode="auto">
          <a:xfrm>
            <a:off x="2514600" y="4191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p:txBody>
      </p:sp>
      <p:sp>
        <p:nvSpPr>
          <p:cNvPr id="13316" name="AutoShape 2">
            <a:extLst>
              <a:ext uri="{FF2B5EF4-FFF2-40B4-BE49-F238E27FC236}">
                <a16:creationId xmlns:a16="http://schemas.microsoft.com/office/drawing/2014/main" id="{52232A33-31B6-4F79-A5B2-DF185BB9781B}"/>
              </a:ext>
            </a:extLst>
          </p:cNvPr>
          <p:cNvSpPr>
            <a:spLocks noChangeAspect="1" noChangeArrowheads="1"/>
          </p:cNvSpPr>
          <p:nvPr/>
        </p:nvSpPr>
        <p:spPr bwMode="auto">
          <a:xfrm>
            <a:off x="2514600" y="4191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p:txBody>
      </p:sp>
      <p:pic>
        <p:nvPicPr>
          <p:cNvPr id="13317" name="Picture 7">
            <a:extLst>
              <a:ext uri="{FF2B5EF4-FFF2-40B4-BE49-F238E27FC236}">
                <a16:creationId xmlns:a16="http://schemas.microsoft.com/office/drawing/2014/main" id="{89A933B4-FBD4-43A1-BCA2-834122CA1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733800"/>
            <a:ext cx="78867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EE9472C5-C534-4F9D-BF7F-2D09F930300D}"/>
              </a:ext>
            </a:extLst>
          </p:cNvPr>
          <p:cNvSpPr>
            <a:spLocks noGrp="1"/>
          </p:cNvSpPr>
          <p:nvPr>
            <p:ph type="title"/>
          </p:nvPr>
        </p:nvSpPr>
        <p:spPr>
          <a:xfrm>
            <a:off x="457200" y="198437"/>
            <a:ext cx="8229600" cy="792163"/>
          </a:xfrm>
        </p:spPr>
        <p:txBody>
          <a:bodyPr/>
          <a:lstStyle/>
          <a:p>
            <a:r>
              <a:rPr lang="en-US" altLang="en-US" dirty="0"/>
              <a:t>Cash Transactions and Their Effects on Other Statement of Financial Position Accounts</a:t>
            </a:r>
          </a:p>
        </p:txBody>
      </p:sp>
      <p:graphicFrame>
        <p:nvGraphicFramePr>
          <p:cNvPr id="4" name="Content Placeholder 3">
            <a:extLst>
              <a:ext uri="{FF2B5EF4-FFF2-40B4-BE49-F238E27FC236}">
                <a16:creationId xmlns:a16="http://schemas.microsoft.com/office/drawing/2014/main" id="{F1E735EA-7F3B-402F-B6CF-7716F1B93197}"/>
              </a:ext>
            </a:extLst>
          </p:cNvPr>
          <p:cNvGraphicFramePr>
            <a:graphicFrameLocks noGrp="1"/>
          </p:cNvGraphicFramePr>
          <p:nvPr>
            <p:ph idx="1"/>
            <p:extLst>
              <p:ext uri="{D42A27DB-BD31-4B8C-83A1-F6EECF244321}">
                <p14:modId xmlns:p14="http://schemas.microsoft.com/office/powerpoint/2010/main" val="2559136504"/>
              </p:ext>
            </p:extLst>
          </p:nvPr>
        </p:nvGraphicFramePr>
        <p:xfrm>
          <a:off x="1028700" y="1066800"/>
          <a:ext cx="7086600" cy="5338760"/>
        </p:xfrm>
        <a:graphic>
          <a:graphicData uri="http://schemas.openxmlformats.org/drawingml/2006/table">
            <a:tbl>
              <a:tblPr/>
              <a:tblGrid>
                <a:gridCol w="12954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69170">
                <a:tc>
                  <a:txBody>
                    <a:bodyPr/>
                    <a:lstStyle/>
                    <a:p>
                      <a:pPr fontAlgn="base"/>
                      <a:br>
                        <a:rPr lang="en-CA" sz="1300" b="1">
                          <a:solidFill>
                            <a:srgbClr val="333333"/>
                          </a:solidFill>
                          <a:effectLst/>
                          <a:latin typeface="inherit"/>
                        </a:rPr>
                      </a:br>
                      <a:r>
                        <a:rPr lang="en-CA" sz="1300" b="1">
                          <a:solidFill>
                            <a:srgbClr val="333333"/>
                          </a:solidFill>
                          <a:effectLst/>
                          <a:latin typeface="inherit"/>
                        </a:rPr>
                        <a:t>Category</a:t>
                      </a:r>
                      <a:endParaRPr lang="en-CA" sz="1300">
                        <a:solidFill>
                          <a:srgbClr val="333333"/>
                        </a:solidFill>
                        <a:effectLst/>
                      </a:endParaRP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r>
                        <a:rPr lang="en-CA" sz="1300" b="1">
                          <a:solidFill>
                            <a:srgbClr val="333333"/>
                          </a:solidFill>
                          <a:effectLst/>
                          <a:latin typeface="inherit"/>
                        </a:rPr>
                      </a:br>
                      <a:r>
                        <a:rPr lang="en-CA" sz="1300" b="1">
                          <a:solidFill>
                            <a:srgbClr val="333333"/>
                          </a:solidFill>
                          <a:effectLst/>
                          <a:latin typeface="inherit"/>
                        </a:rPr>
                        <a:t>Transaction</a:t>
                      </a:r>
                      <a:endParaRPr lang="en-CA" sz="1300">
                        <a:solidFill>
                          <a:srgbClr val="333333"/>
                        </a:solidFill>
                        <a:effectLst/>
                      </a:endParaRP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CA" sz="1300" b="1">
                          <a:solidFill>
                            <a:srgbClr val="333333"/>
                          </a:solidFill>
                          <a:effectLst/>
                          <a:latin typeface="inherit"/>
                        </a:rPr>
                        <a:t>Effect</a:t>
                      </a:r>
                      <a:br>
                        <a:rPr lang="en-CA" sz="1300" b="1">
                          <a:solidFill>
                            <a:srgbClr val="333333"/>
                          </a:solidFill>
                          <a:effectLst/>
                          <a:latin typeface="inherit"/>
                        </a:rPr>
                      </a:br>
                      <a:r>
                        <a:rPr lang="en-CA" sz="1300" b="1">
                          <a:solidFill>
                            <a:srgbClr val="333333"/>
                          </a:solidFill>
                          <a:effectLst/>
                          <a:latin typeface="inherit"/>
                        </a:rPr>
                        <a:t>on Cash   </a:t>
                      </a:r>
                      <a:endParaRPr lang="en-CA" sz="1300">
                        <a:solidFill>
                          <a:srgbClr val="333333"/>
                        </a:solidFill>
                        <a:effectLst/>
                      </a:endParaRP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br>
                        <a:rPr lang="en-CA" sz="1300" b="1">
                          <a:solidFill>
                            <a:srgbClr val="333333"/>
                          </a:solidFill>
                          <a:effectLst/>
                          <a:latin typeface="inherit"/>
                        </a:rPr>
                      </a:br>
                      <a:r>
                        <a:rPr lang="en-CA" sz="1300" b="1">
                          <a:solidFill>
                            <a:srgbClr val="333333"/>
                          </a:solidFill>
                          <a:effectLst/>
                          <a:latin typeface="inherit"/>
                        </a:rPr>
                        <a:t>Other Account Affected</a:t>
                      </a:r>
                      <a:endParaRPr lang="en-CA" sz="1300">
                        <a:solidFill>
                          <a:srgbClr val="333333"/>
                        </a:solidFill>
                        <a:effectLst/>
                      </a:endParaRP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69170">
                <a:tc>
                  <a:txBody>
                    <a:bodyPr/>
                    <a:lstStyle/>
                    <a:p>
                      <a:pPr fontAlgn="base"/>
                      <a:r>
                        <a:rPr lang="en-CA" sz="1300" b="1" dirty="0">
                          <a:solidFill>
                            <a:srgbClr val="333333"/>
                          </a:solidFill>
                          <a:effectLst/>
                          <a:latin typeface="inherit"/>
                        </a:rPr>
                        <a:t>Operating</a:t>
                      </a:r>
                      <a:endParaRPr lang="en-CA" sz="1300" dirty="0">
                        <a:solidFill>
                          <a:srgbClr val="333333"/>
                        </a:solidFill>
                        <a:effectLst/>
                      </a:endParaRP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Collect accounts receivable</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−Accounts receivable (A)</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285">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Pay accounts payable</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−Accounts payable (L)</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5655">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Pay rent in advance</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+Prepaid rent (A)</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285">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Pay interest</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−Retained earnings (SE)</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285">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Sell goods and services for 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+Retained earnings (SE)</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69170">
                <a:tc>
                  <a:txBody>
                    <a:bodyPr/>
                    <a:lstStyle/>
                    <a:p>
                      <a:pPr fontAlgn="base"/>
                      <a:r>
                        <a:rPr lang="en-CA" sz="1300" b="1">
                          <a:solidFill>
                            <a:srgbClr val="333333"/>
                          </a:solidFill>
                          <a:effectLst/>
                          <a:latin typeface="inherit"/>
                        </a:rPr>
                        <a:t>Investing</a:t>
                      </a:r>
                      <a:endParaRPr lang="en-CA" sz="1300">
                        <a:solidFill>
                          <a:srgbClr val="333333"/>
                        </a:solidFill>
                        <a:effectLst/>
                      </a:endParaRP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Purchase equipment for 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+Equipment (A)</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69170">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Sell investment securities for cash  </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−Investments</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285">
                <a:tc>
                  <a:txBody>
                    <a:bodyPr/>
                    <a:lstStyle/>
                    <a:p>
                      <a:pPr fontAlgn="base"/>
                      <a:r>
                        <a:rPr lang="en-CA" sz="1300" b="1">
                          <a:solidFill>
                            <a:srgbClr val="333333"/>
                          </a:solidFill>
                          <a:effectLst/>
                          <a:latin typeface="inherit"/>
                        </a:rPr>
                        <a:t>Financing</a:t>
                      </a:r>
                      <a:endParaRPr lang="en-CA" sz="1300">
                        <a:solidFill>
                          <a:srgbClr val="333333"/>
                        </a:solidFill>
                        <a:effectLst/>
                      </a:endParaRP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Pay back debt to bank</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−Notes payable—Bank (L)</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285">
                <a:tc>
                  <a:txBody>
                    <a:bodyPr/>
                    <a:lstStyle/>
                    <a:p>
                      <a:pPr fontAlgn="base"/>
                      <a:r>
                        <a:rPr lang="en-CA" sz="1300">
                          <a:solidFill>
                            <a:srgbClr val="333333"/>
                          </a:solidFill>
                          <a:effectLst/>
                        </a:rPr>
                        <a:t> </a:t>
                      </a:r>
                    </a:p>
                  </a:txBody>
                  <a:tcPr marL="134629"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Issue shares for 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a:solidFill>
                            <a:srgbClr val="333333"/>
                          </a:solidFill>
                          <a:effectLst/>
                        </a:rPr>
                        <a:t>+Cash</a:t>
                      </a:r>
                    </a:p>
                  </a:txBody>
                  <a:tcPr marL="67314" marR="67314"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CA" sz="1300" dirty="0">
                          <a:solidFill>
                            <a:srgbClr val="333333"/>
                          </a:solidFill>
                          <a:effectLst/>
                        </a:rPr>
                        <a:t>+Share capital (SE)</a:t>
                      </a:r>
                    </a:p>
                  </a:txBody>
                  <a:tcPr marL="67314" marR="134629" marT="67320" marB="20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89CE01B-A96A-4A7A-9DA1-3DD5AA0A66B9}"/>
              </a:ext>
            </a:extLst>
          </p:cNvPr>
          <p:cNvSpPr>
            <a:spLocks noGrp="1"/>
          </p:cNvSpPr>
          <p:nvPr>
            <p:ph type="title"/>
          </p:nvPr>
        </p:nvSpPr>
        <p:spPr>
          <a:xfrm>
            <a:off x="457200" y="198437"/>
            <a:ext cx="8229600" cy="792163"/>
          </a:xfrm>
        </p:spPr>
        <p:txBody>
          <a:bodyPr/>
          <a:lstStyle/>
          <a:p>
            <a:r>
              <a:rPr lang="en-US" altLang="en-US" dirty="0"/>
              <a:t>Preliminary Steps in Preparing the Statement of Cash Flows</a:t>
            </a:r>
          </a:p>
        </p:txBody>
      </p:sp>
      <p:sp>
        <p:nvSpPr>
          <p:cNvPr id="15362" name="Content Placeholder 2">
            <a:extLst>
              <a:ext uri="{FF2B5EF4-FFF2-40B4-BE49-F238E27FC236}">
                <a16:creationId xmlns:a16="http://schemas.microsoft.com/office/drawing/2014/main" id="{8B5CB16A-F6FF-47AE-8620-A5A18ED55491}"/>
              </a:ext>
            </a:extLst>
          </p:cNvPr>
          <p:cNvSpPr>
            <a:spLocks noGrp="1"/>
          </p:cNvSpPr>
          <p:nvPr>
            <p:ph idx="1"/>
          </p:nvPr>
        </p:nvSpPr>
        <p:spPr>
          <a:xfrm>
            <a:off x="457200" y="1066800"/>
            <a:ext cx="8229600" cy="5334000"/>
          </a:xfrm>
        </p:spPr>
        <p:txBody>
          <a:bodyPr/>
          <a:lstStyle/>
          <a:p>
            <a:r>
              <a:rPr lang="en-CA" dirty="0"/>
              <a:t>We use the following preliminary steps to prepare the statement of cash flows:</a:t>
            </a:r>
          </a:p>
          <a:p>
            <a:pPr lvl="1">
              <a:buFont typeface="+mj-lt"/>
              <a:buAutoNum type="arabicPeriod"/>
            </a:pPr>
            <a:r>
              <a:rPr lang="en-CA" sz="2600" dirty="0"/>
              <a:t>Determine the change in each account on the statement of financial position by subtracting this year’s ending balance from this year’s beginning balance (which is last year’s ending balance).</a:t>
            </a:r>
          </a:p>
          <a:p>
            <a:pPr lvl="1">
              <a:buFont typeface="+mj-lt"/>
              <a:buAutoNum type="arabicPeriod"/>
            </a:pPr>
            <a:r>
              <a:rPr lang="en-CA" sz="2600" dirty="0"/>
              <a:t>Classify each change as relating to operating (O), investing (I), or financing (F) activities.</a:t>
            </a:r>
            <a:endParaRPr lang="en-US" altLang="en-US" dirty="0"/>
          </a:p>
        </p:txBody>
      </p:sp>
    </p:spTree>
    <p:extLst>
      <p:ext uri="{BB962C8B-B14F-4D97-AF65-F5344CB8AC3E}">
        <p14:creationId xmlns:p14="http://schemas.microsoft.com/office/powerpoint/2010/main" val="230003382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89CE01B-A96A-4A7A-9DA1-3DD5AA0A66B9}"/>
              </a:ext>
            </a:extLst>
          </p:cNvPr>
          <p:cNvSpPr>
            <a:spLocks noGrp="1"/>
          </p:cNvSpPr>
          <p:nvPr>
            <p:ph type="title"/>
          </p:nvPr>
        </p:nvSpPr>
        <p:spPr>
          <a:xfrm>
            <a:off x="457200" y="198437"/>
            <a:ext cx="8229600" cy="792163"/>
          </a:xfrm>
        </p:spPr>
        <p:txBody>
          <a:bodyPr/>
          <a:lstStyle/>
          <a:p>
            <a:r>
              <a:rPr lang="en-US" altLang="en-US" dirty="0"/>
              <a:t>Reporting Cash Flows from Operating Activities – Indirect Method Part 1</a:t>
            </a:r>
          </a:p>
        </p:txBody>
      </p:sp>
      <p:sp>
        <p:nvSpPr>
          <p:cNvPr id="15362" name="Content Placeholder 2">
            <a:extLst>
              <a:ext uri="{FF2B5EF4-FFF2-40B4-BE49-F238E27FC236}">
                <a16:creationId xmlns:a16="http://schemas.microsoft.com/office/drawing/2014/main" id="{8B5CB16A-F6FF-47AE-8620-A5A18ED55491}"/>
              </a:ext>
            </a:extLst>
          </p:cNvPr>
          <p:cNvSpPr>
            <a:spLocks noGrp="1"/>
          </p:cNvSpPr>
          <p:nvPr>
            <p:ph idx="1"/>
          </p:nvPr>
        </p:nvSpPr>
        <p:spPr>
          <a:xfrm>
            <a:off x="457200" y="1066800"/>
            <a:ext cx="8229600" cy="5334000"/>
          </a:xfrm>
        </p:spPr>
        <p:txBody>
          <a:bodyPr/>
          <a:lstStyle/>
          <a:p>
            <a:r>
              <a:rPr lang="en-CA" altLang="en-US" dirty="0"/>
              <a:t>The indirect method of reporting cash flows from operating activities starts with net earnings and adjusts for the non-cash components of revenues and expenses. </a:t>
            </a:r>
            <a:endParaRPr lang="en-US" altLang="en-US" dirty="0"/>
          </a:p>
        </p:txBody>
      </p:sp>
      <p:graphicFrame>
        <p:nvGraphicFramePr>
          <p:cNvPr id="7" name="Table 6">
            <a:extLst>
              <a:ext uri="{FF2B5EF4-FFF2-40B4-BE49-F238E27FC236}">
                <a16:creationId xmlns:a16="http://schemas.microsoft.com/office/drawing/2014/main" id="{A5A52892-06D8-BF47-B7E8-E985F378E374}"/>
              </a:ext>
            </a:extLst>
          </p:cNvPr>
          <p:cNvGraphicFramePr>
            <a:graphicFrameLocks noGrp="1"/>
          </p:cNvGraphicFramePr>
          <p:nvPr>
            <p:extLst>
              <p:ext uri="{D42A27DB-BD31-4B8C-83A1-F6EECF244321}">
                <p14:modId xmlns:p14="http://schemas.microsoft.com/office/powerpoint/2010/main" val="3318927332"/>
              </p:ext>
            </p:extLst>
          </p:nvPr>
        </p:nvGraphicFramePr>
        <p:xfrm>
          <a:off x="2057400" y="2330489"/>
          <a:ext cx="4533900" cy="4527511"/>
        </p:xfrm>
        <a:graphic>
          <a:graphicData uri="http://schemas.openxmlformats.org/drawingml/2006/table">
            <a:tbl>
              <a:tblPr/>
              <a:tblGrid>
                <a:gridCol w="4533900">
                  <a:extLst>
                    <a:ext uri="{9D8B030D-6E8A-4147-A177-3AD203B41FA5}">
                      <a16:colId xmlns:a16="http://schemas.microsoft.com/office/drawing/2014/main" val="20000"/>
                    </a:ext>
                  </a:extLst>
                </a:gridCol>
              </a:tblGrid>
              <a:tr h="153833">
                <a:tc>
                  <a:txBody>
                    <a:bodyPr/>
                    <a:lstStyle/>
                    <a:p>
                      <a:pPr fontAlgn="base"/>
                      <a:r>
                        <a:rPr lang="en-CA" sz="1800" b="1" dirty="0">
                          <a:effectLst/>
                          <a:latin typeface="inherit"/>
                        </a:rPr>
                        <a:t>Operating Activities</a:t>
                      </a:r>
                      <a:endParaRPr lang="en-CA" sz="1800" dirty="0">
                        <a:effectLst/>
                      </a:endParaRP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212899">
                <a:tc>
                  <a:txBody>
                    <a:bodyPr/>
                    <a:lstStyle/>
                    <a:p>
                      <a:pPr fontAlgn="base"/>
                      <a:r>
                        <a:rPr lang="en-CA" sz="1800" dirty="0">
                          <a:effectLst/>
                        </a:rPr>
                        <a:t>Net earnings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323367">
                <a:tc>
                  <a:txBody>
                    <a:bodyPr/>
                    <a:lstStyle/>
                    <a:p>
                      <a:pPr fontAlgn="base"/>
                      <a:r>
                        <a:rPr lang="en-CA" sz="1800">
                          <a:effectLst/>
                        </a:rPr>
                        <a:t>Add/subtract items not affecting cash:</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323367">
                <a:tc>
                  <a:txBody>
                    <a:bodyPr/>
                    <a:lstStyle/>
                    <a:p>
                      <a:pPr fontAlgn="base"/>
                      <a:r>
                        <a:rPr lang="en-CA" sz="1800" dirty="0">
                          <a:effectLst/>
                          <a:latin typeface="Times New Roman" panose="02020603050405020304" pitchFamily="18" charset="0"/>
                        </a:rPr>
                        <a:t>+ Depreciation and amortization expense</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323367">
                <a:tc>
                  <a:txBody>
                    <a:bodyPr/>
                    <a:lstStyle/>
                    <a:p>
                      <a:pPr fontAlgn="base"/>
                      <a:r>
                        <a:rPr lang="en-CA" sz="1800" dirty="0">
                          <a:effectLst/>
                          <a:latin typeface="Times New Roman" panose="02020603050405020304" pitchFamily="18" charset="0"/>
                        </a:rPr>
                        <a:t>− Gain on sale of investing activities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323367">
                <a:tc>
                  <a:txBody>
                    <a:bodyPr/>
                    <a:lstStyle/>
                    <a:p>
                      <a:pPr fontAlgn="base"/>
                      <a:r>
                        <a:rPr lang="en-CA" sz="1800" dirty="0">
                          <a:effectLst/>
                          <a:latin typeface="Times New Roman" panose="02020603050405020304" pitchFamily="18" charset="0"/>
                        </a:rPr>
                        <a:t>+ Loss on sale of investing activities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323367">
                <a:tc>
                  <a:txBody>
                    <a:bodyPr/>
                    <a:lstStyle/>
                    <a:p>
                      <a:pPr fontAlgn="base"/>
                      <a:r>
                        <a:rPr lang="en-CA" sz="1800" dirty="0">
                          <a:effectLst/>
                          <a:latin typeface="Times New Roman" panose="02020603050405020304" pitchFamily="18" charset="0"/>
                        </a:rPr>
                        <a:t>+ Decreases in operating assets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6"/>
                  </a:ext>
                </a:extLst>
              </a:tr>
              <a:tr h="323367">
                <a:tc>
                  <a:txBody>
                    <a:bodyPr/>
                    <a:lstStyle/>
                    <a:p>
                      <a:pPr fontAlgn="base"/>
                      <a:r>
                        <a:rPr lang="en-CA" sz="1800" dirty="0">
                          <a:effectLst/>
                          <a:latin typeface="Times New Roman" panose="02020603050405020304" pitchFamily="18" charset="0"/>
                        </a:rPr>
                        <a:t>− Increases in operating assets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w="9525"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031849493"/>
                  </a:ext>
                </a:extLst>
              </a:tr>
              <a:tr h="323367">
                <a:tc>
                  <a:txBody>
                    <a:bodyPr/>
                    <a:lstStyle/>
                    <a:p>
                      <a:pPr fontAlgn="base"/>
                      <a:r>
                        <a:rPr lang="en-CA" sz="1800" dirty="0">
                          <a:effectLst/>
                          <a:latin typeface="Times New Roman" panose="02020603050405020304" pitchFamily="18" charset="0"/>
                        </a:rPr>
                        <a:t>+ Increases in operating liabilities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w="9525"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998738316"/>
                  </a:ext>
                </a:extLst>
              </a:tr>
              <a:tr h="323367">
                <a:tc>
                  <a:txBody>
                    <a:bodyPr/>
                    <a:lstStyle/>
                    <a:p>
                      <a:pPr fontAlgn="base"/>
                      <a:r>
                        <a:rPr lang="en-CA" sz="1800" dirty="0">
                          <a:effectLst/>
                          <a:latin typeface="Times New Roman" panose="02020603050405020304" pitchFamily="18" charset="0"/>
                        </a:rPr>
                        <a:t>− Decreases in operating liabilities</a:t>
                      </a: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6171">
                <a:tc>
                  <a:txBody>
                    <a:bodyPr/>
                    <a:lstStyle/>
                    <a:p>
                      <a:pPr fontAlgn="base"/>
                      <a:r>
                        <a:rPr lang="en-CA" sz="1800" b="1" dirty="0">
                          <a:effectLst/>
                          <a:latin typeface="inherit"/>
                        </a:rPr>
                        <a:t>Net Cash Flows from Operating Activities</a:t>
                      </a:r>
                      <a:endParaRPr lang="en-CA" sz="1800" dirty="0">
                        <a:effectLst/>
                      </a:endParaRPr>
                    </a:p>
                  </a:txBody>
                  <a:tcPr marL="190500" marR="190500" marT="95242" marB="28572"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89CE01B-A96A-4A7A-9DA1-3DD5AA0A66B9}"/>
              </a:ext>
            </a:extLst>
          </p:cNvPr>
          <p:cNvSpPr>
            <a:spLocks noGrp="1"/>
          </p:cNvSpPr>
          <p:nvPr>
            <p:ph type="title"/>
          </p:nvPr>
        </p:nvSpPr>
        <p:spPr>
          <a:xfrm>
            <a:off x="457200" y="198437"/>
            <a:ext cx="8229600" cy="792163"/>
          </a:xfrm>
        </p:spPr>
        <p:txBody>
          <a:bodyPr/>
          <a:lstStyle/>
          <a:p>
            <a:r>
              <a:rPr lang="en-US" altLang="en-US" dirty="0"/>
              <a:t>Reporting Cash Flows from Operating Activities – Indirect Method Part 2</a:t>
            </a:r>
          </a:p>
        </p:txBody>
      </p:sp>
      <p:pic>
        <p:nvPicPr>
          <p:cNvPr id="2" name="Picture 1">
            <a:extLst>
              <a:ext uri="{FF2B5EF4-FFF2-40B4-BE49-F238E27FC236}">
                <a16:creationId xmlns:a16="http://schemas.microsoft.com/office/drawing/2014/main" id="{B5EF44E1-58DA-C543-A7DD-DB9353E788B5}"/>
              </a:ext>
            </a:extLst>
          </p:cNvPr>
          <p:cNvPicPr>
            <a:picLocks noChangeAspect="1"/>
          </p:cNvPicPr>
          <p:nvPr/>
        </p:nvPicPr>
        <p:blipFill>
          <a:blip r:embed="rId2"/>
          <a:stretch>
            <a:fillRect/>
          </a:stretch>
        </p:blipFill>
        <p:spPr>
          <a:xfrm>
            <a:off x="698500" y="1752600"/>
            <a:ext cx="7747000" cy="3873500"/>
          </a:xfrm>
          <a:prstGeom prst="rect">
            <a:avLst/>
          </a:prstGeom>
        </p:spPr>
      </p:pic>
    </p:spTree>
    <p:extLst>
      <p:ext uri="{BB962C8B-B14F-4D97-AF65-F5344CB8AC3E}">
        <p14:creationId xmlns:p14="http://schemas.microsoft.com/office/powerpoint/2010/main" val="21316885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89CE01B-A96A-4A7A-9DA1-3DD5AA0A66B9}"/>
              </a:ext>
            </a:extLst>
          </p:cNvPr>
          <p:cNvSpPr>
            <a:spLocks noGrp="1"/>
          </p:cNvSpPr>
          <p:nvPr>
            <p:ph type="title"/>
          </p:nvPr>
        </p:nvSpPr>
        <p:spPr>
          <a:xfrm>
            <a:off x="457200" y="198437"/>
            <a:ext cx="8229600" cy="792163"/>
          </a:xfrm>
        </p:spPr>
        <p:txBody>
          <a:bodyPr/>
          <a:lstStyle/>
          <a:p>
            <a:r>
              <a:rPr lang="en-US" altLang="en-US" dirty="0"/>
              <a:t>Reporting Cash Flows from Operating Activities – Indirect Method Part 3</a:t>
            </a:r>
          </a:p>
        </p:txBody>
      </p:sp>
      <p:sp>
        <p:nvSpPr>
          <p:cNvPr id="15362" name="Content Placeholder 2">
            <a:extLst>
              <a:ext uri="{FF2B5EF4-FFF2-40B4-BE49-F238E27FC236}">
                <a16:creationId xmlns:a16="http://schemas.microsoft.com/office/drawing/2014/main" id="{8B5CB16A-F6FF-47AE-8620-A5A18ED55491}"/>
              </a:ext>
            </a:extLst>
          </p:cNvPr>
          <p:cNvSpPr>
            <a:spLocks noGrp="1"/>
          </p:cNvSpPr>
          <p:nvPr>
            <p:ph idx="1"/>
          </p:nvPr>
        </p:nvSpPr>
        <p:spPr>
          <a:xfrm>
            <a:off x="457200" y="1066800"/>
            <a:ext cx="8229600" cy="5334000"/>
          </a:xfrm>
        </p:spPr>
        <p:txBody>
          <a:bodyPr/>
          <a:lstStyle/>
          <a:p>
            <a:r>
              <a:rPr lang="en-CA" dirty="0"/>
              <a:t>Completing the operating section by using the indirect method involves two steps:</a:t>
            </a:r>
          </a:p>
          <a:p>
            <a:endParaRPr lang="en-CA" sz="800" dirty="0"/>
          </a:p>
          <a:p>
            <a:r>
              <a:rPr lang="en-CA" altLang="en-US" b="1" dirty="0"/>
              <a:t>Step 1: </a:t>
            </a:r>
            <a:r>
              <a:rPr lang="en-CA" dirty="0"/>
              <a:t>Adjust net earnings for the effect of depreciation and amortization expenses and gains and losses on sale of investing assets such as property, plant, and equipment, and investments.</a:t>
            </a:r>
          </a:p>
          <a:p>
            <a:endParaRPr lang="en-CA" sz="800" dirty="0"/>
          </a:p>
          <a:p>
            <a:r>
              <a:rPr lang="en-CA" altLang="en-US" b="1" dirty="0"/>
              <a:t>Step 2: </a:t>
            </a:r>
            <a:r>
              <a:rPr lang="en-CA" dirty="0"/>
              <a:t>Adjust net earnings for changes in assets and liabilities marked as operating (O). </a:t>
            </a:r>
            <a:endParaRPr lang="en-US" altLang="en-US" dirty="0"/>
          </a:p>
        </p:txBody>
      </p:sp>
    </p:spTree>
    <p:extLst>
      <p:ext uri="{BB962C8B-B14F-4D97-AF65-F5344CB8AC3E}">
        <p14:creationId xmlns:p14="http://schemas.microsoft.com/office/powerpoint/2010/main" val="174616077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589CE01B-A96A-4A7A-9DA1-3DD5AA0A66B9}"/>
              </a:ext>
            </a:extLst>
          </p:cNvPr>
          <p:cNvSpPr>
            <a:spLocks noGrp="1"/>
          </p:cNvSpPr>
          <p:nvPr>
            <p:ph type="title"/>
          </p:nvPr>
        </p:nvSpPr>
        <p:spPr>
          <a:xfrm>
            <a:off x="457200" y="198437"/>
            <a:ext cx="8229600" cy="792163"/>
          </a:xfrm>
        </p:spPr>
        <p:txBody>
          <a:bodyPr/>
          <a:lstStyle/>
          <a:p>
            <a:r>
              <a:rPr lang="en-US" altLang="en-US" dirty="0"/>
              <a:t>Reporting Cash Flows from Operating Activities – Indirect Method Part 4</a:t>
            </a:r>
          </a:p>
        </p:txBody>
      </p:sp>
      <p:sp>
        <p:nvSpPr>
          <p:cNvPr id="15362" name="Content Placeholder 2">
            <a:extLst>
              <a:ext uri="{FF2B5EF4-FFF2-40B4-BE49-F238E27FC236}">
                <a16:creationId xmlns:a16="http://schemas.microsoft.com/office/drawing/2014/main" id="{8B5CB16A-F6FF-47AE-8620-A5A18ED55491}"/>
              </a:ext>
            </a:extLst>
          </p:cNvPr>
          <p:cNvSpPr>
            <a:spLocks noGrp="1"/>
          </p:cNvSpPr>
          <p:nvPr>
            <p:ph idx="1"/>
          </p:nvPr>
        </p:nvSpPr>
        <p:spPr>
          <a:xfrm>
            <a:off x="457200" y="1066800"/>
            <a:ext cx="8229600" cy="5334000"/>
          </a:xfrm>
        </p:spPr>
        <p:txBody>
          <a:bodyPr/>
          <a:lstStyle/>
          <a:p>
            <a:r>
              <a:rPr lang="en-CA" dirty="0"/>
              <a:t>When converting net earnings to cash flows from operating activities, apply the following general rules:</a:t>
            </a:r>
          </a:p>
          <a:p>
            <a:pPr lvl="1"/>
            <a:r>
              <a:rPr lang="en-CA" sz="2600" dirty="0"/>
              <a:t>Add the change when an operating asset decreases or an operating liability increases.</a:t>
            </a:r>
          </a:p>
          <a:p>
            <a:pPr lvl="1"/>
            <a:r>
              <a:rPr lang="en-CA" sz="2600" dirty="0"/>
              <a:t>Subtract the change when an operating asset increases or an operating liability decreases.</a:t>
            </a:r>
          </a:p>
          <a:p>
            <a:endParaRPr lang="en-CA" sz="800" dirty="0"/>
          </a:p>
          <a:p>
            <a:r>
              <a:rPr lang="en-CA" dirty="0"/>
              <a:t>Understanding what makes these assets and liabilities increase and decrease is the key to understanding the logic of these additions and subtractions.</a:t>
            </a:r>
          </a:p>
          <a:p>
            <a:endParaRPr lang="en-US" altLang="en-US" dirty="0"/>
          </a:p>
        </p:txBody>
      </p:sp>
    </p:spTree>
    <p:extLst>
      <p:ext uri="{BB962C8B-B14F-4D97-AF65-F5344CB8AC3E}">
        <p14:creationId xmlns:p14="http://schemas.microsoft.com/office/powerpoint/2010/main" val="194391339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613EAE92-3769-401A-8894-6F607041CC12}"/>
              </a:ext>
            </a:extLst>
          </p:cNvPr>
          <p:cNvSpPr>
            <a:spLocks noGrp="1"/>
          </p:cNvSpPr>
          <p:nvPr>
            <p:ph type="title"/>
          </p:nvPr>
        </p:nvSpPr>
        <p:spPr/>
        <p:txBody>
          <a:bodyPr/>
          <a:lstStyle/>
          <a:p>
            <a:r>
              <a:rPr lang="en-US" altLang="en-US"/>
              <a:t>Change in Accounts Receivable</a:t>
            </a:r>
          </a:p>
        </p:txBody>
      </p:sp>
      <p:pic>
        <p:nvPicPr>
          <p:cNvPr id="40962" name="Content Placeholder 4" descr="A close up of a sign&#10;&#10;Description automatically generated">
            <a:extLst>
              <a:ext uri="{FF2B5EF4-FFF2-40B4-BE49-F238E27FC236}">
                <a16:creationId xmlns:a16="http://schemas.microsoft.com/office/drawing/2014/main" id="{2D2525E7-0CBC-4C2A-B3B8-62482EB74F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746250"/>
            <a:ext cx="3810000" cy="4127500"/>
          </a:xfr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91EB3838-FF5A-4E24-B9E7-7CF808B38E2A}"/>
              </a:ext>
            </a:extLst>
          </p:cNvPr>
          <p:cNvSpPr>
            <a:spLocks noGrp="1"/>
          </p:cNvSpPr>
          <p:nvPr>
            <p:ph type="title"/>
          </p:nvPr>
        </p:nvSpPr>
        <p:spPr/>
        <p:txBody>
          <a:bodyPr/>
          <a:lstStyle/>
          <a:p>
            <a:r>
              <a:rPr lang="en-US" altLang="en-US"/>
              <a:t>Change in Inventory</a:t>
            </a:r>
          </a:p>
        </p:txBody>
      </p:sp>
      <p:pic>
        <p:nvPicPr>
          <p:cNvPr id="41986" name="Content Placeholder 5" descr="A close up of a sign&#10;&#10;Description automatically generated">
            <a:extLst>
              <a:ext uri="{FF2B5EF4-FFF2-40B4-BE49-F238E27FC236}">
                <a16:creationId xmlns:a16="http://schemas.microsoft.com/office/drawing/2014/main" id="{AC65A98F-C049-4445-A51A-8190DB0126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746250"/>
            <a:ext cx="3810000" cy="4127500"/>
          </a:xfr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AC9B70A4-2292-4D6B-B5A8-2D2FCB569ED6}"/>
              </a:ext>
            </a:extLst>
          </p:cNvPr>
          <p:cNvSpPr>
            <a:spLocks noGrp="1"/>
          </p:cNvSpPr>
          <p:nvPr>
            <p:ph type="title"/>
          </p:nvPr>
        </p:nvSpPr>
        <p:spPr/>
        <p:txBody>
          <a:bodyPr/>
          <a:lstStyle/>
          <a:p>
            <a:r>
              <a:rPr lang="en-US" altLang="en-US"/>
              <a:t>Change in Prepaid Expenses</a:t>
            </a:r>
          </a:p>
        </p:txBody>
      </p:sp>
      <p:pic>
        <p:nvPicPr>
          <p:cNvPr id="43010" name="Content Placeholder 5" descr="A close up of a sign&#10;&#10;Description automatically generated">
            <a:extLst>
              <a:ext uri="{FF2B5EF4-FFF2-40B4-BE49-F238E27FC236}">
                <a16:creationId xmlns:a16="http://schemas.microsoft.com/office/drawing/2014/main" id="{884FD1A1-E35A-43C4-A5F5-A830810CD1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746250"/>
            <a:ext cx="3810000" cy="4127500"/>
          </a:xfr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8AD8CE13-9F5E-4BC4-B1ED-89FA48B71BF5}"/>
              </a:ext>
            </a:extLst>
          </p:cNvPr>
          <p:cNvSpPr>
            <a:spLocks noGrp="1"/>
          </p:cNvSpPr>
          <p:nvPr>
            <p:ph type="title"/>
          </p:nvPr>
        </p:nvSpPr>
        <p:spPr/>
        <p:txBody>
          <a:bodyPr/>
          <a:lstStyle/>
          <a:p>
            <a:r>
              <a:rPr lang="en-US" altLang="en-US"/>
              <a:t>Change in Accounts Payable</a:t>
            </a:r>
          </a:p>
        </p:txBody>
      </p:sp>
      <p:pic>
        <p:nvPicPr>
          <p:cNvPr id="44034" name="Content Placeholder 5" descr="A close up of a sign&#10;&#10;Description automatically generated">
            <a:extLst>
              <a:ext uri="{FF2B5EF4-FFF2-40B4-BE49-F238E27FC236}">
                <a16:creationId xmlns:a16="http://schemas.microsoft.com/office/drawing/2014/main" id="{F3ECEA3C-046E-47E5-AE48-48617EAAC9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746250"/>
            <a:ext cx="3810000" cy="4127500"/>
          </a:xfr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25E13092-6F11-47F6-BB25-23BDCEAA9CD7}"/>
              </a:ext>
            </a:extLst>
          </p:cNvPr>
          <p:cNvSpPr>
            <a:spLocks noGrp="1"/>
          </p:cNvSpPr>
          <p:nvPr>
            <p:ph type="title"/>
          </p:nvPr>
        </p:nvSpPr>
        <p:spPr/>
        <p:txBody>
          <a:bodyPr/>
          <a:lstStyle/>
          <a:p>
            <a:r>
              <a:rPr lang="en-US" altLang="en-US"/>
              <a:t>Change in Accrued Liabilities</a:t>
            </a:r>
          </a:p>
        </p:txBody>
      </p:sp>
      <p:pic>
        <p:nvPicPr>
          <p:cNvPr id="45058" name="Content Placeholder 5" descr="A close up of a sign&#10;&#10;Description automatically generated">
            <a:extLst>
              <a:ext uri="{FF2B5EF4-FFF2-40B4-BE49-F238E27FC236}">
                <a16:creationId xmlns:a16="http://schemas.microsoft.com/office/drawing/2014/main" id="{9AEDDB35-CE6D-462F-BA13-27BE32BE17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746250"/>
            <a:ext cx="3810000" cy="4127500"/>
          </a:xfr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25E13092-6F11-47F6-BB25-23BDCEAA9CD7}"/>
              </a:ext>
            </a:extLst>
          </p:cNvPr>
          <p:cNvSpPr>
            <a:spLocks noGrp="1"/>
          </p:cNvSpPr>
          <p:nvPr>
            <p:ph type="title"/>
          </p:nvPr>
        </p:nvSpPr>
        <p:spPr/>
        <p:txBody>
          <a:bodyPr/>
          <a:lstStyle/>
          <a:p>
            <a:r>
              <a:rPr lang="en-US" altLang="en-US" dirty="0"/>
              <a:t>Change in Income Tax Payable</a:t>
            </a:r>
          </a:p>
        </p:txBody>
      </p:sp>
      <p:pic>
        <p:nvPicPr>
          <p:cNvPr id="3" name="Picture 2">
            <a:extLst>
              <a:ext uri="{FF2B5EF4-FFF2-40B4-BE49-F238E27FC236}">
                <a16:creationId xmlns:a16="http://schemas.microsoft.com/office/drawing/2014/main" id="{B871F974-BE26-0B48-BC0D-EE04BCE4E48A}"/>
              </a:ext>
            </a:extLst>
          </p:cNvPr>
          <p:cNvPicPr>
            <a:picLocks noChangeAspect="1"/>
          </p:cNvPicPr>
          <p:nvPr/>
        </p:nvPicPr>
        <p:blipFill>
          <a:blip r:embed="rId2"/>
          <a:stretch>
            <a:fillRect/>
          </a:stretch>
        </p:blipFill>
        <p:spPr>
          <a:xfrm>
            <a:off x="2636347" y="1752600"/>
            <a:ext cx="3800758" cy="4105240"/>
          </a:xfrm>
          <a:prstGeom prst="rect">
            <a:avLst/>
          </a:prstGeom>
        </p:spPr>
      </p:pic>
    </p:spTree>
    <p:extLst>
      <p:ext uri="{BB962C8B-B14F-4D97-AF65-F5344CB8AC3E}">
        <p14:creationId xmlns:p14="http://schemas.microsoft.com/office/powerpoint/2010/main" val="27977989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12367AFD-BE07-43E0-87AC-6E7C3CED969E}"/>
              </a:ext>
            </a:extLst>
          </p:cNvPr>
          <p:cNvSpPr>
            <a:spLocks noGrp="1"/>
          </p:cNvSpPr>
          <p:nvPr>
            <p:ph type="title"/>
          </p:nvPr>
        </p:nvSpPr>
        <p:spPr/>
        <p:txBody>
          <a:bodyPr/>
          <a:lstStyle/>
          <a:p>
            <a:r>
              <a:rPr lang="en-US" altLang="en-US"/>
              <a:t>Summary of Additions and Subtractions</a:t>
            </a:r>
          </a:p>
        </p:txBody>
      </p:sp>
      <p:graphicFrame>
        <p:nvGraphicFramePr>
          <p:cNvPr id="4" name="Content Placeholder 3">
            <a:extLst>
              <a:ext uri="{FF2B5EF4-FFF2-40B4-BE49-F238E27FC236}">
                <a16:creationId xmlns:a16="http://schemas.microsoft.com/office/drawing/2014/main" id="{CF4740B0-A4A0-4AB6-A450-EEC5E676C628}"/>
              </a:ext>
            </a:extLst>
          </p:cNvPr>
          <p:cNvGraphicFramePr>
            <a:graphicFrameLocks noGrp="1"/>
          </p:cNvGraphicFramePr>
          <p:nvPr>
            <p:ph idx="1"/>
            <p:extLst>
              <p:ext uri="{D42A27DB-BD31-4B8C-83A1-F6EECF244321}">
                <p14:modId xmlns:p14="http://schemas.microsoft.com/office/powerpoint/2010/main" val="2291302143"/>
              </p:ext>
            </p:extLst>
          </p:nvPr>
        </p:nvGraphicFramePr>
        <p:xfrm>
          <a:off x="1104900" y="1295400"/>
          <a:ext cx="6934199" cy="4924666"/>
        </p:xfrm>
        <a:graphic>
          <a:graphicData uri="http://schemas.openxmlformats.org/drawingml/2006/table">
            <a:tbl>
              <a:tblPr/>
              <a:tblGrid>
                <a:gridCol w="2574059">
                  <a:extLst>
                    <a:ext uri="{9D8B030D-6E8A-4147-A177-3AD203B41FA5}">
                      <a16:colId xmlns:a16="http://schemas.microsoft.com/office/drawing/2014/main" val="20000"/>
                    </a:ext>
                  </a:extLst>
                </a:gridCol>
                <a:gridCol w="1786081">
                  <a:extLst>
                    <a:ext uri="{9D8B030D-6E8A-4147-A177-3AD203B41FA5}">
                      <a16:colId xmlns:a16="http://schemas.microsoft.com/office/drawing/2014/main" val="20001"/>
                    </a:ext>
                  </a:extLst>
                </a:gridCol>
                <a:gridCol w="2574059">
                  <a:extLst>
                    <a:ext uri="{9D8B030D-6E8A-4147-A177-3AD203B41FA5}">
                      <a16:colId xmlns:a16="http://schemas.microsoft.com/office/drawing/2014/main" val="20002"/>
                    </a:ext>
                  </a:extLst>
                </a:gridCol>
              </a:tblGrid>
              <a:tr h="672562">
                <a:tc>
                  <a:txBody>
                    <a:bodyPr/>
                    <a:lstStyle/>
                    <a:p>
                      <a:pPr fontAlgn="base"/>
                      <a:endParaRPr lang="en-CA" sz="1800">
                        <a:effectLst/>
                      </a:endParaRPr>
                    </a:p>
                  </a:txBody>
                  <a:tcPr marL="190500" marR="95250" marT="95264" marB="28579"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fontAlgn="base"/>
                      <a:r>
                        <a:rPr lang="en-CA" sz="1800" b="1">
                          <a:effectLst/>
                          <a:latin typeface="inherit"/>
                        </a:rPr>
                        <a:t>Additions and Subtractions to Reconcile Net Earnings to Cash Flows from Operating Activities</a:t>
                      </a:r>
                      <a:endParaRPr lang="en-CA" sz="1800">
                        <a:effectLst/>
                      </a:endParaRPr>
                    </a:p>
                  </a:txBody>
                  <a:tcPr marL="95250" marR="190500" marT="95264" marB="28579"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672562">
                <a:tc>
                  <a:txBody>
                    <a:bodyPr/>
                    <a:lstStyle/>
                    <a:p>
                      <a:pPr fontAlgn="b"/>
                      <a:r>
                        <a:rPr lang="en-CA" sz="1800" b="1">
                          <a:effectLst/>
                          <a:latin typeface="inherit"/>
                        </a:rPr>
                        <a:t>Item</a:t>
                      </a:r>
                      <a:endParaRPr lang="en-CA" sz="1800">
                        <a:effectLst/>
                      </a:endParaRPr>
                    </a:p>
                  </a:txBody>
                  <a:tcPr marL="190500" marR="95250" marT="95264" marB="28579" anchor="b">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
                      <a:r>
                        <a:rPr lang="en-CA" sz="1800" b="1">
                          <a:effectLst/>
                          <a:latin typeface="inherit"/>
                        </a:rPr>
                        <a:t>When Item Increases</a:t>
                      </a:r>
                      <a:endParaRPr lang="en-CA" sz="1800">
                        <a:effectLst/>
                      </a:endParaRPr>
                    </a:p>
                  </a:txBody>
                  <a:tcPr marL="95250" marR="95250" marT="95264" marB="28579" anchor="b">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
                      <a:r>
                        <a:rPr lang="en-CA" sz="1800" b="1" dirty="0">
                          <a:effectLst/>
                          <a:latin typeface="inherit"/>
                        </a:rPr>
                        <a:t>When Item</a:t>
                      </a:r>
                    </a:p>
                    <a:p>
                      <a:pPr algn="ctr" fontAlgn="b"/>
                      <a:r>
                        <a:rPr lang="en-CA" sz="1800" b="1" dirty="0">
                          <a:effectLst/>
                          <a:latin typeface="inherit"/>
                        </a:rPr>
                        <a:t> Decreases</a:t>
                      </a:r>
                      <a:endParaRPr lang="en-CA" sz="1800" dirty="0">
                        <a:effectLst/>
                      </a:endParaRPr>
                    </a:p>
                  </a:txBody>
                  <a:tcPr marL="95250" marR="190500" marT="95264" marB="28579" anchor="b">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2562">
                <a:tc>
                  <a:txBody>
                    <a:bodyPr/>
                    <a:lstStyle/>
                    <a:p>
                      <a:pPr fontAlgn="base"/>
                      <a:r>
                        <a:rPr lang="en-CA" sz="2000" dirty="0">
                          <a:effectLst/>
                        </a:rPr>
                        <a:t>Depreciation and amortization</a:t>
                      </a:r>
                    </a:p>
                  </a:txBody>
                  <a:tcPr marL="190500" marR="95250" marT="95264" marB="28579"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2000">
                          <a:effectLst/>
                        </a:rPr>
                        <a:t>+</a:t>
                      </a:r>
                    </a:p>
                  </a:txBody>
                  <a:tcPr marL="95250" marR="95250" marT="95264" marB="2857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2000">
                          <a:effectLst/>
                        </a:rPr>
                        <a:t>NA</a:t>
                      </a:r>
                    </a:p>
                  </a:txBody>
                  <a:tcPr marL="95250" marR="190500" marT="95264" marB="28579"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2"/>
                  </a:ext>
                </a:extLst>
              </a:tr>
              <a:tr h="398202">
                <a:tc>
                  <a:txBody>
                    <a:bodyPr/>
                    <a:lstStyle/>
                    <a:p>
                      <a:pPr fontAlgn="base"/>
                      <a:r>
                        <a:rPr lang="en-CA" sz="2000" dirty="0">
                          <a:effectLst/>
                        </a:rPr>
                        <a:t>Accounts receivable</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2000">
                          <a:effectLst/>
                        </a:rPr>
                        <a:t>−</a:t>
                      </a:r>
                    </a:p>
                  </a:txBody>
                  <a:tcPr marL="95250" marR="95250" marT="95264" marB="28579" anchor="ctr">
                    <a:lnL>
                      <a:noFill/>
                    </a:lnL>
                    <a:lnR>
                      <a:noFill/>
                    </a:lnR>
                    <a:lnT>
                      <a:noFill/>
                    </a:lnT>
                    <a:lnB>
                      <a:noFill/>
                    </a:lnB>
                    <a:solidFill>
                      <a:srgbClr val="FFFFFF"/>
                    </a:solidFill>
                  </a:tcPr>
                </a:tc>
                <a:tc>
                  <a:txBody>
                    <a:bodyPr/>
                    <a:lstStyle/>
                    <a:p>
                      <a:pPr algn="ctr" fontAlgn="base"/>
                      <a:r>
                        <a:rPr lang="en-CA" sz="200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398202">
                <a:tc>
                  <a:txBody>
                    <a:bodyPr/>
                    <a:lstStyle/>
                    <a:p>
                      <a:pPr fontAlgn="base"/>
                      <a:r>
                        <a:rPr lang="en-CA" sz="2000" dirty="0">
                          <a:effectLst/>
                        </a:rPr>
                        <a:t>Inventories</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2000" dirty="0">
                          <a:effectLst/>
                        </a:rPr>
                        <a:t>−</a:t>
                      </a:r>
                    </a:p>
                  </a:txBody>
                  <a:tcPr marL="95250" marR="95250" marT="95264" marB="28579" anchor="ctr">
                    <a:lnL>
                      <a:noFill/>
                    </a:lnL>
                    <a:lnR>
                      <a:noFill/>
                    </a:lnR>
                    <a:lnT>
                      <a:noFill/>
                    </a:lnT>
                    <a:lnB>
                      <a:noFill/>
                    </a:lnB>
                    <a:solidFill>
                      <a:srgbClr val="FFFFFF"/>
                    </a:solidFill>
                  </a:tcPr>
                </a:tc>
                <a:tc>
                  <a:txBody>
                    <a:bodyPr/>
                    <a:lstStyle/>
                    <a:p>
                      <a:pPr algn="ctr" fontAlgn="base"/>
                      <a:r>
                        <a:rPr lang="en-CA" sz="200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398202">
                <a:tc>
                  <a:txBody>
                    <a:bodyPr/>
                    <a:lstStyle/>
                    <a:p>
                      <a:pPr fontAlgn="base"/>
                      <a:r>
                        <a:rPr lang="en-CA" sz="2000">
                          <a:effectLst/>
                        </a:rPr>
                        <a:t>Prepaid expenses</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2000" dirty="0">
                          <a:effectLst/>
                        </a:rPr>
                        <a:t>−</a:t>
                      </a:r>
                    </a:p>
                  </a:txBody>
                  <a:tcPr marL="95250" marR="95250" marT="95264" marB="28579" anchor="ctr">
                    <a:lnL>
                      <a:noFill/>
                    </a:lnL>
                    <a:lnR>
                      <a:noFill/>
                    </a:lnR>
                    <a:lnT>
                      <a:noFill/>
                    </a:lnT>
                    <a:lnB>
                      <a:noFill/>
                    </a:lnB>
                    <a:solidFill>
                      <a:srgbClr val="FFFFFF"/>
                    </a:solidFill>
                  </a:tcPr>
                </a:tc>
                <a:tc>
                  <a:txBody>
                    <a:bodyPr/>
                    <a:lstStyle/>
                    <a:p>
                      <a:pPr algn="ctr" fontAlgn="base"/>
                      <a:r>
                        <a:rPr lang="en-CA" sz="200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398202">
                <a:tc>
                  <a:txBody>
                    <a:bodyPr/>
                    <a:lstStyle/>
                    <a:p>
                      <a:pPr fontAlgn="base"/>
                      <a:r>
                        <a:rPr lang="en-CA" sz="2000">
                          <a:effectLst/>
                        </a:rPr>
                        <a:t>Accounts payable</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2000" dirty="0">
                          <a:effectLst/>
                        </a:rPr>
                        <a:t>+</a:t>
                      </a:r>
                    </a:p>
                  </a:txBody>
                  <a:tcPr marL="95250" marR="95250" marT="95264" marB="28579" anchor="ctr">
                    <a:lnL>
                      <a:noFill/>
                    </a:lnL>
                    <a:lnR>
                      <a:noFill/>
                    </a:lnR>
                    <a:lnT>
                      <a:noFill/>
                    </a:lnT>
                    <a:lnB>
                      <a:noFill/>
                    </a:lnB>
                    <a:solidFill>
                      <a:srgbClr val="FFFFFF"/>
                    </a:solidFill>
                  </a:tcPr>
                </a:tc>
                <a:tc>
                  <a:txBody>
                    <a:bodyPr/>
                    <a:lstStyle/>
                    <a:p>
                      <a:pPr algn="ctr" fontAlgn="base"/>
                      <a:r>
                        <a:rPr lang="en-CA" sz="2000" dirty="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6"/>
                  </a:ext>
                </a:extLst>
              </a:tr>
              <a:tr h="398202">
                <a:tc>
                  <a:txBody>
                    <a:bodyPr/>
                    <a:lstStyle/>
                    <a:p>
                      <a:pPr fontAlgn="base"/>
                      <a:r>
                        <a:rPr lang="en-CA" sz="2000">
                          <a:effectLst/>
                        </a:rPr>
                        <a:t>Accrued liabilities</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2000">
                          <a:effectLst/>
                        </a:rPr>
                        <a:t>+</a:t>
                      </a:r>
                    </a:p>
                  </a:txBody>
                  <a:tcPr marL="95250" marR="95250" marT="95264" marB="28579" anchor="ctr">
                    <a:lnL>
                      <a:noFill/>
                    </a:lnL>
                    <a:lnR>
                      <a:noFill/>
                    </a:lnR>
                    <a:lnT>
                      <a:noFill/>
                    </a:lnT>
                    <a:lnB>
                      <a:noFill/>
                    </a:lnB>
                    <a:solidFill>
                      <a:srgbClr val="FFFFFF"/>
                    </a:solidFill>
                  </a:tcPr>
                </a:tc>
                <a:tc>
                  <a:txBody>
                    <a:bodyPr/>
                    <a:lstStyle/>
                    <a:p>
                      <a:pPr algn="ctr" fontAlgn="base"/>
                      <a:r>
                        <a:rPr lang="en-CA" sz="2000" dirty="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398202">
                <a:tc>
                  <a:txBody>
                    <a:bodyPr/>
                    <a:lstStyle/>
                    <a:p>
                      <a:pPr fontAlgn="base"/>
                      <a:r>
                        <a:rPr lang="en-CA" sz="2000">
                          <a:effectLst/>
                        </a:rPr>
                        <a:t>Income tax payable</a:t>
                      </a:r>
                    </a:p>
                  </a:txBody>
                  <a:tcPr marL="190500" marR="95250" marT="95264" marB="28579"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2000">
                          <a:effectLst/>
                        </a:rPr>
                        <a:t>+</a:t>
                      </a:r>
                    </a:p>
                  </a:txBody>
                  <a:tcPr marL="95250" marR="95250" marT="95264" marB="2857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2000" dirty="0">
                          <a:effectLst/>
                        </a:rPr>
                        <a:t>−</a:t>
                      </a:r>
                    </a:p>
                  </a:txBody>
                  <a:tcPr marL="95250" marR="190500" marT="95264" marB="28579"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8D8F4509-34FB-4D86-AC53-2E6ADD1B8FE3}"/>
              </a:ext>
            </a:extLst>
          </p:cNvPr>
          <p:cNvSpPr>
            <a:spLocks noGrp="1"/>
          </p:cNvSpPr>
          <p:nvPr>
            <p:ph type="title"/>
          </p:nvPr>
        </p:nvSpPr>
        <p:spPr>
          <a:xfrm>
            <a:off x="457200" y="152400"/>
            <a:ext cx="8458200" cy="792163"/>
          </a:xfrm>
        </p:spPr>
        <p:txBody>
          <a:bodyPr/>
          <a:lstStyle/>
          <a:p>
            <a:r>
              <a:rPr lang="en-US" altLang="en-US" dirty="0"/>
              <a:t>Interpreting Cash Flows from Operating Activities</a:t>
            </a:r>
          </a:p>
        </p:txBody>
      </p:sp>
      <p:sp>
        <p:nvSpPr>
          <p:cNvPr id="3" name="Content Placeholder 2">
            <a:extLst>
              <a:ext uri="{FF2B5EF4-FFF2-40B4-BE49-F238E27FC236}">
                <a16:creationId xmlns:a16="http://schemas.microsoft.com/office/drawing/2014/main" id="{168AE39E-816E-4699-8A0D-11E4DD0F844C}"/>
              </a:ext>
            </a:extLst>
          </p:cNvPr>
          <p:cNvSpPr>
            <a:spLocks noGrp="1"/>
          </p:cNvSpPr>
          <p:nvPr>
            <p:ph idx="1"/>
          </p:nvPr>
        </p:nvSpPr>
        <p:spPr/>
        <p:txBody>
          <a:bodyPr/>
          <a:lstStyle/>
          <a:p>
            <a:pPr marL="0" indent="0">
              <a:buFont typeface="Wingdings 3" pitchFamily="2" charset="2"/>
              <a:buNone/>
              <a:defRPr/>
            </a:pPr>
            <a:endParaRPr lang="en-CA" altLang="en-US" sz="200" b="1" dirty="0">
              <a:latin typeface="Arial" panose="020B0604020202020204" pitchFamily="34" charset="0"/>
            </a:endParaRPr>
          </a:p>
          <a:p>
            <a:pPr>
              <a:defRPr/>
            </a:pPr>
            <a:r>
              <a:rPr lang="en-CA" altLang="en-US" dirty="0"/>
              <a:t>Investors will not invest in a company if they do not believe that cash generated from operations will be available to pay them dividends or expand the company.</a:t>
            </a:r>
          </a:p>
          <a:p>
            <a:pPr>
              <a:buFont typeface="Wingdings 3" pitchFamily="2" charset="2"/>
              <a:buChar char=""/>
              <a:defRPr/>
            </a:pPr>
            <a:endParaRPr lang="en-CA" altLang="en-US" sz="800" dirty="0"/>
          </a:p>
          <a:p>
            <a:pPr>
              <a:buFont typeface="Wingdings 3" pitchFamily="2" charset="2"/>
              <a:buChar char=""/>
              <a:defRPr/>
            </a:pPr>
            <a:r>
              <a:rPr lang="en-CA" altLang="en-US" dirty="0"/>
              <a:t>Creditors will not lend money if they do not believe that cash generated from operations will be available to pay back the loan.</a:t>
            </a:r>
          </a:p>
          <a:p>
            <a:pPr>
              <a:buFont typeface="Wingdings 3" pitchFamily="2" charset="2"/>
              <a:buChar char=""/>
              <a:defRPr/>
            </a:pPr>
            <a:endParaRPr lang="en-CA" altLang="en-US" sz="800" dirty="0"/>
          </a:p>
          <a:p>
            <a:pPr>
              <a:buFont typeface="Wingdings 3" pitchFamily="2" charset="2"/>
              <a:buChar char=""/>
              <a:defRPr/>
            </a:pPr>
            <a:r>
              <a:rPr lang="en-CA" altLang="en-US" dirty="0">
                <a:solidFill>
                  <a:srgbClr val="003300"/>
                </a:solidFill>
              </a:rPr>
              <a:t>A common guideline followed by financial and credit analysts is to avoid firms with rising net earnings but falling cash flow from operations. </a:t>
            </a:r>
          </a:p>
          <a:p>
            <a:pPr>
              <a:buFont typeface="Wingdings 3" pitchFamily="2" charset="2"/>
              <a:buChar char=""/>
              <a:defRPr/>
            </a:pPr>
            <a:endParaRPr lang="en-CA" altLang="en-US" dirty="0"/>
          </a:p>
          <a:p>
            <a:pPr>
              <a:buFont typeface="Wingdings 3" pitchFamily="2" charset="2"/>
              <a:buChar char=""/>
              <a:defRPr/>
            </a:pPr>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5948F2AA-0FE0-4BB2-AFF2-399CC5680434}"/>
              </a:ext>
            </a:extLst>
          </p:cNvPr>
          <p:cNvSpPr>
            <a:spLocks noGrp="1"/>
          </p:cNvSpPr>
          <p:nvPr>
            <p:ph type="title"/>
          </p:nvPr>
        </p:nvSpPr>
        <p:spPr/>
        <p:txBody>
          <a:bodyPr/>
          <a:lstStyle/>
          <a:p>
            <a:r>
              <a:rPr lang="en-US" altLang="en-US"/>
              <a:t>Key Ratio Analysis </a:t>
            </a:r>
            <a:r>
              <a:rPr lang="en-US" altLang="en-US">
                <a:sym typeface="Wingdings" panose="05000000000000000000" pitchFamily="2" charset="2"/>
              </a:rPr>
              <a:t> Quality of Earnings Ratio</a:t>
            </a:r>
            <a:endParaRPr lang="en-US" altLang="en-US"/>
          </a:p>
        </p:txBody>
      </p:sp>
      <p:sp>
        <p:nvSpPr>
          <p:cNvPr id="3" name="Content Placeholder 2">
            <a:extLst>
              <a:ext uri="{FF2B5EF4-FFF2-40B4-BE49-F238E27FC236}">
                <a16:creationId xmlns:a16="http://schemas.microsoft.com/office/drawing/2014/main" id="{5F87A85F-9E3A-46BF-A98E-A54AF78FE673}"/>
              </a:ext>
            </a:extLst>
          </p:cNvPr>
          <p:cNvSpPr>
            <a:spLocks noGrp="1"/>
          </p:cNvSpPr>
          <p:nvPr>
            <p:ph idx="1"/>
          </p:nvPr>
        </p:nvSpPr>
        <p:spPr/>
        <p:txBody>
          <a:bodyPr/>
          <a:lstStyle/>
          <a:p>
            <a:pPr>
              <a:defRPr/>
            </a:pPr>
            <a:r>
              <a:rPr lang="en-CA" altLang="en-US" b="1" dirty="0"/>
              <a:t>ANALYTICAL QUESTION</a:t>
            </a:r>
            <a:r>
              <a:rPr lang="en-CA" altLang="en-US" dirty="0"/>
              <a:t> →</a:t>
            </a:r>
            <a:r>
              <a:rPr lang="en-CA" dirty="0"/>
              <a:t> How much cash does each dollar of net earnings generate?</a:t>
            </a:r>
            <a:endParaRPr lang="en-CA" altLang="en-US" dirty="0"/>
          </a:p>
          <a:p>
            <a:pPr>
              <a:buFont typeface="Wingdings 3" pitchFamily="2" charset="2"/>
              <a:buChar char=""/>
              <a:defRPr/>
            </a:pPr>
            <a:r>
              <a:rPr lang="en-CA" altLang="en-US" b="1" dirty="0"/>
              <a:t>RATIO AND COMPARISONS</a:t>
            </a:r>
            <a:r>
              <a:rPr lang="en-CA" altLang="en-US" dirty="0"/>
              <a:t> → </a:t>
            </a:r>
            <a:r>
              <a:rPr lang="en-CA" dirty="0"/>
              <a:t>The quality of earnings ratio is useful in answering this question. It is computed as follows:</a:t>
            </a:r>
            <a:endParaRPr lang="en-CA" altLang="en-US" dirty="0"/>
          </a:p>
          <a:p>
            <a:pPr>
              <a:buFont typeface="Wingdings 3" pitchFamily="2" charset="2"/>
              <a:buChar char=""/>
              <a:defRPr/>
            </a:pPr>
            <a:endParaRPr lang="en-CA" dirty="0"/>
          </a:p>
          <a:p>
            <a:pPr>
              <a:buFont typeface="Wingdings 3" pitchFamily="2" charset="2"/>
              <a:buChar char=""/>
              <a:defRPr/>
            </a:pPr>
            <a:endParaRPr lang="en-CA" dirty="0"/>
          </a:p>
          <a:p>
            <a:pPr>
              <a:defRPr/>
            </a:pPr>
            <a:endParaRPr lang="en-US" altLang="en-US" sz="800" dirty="0"/>
          </a:p>
          <a:p>
            <a:pPr>
              <a:defRPr/>
            </a:pPr>
            <a:r>
              <a:rPr lang="en-CA" altLang="en-US" dirty="0"/>
              <a:t>In general, this ratio measures the portion of net earnings that was generated in cash.  All other things equal, a higher quality of earnings ratio indicates greater ability to finance operating and other cash needs from operating cash inflows.</a:t>
            </a:r>
          </a:p>
          <a:p>
            <a:pPr>
              <a:buFont typeface="Wingdings 3" pitchFamily="2" charset="2"/>
              <a:buChar char=""/>
              <a:defRPr/>
            </a:pPr>
            <a:endParaRPr lang="en-US" dirty="0"/>
          </a:p>
        </p:txBody>
      </p:sp>
      <p:grpSp>
        <p:nvGrpSpPr>
          <p:cNvPr id="17411" name="Group 11">
            <a:extLst>
              <a:ext uri="{FF2B5EF4-FFF2-40B4-BE49-F238E27FC236}">
                <a16:creationId xmlns:a16="http://schemas.microsoft.com/office/drawing/2014/main" id="{CC2A6FC3-01A5-41A8-A64A-98DD2B8E5FD1}"/>
              </a:ext>
            </a:extLst>
          </p:cNvPr>
          <p:cNvGrpSpPr>
            <a:grpSpLocks/>
          </p:cNvGrpSpPr>
          <p:nvPr/>
        </p:nvGrpSpPr>
        <p:grpSpPr bwMode="auto">
          <a:xfrm>
            <a:off x="228600" y="3514725"/>
            <a:ext cx="8437563" cy="828675"/>
            <a:chOff x="144" y="1104"/>
            <a:chExt cx="5315" cy="522"/>
          </a:xfrm>
        </p:grpSpPr>
        <p:sp>
          <p:nvSpPr>
            <p:cNvPr id="17412" name="Rectangle 5">
              <a:extLst>
                <a:ext uri="{FF2B5EF4-FFF2-40B4-BE49-F238E27FC236}">
                  <a16:creationId xmlns:a16="http://schemas.microsoft.com/office/drawing/2014/main" id="{C9996DD8-76D1-4C0D-A2D7-451EFEDDEF68}"/>
                </a:ext>
              </a:extLst>
            </p:cNvPr>
            <p:cNvSpPr>
              <a:spLocks noChangeArrowheads="1"/>
            </p:cNvSpPr>
            <p:nvPr/>
          </p:nvSpPr>
          <p:spPr bwMode="auto">
            <a:xfrm>
              <a:off x="1960" y="1104"/>
              <a:ext cx="349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a:latin typeface="Arial" panose="020B0604020202020204" pitchFamily="34" charset="0"/>
                </a:rPr>
                <a:t> Cash Flow from Operating Activities</a:t>
              </a:r>
            </a:p>
            <a:p>
              <a:pPr algn="ctr">
                <a:spcBef>
                  <a:spcPct val="0"/>
                </a:spcBef>
                <a:buClrTx/>
                <a:buSzTx/>
                <a:buFontTx/>
                <a:buNone/>
              </a:pPr>
              <a:r>
                <a:rPr lang="en-CA" altLang="en-US" sz="2400" b="1">
                  <a:latin typeface="Arial" panose="020B0604020202020204" pitchFamily="34" charset="0"/>
                </a:rPr>
                <a:t>Net Earnings</a:t>
              </a:r>
            </a:p>
          </p:txBody>
        </p:sp>
        <p:sp>
          <p:nvSpPr>
            <p:cNvPr id="17413" name="Rectangle 6">
              <a:extLst>
                <a:ext uri="{FF2B5EF4-FFF2-40B4-BE49-F238E27FC236}">
                  <a16:creationId xmlns:a16="http://schemas.microsoft.com/office/drawing/2014/main" id="{1386506A-5945-42A8-9E8F-DAF070EB605D}"/>
                </a:ext>
              </a:extLst>
            </p:cNvPr>
            <p:cNvSpPr>
              <a:spLocks noChangeArrowheads="1"/>
            </p:cNvSpPr>
            <p:nvPr/>
          </p:nvSpPr>
          <p:spPr bwMode="auto">
            <a:xfrm>
              <a:off x="144" y="1104"/>
              <a:ext cx="158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a:latin typeface="Arial" panose="020B0604020202020204" pitchFamily="34" charset="0"/>
                </a:rPr>
                <a:t>Quality of Earnings Ratio</a:t>
              </a:r>
            </a:p>
          </p:txBody>
        </p:sp>
        <p:sp>
          <p:nvSpPr>
            <p:cNvPr id="17414" name="Rectangle 7">
              <a:extLst>
                <a:ext uri="{FF2B5EF4-FFF2-40B4-BE49-F238E27FC236}">
                  <a16:creationId xmlns:a16="http://schemas.microsoft.com/office/drawing/2014/main" id="{D46F5300-E39A-4A21-9A00-1F1DC16A1812}"/>
                </a:ext>
              </a:extLst>
            </p:cNvPr>
            <p:cNvSpPr>
              <a:spLocks noChangeArrowheads="1"/>
            </p:cNvSpPr>
            <p:nvPr/>
          </p:nvSpPr>
          <p:spPr bwMode="auto">
            <a:xfrm>
              <a:off x="1722" y="1194"/>
              <a:ext cx="24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a:latin typeface="Arial" panose="020B0604020202020204" pitchFamily="34" charset="0"/>
                </a:rPr>
                <a:t>=</a:t>
              </a:r>
            </a:p>
          </p:txBody>
        </p:sp>
        <p:sp>
          <p:nvSpPr>
            <p:cNvPr id="17415" name="Line 8">
              <a:extLst>
                <a:ext uri="{FF2B5EF4-FFF2-40B4-BE49-F238E27FC236}">
                  <a16:creationId xmlns:a16="http://schemas.microsoft.com/office/drawing/2014/main" id="{2EBD541F-F82D-4DA6-86B4-6D4E02019E90}"/>
                </a:ext>
              </a:extLst>
            </p:cNvPr>
            <p:cNvSpPr>
              <a:spLocks noChangeShapeType="1"/>
            </p:cNvSpPr>
            <p:nvPr/>
          </p:nvSpPr>
          <p:spPr bwMode="auto">
            <a:xfrm>
              <a:off x="2064" y="1377"/>
              <a:ext cx="33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3C9E7E4C-A1E9-4F15-B4DE-6C8571AF49C7}"/>
              </a:ext>
            </a:extLst>
          </p:cNvPr>
          <p:cNvSpPr>
            <a:spLocks noGrp="1"/>
          </p:cNvSpPr>
          <p:nvPr>
            <p:ph type="title"/>
          </p:nvPr>
        </p:nvSpPr>
        <p:spPr>
          <a:xfrm>
            <a:off x="457200" y="198437"/>
            <a:ext cx="8229600" cy="792163"/>
          </a:xfrm>
        </p:spPr>
        <p:txBody>
          <a:bodyPr/>
          <a:lstStyle/>
          <a:p>
            <a:r>
              <a:rPr lang="en-US" altLang="en-US" dirty="0"/>
              <a:t>Reporting Cash Flows from Investing Activities Part 1</a:t>
            </a:r>
          </a:p>
        </p:txBody>
      </p:sp>
      <p:sp>
        <p:nvSpPr>
          <p:cNvPr id="48130" name="Content Placeholder 2">
            <a:extLst>
              <a:ext uri="{FF2B5EF4-FFF2-40B4-BE49-F238E27FC236}">
                <a16:creationId xmlns:a16="http://schemas.microsoft.com/office/drawing/2014/main" id="{514C500F-D68F-4E20-96D0-DE712E26C158}"/>
              </a:ext>
            </a:extLst>
          </p:cNvPr>
          <p:cNvSpPr>
            <a:spLocks noGrp="1"/>
          </p:cNvSpPr>
          <p:nvPr>
            <p:ph idx="1"/>
          </p:nvPr>
        </p:nvSpPr>
        <p:spPr/>
        <p:txBody>
          <a:bodyPr/>
          <a:lstStyle/>
          <a:p>
            <a:r>
              <a:rPr lang="en-CA" altLang="en-US" dirty="0"/>
              <a:t>Preparing this section of the statement of cash flows requires analyzing the accounts related to property, plant, and equipment; intangible assets; and investments in the securities of other companies. </a:t>
            </a:r>
          </a:p>
          <a:p>
            <a:endParaRPr lang="en-CA" altLang="en-US" sz="800" dirty="0"/>
          </a:p>
          <a:p>
            <a:r>
              <a:rPr lang="en-CA" dirty="0"/>
              <a:t>Normally, the relevant statement of financial position accounts include short-term investments and long-lived asset accounts, such as long-term investments and property, plant, and equipment.</a:t>
            </a:r>
            <a:endParaRPr lang="en-US"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6AA58989-C8C7-4988-A16D-D2D8FEE4C212}"/>
              </a:ext>
            </a:extLst>
          </p:cNvPr>
          <p:cNvSpPr>
            <a:spLocks noGrp="1"/>
          </p:cNvSpPr>
          <p:nvPr>
            <p:ph type="title"/>
          </p:nvPr>
        </p:nvSpPr>
        <p:spPr>
          <a:xfrm>
            <a:off x="457200" y="198437"/>
            <a:ext cx="8229600" cy="792163"/>
          </a:xfrm>
        </p:spPr>
        <p:txBody>
          <a:bodyPr/>
          <a:lstStyle/>
          <a:p>
            <a:r>
              <a:rPr lang="en-US" altLang="en-US" dirty="0"/>
              <a:t>Reporting Cash Flows from Investing Activities Part 2</a:t>
            </a:r>
          </a:p>
        </p:txBody>
      </p:sp>
      <p:sp>
        <p:nvSpPr>
          <p:cNvPr id="18434" name="Content Placeholder 2">
            <a:extLst>
              <a:ext uri="{FF2B5EF4-FFF2-40B4-BE49-F238E27FC236}">
                <a16:creationId xmlns:a16="http://schemas.microsoft.com/office/drawing/2014/main" id="{E18A60F4-F544-48C0-BFE5-29372EF7DED9}"/>
              </a:ext>
            </a:extLst>
          </p:cNvPr>
          <p:cNvSpPr>
            <a:spLocks noGrp="1"/>
          </p:cNvSpPr>
          <p:nvPr>
            <p:ph idx="1"/>
          </p:nvPr>
        </p:nvSpPr>
        <p:spPr>
          <a:xfrm>
            <a:off x="457200" y="1219200"/>
            <a:ext cx="8229600" cy="5334000"/>
          </a:xfrm>
        </p:spPr>
        <p:txBody>
          <a:bodyPr/>
          <a:lstStyle/>
          <a:p>
            <a:r>
              <a:rPr lang="en-US" altLang="en-US" dirty="0"/>
              <a:t>The following relationships are the ones that you will encounter most frequently:</a:t>
            </a:r>
          </a:p>
        </p:txBody>
      </p:sp>
      <p:graphicFrame>
        <p:nvGraphicFramePr>
          <p:cNvPr id="4" name="Table 3">
            <a:extLst>
              <a:ext uri="{FF2B5EF4-FFF2-40B4-BE49-F238E27FC236}">
                <a16:creationId xmlns:a16="http://schemas.microsoft.com/office/drawing/2014/main" id="{C3D5FA0D-A76E-456D-9740-34745EE9D2B0}"/>
              </a:ext>
            </a:extLst>
          </p:cNvPr>
          <p:cNvGraphicFramePr>
            <a:graphicFrameLocks noGrp="1"/>
          </p:cNvGraphicFramePr>
          <p:nvPr>
            <p:extLst>
              <p:ext uri="{D42A27DB-BD31-4B8C-83A1-F6EECF244321}">
                <p14:modId xmlns:p14="http://schemas.microsoft.com/office/powerpoint/2010/main" val="3660315408"/>
              </p:ext>
            </p:extLst>
          </p:nvPr>
        </p:nvGraphicFramePr>
        <p:xfrm>
          <a:off x="761999" y="2209800"/>
          <a:ext cx="8001001" cy="3813820"/>
        </p:xfrm>
        <a:graphic>
          <a:graphicData uri="http://schemas.openxmlformats.org/drawingml/2006/table">
            <a:tbl>
              <a:tblPr/>
              <a:tblGrid>
                <a:gridCol w="2971801">
                  <a:extLst>
                    <a:ext uri="{9D8B030D-6E8A-4147-A177-3AD203B41FA5}">
                      <a16:colId xmlns:a16="http://schemas.microsoft.com/office/drawing/2014/main" val="20000"/>
                    </a:ext>
                  </a:extLst>
                </a:gridCol>
                <a:gridCol w="3598332">
                  <a:extLst>
                    <a:ext uri="{9D8B030D-6E8A-4147-A177-3AD203B41FA5}">
                      <a16:colId xmlns:a16="http://schemas.microsoft.com/office/drawing/2014/main" val="20001"/>
                    </a:ext>
                  </a:extLst>
                </a:gridCol>
                <a:gridCol w="1430868">
                  <a:extLst>
                    <a:ext uri="{9D8B030D-6E8A-4147-A177-3AD203B41FA5}">
                      <a16:colId xmlns:a16="http://schemas.microsoft.com/office/drawing/2014/main" val="20002"/>
                    </a:ext>
                  </a:extLst>
                </a:gridCol>
              </a:tblGrid>
              <a:tr h="205596">
                <a:tc>
                  <a:txBody>
                    <a:bodyPr/>
                    <a:lstStyle/>
                    <a:p>
                      <a:pPr algn="l" fontAlgn="b"/>
                      <a:r>
                        <a:rPr lang="en-CA" sz="1400" b="1" dirty="0">
                          <a:effectLst/>
                          <a:latin typeface="inherit"/>
                        </a:rPr>
                        <a:t>Related Statement of Financial</a:t>
                      </a:r>
                      <a:br>
                        <a:rPr lang="en-CA" sz="1400" b="1" dirty="0">
                          <a:effectLst/>
                          <a:latin typeface="inherit"/>
                        </a:rPr>
                      </a:br>
                      <a:r>
                        <a:rPr lang="en-CA" sz="1400" b="1" dirty="0">
                          <a:effectLst/>
                          <a:latin typeface="inherit"/>
                        </a:rPr>
                        <a:t>Position Account(s)</a:t>
                      </a:r>
                      <a:br>
                        <a:rPr lang="en-CA" sz="1400" b="1" dirty="0">
                          <a:effectLst/>
                          <a:latin typeface="inherit"/>
                        </a:rPr>
                      </a:br>
                      <a:endParaRPr lang="en-CA" sz="1400" dirty="0">
                        <a:effectLst/>
                      </a:endParaRPr>
                    </a:p>
                  </a:txBody>
                  <a:tcPr marL="146659" marR="73330" marT="73325" marB="21997" anchor="b">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base"/>
                      <a:r>
                        <a:rPr lang="en-CA" sz="1400" b="1" dirty="0">
                          <a:effectLst/>
                          <a:latin typeface="inherit"/>
                        </a:rPr>
                        <a:t>Investing Activity</a:t>
                      </a:r>
                      <a:endParaRPr lang="en-CA" sz="1400" dirty="0">
                        <a:effectLst/>
                      </a:endParaRPr>
                    </a:p>
                  </a:txBody>
                  <a:tcPr marL="73330" marR="73330" marT="73325" marB="21997"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400" b="1" dirty="0">
                          <a:effectLst/>
                          <a:latin typeface="inherit"/>
                        </a:rPr>
                        <a:t>Cash Flow</a:t>
                      </a:r>
                      <a:br>
                        <a:rPr lang="en-CA" sz="1400" b="1" dirty="0">
                          <a:effectLst/>
                          <a:latin typeface="inherit"/>
                        </a:rPr>
                      </a:br>
                      <a:r>
                        <a:rPr lang="en-CA" sz="1400" b="1" dirty="0">
                          <a:effectLst/>
                          <a:latin typeface="inherit"/>
                        </a:rPr>
                        <a:t>Effect</a:t>
                      </a:r>
                      <a:endParaRPr lang="en-CA" sz="1400" dirty="0">
                        <a:effectLst/>
                      </a:endParaRPr>
                    </a:p>
                  </a:txBody>
                  <a:tcPr marL="73330" marR="146659" marT="73325" marB="21997"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48700">
                <a:tc>
                  <a:txBody>
                    <a:bodyPr/>
                    <a:lstStyle/>
                    <a:p>
                      <a:pPr fontAlgn="base"/>
                      <a:r>
                        <a:rPr lang="en-CA" sz="1400" dirty="0">
                          <a:effectLst/>
                          <a:latin typeface="+mn-lt"/>
                        </a:rPr>
                        <a:t>Property, plant, and equipment and intangible assets (e.g., patents)</a:t>
                      </a:r>
                      <a:br>
                        <a:rPr lang="en-CA" sz="1400" dirty="0">
                          <a:effectLst/>
                          <a:latin typeface="+mn-lt"/>
                        </a:rPr>
                      </a:br>
                      <a:endParaRPr lang="en-CA" sz="1400" dirty="0">
                        <a:effectLst/>
                        <a:latin typeface="+mn-lt"/>
                      </a:endParaRPr>
                    </a:p>
                  </a:txBody>
                  <a:tcPr marL="146659" marR="73330" marT="73325" marB="21997"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dirty="0">
                          <a:effectLst/>
                          <a:latin typeface="+mn-lt"/>
                        </a:rPr>
                        <a:t>Purchase of property, plant, and equipment</a:t>
                      </a:r>
                    </a:p>
                    <a:p>
                      <a:pPr fontAlgn="base"/>
                      <a:r>
                        <a:rPr lang="en-CA" sz="1400" dirty="0">
                          <a:effectLst/>
                          <a:latin typeface="+mn-lt"/>
                        </a:rPr>
                        <a:t> or intangible assets for cash</a:t>
                      </a:r>
                    </a:p>
                  </a:txBody>
                  <a:tcPr marL="73330" marR="73330" marT="73325" marB="21997"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CA" sz="1400" dirty="0">
                          <a:effectLst/>
                          <a:latin typeface="+mn-lt"/>
                        </a:rPr>
                        <a:t>Outflow</a:t>
                      </a:r>
                    </a:p>
                  </a:txBody>
                  <a:tcPr marL="73330" marR="146659" marT="73325" marB="21997" anchor="b">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522011">
                <a:tc>
                  <a:txBody>
                    <a:bodyPr/>
                    <a:lstStyle/>
                    <a:p>
                      <a:pPr fontAlgn="base"/>
                      <a:br>
                        <a:rPr lang="en-CA" sz="1400" dirty="0">
                          <a:effectLst/>
                          <a:latin typeface="+mn-lt"/>
                        </a:rPr>
                      </a:br>
                      <a:endParaRPr lang="en-CA" sz="1400" dirty="0">
                        <a:effectLst/>
                        <a:latin typeface="+mn-lt"/>
                      </a:endParaRPr>
                    </a:p>
                  </a:txBody>
                  <a:tcPr marL="146659" marR="73330" marT="73325" marB="21997"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dirty="0">
                          <a:effectLst/>
                          <a:latin typeface="+mn-lt"/>
                        </a:rPr>
                        <a:t>Sale of property, plant, and equipment</a:t>
                      </a:r>
                    </a:p>
                    <a:p>
                      <a:pPr fontAlgn="base"/>
                      <a:r>
                        <a:rPr lang="en-CA" sz="1400" dirty="0">
                          <a:effectLst/>
                          <a:latin typeface="+mn-lt"/>
                        </a:rPr>
                        <a:t> or intangible assets for cash</a:t>
                      </a:r>
                    </a:p>
                  </a:txBody>
                  <a:tcPr marL="73330" marR="73330" marT="73325" marB="21997" anchor="ctr">
                    <a:lnL>
                      <a:noFill/>
                    </a:lnL>
                    <a:lnR>
                      <a:noFill/>
                    </a:lnR>
                    <a:lnT>
                      <a:noFill/>
                    </a:lnT>
                    <a:lnB>
                      <a:noFill/>
                    </a:lnB>
                    <a:solidFill>
                      <a:srgbClr val="FFFFFF"/>
                    </a:solidFill>
                  </a:tcPr>
                </a:tc>
                <a:tc>
                  <a:txBody>
                    <a:bodyPr/>
                    <a:lstStyle/>
                    <a:p>
                      <a:pPr algn="ctr" fontAlgn="b"/>
                      <a:r>
                        <a:rPr lang="en-CA" sz="1400" dirty="0">
                          <a:effectLst/>
                          <a:latin typeface="+mn-lt"/>
                        </a:rPr>
                        <a:t>Inflow</a:t>
                      </a:r>
                    </a:p>
                  </a:txBody>
                  <a:tcPr marL="73330" marR="146659" marT="73325" marB="21997" anchor="b">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1085634">
                <a:tc>
                  <a:txBody>
                    <a:bodyPr/>
                    <a:lstStyle/>
                    <a:p>
                      <a:pPr fontAlgn="base"/>
                      <a:r>
                        <a:rPr lang="en-CA" sz="1400">
                          <a:effectLst/>
                          <a:latin typeface="+mn-lt"/>
                        </a:rPr>
                        <a:t>Short- or long-term investments in shares and bonds issued by other companies</a:t>
                      </a:r>
                      <a:br>
                        <a:rPr lang="en-CA" sz="1400">
                          <a:effectLst/>
                          <a:latin typeface="+mn-lt"/>
                        </a:rPr>
                      </a:br>
                      <a:endParaRPr lang="en-CA" sz="1400">
                        <a:effectLst/>
                        <a:latin typeface="+mn-lt"/>
                      </a:endParaRPr>
                    </a:p>
                  </a:txBody>
                  <a:tcPr marL="146659" marR="73330" marT="73325" marB="21997"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dirty="0">
                          <a:effectLst/>
                          <a:latin typeface="+mn-lt"/>
                        </a:rPr>
                        <a:t>Purchase of investment securities for cash</a:t>
                      </a:r>
                    </a:p>
                  </a:txBody>
                  <a:tcPr marL="73330" marR="73330" marT="73325" marB="21997" anchor="ctr">
                    <a:lnL>
                      <a:noFill/>
                    </a:lnL>
                    <a:lnR>
                      <a:noFill/>
                    </a:lnR>
                    <a:lnT>
                      <a:noFill/>
                    </a:lnT>
                    <a:lnB>
                      <a:noFill/>
                    </a:lnB>
                    <a:solidFill>
                      <a:srgbClr val="FFFFFF"/>
                    </a:solidFill>
                  </a:tcPr>
                </a:tc>
                <a:tc>
                  <a:txBody>
                    <a:bodyPr/>
                    <a:lstStyle/>
                    <a:p>
                      <a:pPr algn="ctr" fontAlgn="t"/>
                      <a:endParaRPr lang="en-CA" sz="1400" dirty="0">
                        <a:effectLst/>
                        <a:latin typeface="+mn-lt"/>
                      </a:endParaRPr>
                    </a:p>
                    <a:p>
                      <a:pPr algn="ctr" fontAlgn="t"/>
                      <a:r>
                        <a:rPr lang="en-CA" sz="1400" dirty="0">
                          <a:effectLst/>
                          <a:latin typeface="+mn-lt"/>
                        </a:rPr>
                        <a:t>Outflow</a:t>
                      </a:r>
                    </a:p>
                  </a:txBody>
                  <a:tcPr marL="73330" marR="146659" marT="73325" marB="21997">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522011">
                <a:tc>
                  <a:txBody>
                    <a:bodyPr/>
                    <a:lstStyle/>
                    <a:p>
                      <a:pPr fontAlgn="base"/>
                      <a:br>
                        <a:rPr lang="en-CA" sz="1400">
                          <a:effectLst/>
                          <a:latin typeface="+mn-lt"/>
                        </a:rPr>
                      </a:br>
                      <a:endParaRPr lang="en-CA" sz="1400">
                        <a:effectLst/>
                        <a:latin typeface="+mn-lt"/>
                      </a:endParaRPr>
                    </a:p>
                  </a:txBody>
                  <a:tcPr marL="146659" marR="73330" marT="73325" marB="21997"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dirty="0">
                          <a:effectLst/>
                          <a:latin typeface="+mn-lt"/>
                        </a:rPr>
                        <a:t>Sale (maturity) of investment securities for cash</a:t>
                      </a:r>
                    </a:p>
                  </a:txBody>
                  <a:tcPr marL="73330" marR="73330" marT="73325" marB="21997"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t"/>
                      <a:r>
                        <a:rPr lang="en-CA" sz="1400" dirty="0">
                          <a:effectLst/>
                          <a:latin typeface="+mn-lt"/>
                        </a:rPr>
                        <a:t>  Inflow</a:t>
                      </a:r>
                    </a:p>
                  </a:txBody>
                  <a:tcPr marL="73330" marR="146659" marT="73325" marB="21997">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CEAB7487-6359-4F2D-9E09-0D2DF1D72861}"/>
              </a:ext>
            </a:extLst>
          </p:cNvPr>
          <p:cNvSpPr>
            <a:spLocks noGrp="1"/>
          </p:cNvSpPr>
          <p:nvPr>
            <p:ph type="title"/>
          </p:nvPr>
        </p:nvSpPr>
        <p:spPr>
          <a:xfrm>
            <a:off x="457200" y="198437"/>
            <a:ext cx="8229600" cy="792163"/>
          </a:xfrm>
        </p:spPr>
        <p:txBody>
          <a:bodyPr/>
          <a:lstStyle/>
          <a:p>
            <a:r>
              <a:rPr lang="en-US" altLang="en-US" dirty="0"/>
              <a:t>Reporting Cash Flows from Investing Activities Part 3</a:t>
            </a:r>
          </a:p>
        </p:txBody>
      </p:sp>
      <p:sp>
        <p:nvSpPr>
          <p:cNvPr id="3" name="Content Placeholder 2">
            <a:extLst>
              <a:ext uri="{FF2B5EF4-FFF2-40B4-BE49-F238E27FC236}">
                <a16:creationId xmlns:a16="http://schemas.microsoft.com/office/drawing/2014/main" id="{B0A5B272-5A50-4921-A656-458CFA1D5B8B}"/>
              </a:ext>
            </a:extLst>
          </p:cNvPr>
          <p:cNvSpPr>
            <a:spLocks noGrp="1"/>
          </p:cNvSpPr>
          <p:nvPr>
            <p:ph idx="1"/>
          </p:nvPr>
        </p:nvSpPr>
        <p:spPr/>
        <p:txBody>
          <a:bodyPr/>
          <a:lstStyle/>
          <a:p>
            <a:pPr>
              <a:buFont typeface="Wingdings 3" pitchFamily="2" charset="2"/>
              <a:buChar char=""/>
              <a:defRPr/>
            </a:pPr>
            <a:r>
              <a:rPr lang="en-CA" dirty="0"/>
              <a:t>Typical investing activities include the following:</a:t>
            </a:r>
          </a:p>
          <a:p>
            <a:pPr marL="788988" lvl="1" indent="-514350">
              <a:buFont typeface="+mj-lt"/>
              <a:buAutoNum type="arabicPeriod"/>
              <a:defRPr/>
            </a:pPr>
            <a:r>
              <a:rPr lang="en-CA" dirty="0"/>
              <a:t>Cash expenditures that include the acquisition of tangible productive assets, such as buildings and equipment; intangible assets, such as trademarks and patents; and short- or long-term investments, such as shares or bonds issued by other companies, guaranteed investment certificates, or government securities with maturities of more than three months. </a:t>
            </a:r>
            <a:r>
              <a:rPr lang="en-CA" i="1" dirty="0"/>
              <a:t>Only purchases paid for with cash or cash equivalents are included</a:t>
            </a:r>
            <a:r>
              <a:rPr lang="en-CA" sz="1300" i="1" dirty="0"/>
              <a:t>.</a:t>
            </a:r>
            <a:endParaRPr lang="en-CA" sz="2100" dirty="0"/>
          </a:p>
          <a:p>
            <a:pPr marL="788988" lvl="1" indent="-514350">
              <a:buFont typeface="+mj-lt"/>
              <a:buAutoNum type="arabicPeriod"/>
              <a:defRPr/>
            </a:pPr>
            <a:r>
              <a:rPr lang="en-CA" dirty="0"/>
              <a:t>Cash proceeds from the sale of productive assets; intangible assets; and maturity of sale of short- or long-term investments. This is the amount of cash that was received from the sale of assets, regardless of whether the assets were sold at a gain or a loss.</a:t>
            </a:r>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EDFCC077-FC4B-421C-9265-9598C8D316D0}"/>
              </a:ext>
            </a:extLst>
          </p:cNvPr>
          <p:cNvSpPr>
            <a:spLocks noGrp="1"/>
          </p:cNvSpPr>
          <p:nvPr>
            <p:ph type="title"/>
          </p:nvPr>
        </p:nvSpPr>
        <p:spPr/>
        <p:txBody>
          <a:bodyPr/>
          <a:lstStyle/>
          <a:p>
            <a:r>
              <a:rPr lang="en-US" altLang="en-US"/>
              <a:t>Key Ratio Analysis </a:t>
            </a:r>
            <a:r>
              <a:rPr lang="en-US" altLang="en-US">
                <a:sym typeface="Wingdings" panose="05000000000000000000" pitchFamily="2" charset="2"/>
              </a:rPr>
              <a:t> Capital Expenditures Ratio</a:t>
            </a:r>
            <a:endParaRPr lang="en-US" altLang="en-US"/>
          </a:p>
        </p:txBody>
      </p:sp>
      <p:sp>
        <p:nvSpPr>
          <p:cNvPr id="3" name="Content Placeholder 2">
            <a:extLst>
              <a:ext uri="{FF2B5EF4-FFF2-40B4-BE49-F238E27FC236}">
                <a16:creationId xmlns:a16="http://schemas.microsoft.com/office/drawing/2014/main" id="{BBA034BB-5837-4A6C-94D2-6DA42A7B0833}"/>
              </a:ext>
            </a:extLst>
          </p:cNvPr>
          <p:cNvSpPr>
            <a:spLocks noGrp="1"/>
          </p:cNvSpPr>
          <p:nvPr>
            <p:ph idx="1"/>
          </p:nvPr>
        </p:nvSpPr>
        <p:spPr>
          <a:xfrm>
            <a:off x="457200" y="990600"/>
            <a:ext cx="8534400" cy="5334000"/>
          </a:xfrm>
        </p:spPr>
        <p:txBody>
          <a:bodyPr/>
          <a:lstStyle/>
          <a:p>
            <a:pPr>
              <a:defRPr/>
            </a:pPr>
            <a:r>
              <a:rPr lang="en-CA" altLang="en-US" sz="2500" b="1" dirty="0"/>
              <a:t>ANALYTICAL QUESTION</a:t>
            </a:r>
            <a:r>
              <a:rPr lang="en-CA" altLang="en-US" sz="2500" dirty="0"/>
              <a:t> →</a:t>
            </a:r>
            <a:r>
              <a:rPr lang="en-CA" sz="2500" dirty="0"/>
              <a:t> To what degree was the company able to finance purchases of property, plant, and equipment with cash provided by operating activities?</a:t>
            </a:r>
          </a:p>
          <a:p>
            <a:pPr>
              <a:defRPr/>
            </a:pPr>
            <a:r>
              <a:rPr lang="en-CA" altLang="en-US" sz="2500" b="1" dirty="0"/>
              <a:t>RATIO AND COMPARISONS</a:t>
            </a:r>
            <a:r>
              <a:rPr lang="en-CA" altLang="en-US" sz="2500" dirty="0"/>
              <a:t> → </a:t>
            </a:r>
            <a:r>
              <a:rPr lang="en-CA" sz="2500" dirty="0"/>
              <a:t>This ratio is calculated as:</a:t>
            </a:r>
          </a:p>
          <a:p>
            <a:pPr marL="0" indent="0">
              <a:buNone/>
              <a:defRPr/>
            </a:pPr>
            <a:r>
              <a:rPr lang="en-CA" altLang="en-US" sz="2500" dirty="0"/>
              <a:t> </a:t>
            </a:r>
            <a:endParaRPr lang="en-US" sz="2500" dirty="0"/>
          </a:p>
          <a:p>
            <a:pPr>
              <a:buFont typeface="Wingdings 3" pitchFamily="2" charset="2"/>
              <a:buChar char=""/>
              <a:defRPr/>
            </a:pPr>
            <a:endParaRPr lang="en-US" dirty="0"/>
          </a:p>
          <a:p>
            <a:pPr marL="0" indent="0">
              <a:buFont typeface="Wingdings 3" pitchFamily="2" charset="2"/>
              <a:buNone/>
              <a:defRPr/>
            </a:pPr>
            <a:endParaRPr lang="en-US" dirty="0"/>
          </a:p>
          <a:p>
            <a:pPr>
              <a:buFont typeface="Wingdings 3" pitchFamily="2" charset="2"/>
              <a:buChar char=""/>
              <a:defRPr/>
            </a:pPr>
            <a:r>
              <a:rPr lang="en-CA" altLang="en-US" sz="2500" dirty="0"/>
              <a:t>In general, this </a:t>
            </a:r>
            <a:r>
              <a:rPr lang="en-CA" sz="2500" dirty="0"/>
              <a:t>ratio reflects the portion of purchases of property, plant, and equipment financed from operating activities without the need for outside debt or equity financing or the sale of long-lived assets or other investments. A high ratio indicates less need for outside financing for current and future expansion. </a:t>
            </a:r>
            <a:endParaRPr lang="en-US" sz="2500" dirty="0"/>
          </a:p>
        </p:txBody>
      </p:sp>
      <p:grpSp>
        <p:nvGrpSpPr>
          <p:cNvPr id="21507" name="Group 10">
            <a:extLst>
              <a:ext uri="{FF2B5EF4-FFF2-40B4-BE49-F238E27FC236}">
                <a16:creationId xmlns:a16="http://schemas.microsoft.com/office/drawing/2014/main" id="{2024491B-07CA-4831-AC12-D6D95CB2D23B}"/>
              </a:ext>
            </a:extLst>
          </p:cNvPr>
          <p:cNvGrpSpPr>
            <a:grpSpLocks/>
          </p:cNvGrpSpPr>
          <p:nvPr/>
        </p:nvGrpSpPr>
        <p:grpSpPr bwMode="auto">
          <a:xfrm>
            <a:off x="609600" y="2854325"/>
            <a:ext cx="8097838" cy="1184275"/>
            <a:chOff x="384" y="960"/>
            <a:chExt cx="5101" cy="746"/>
          </a:xfrm>
        </p:grpSpPr>
        <p:sp>
          <p:nvSpPr>
            <p:cNvPr id="21508" name="Rectangle 6">
              <a:extLst>
                <a:ext uri="{FF2B5EF4-FFF2-40B4-BE49-F238E27FC236}">
                  <a16:creationId xmlns:a16="http://schemas.microsoft.com/office/drawing/2014/main" id="{C3D5486A-48C4-4169-A220-D1992EFBF753}"/>
                </a:ext>
              </a:extLst>
            </p:cNvPr>
            <p:cNvSpPr>
              <a:spLocks noChangeArrowheads="1"/>
            </p:cNvSpPr>
            <p:nvPr/>
          </p:nvSpPr>
          <p:spPr bwMode="auto">
            <a:xfrm>
              <a:off x="1960" y="1104"/>
              <a:ext cx="3525"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 Cash Flow from Operating Activities </a:t>
              </a:r>
            </a:p>
            <a:p>
              <a:pPr algn="ctr">
                <a:spcBef>
                  <a:spcPct val="0"/>
                </a:spcBef>
                <a:buClrTx/>
                <a:buSzTx/>
                <a:buFontTx/>
                <a:buNone/>
              </a:pPr>
              <a:r>
                <a:rPr lang="en-CA" altLang="en-US" sz="2400" b="1" dirty="0">
                  <a:latin typeface="Arial" panose="020B0604020202020204" pitchFamily="34" charset="0"/>
                </a:rPr>
                <a:t>Cash Paid for Capital Expenditures</a:t>
              </a:r>
            </a:p>
          </p:txBody>
        </p:sp>
        <p:sp>
          <p:nvSpPr>
            <p:cNvPr id="21509" name="Rectangle 7">
              <a:extLst>
                <a:ext uri="{FF2B5EF4-FFF2-40B4-BE49-F238E27FC236}">
                  <a16:creationId xmlns:a16="http://schemas.microsoft.com/office/drawing/2014/main" id="{139C9146-0AF6-4020-BDB6-ECB1C191BC89}"/>
                </a:ext>
              </a:extLst>
            </p:cNvPr>
            <p:cNvSpPr>
              <a:spLocks noChangeArrowheads="1"/>
            </p:cNvSpPr>
            <p:nvPr/>
          </p:nvSpPr>
          <p:spPr bwMode="auto">
            <a:xfrm>
              <a:off x="384" y="960"/>
              <a:ext cx="1347" cy="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Capital Expenditures Ratio</a:t>
              </a:r>
            </a:p>
          </p:txBody>
        </p:sp>
        <p:sp>
          <p:nvSpPr>
            <p:cNvPr id="21510" name="Rectangle 8">
              <a:extLst>
                <a:ext uri="{FF2B5EF4-FFF2-40B4-BE49-F238E27FC236}">
                  <a16:creationId xmlns:a16="http://schemas.microsoft.com/office/drawing/2014/main" id="{431F5364-0156-4F76-8145-AA15FBDD5D5B}"/>
                </a:ext>
              </a:extLst>
            </p:cNvPr>
            <p:cNvSpPr>
              <a:spLocks noChangeArrowheads="1"/>
            </p:cNvSpPr>
            <p:nvPr/>
          </p:nvSpPr>
          <p:spPr bwMode="auto">
            <a:xfrm>
              <a:off x="1722" y="1194"/>
              <a:ext cx="24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dirty="0">
                  <a:latin typeface="Arial" panose="020B0604020202020204" pitchFamily="34" charset="0"/>
                </a:rPr>
                <a:t>=</a:t>
              </a:r>
            </a:p>
          </p:txBody>
        </p:sp>
        <p:sp>
          <p:nvSpPr>
            <p:cNvPr id="21511" name="Line 9">
              <a:extLst>
                <a:ext uri="{FF2B5EF4-FFF2-40B4-BE49-F238E27FC236}">
                  <a16:creationId xmlns:a16="http://schemas.microsoft.com/office/drawing/2014/main" id="{066AA212-D705-4A2C-8BA9-E7A40E39DC26}"/>
                </a:ext>
              </a:extLst>
            </p:cNvPr>
            <p:cNvSpPr>
              <a:spLocks noChangeShapeType="1"/>
            </p:cNvSpPr>
            <p:nvPr/>
          </p:nvSpPr>
          <p:spPr bwMode="auto">
            <a:xfrm>
              <a:off x="2064" y="1377"/>
              <a:ext cx="33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95087D12-2AAD-40CC-B651-BF0521C68F1B}"/>
              </a:ext>
            </a:extLst>
          </p:cNvPr>
          <p:cNvSpPr>
            <a:spLocks noGrp="1"/>
          </p:cNvSpPr>
          <p:nvPr>
            <p:ph type="title"/>
          </p:nvPr>
        </p:nvSpPr>
        <p:spPr/>
        <p:txBody>
          <a:bodyPr/>
          <a:lstStyle/>
          <a:p>
            <a:r>
              <a:rPr lang="en-US" altLang="en-US"/>
              <a:t>Free Cash Flow</a:t>
            </a:r>
          </a:p>
        </p:txBody>
      </p:sp>
      <p:sp>
        <p:nvSpPr>
          <p:cNvPr id="3" name="Content Placeholder 2">
            <a:extLst>
              <a:ext uri="{FF2B5EF4-FFF2-40B4-BE49-F238E27FC236}">
                <a16:creationId xmlns:a16="http://schemas.microsoft.com/office/drawing/2014/main" id="{7300FD21-B836-4224-B1E5-7587C3194182}"/>
              </a:ext>
            </a:extLst>
          </p:cNvPr>
          <p:cNvSpPr>
            <a:spLocks noGrp="1"/>
          </p:cNvSpPr>
          <p:nvPr>
            <p:ph idx="1"/>
          </p:nvPr>
        </p:nvSpPr>
        <p:spPr>
          <a:xfrm>
            <a:off x="457200" y="1295400"/>
            <a:ext cx="8229600" cy="5334000"/>
          </a:xfrm>
        </p:spPr>
        <p:txBody>
          <a:bodyPr/>
          <a:lstStyle/>
          <a:p>
            <a:pPr>
              <a:buFont typeface="Wingdings 3" pitchFamily="2" charset="2"/>
              <a:buChar char=""/>
              <a:defRPr/>
            </a:pPr>
            <a:r>
              <a:rPr lang="en-CA" dirty="0"/>
              <a:t>Managers and analysts also often calculate free cash flow as a measure of the firm’s ability to pursue long-term investment opportunities. It is normally calculated as follows:</a:t>
            </a:r>
            <a:endParaRPr lang="en-CA" altLang="en-US" b="1" dirty="0">
              <a:solidFill>
                <a:srgbClr val="4F5E3C"/>
              </a:solidFill>
            </a:endParaRPr>
          </a:p>
          <a:p>
            <a:pPr>
              <a:buFont typeface="Wingdings 3" pitchFamily="2" charset="2"/>
              <a:buChar char=""/>
              <a:defRPr/>
            </a:pPr>
            <a:endParaRPr lang="en-CA" altLang="en-US" sz="2800" b="1" dirty="0">
              <a:solidFill>
                <a:srgbClr val="4F5E3C"/>
              </a:solidFill>
            </a:endParaRPr>
          </a:p>
          <a:p>
            <a:pPr>
              <a:buFont typeface="Wingdings 3" pitchFamily="2" charset="2"/>
              <a:buChar char=""/>
              <a:defRPr/>
            </a:pPr>
            <a:endParaRPr lang="en-US" dirty="0"/>
          </a:p>
        </p:txBody>
      </p:sp>
      <p:grpSp>
        <p:nvGrpSpPr>
          <p:cNvPr id="22531" name="Group 10">
            <a:extLst>
              <a:ext uri="{FF2B5EF4-FFF2-40B4-BE49-F238E27FC236}">
                <a16:creationId xmlns:a16="http://schemas.microsoft.com/office/drawing/2014/main" id="{A7649A8F-DD3C-488D-A079-73A8B0ABCF44}"/>
              </a:ext>
            </a:extLst>
          </p:cNvPr>
          <p:cNvGrpSpPr>
            <a:grpSpLocks/>
          </p:cNvGrpSpPr>
          <p:nvPr/>
        </p:nvGrpSpPr>
        <p:grpSpPr bwMode="auto">
          <a:xfrm>
            <a:off x="762000" y="3349625"/>
            <a:ext cx="7772936" cy="841375"/>
            <a:chOff x="720" y="1068"/>
            <a:chExt cx="4599" cy="530"/>
          </a:xfrm>
        </p:grpSpPr>
        <p:sp>
          <p:nvSpPr>
            <p:cNvPr id="22532" name="Rectangle 6">
              <a:extLst>
                <a:ext uri="{FF2B5EF4-FFF2-40B4-BE49-F238E27FC236}">
                  <a16:creationId xmlns:a16="http://schemas.microsoft.com/office/drawing/2014/main" id="{E896F5CE-09BB-42DF-AD91-27A665C2D061}"/>
                </a:ext>
              </a:extLst>
            </p:cNvPr>
            <p:cNvSpPr>
              <a:spLocks noChangeArrowheads="1"/>
            </p:cNvSpPr>
            <p:nvPr/>
          </p:nvSpPr>
          <p:spPr bwMode="auto">
            <a:xfrm>
              <a:off x="2027" y="1076"/>
              <a:ext cx="3292"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dirty="0">
                  <a:latin typeface="Arial" panose="020B0604020202020204" pitchFamily="34" charset="0"/>
                </a:rPr>
                <a:t>Cash Flow from Operating Activities</a:t>
              </a:r>
            </a:p>
            <a:p>
              <a:pPr>
                <a:spcBef>
                  <a:spcPct val="0"/>
                </a:spcBef>
                <a:buClrTx/>
                <a:buSzTx/>
                <a:buFontTx/>
                <a:buNone/>
              </a:pPr>
              <a:r>
                <a:rPr lang="en-CA" altLang="en-US" sz="2400" b="1" dirty="0">
                  <a:latin typeface="Arial" panose="020B0604020202020204" pitchFamily="34" charset="0"/>
                </a:rPr>
                <a:t> – Dividends – Capital Expenditures</a:t>
              </a:r>
            </a:p>
          </p:txBody>
        </p:sp>
        <p:sp>
          <p:nvSpPr>
            <p:cNvPr id="22533" name="Rectangle 7">
              <a:extLst>
                <a:ext uri="{FF2B5EF4-FFF2-40B4-BE49-F238E27FC236}">
                  <a16:creationId xmlns:a16="http://schemas.microsoft.com/office/drawing/2014/main" id="{C6221804-1358-41CE-A451-E38FA93F5152}"/>
                </a:ext>
              </a:extLst>
            </p:cNvPr>
            <p:cNvSpPr>
              <a:spLocks noChangeArrowheads="1"/>
            </p:cNvSpPr>
            <p:nvPr/>
          </p:nvSpPr>
          <p:spPr bwMode="auto">
            <a:xfrm>
              <a:off x="720" y="1068"/>
              <a:ext cx="1127"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Free </a:t>
              </a:r>
            </a:p>
            <a:p>
              <a:pPr algn="ctr">
                <a:spcBef>
                  <a:spcPct val="0"/>
                </a:spcBef>
                <a:buClrTx/>
                <a:buSzTx/>
                <a:buFontTx/>
                <a:buNone/>
              </a:pPr>
              <a:r>
                <a:rPr lang="en-CA" altLang="en-US" sz="2400" b="1" dirty="0">
                  <a:latin typeface="Arial" panose="020B0604020202020204" pitchFamily="34" charset="0"/>
                </a:rPr>
                <a:t>Cash Flow</a:t>
              </a:r>
            </a:p>
          </p:txBody>
        </p:sp>
        <p:sp>
          <p:nvSpPr>
            <p:cNvPr id="22534" name="Rectangle 8">
              <a:extLst>
                <a:ext uri="{FF2B5EF4-FFF2-40B4-BE49-F238E27FC236}">
                  <a16:creationId xmlns:a16="http://schemas.microsoft.com/office/drawing/2014/main" id="{C44B190D-CD51-46B6-8EA9-B3F890EEA0BE}"/>
                </a:ext>
              </a:extLst>
            </p:cNvPr>
            <p:cNvSpPr>
              <a:spLocks noChangeArrowheads="1"/>
            </p:cNvSpPr>
            <p:nvPr/>
          </p:nvSpPr>
          <p:spPr bwMode="auto">
            <a:xfrm>
              <a:off x="1781" y="1186"/>
              <a:ext cx="24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dirty="0">
                  <a:latin typeface="Arial" panose="020B0604020202020204" pitchFamily="34" charset="0"/>
                </a:rPr>
                <a:t>=</a:t>
              </a:r>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0FDBAC3F-E219-4F9E-85EE-2C3C643030B3}"/>
              </a:ext>
            </a:extLst>
          </p:cNvPr>
          <p:cNvSpPr>
            <a:spLocks noGrp="1"/>
          </p:cNvSpPr>
          <p:nvPr>
            <p:ph type="title"/>
          </p:nvPr>
        </p:nvSpPr>
        <p:spPr>
          <a:xfrm>
            <a:off x="457200" y="152400"/>
            <a:ext cx="8229600" cy="792163"/>
          </a:xfrm>
        </p:spPr>
        <p:txBody>
          <a:bodyPr/>
          <a:lstStyle/>
          <a:p>
            <a:r>
              <a:rPr lang="en-US" altLang="en-US" dirty="0"/>
              <a:t>Reporting Cash Flows from Financing Activities</a:t>
            </a:r>
          </a:p>
        </p:txBody>
      </p:sp>
      <p:sp>
        <p:nvSpPr>
          <p:cNvPr id="49154" name="Content Placeholder 2">
            <a:extLst>
              <a:ext uri="{FF2B5EF4-FFF2-40B4-BE49-F238E27FC236}">
                <a16:creationId xmlns:a16="http://schemas.microsoft.com/office/drawing/2014/main" id="{BF9888AD-CE2D-481D-AF29-6F9031679AAB}"/>
              </a:ext>
            </a:extLst>
          </p:cNvPr>
          <p:cNvSpPr>
            <a:spLocks noGrp="1"/>
          </p:cNvSpPr>
          <p:nvPr>
            <p:ph idx="1"/>
          </p:nvPr>
        </p:nvSpPr>
        <p:spPr/>
        <p:txBody>
          <a:bodyPr/>
          <a:lstStyle/>
          <a:p>
            <a:r>
              <a:rPr lang="en-CA" altLang="en-US" dirty="0"/>
              <a:t>Financing activities are associated with generating capital from creditors and owners. </a:t>
            </a:r>
          </a:p>
          <a:p>
            <a:endParaRPr lang="en-CA" altLang="en-US" sz="800" dirty="0"/>
          </a:p>
          <a:p>
            <a:r>
              <a:rPr lang="en-CA" altLang="en-US" dirty="0"/>
              <a:t>This section reflects changes in two current liabilities, </a:t>
            </a:r>
            <a:r>
              <a:rPr lang="en-CA" altLang="en-US" i="1" dirty="0"/>
              <a:t>notes payable to financial institutions</a:t>
            </a:r>
            <a:r>
              <a:rPr lang="en-CA" altLang="en-US" dirty="0"/>
              <a:t> (often called </a:t>
            </a:r>
            <a:r>
              <a:rPr lang="en-CA" altLang="en-US" i="1" dirty="0"/>
              <a:t>short-term debt</a:t>
            </a:r>
            <a:r>
              <a:rPr lang="en-CA" altLang="en-US" dirty="0"/>
              <a:t>) and </a:t>
            </a:r>
            <a:r>
              <a:rPr lang="en-CA" altLang="en-US" i="1" dirty="0"/>
              <a:t>current portion of long-term debt</a:t>
            </a:r>
            <a:r>
              <a:rPr lang="en-CA" altLang="en-US" dirty="0"/>
              <a:t>, as well as changes in </a:t>
            </a:r>
            <a:r>
              <a:rPr lang="en-CA" altLang="en-US" i="1" dirty="0"/>
              <a:t>non-current liabilities and shareholders’ equity accounts.</a:t>
            </a:r>
            <a:r>
              <a:rPr lang="en-CA" altLang="en-US" dirty="0"/>
              <a:t> </a:t>
            </a:r>
          </a:p>
          <a:p>
            <a:endParaRPr lang="en-CA" altLang="en-US" sz="800" dirty="0"/>
          </a:p>
          <a:p>
            <a:r>
              <a:rPr lang="en-CA" altLang="en-US" dirty="0"/>
              <a:t>These statement of financial position accounts relate to the issuance and retirement of debt, repurchase of shares, and payment of dividends. </a:t>
            </a:r>
            <a:endParaRPr lang="en-US"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0C276190-A87B-49A1-B021-58849D64261A}"/>
              </a:ext>
            </a:extLst>
          </p:cNvPr>
          <p:cNvSpPr>
            <a:spLocks noGrp="1"/>
          </p:cNvSpPr>
          <p:nvPr>
            <p:ph type="title"/>
          </p:nvPr>
        </p:nvSpPr>
        <p:spPr>
          <a:xfrm>
            <a:off x="457200" y="198437"/>
            <a:ext cx="8229600" cy="792163"/>
          </a:xfrm>
        </p:spPr>
        <p:txBody>
          <a:bodyPr/>
          <a:lstStyle/>
          <a:p>
            <a:r>
              <a:rPr lang="en-US" altLang="en-US" dirty="0"/>
              <a:t>Preparing, Reporting, and Explaining Cash Flows from Financing Activities Part 1</a:t>
            </a:r>
          </a:p>
        </p:txBody>
      </p:sp>
      <p:sp>
        <p:nvSpPr>
          <p:cNvPr id="23554" name="Content Placeholder 2">
            <a:extLst>
              <a:ext uri="{FF2B5EF4-FFF2-40B4-BE49-F238E27FC236}">
                <a16:creationId xmlns:a16="http://schemas.microsoft.com/office/drawing/2014/main" id="{BF0BEC62-566D-4A3A-97D3-36C9A544F104}"/>
              </a:ext>
            </a:extLst>
          </p:cNvPr>
          <p:cNvSpPr>
            <a:spLocks noGrp="1"/>
          </p:cNvSpPr>
          <p:nvPr>
            <p:ph idx="1"/>
          </p:nvPr>
        </p:nvSpPr>
        <p:spPr/>
        <p:txBody>
          <a:bodyPr/>
          <a:lstStyle/>
          <a:p>
            <a:r>
              <a:rPr lang="en-CA" altLang="en-US"/>
              <a:t>The following relationships are the ones that you will encounter most frequently:</a:t>
            </a:r>
            <a:endParaRPr lang="en-US" altLang="en-US"/>
          </a:p>
        </p:txBody>
      </p:sp>
      <p:graphicFrame>
        <p:nvGraphicFramePr>
          <p:cNvPr id="4" name="Table 3">
            <a:extLst>
              <a:ext uri="{FF2B5EF4-FFF2-40B4-BE49-F238E27FC236}">
                <a16:creationId xmlns:a16="http://schemas.microsoft.com/office/drawing/2014/main" id="{07CA4D26-65E2-478A-9EAE-E33193E4FB93}"/>
              </a:ext>
            </a:extLst>
          </p:cNvPr>
          <p:cNvGraphicFramePr>
            <a:graphicFrameLocks noGrp="1"/>
          </p:cNvGraphicFramePr>
          <p:nvPr>
            <p:extLst>
              <p:ext uri="{D42A27DB-BD31-4B8C-83A1-F6EECF244321}">
                <p14:modId xmlns:p14="http://schemas.microsoft.com/office/powerpoint/2010/main" val="2390149789"/>
              </p:ext>
            </p:extLst>
          </p:nvPr>
        </p:nvGraphicFramePr>
        <p:xfrm>
          <a:off x="609601" y="2362200"/>
          <a:ext cx="7696200" cy="3565766"/>
        </p:xfrm>
        <a:graphic>
          <a:graphicData uri="http://schemas.openxmlformats.org/drawingml/2006/table">
            <a:tbl>
              <a:tblPr/>
              <a:tblGrid>
                <a:gridCol w="2529753">
                  <a:extLst>
                    <a:ext uri="{9D8B030D-6E8A-4147-A177-3AD203B41FA5}">
                      <a16:colId xmlns:a16="http://schemas.microsoft.com/office/drawing/2014/main" val="20000"/>
                    </a:ext>
                  </a:extLst>
                </a:gridCol>
                <a:gridCol w="4288810">
                  <a:extLst>
                    <a:ext uri="{9D8B030D-6E8A-4147-A177-3AD203B41FA5}">
                      <a16:colId xmlns:a16="http://schemas.microsoft.com/office/drawing/2014/main" val="20001"/>
                    </a:ext>
                  </a:extLst>
                </a:gridCol>
                <a:gridCol w="877637">
                  <a:extLst>
                    <a:ext uri="{9D8B030D-6E8A-4147-A177-3AD203B41FA5}">
                      <a16:colId xmlns:a16="http://schemas.microsoft.com/office/drawing/2014/main" val="20002"/>
                    </a:ext>
                  </a:extLst>
                </a:gridCol>
              </a:tblGrid>
              <a:tr h="792283">
                <a:tc>
                  <a:txBody>
                    <a:bodyPr/>
                    <a:lstStyle/>
                    <a:p>
                      <a:pPr fontAlgn="b"/>
                      <a:r>
                        <a:rPr lang="en-CA" sz="1500" b="1" dirty="0">
                          <a:effectLst/>
                          <a:latin typeface="inherit"/>
                        </a:rPr>
                        <a:t>Related Statement of Financial Position Account(s)</a:t>
                      </a:r>
                      <a:endParaRPr lang="en-CA" sz="1500" dirty="0">
                        <a:effectLst/>
                      </a:endParaRPr>
                    </a:p>
                  </a:txBody>
                  <a:tcPr marL="163821" marR="81910" marT="81910" marB="24573" anchor="b">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
                      <a:r>
                        <a:rPr lang="en-CA" sz="1500" b="1">
                          <a:effectLst/>
                          <a:latin typeface="inherit"/>
                        </a:rPr>
                        <a:t> Financing Activity</a:t>
                      </a:r>
                      <a:endParaRPr lang="en-CA" sz="1500">
                        <a:effectLst/>
                      </a:endParaRPr>
                    </a:p>
                  </a:txBody>
                  <a:tcPr marL="81910" marR="81910" marT="81910" marB="24573" anchor="b">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
                      <a:r>
                        <a:rPr lang="en-CA" sz="1500" b="1">
                          <a:effectLst/>
                          <a:latin typeface="inherit"/>
                        </a:rPr>
                        <a:t>Cash Flow Effect</a:t>
                      </a:r>
                      <a:endParaRPr lang="en-CA" sz="1500">
                        <a:effectLst/>
                      </a:endParaRPr>
                    </a:p>
                  </a:txBody>
                  <a:tcPr marL="81910" marR="163821" marT="81910" marB="24573" anchor="b">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6918">
                <a:tc>
                  <a:txBody>
                    <a:bodyPr/>
                    <a:lstStyle/>
                    <a:p>
                      <a:pPr fontAlgn="base"/>
                      <a:r>
                        <a:rPr lang="en-CA" sz="1500" dirty="0">
                          <a:effectLst/>
                        </a:rPr>
                        <a:t>Short-term debt</a:t>
                      </a:r>
                    </a:p>
                  </a:txBody>
                  <a:tcPr marL="163821" marR="81910" marT="81910" marB="24573"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500" dirty="0">
                          <a:effectLst/>
                          <a:latin typeface="+mn-lt"/>
                        </a:rPr>
                        <a:t>Borrowing cash from bank or other financial institution</a:t>
                      </a:r>
                    </a:p>
                  </a:txBody>
                  <a:tcPr marL="81910" marR="81910" marT="81910" marB="24573"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
                      <a:r>
                        <a:rPr lang="en-CA" sz="1500" dirty="0">
                          <a:effectLst/>
                        </a:rPr>
                        <a:t>Inflow</a:t>
                      </a:r>
                    </a:p>
                  </a:txBody>
                  <a:tcPr marL="81910" marR="163821" marT="81910" marB="24573" anchor="b">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381000">
                <a:tc>
                  <a:txBody>
                    <a:bodyPr/>
                    <a:lstStyle/>
                    <a:p>
                      <a:pPr fontAlgn="base"/>
                      <a:endParaRPr lang="en-CA" sz="1500" dirty="0">
                        <a:effectLst/>
                      </a:endParaRPr>
                    </a:p>
                  </a:txBody>
                  <a:tcPr marL="163821" marR="81910" marT="81910" marB="2457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500" dirty="0">
                          <a:effectLst/>
                          <a:latin typeface="+mn-lt"/>
                        </a:rPr>
                        <a:t>Repayment of loan principal</a:t>
                      </a:r>
                    </a:p>
                  </a:txBody>
                  <a:tcPr marL="81910" marR="81910" marT="81910" marB="24573" anchor="ctr">
                    <a:lnL>
                      <a:noFill/>
                    </a:lnL>
                    <a:lnR>
                      <a:noFill/>
                    </a:lnR>
                    <a:lnT>
                      <a:noFill/>
                    </a:lnT>
                    <a:lnB>
                      <a:noFill/>
                    </a:lnB>
                    <a:solidFill>
                      <a:srgbClr val="FFFFFF"/>
                    </a:solidFill>
                  </a:tcPr>
                </a:tc>
                <a:tc>
                  <a:txBody>
                    <a:bodyPr/>
                    <a:lstStyle/>
                    <a:p>
                      <a:pPr fontAlgn="t"/>
                      <a:r>
                        <a:rPr lang="en-CA" sz="1500" dirty="0">
                          <a:effectLst/>
                        </a:rPr>
                        <a:t>Outflow</a:t>
                      </a:r>
                    </a:p>
                  </a:txBody>
                  <a:tcPr marL="81910" marR="163821" marT="81910" marB="24573">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381000">
                <a:tc>
                  <a:txBody>
                    <a:bodyPr/>
                    <a:lstStyle/>
                    <a:p>
                      <a:pPr fontAlgn="base"/>
                      <a:r>
                        <a:rPr lang="en-CA" sz="1500" dirty="0">
                          <a:effectLst/>
                        </a:rPr>
                        <a:t>Long-term debt</a:t>
                      </a:r>
                    </a:p>
                  </a:txBody>
                  <a:tcPr marL="163821" marR="81910" marT="81910" marB="2457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500" dirty="0">
                          <a:effectLst/>
                          <a:latin typeface="+mn-lt"/>
                        </a:rPr>
                        <a:t>Long-term borrowings for cash</a:t>
                      </a:r>
                    </a:p>
                  </a:txBody>
                  <a:tcPr marL="81910" marR="81910" marT="81910" marB="24573" anchor="ctr">
                    <a:lnL>
                      <a:noFill/>
                    </a:lnL>
                    <a:lnR>
                      <a:noFill/>
                    </a:lnR>
                    <a:lnT>
                      <a:noFill/>
                    </a:lnT>
                    <a:lnB>
                      <a:noFill/>
                    </a:lnB>
                    <a:solidFill>
                      <a:srgbClr val="FFFFFF"/>
                    </a:solidFill>
                  </a:tcPr>
                </a:tc>
                <a:tc>
                  <a:txBody>
                    <a:bodyPr/>
                    <a:lstStyle/>
                    <a:p>
                      <a:pPr fontAlgn="t"/>
                      <a:r>
                        <a:rPr lang="en-CA" sz="1500" dirty="0">
                          <a:effectLst/>
                        </a:rPr>
                        <a:t>Inflow</a:t>
                      </a:r>
                    </a:p>
                  </a:txBody>
                  <a:tcPr marL="81910" marR="163821" marT="81910" marB="24573">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381000">
                <a:tc>
                  <a:txBody>
                    <a:bodyPr/>
                    <a:lstStyle/>
                    <a:p>
                      <a:pPr fontAlgn="base"/>
                      <a:endParaRPr lang="en-CA" sz="1500" dirty="0">
                        <a:effectLst/>
                      </a:endParaRPr>
                    </a:p>
                  </a:txBody>
                  <a:tcPr marL="163821" marR="81910" marT="81910" marB="2457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500" dirty="0">
                          <a:effectLst/>
                          <a:latin typeface="+mn-lt"/>
                        </a:rPr>
                        <a:t>Repayment of principal on long-term borrowings</a:t>
                      </a:r>
                    </a:p>
                  </a:txBody>
                  <a:tcPr marL="81910" marR="81910" marT="81910" marB="24573" anchor="ctr">
                    <a:lnL>
                      <a:noFill/>
                    </a:lnL>
                    <a:lnR>
                      <a:noFill/>
                    </a:lnR>
                    <a:lnT>
                      <a:noFill/>
                    </a:lnT>
                    <a:lnB>
                      <a:noFill/>
                    </a:lnB>
                    <a:solidFill>
                      <a:srgbClr val="FFFFFF"/>
                    </a:solidFill>
                  </a:tcPr>
                </a:tc>
                <a:tc>
                  <a:txBody>
                    <a:bodyPr/>
                    <a:lstStyle/>
                    <a:p>
                      <a:pPr fontAlgn="b"/>
                      <a:r>
                        <a:rPr lang="en-CA" sz="1500" dirty="0">
                          <a:effectLst/>
                        </a:rPr>
                        <a:t>Outflow</a:t>
                      </a:r>
                    </a:p>
                  </a:txBody>
                  <a:tcPr marL="81910" marR="163821" marT="81910" marB="24573" anchor="b">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381000">
                <a:tc>
                  <a:txBody>
                    <a:bodyPr/>
                    <a:lstStyle/>
                    <a:p>
                      <a:pPr fontAlgn="base"/>
                      <a:r>
                        <a:rPr lang="en-CA" sz="1500" dirty="0">
                          <a:effectLst/>
                        </a:rPr>
                        <a:t>Share capital</a:t>
                      </a:r>
                    </a:p>
                  </a:txBody>
                  <a:tcPr marL="163821" marR="81910" marT="81910" marB="2457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500" dirty="0">
                          <a:effectLst/>
                          <a:latin typeface="+mn-lt"/>
                        </a:rPr>
                        <a:t>Issuance of shares for cash</a:t>
                      </a:r>
                    </a:p>
                  </a:txBody>
                  <a:tcPr marL="81910" marR="81910" marT="81910" marB="24573" anchor="ctr">
                    <a:lnL>
                      <a:noFill/>
                    </a:lnL>
                    <a:lnR>
                      <a:noFill/>
                    </a:lnR>
                    <a:lnT>
                      <a:noFill/>
                    </a:lnT>
                    <a:lnB>
                      <a:noFill/>
                    </a:lnB>
                    <a:solidFill>
                      <a:srgbClr val="FFFFFF"/>
                    </a:solidFill>
                  </a:tcPr>
                </a:tc>
                <a:tc>
                  <a:txBody>
                    <a:bodyPr/>
                    <a:lstStyle/>
                    <a:p>
                      <a:pPr fontAlgn="t"/>
                      <a:r>
                        <a:rPr lang="en-CA" sz="1500" dirty="0">
                          <a:effectLst/>
                        </a:rPr>
                        <a:t>Inflow</a:t>
                      </a:r>
                    </a:p>
                  </a:txBody>
                  <a:tcPr marL="81910" marR="163821" marT="81910" marB="24573">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335083">
                <a:tc>
                  <a:txBody>
                    <a:bodyPr/>
                    <a:lstStyle/>
                    <a:p>
                      <a:pPr fontAlgn="base"/>
                      <a:endParaRPr lang="en-CA" sz="1500" dirty="0">
                        <a:effectLst/>
                      </a:endParaRPr>
                    </a:p>
                  </a:txBody>
                  <a:tcPr marL="163821" marR="81910" marT="81910" marB="24573"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500" dirty="0">
                          <a:effectLst/>
                          <a:latin typeface="+mn-lt"/>
                        </a:rPr>
                        <a:t>Repurchase (retirement) of shares for cash</a:t>
                      </a:r>
                    </a:p>
                  </a:txBody>
                  <a:tcPr marL="81910" marR="81910" marT="81910" marB="24573" anchor="ctr">
                    <a:lnL>
                      <a:noFill/>
                    </a:lnL>
                    <a:lnR>
                      <a:noFill/>
                    </a:lnR>
                    <a:lnT>
                      <a:noFill/>
                    </a:lnT>
                    <a:lnB>
                      <a:noFill/>
                    </a:lnB>
                    <a:solidFill>
                      <a:srgbClr val="FFFFFF"/>
                    </a:solidFill>
                  </a:tcPr>
                </a:tc>
                <a:tc>
                  <a:txBody>
                    <a:bodyPr/>
                    <a:lstStyle/>
                    <a:p>
                      <a:pPr fontAlgn="b"/>
                      <a:r>
                        <a:rPr lang="en-CA" sz="1500" dirty="0">
                          <a:effectLst/>
                        </a:rPr>
                        <a:t>Outflow</a:t>
                      </a:r>
                    </a:p>
                  </a:txBody>
                  <a:tcPr marL="81910" marR="163821" marT="81910" marB="24573" anchor="b">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6"/>
                  </a:ext>
                </a:extLst>
              </a:tr>
              <a:tr h="350717">
                <a:tc>
                  <a:txBody>
                    <a:bodyPr/>
                    <a:lstStyle/>
                    <a:p>
                      <a:pPr fontAlgn="base"/>
                      <a:r>
                        <a:rPr lang="en-CA" sz="1500" dirty="0">
                          <a:effectLst/>
                        </a:rPr>
                        <a:t>Retained earnings</a:t>
                      </a:r>
                    </a:p>
                  </a:txBody>
                  <a:tcPr marL="163821" marR="81910" marT="81910" marB="24573"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500" dirty="0">
                          <a:effectLst/>
                          <a:latin typeface="+mn-lt"/>
                        </a:rPr>
                        <a:t>Payment of cash dividends</a:t>
                      </a:r>
                    </a:p>
                  </a:txBody>
                  <a:tcPr marL="81910" marR="81910" marT="81910" marB="24573"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t"/>
                      <a:r>
                        <a:rPr lang="en-CA" sz="1500" dirty="0">
                          <a:effectLst/>
                        </a:rPr>
                        <a:t>Outflow</a:t>
                      </a:r>
                    </a:p>
                  </a:txBody>
                  <a:tcPr marL="81910" marR="163821" marT="81910" marB="24573">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43239AFF-7624-4F23-9B62-3D34DE2E8B64}"/>
              </a:ext>
            </a:extLst>
          </p:cNvPr>
          <p:cNvSpPr>
            <a:spLocks noGrp="1"/>
          </p:cNvSpPr>
          <p:nvPr>
            <p:ph type="title"/>
          </p:nvPr>
        </p:nvSpPr>
        <p:spPr>
          <a:xfrm>
            <a:off x="457200" y="198437"/>
            <a:ext cx="8229600" cy="792163"/>
          </a:xfrm>
        </p:spPr>
        <p:txBody>
          <a:bodyPr/>
          <a:lstStyle/>
          <a:p>
            <a:r>
              <a:rPr lang="en-US" altLang="en-US" dirty="0"/>
              <a:t>Preparing, Reporting, and Explaining Cash Flows from Financing Activities Part 2</a:t>
            </a:r>
          </a:p>
        </p:txBody>
      </p:sp>
      <p:sp>
        <p:nvSpPr>
          <p:cNvPr id="3" name="Content Placeholder 2">
            <a:extLst>
              <a:ext uri="{FF2B5EF4-FFF2-40B4-BE49-F238E27FC236}">
                <a16:creationId xmlns:a16="http://schemas.microsoft.com/office/drawing/2014/main" id="{AA53E823-184E-4B8B-B693-49724CDE2A28}"/>
              </a:ext>
            </a:extLst>
          </p:cNvPr>
          <p:cNvSpPr>
            <a:spLocks noGrp="1"/>
          </p:cNvSpPr>
          <p:nvPr>
            <p:ph idx="1"/>
          </p:nvPr>
        </p:nvSpPr>
        <p:spPr>
          <a:xfrm>
            <a:off x="533400" y="1295400"/>
            <a:ext cx="8229600" cy="5334000"/>
          </a:xfrm>
        </p:spPr>
        <p:txBody>
          <a:bodyPr/>
          <a:lstStyle/>
          <a:p>
            <a:pPr>
              <a:buFont typeface="Wingdings 3" pitchFamily="2" charset="2"/>
              <a:buChar char=""/>
              <a:defRPr/>
            </a:pPr>
            <a:r>
              <a:rPr lang="en-CA" dirty="0"/>
              <a:t>Typical financing activities include the following:</a:t>
            </a:r>
          </a:p>
          <a:p>
            <a:pPr marL="514350" indent="-514350">
              <a:buFont typeface="+mj-lt"/>
              <a:buAutoNum type="arabicPeriod"/>
              <a:defRPr/>
            </a:pPr>
            <a:r>
              <a:rPr lang="en-CA" dirty="0"/>
              <a:t>Proceeds from issuance of short- and long-term debt. </a:t>
            </a:r>
          </a:p>
          <a:p>
            <a:pPr marL="514350" indent="-514350">
              <a:buFont typeface="+mj-lt"/>
              <a:buAutoNum type="arabicPeriod"/>
              <a:defRPr/>
            </a:pPr>
            <a:r>
              <a:rPr lang="en-CA" dirty="0"/>
              <a:t>Principal payments on short- and long-term debt. </a:t>
            </a:r>
          </a:p>
          <a:p>
            <a:pPr marL="514350" indent="-514350">
              <a:buFont typeface="+mj-lt"/>
              <a:buAutoNum type="arabicPeriod"/>
              <a:defRPr/>
            </a:pPr>
            <a:r>
              <a:rPr lang="en-CA" dirty="0"/>
              <a:t>Proceeds from the issuance of shares. </a:t>
            </a:r>
          </a:p>
          <a:p>
            <a:pPr marL="514350" indent="-514350">
              <a:buFont typeface="+mj-lt"/>
              <a:buAutoNum type="arabicPeriod"/>
              <a:defRPr/>
            </a:pPr>
            <a:r>
              <a:rPr lang="en-CA" dirty="0"/>
              <a:t>Purchase of shares for retirement. </a:t>
            </a:r>
          </a:p>
          <a:p>
            <a:pPr marL="514350" indent="-514350">
              <a:buFont typeface="+mj-lt"/>
              <a:buAutoNum type="arabicPeriod"/>
              <a:defRPr/>
            </a:pPr>
            <a:r>
              <a:rPr lang="en-CA" dirty="0"/>
              <a:t>Interest and dividends. </a:t>
            </a:r>
          </a:p>
          <a:p>
            <a:pPr>
              <a:buFont typeface="Wingdings 3" pitchFamily="2" charset="2"/>
              <a:buChar char=""/>
              <a:defRPr/>
            </a:pPr>
            <a:endParaRPr 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4DFC32A1-6272-4D1D-9856-0D3FD9E4E001}"/>
              </a:ext>
            </a:extLst>
          </p:cNvPr>
          <p:cNvSpPr>
            <a:spLocks noGrp="1"/>
          </p:cNvSpPr>
          <p:nvPr>
            <p:ph type="title"/>
          </p:nvPr>
        </p:nvSpPr>
        <p:spPr>
          <a:xfrm>
            <a:off x="457200" y="198437"/>
            <a:ext cx="8229600" cy="792163"/>
          </a:xfrm>
        </p:spPr>
        <p:txBody>
          <a:bodyPr/>
          <a:lstStyle/>
          <a:p>
            <a:r>
              <a:rPr lang="en-US" altLang="en-US" dirty="0"/>
              <a:t>Structure of the Statement of Cash Flows (Indirect Method) – Part 1</a:t>
            </a:r>
          </a:p>
        </p:txBody>
      </p:sp>
      <p:graphicFrame>
        <p:nvGraphicFramePr>
          <p:cNvPr id="4" name="Content Placeholder 3">
            <a:extLst>
              <a:ext uri="{FF2B5EF4-FFF2-40B4-BE49-F238E27FC236}">
                <a16:creationId xmlns:a16="http://schemas.microsoft.com/office/drawing/2014/main" id="{9018ECE8-C071-4438-85AC-B9E02C035E06}"/>
              </a:ext>
            </a:extLst>
          </p:cNvPr>
          <p:cNvGraphicFramePr>
            <a:graphicFrameLocks noGrp="1"/>
          </p:cNvGraphicFramePr>
          <p:nvPr>
            <p:ph idx="1"/>
            <p:extLst>
              <p:ext uri="{D42A27DB-BD31-4B8C-83A1-F6EECF244321}">
                <p14:modId xmlns:p14="http://schemas.microsoft.com/office/powerpoint/2010/main" val="976899026"/>
              </p:ext>
            </p:extLst>
          </p:nvPr>
        </p:nvGraphicFramePr>
        <p:xfrm>
          <a:off x="1524000" y="1447800"/>
          <a:ext cx="6553200" cy="4652604"/>
        </p:xfrm>
        <a:graphic>
          <a:graphicData uri="http://schemas.openxmlformats.org/drawingml/2006/table">
            <a:tbl>
              <a:tblPr/>
              <a:tblGrid>
                <a:gridCol w="6553200">
                  <a:extLst>
                    <a:ext uri="{9D8B030D-6E8A-4147-A177-3AD203B41FA5}">
                      <a16:colId xmlns:a16="http://schemas.microsoft.com/office/drawing/2014/main" val="20000"/>
                    </a:ext>
                  </a:extLst>
                </a:gridCol>
              </a:tblGrid>
              <a:tr h="336694">
                <a:tc>
                  <a:txBody>
                    <a:bodyPr/>
                    <a:lstStyle/>
                    <a:p>
                      <a:pPr fontAlgn="base"/>
                      <a:r>
                        <a:rPr lang="en-CA" sz="2400" b="1" dirty="0">
                          <a:effectLst/>
                          <a:latin typeface="inherit"/>
                        </a:rPr>
                        <a:t>Statement of Cash Flows (Indirect Method)</a:t>
                      </a:r>
                      <a:endParaRPr lang="en-CA" sz="24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0"/>
                  </a:ext>
                </a:extLst>
              </a:tr>
              <a:tr h="336694">
                <a:tc>
                  <a:txBody>
                    <a:bodyPr/>
                    <a:lstStyle/>
                    <a:p>
                      <a:pPr fontAlgn="base"/>
                      <a:r>
                        <a:rPr lang="en-CA" sz="2400" b="1" dirty="0">
                          <a:effectLst/>
                          <a:latin typeface="inherit"/>
                        </a:rPr>
                        <a:t>Operating Activities:</a:t>
                      </a:r>
                      <a:endParaRPr lang="en-CA" sz="24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1"/>
                  </a:ext>
                </a:extLst>
              </a:tr>
              <a:tr h="336694">
                <a:tc>
                  <a:txBody>
                    <a:bodyPr/>
                    <a:lstStyle/>
                    <a:p>
                      <a:pPr fontAlgn="base"/>
                      <a:r>
                        <a:rPr lang="en-CA" sz="2400" dirty="0">
                          <a:effectLst/>
                        </a:rPr>
                        <a:t>Net earnings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2"/>
                  </a:ext>
                </a:extLst>
              </a:tr>
              <a:tr h="336694">
                <a:tc>
                  <a:txBody>
                    <a:bodyPr/>
                    <a:lstStyle/>
                    <a:p>
                      <a:pPr fontAlgn="base"/>
                      <a:r>
                        <a:rPr lang="en-CA" sz="2400" dirty="0">
                          <a:effectLst/>
                        </a:rPr>
                        <a:t>+ Depreciation and amortization expense</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3"/>
                  </a:ext>
                </a:extLst>
              </a:tr>
              <a:tr h="336694">
                <a:tc>
                  <a:txBody>
                    <a:bodyPr/>
                    <a:lstStyle/>
                    <a:p>
                      <a:pPr fontAlgn="base"/>
                      <a:r>
                        <a:rPr lang="en-CA" sz="2400" dirty="0">
                          <a:effectLst/>
                        </a:rPr>
                        <a:t>− Gain on sale of long-lived asset</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4"/>
                  </a:ext>
                </a:extLst>
              </a:tr>
              <a:tr h="336694">
                <a:tc>
                  <a:txBody>
                    <a:bodyPr/>
                    <a:lstStyle/>
                    <a:p>
                      <a:pPr fontAlgn="base"/>
                      <a:r>
                        <a:rPr lang="en-CA" sz="2400" dirty="0">
                          <a:effectLst/>
                        </a:rPr>
                        <a:t>+ Loss on sale of long-lived asset</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5"/>
                  </a:ext>
                </a:extLst>
              </a:tr>
              <a:tr h="336694">
                <a:tc>
                  <a:txBody>
                    <a:bodyPr/>
                    <a:lstStyle/>
                    <a:p>
                      <a:pPr fontAlgn="base"/>
                      <a:r>
                        <a:rPr lang="en-CA" sz="2400" dirty="0">
                          <a:effectLst/>
                        </a:rPr>
                        <a:t>+ Decreases in operating assets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6"/>
                  </a:ext>
                </a:extLst>
              </a:tr>
              <a:tr h="336694">
                <a:tc>
                  <a:txBody>
                    <a:bodyPr/>
                    <a:lstStyle/>
                    <a:p>
                      <a:pPr fontAlgn="base"/>
                      <a:r>
                        <a:rPr lang="en-CA" sz="2400" dirty="0">
                          <a:effectLst/>
                        </a:rPr>
                        <a:t>+ Increases in operating liabilities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7"/>
                  </a:ext>
                </a:extLst>
              </a:tr>
              <a:tr h="336694">
                <a:tc>
                  <a:txBody>
                    <a:bodyPr/>
                    <a:lstStyle/>
                    <a:p>
                      <a:pPr fontAlgn="base"/>
                      <a:r>
                        <a:rPr lang="en-CA" sz="2400" dirty="0">
                          <a:effectLst/>
                        </a:rPr>
                        <a:t>− Increases in operating assets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8"/>
                  </a:ext>
                </a:extLst>
              </a:tr>
              <a:tr h="336694">
                <a:tc>
                  <a:txBody>
                    <a:bodyPr/>
                    <a:lstStyle/>
                    <a:p>
                      <a:pPr fontAlgn="base"/>
                      <a:r>
                        <a:rPr lang="en-CA" sz="2400" dirty="0">
                          <a:effectLst/>
                        </a:rPr>
                        <a:t>− Decreases in operating liabilities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9"/>
                  </a:ext>
                </a:extLst>
              </a:tr>
              <a:tr h="336694">
                <a:tc>
                  <a:txBody>
                    <a:bodyPr/>
                    <a:lstStyle/>
                    <a:p>
                      <a:pPr fontAlgn="base"/>
                      <a:r>
                        <a:rPr lang="en-CA" sz="2400" b="1" dirty="0">
                          <a:effectLst/>
                          <a:latin typeface="inherit"/>
                        </a:rPr>
                        <a:t>Net Cash Flow from Operating Activities</a:t>
                      </a:r>
                      <a:endParaRPr lang="en-CA" sz="24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0473127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4DFC32A1-6272-4D1D-9856-0D3FD9E4E001}"/>
              </a:ext>
            </a:extLst>
          </p:cNvPr>
          <p:cNvSpPr>
            <a:spLocks noGrp="1"/>
          </p:cNvSpPr>
          <p:nvPr>
            <p:ph type="title"/>
          </p:nvPr>
        </p:nvSpPr>
        <p:spPr>
          <a:xfrm>
            <a:off x="457200" y="198437"/>
            <a:ext cx="8229600" cy="792163"/>
          </a:xfrm>
        </p:spPr>
        <p:txBody>
          <a:bodyPr/>
          <a:lstStyle/>
          <a:p>
            <a:r>
              <a:rPr lang="en-US" altLang="en-US" dirty="0"/>
              <a:t>Structure of the Statement of Cash Flows (Indirect Method) – Part 2</a:t>
            </a:r>
          </a:p>
        </p:txBody>
      </p:sp>
      <p:graphicFrame>
        <p:nvGraphicFramePr>
          <p:cNvPr id="4" name="Content Placeholder 3">
            <a:extLst>
              <a:ext uri="{FF2B5EF4-FFF2-40B4-BE49-F238E27FC236}">
                <a16:creationId xmlns:a16="http://schemas.microsoft.com/office/drawing/2014/main" id="{9018ECE8-C071-4438-85AC-B9E02C035E06}"/>
              </a:ext>
            </a:extLst>
          </p:cNvPr>
          <p:cNvGraphicFramePr>
            <a:graphicFrameLocks noGrp="1"/>
          </p:cNvGraphicFramePr>
          <p:nvPr>
            <p:ph idx="1"/>
            <p:extLst>
              <p:ext uri="{D42A27DB-BD31-4B8C-83A1-F6EECF244321}">
                <p14:modId xmlns:p14="http://schemas.microsoft.com/office/powerpoint/2010/main" val="158756072"/>
              </p:ext>
            </p:extLst>
          </p:nvPr>
        </p:nvGraphicFramePr>
        <p:xfrm>
          <a:off x="1676400" y="1066800"/>
          <a:ext cx="5943599" cy="5418792"/>
        </p:xfrm>
        <a:graphic>
          <a:graphicData uri="http://schemas.openxmlformats.org/drawingml/2006/table">
            <a:tbl>
              <a:tblPr/>
              <a:tblGrid>
                <a:gridCol w="5943599">
                  <a:extLst>
                    <a:ext uri="{9D8B030D-6E8A-4147-A177-3AD203B41FA5}">
                      <a16:colId xmlns:a16="http://schemas.microsoft.com/office/drawing/2014/main" val="20000"/>
                    </a:ext>
                  </a:extLst>
                </a:gridCol>
              </a:tblGrid>
              <a:tr h="252634">
                <a:tc>
                  <a:txBody>
                    <a:bodyPr/>
                    <a:lstStyle/>
                    <a:p>
                      <a:pPr fontAlgn="base"/>
                      <a:r>
                        <a:rPr lang="en-CA" sz="1600" b="1" dirty="0">
                          <a:effectLst/>
                          <a:latin typeface="inherit"/>
                        </a:rPr>
                        <a:t>Investing Activities:</a:t>
                      </a:r>
                      <a:endParaRPr lang="en-CA" sz="16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0"/>
                  </a:ext>
                </a:extLst>
              </a:tr>
              <a:tr h="252634">
                <a:tc>
                  <a:txBody>
                    <a:bodyPr/>
                    <a:lstStyle/>
                    <a:p>
                      <a:pPr fontAlgn="base"/>
                      <a:r>
                        <a:rPr lang="en-CA" sz="1600" dirty="0">
                          <a:effectLst/>
                        </a:rPr>
                        <a:t>− Purchase of property, plant, and equipment or intangible assets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4289096516"/>
                  </a:ext>
                </a:extLst>
              </a:tr>
              <a:tr h="252634">
                <a:tc>
                  <a:txBody>
                    <a:bodyPr/>
                    <a:lstStyle/>
                    <a:p>
                      <a:pPr fontAlgn="base"/>
                      <a:r>
                        <a:rPr lang="en-CA" sz="1600" dirty="0">
                          <a:effectLst/>
                        </a:rPr>
                        <a:t>+ Sale of property, plant, and equipment or intangible assets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3407712823"/>
                  </a:ext>
                </a:extLst>
              </a:tr>
              <a:tr h="252634">
                <a:tc>
                  <a:txBody>
                    <a:bodyPr/>
                    <a:lstStyle/>
                    <a:p>
                      <a:pPr fontAlgn="base"/>
                      <a:r>
                        <a:rPr lang="en-CA" sz="1600" dirty="0">
                          <a:effectLst/>
                        </a:rPr>
                        <a:t>− Purchase of investment securities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3882518774"/>
                  </a:ext>
                </a:extLst>
              </a:tr>
              <a:tr h="252634">
                <a:tc>
                  <a:txBody>
                    <a:bodyPr/>
                    <a:lstStyle/>
                    <a:p>
                      <a:pPr fontAlgn="base"/>
                      <a:r>
                        <a:rPr lang="en-CA" sz="1600" dirty="0">
                          <a:effectLst/>
                        </a:rPr>
                        <a:t>+ Sale (maturity) of investment securities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2770741672"/>
                  </a:ext>
                </a:extLst>
              </a:tr>
              <a:tr h="252634">
                <a:tc>
                  <a:txBody>
                    <a:bodyPr/>
                    <a:lstStyle/>
                    <a:p>
                      <a:pPr fontAlgn="base"/>
                      <a:r>
                        <a:rPr lang="en-CA" sz="1600" b="1" dirty="0">
                          <a:effectLst/>
                          <a:latin typeface="inherit"/>
                        </a:rPr>
                        <a:t>Net Cash Flow from Investing Activities</a:t>
                      </a:r>
                      <a:endParaRPr lang="en-CA" sz="16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3187280076"/>
                  </a:ext>
                </a:extLst>
              </a:tr>
              <a:tr h="252634">
                <a:tc>
                  <a:txBody>
                    <a:bodyPr/>
                    <a:lstStyle/>
                    <a:p>
                      <a:pPr fontAlgn="base"/>
                      <a:r>
                        <a:rPr lang="en-CA" sz="1600" b="1" dirty="0">
                          <a:effectLst/>
                          <a:latin typeface="inherit"/>
                        </a:rPr>
                        <a:t>Financing Activities:</a:t>
                      </a:r>
                      <a:endParaRPr lang="en-CA" sz="16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3640266007"/>
                  </a:ext>
                </a:extLst>
              </a:tr>
              <a:tr h="252634">
                <a:tc>
                  <a:txBody>
                    <a:bodyPr/>
                    <a:lstStyle/>
                    <a:p>
                      <a:pPr fontAlgn="base"/>
                      <a:r>
                        <a:rPr lang="en-CA" sz="1600" dirty="0">
                          <a:effectLst/>
                        </a:rPr>
                        <a:t>+ Borrowing from bank or other financial institution</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822961431"/>
                  </a:ext>
                </a:extLst>
              </a:tr>
              <a:tr h="252634">
                <a:tc>
                  <a:txBody>
                    <a:bodyPr/>
                    <a:lstStyle/>
                    <a:p>
                      <a:pPr fontAlgn="base"/>
                      <a:r>
                        <a:rPr lang="en-CA" sz="1600" dirty="0">
                          <a:effectLst/>
                        </a:rPr>
                        <a:t>− Repayment of loan principal</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1"/>
                  </a:ext>
                </a:extLst>
              </a:tr>
              <a:tr h="252634">
                <a:tc>
                  <a:txBody>
                    <a:bodyPr/>
                    <a:lstStyle/>
                    <a:p>
                      <a:pPr fontAlgn="base"/>
                      <a:r>
                        <a:rPr lang="en-CA" sz="1600" dirty="0">
                          <a:effectLst/>
                        </a:rPr>
                        <a:t>+ Issuance of long-term debt for cash</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2"/>
                  </a:ext>
                </a:extLst>
              </a:tr>
              <a:tr h="252634">
                <a:tc>
                  <a:txBody>
                    <a:bodyPr/>
                    <a:lstStyle/>
                    <a:p>
                      <a:pPr fontAlgn="base"/>
                      <a:r>
                        <a:rPr lang="en-CA" sz="1600" dirty="0">
                          <a:effectLst/>
                        </a:rPr>
                        <a:t>− Repayment of principal on long-term debt</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3"/>
                  </a:ext>
                </a:extLst>
              </a:tr>
              <a:tr h="252634">
                <a:tc>
                  <a:txBody>
                    <a:bodyPr/>
                    <a:lstStyle/>
                    <a:p>
                      <a:pPr fontAlgn="base"/>
                      <a:r>
                        <a:rPr lang="en-CA" sz="1600" dirty="0">
                          <a:effectLst/>
                        </a:rPr>
                        <a:t>+ Issuance of shares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4"/>
                  </a:ext>
                </a:extLst>
              </a:tr>
              <a:tr h="252634">
                <a:tc>
                  <a:txBody>
                    <a:bodyPr/>
                    <a:lstStyle/>
                    <a:p>
                      <a:pPr fontAlgn="base"/>
                      <a:r>
                        <a:rPr lang="en-CA" sz="1600" dirty="0">
                          <a:effectLst/>
                        </a:rPr>
                        <a:t>− Repurchase (retirement) of shares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5"/>
                  </a:ext>
                </a:extLst>
              </a:tr>
              <a:tr h="252634">
                <a:tc>
                  <a:txBody>
                    <a:bodyPr/>
                    <a:lstStyle/>
                    <a:p>
                      <a:pPr fontAlgn="base"/>
                      <a:r>
                        <a:rPr lang="en-CA" sz="1600" dirty="0">
                          <a:effectLst/>
                        </a:rPr>
                        <a:t>− Payment of (cash) dividends</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6"/>
                  </a:ext>
                </a:extLst>
              </a:tr>
              <a:tr h="252634">
                <a:tc>
                  <a:txBody>
                    <a:bodyPr/>
                    <a:lstStyle/>
                    <a:p>
                      <a:pPr fontAlgn="base"/>
                      <a:r>
                        <a:rPr lang="en-CA" sz="1600" b="1" dirty="0">
                          <a:effectLst/>
                          <a:latin typeface="inherit"/>
                        </a:rPr>
                        <a:t>Net Cash Flow from Financing Activities</a:t>
                      </a:r>
                      <a:endParaRPr lang="en-CA" sz="16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7"/>
                  </a:ext>
                </a:extLst>
              </a:tr>
              <a:tr h="252634">
                <a:tc>
                  <a:txBody>
                    <a:bodyPr/>
                    <a:lstStyle/>
                    <a:p>
                      <a:pPr fontAlgn="base"/>
                      <a:r>
                        <a:rPr lang="en-CA" sz="1600" b="1" dirty="0">
                          <a:effectLst/>
                          <a:latin typeface="inherit"/>
                        </a:rPr>
                        <a:t>Net Increase or Decrease in Cash and Cash Equivalents</a:t>
                      </a:r>
                      <a:endParaRPr lang="en-CA" sz="1600" dirty="0">
                        <a:effectLst/>
                      </a:endParaRP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8"/>
                  </a:ext>
                </a:extLst>
              </a:tr>
              <a:tr h="252634">
                <a:tc>
                  <a:txBody>
                    <a:bodyPr/>
                    <a:lstStyle/>
                    <a:p>
                      <a:pPr fontAlgn="base"/>
                      <a:r>
                        <a:rPr lang="en-CA" sz="1600" dirty="0">
                          <a:effectLst/>
                        </a:rPr>
                        <a:t>Cash and cash equivalents at beginning of period</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09"/>
                  </a:ext>
                </a:extLst>
              </a:tr>
              <a:tr h="252634">
                <a:tc>
                  <a:txBody>
                    <a:bodyPr/>
                    <a:lstStyle/>
                    <a:p>
                      <a:pPr fontAlgn="base"/>
                      <a:r>
                        <a:rPr lang="en-CA" sz="1600" dirty="0">
                          <a:effectLst/>
                        </a:rPr>
                        <a:t>Cash and cash equivalents at end of period</a:t>
                      </a:r>
                    </a:p>
                  </a:txBody>
                  <a:tcPr marL="87991" marR="87991" marT="44003" marB="13201" anchor="ctr">
                    <a:lnL>
                      <a:noFill/>
                    </a:lnL>
                    <a:lnR>
                      <a:noFill/>
                    </a:lnR>
                    <a:lnT>
                      <a:noFill/>
                    </a:lnT>
                    <a:lnB>
                      <a:noFill/>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01C5A0B3-0771-4DFF-96D3-8844F59EE1C3}"/>
              </a:ext>
            </a:extLst>
          </p:cNvPr>
          <p:cNvSpPr>
            <a:spLocks noGrp="1"/>
          </p:cNvSpPr>
          <p:nvPr>
            <p:ph type="title"/>
          </p:nvPr>
        </p:nvSpPr>
        <p:spPr/>
        <p:txBody>
          <a:bodyPr/>
          <a:lstStyle/>
          <a:p>
            <a:r>
              <a:rPr lang="en-US" altLang="en-US" dirty="0"/>
              <a:t>Non-cash Investing and Financing Activities</a:t>
            </a:r>
          </a:p>
        </p:txBody>
      </p:sp>
      <p:sp>
        <p:nvSpPr>
          <p:cNvPr id="25602" name="Content Placeholder 4">
            <a:extLst>
              <a:ext uri="{FF2B5EF4-FFF2-40B4-BE49-F238E27FC236}">
                <a16:creationId xmlns:a16="http://schemas.microsoft.com/office/drawing/2014/main" id="{5EB8AD5F-3A68-471D-848F-F5FAC1CF3FB2}"/>
              </a:ext>
            </a:extLst>
          </p:cNvPr>
          <p:cNvSpPr>
            <a:spLocks noGrp="1"/>
          </p:cNvSpPr>
          <p:nvPr>
            <p:ph idx="1"/>
          </p:nvPr>
        </p:nvSpPr>
        <p:spPr/>
        <p:txBody>
          <a:bodyPr/>
          <a:lstStyle/>
          <a:p>
            <a:r>
              <a:rPr lang="en-CA" dirty="0"/>
              <a:t>Certain transactions are important investing and financing activities but have no cash flow effects. </a:t>
            </a:r>
          </a:p>
          <a:p>
            <a:endParaRPr lang="en-CA" sz="800" dirty="0"/>
          </a:p>
          <a:p>
            <a:r>
              <a:rPr lang="en-CA" dirty="0"/>
              <a:t>These are called </a:t>
            </a:r>
            <a:r>
              <a:rPr lang="en-CA" i="1" dirty="0"/>
              <a:t>non-cash investing and financing activities</a:t>
            </a:r>
            <a:r>
              <a:rPr lang="en-CA" dirty="0"/>
              <a:t>; they are reported as a supplement to the statement of cash flows in narrative or schedule form.</a:t>
            </a:r>
            <a:endParaRPr lang="en-US"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01C5A0B3-0771-4DFF-96D3-8844F59EE1C3}"/>
              </a:ext>
            </a:extLst>
          </p:cNvPr>
          <p:cNvSpPr>
            <a:spLocks noGrp="1"/>
          </p:cNvSpPr>
          <p:nvPr>
            <p:ph type="title"/>
          </p:nvPr>
        </p:nvSpPr>
        <p:spPr/>
        <p:txBody>
          <a:bodyPr/>
          <a:lstStyle/>
          <a:p>
            <a:r>
              <a:rPr lang="en-US" altLang="en-US"/>
              <a:t>Supplemental Cash Flow Information</a:t>
            </a:r>
          </a:p>
        </p:txBody>
      </p:sp>
      <p:sp>
        <p:nvSpPr>
          <p:cNvPr id="25602" name="Content Placeholder 4">
            <a:extLst>
              <a:ext uri="{FF2B5EF4-FFF2-40B4-BE49-F238E27FC236}">
                <a16:creationId xmlns:a16="http://schemas.microsoft.com/office/drawing/2014/main" id="{5EB8AD5F-3A68-471D-848F-F5FAC1CF3FB2}"/>
              </a:ext>
            </a:extLst>
          </p:cNvPr>
          <p:cNvSpPr>
            <a:spLocks noGrp="1"/>
          </p:cNvSpPr>
          <p:nvPr>
            <p:ph idx="1"/>
          </p:nvPr>
        </p:nvSpPr>
        <p:spPr/>
        <p:txBody>
          <a:bodyPr/>
          <a:lstStyle/>
          <a:p>
            <a:r>
              <a:rPr lang="en-CA" altLang="en-US" dirty="0"/>
              <a:t>Companies that use the indirect method of presenting cash flows from operations must also </a:t>
            </a:r>
            <a:r>
              <a:rPr lang="en-CA" altLang="en-US" i="1" u="sng" dirty="0"/>
              <a:t>disclose</a:t>
            </a:r>
            <a:r>
              <a:rPr lang="en-CA" altLang="en-US" dirty="0"/>
              <a:t> the amounts of interest and dividends received and paid during the period, as well as cash paid for income taxes.</a:t>
            </a:r>
          </a:p>
          <a:p>
            <a:endParaRPr lang="en-CA" altLang="en-US" sz="800" dirty="0"/>
          </a:p>
          <a:p>
            <a:r>
              <a:rPr lang="en-CA" altLang="en-US" dirty="0"/>
              <a:t>These are normally listed in the operating activities section of the statement or in the notes.</a:t>
            </a:r>
            <a:endParaRPr lang="en-US" altLang="en-US" dirty="0"/>
          </a:p>
        </p:txBody>
      </p:sp>
    </p:spTree>
    <p:extLst>
      <p:ext uri="{BB962C8B-B14F-4D97-AF65-F5344CB8AC3E}">
        <p14:creationId xmlns:p14="http://schemas.microsoft.com/office/powerpoint/2010/main" val="341192422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C1306BC-06EF-4C49-9F49-C059B883AFE8}"/>
              </a:ext>
            </a:extLst>
          </p:cNvPr>
          <p:cNvSpPr>
            <a:spLocks noGrp="1"/>
          </p:cNvSpPr>
          <p:nvPr>
            <p:ph type="title"/>
          </p:nvPr>
        </p:nvSpPr>
        <p:spPr/>
        <p:txBody>
          <a:bodyPr/>
          <a:lstStyle/>
          <a:p>
            <a:pPr eaLnBrk="1" hangingPunct="1"/>
            <a:r>
              <a:rPr lang="en-CA" altLang="en-US" sz="2800" dirty="0"/>
              <a:t>Appendix 11A: Adjustment for Gains and Losses on the Sale of Long-Lived Assets — Indirect Method</a:t>
            </a:r>
          </a:p>
        </p:txBody>
      </p:sp>
      <p:sp>
        <p:nvSpPr>
          <p:cNvPr id="26626" name="Content Placeholder 1">
            <a:extLst>
              <a:ext uri="{FF2B5EF4-FFF2-40B4-BE49-F238E27FC236}">
                <a16:creationId xmlns:a16="http://schemas.microsoft.com/office/drawing/2014/main" id="{60763DFF-169C-4CB1-A3B0-A898F2BF3CD5}"/>
              </a:ext>
            </a:extLst>
          </p:cNvPr>
          <p:cNvSpPr>
            <a:spLocks noGrp="1"/>
          </p:cNvSpPr>
          <p:nvPr>
            <p:ph idx="1"/>
          </p:nvPr>
        </p:nvSpPr>
        <p:spPr/>
        <p:txBody>
          <a:bodyPr/>
          <a:lstStyle/>
          <a:p>
            <a:r>
              <a:rPr lang="en-CA" altLang="en-US" dirty="0"/>
              <a:t>Transactions that cause gains and losses should be classified on the statement of cash flows as operating, investing, or financing activities, depending on their dominant characteristics.  For example, if the sale of equipment produced a gain, it would be classified as an investing activity. </a:t>
            </a:r>
          </a:p>
          <a:p>
            <a:endParaRPr lang="en-CA" altLang="en-US" sz="800" dirty="0"/>
          </a:p>
          <a:p>
            <a:r>
              <a:rPr lang="en-CA" altLang="en-US" dirty="0"/>
              <a:t>Gains </a:t>
            </a:r>
            <a:r>
              <a:rPr lang="en-CA" altLang="en-US" dirty="0">
                <a:sym typeface="Wingdings" panose="05000000000000000000" pitchFamily="2" charset="2"/>
              </a:rPr>
              <a:t> Gains must be </a:t>
            </a:r>
            <a:r>
              <a:rPr lang="en-CA" altLang="en-US" i="1" u="sng" dirty="0">
                <a:sym typeface="Wingdings" panose="05000000000000000000" pitchFamily="2" charset="2"/>
              </a:rPr>
              <a:t>subtracted</a:t>
            </a:r>
            <a:r>
              <a:rPr lang="en-CA" altLang="en-US" dirty="0">
                <a:sym typeface="Wingdings" panose="05000000000000000000" pitchFamily="2" charset="2"/>
              </a:rPr>
              <a:t> from profit to avoid double counting the gain.</a:t>
            </a:r>
          </a:p>
          <a:p>
            <a:endParaRPr lang="en-CA" altLang="en-US" sz="800" dirty="0">
              <a:sym typeface="Wingdings" panose="05000000000000000000" pitchFamily="2" charset="2"/>
            </a:endParaRPr>
          </a:p>
          <a:p>
            <a:r>
              <a:rPr lang="en-CA" altLang="en-US" dirty="0">
                <a:sym typeface="Wingdings" panose="05000000000000000000" pitchFamily="2" charset="2"/>
              </a:rPr>
              <a:t>Losses  Losses must be </a:t>
            </a:r>
            <a:r>
              <a:rPr lang="en-CA" altLang="en-US" i="1" u="sng" dirty="0">
                <a:sym typeface="Wingdings" panose="05000000000000000000" pitchFamily="2" charset="2"/>
              </a:rPr>
              <a:t>added</a:t>
            </a:r>
            <a:r>
              <a:rPr lang="en-CA" altLang="en-US" dirty="0">
                <a:sym typeface="Wingdings" panose="05000000000000000000" pitchFamily="2" charset="2"/>
              </a:rPr>
              <a:t> to profit to avoid double counting the loss.</a:t>
            </a:r>
            <a:endParaRPr lang="en-CA" altLang="en-US" dirty="0"/>
          </a:p>
          <a:p>
            <a:endParaRPr lang="en-US"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68C04CAD-88B9-4AF2-B9D6-AD67A7FC8CEB}"/>
              </a:ext>
            </a:extLst>
          </p:cNvPr>
          <p:cNvSpPr>
            <a:spLocks noGrp="1"/>
          </p:cNvSpPr>
          <p:nvPr>
            <p:ph type="title"/>
          </p:nvPr>
        </p:nvSpPr>
        <p:spPr>
          <a:xfrm>
            <a:off x="457200" y="198437"/>
            <a:ext cx="8229600" cy="792163"/>
          </a:xfrm>
        </p:spPr>
        <p:txBody>
          <a:bodyPr/>
          <a:lstStyle/>
          <a:p>
            <a:r>
              <a:rPr lang="en-US" altLang="en-US" dirty="0"/>
              <a:t>Appendix 11B: Reporting Cash Flows from Operating Activities – Direct Method</a:t>
            </a:r>
          </a:p>
        </p:txBody>
      </p:sp>
      <p:pic>
        <p:nvPicPr>
          <p:cNvPr id="28674" name="Content Placeholder 4">
            <a:extLst>
              <a:ext uri="{FF2B5EF4-FFF2-40B4-BE49-F238E27FC236}">
                <a16:creationId xmlns:a16="http://schemas.microsoft.com/office/drawing/2014/main" id="{F2B9A44C-8F41-4318-834C-BBEE729F43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38200" y="1524000"/>
            <a:ext cx="7277100" cy="4424363"/>
          </a:xfr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7F06C899-AF42-4AA7-901F-509990C29B8E}"/>
              </a:ext>
            </a:extLst>
          </p:cNvPr>
          <p:cNvSpPr>
            <a:spLocks noGrp="1"/>
          </p:cNvSpPr>
          <p:nvPr>
            <p:ph type="title"/>
          </p:nvPr>
        </p:nvSpPr>
        <p:spPr>
          <a:xfrm>
            <a:off x="457200" y="198437"/>
            <a:ext cx="8229600" cy="792163"/>
          </a:xfrm>
        </p:spPr>
        <p:txBody>
          <a:bodyPr/>
          <a:lstStyle/>
          <a:p>
            <a:r>
              <a:rPr lang="en-US" altLang="en-US" dirty="0"/>
              <a:t>Converting Revenue and Expense Items from an Accrual Basis to a Cash Basis</a:t>
            </a:r>
          </a:p>
        </p:txBody>
      </p:sp>
      <p:graphicFrame>
        <p:nvGraphicFramePr>
          <p:cNvPr id="4" name="Content Placeholder 3">
            <a:extLst>
              <a:ext uri="{FF2B5EF4-FFF2-40B4-BE49-F238E27FC236}">
                <a16:creationId xmlns:a16="http://schemas.microsoft.com/office/drawing/2014/main" id="{4BFA79EE-1215-42F4-88A4-E0970633D3C7}"/>
              </a:ext>
            </a:extLst>
          </p:cNvPr>
          <p:cNvGraphicFramePr>
            <a:graphicFrameLocks noGrp="1"/>
          </p:cNvGraphicFramePr>
          <p:nvPr>
            <p:ph idx="1"/>
            <p:extLst>
              <p:ext uri="{D42A27DB-BD31-4B8C-83A1-F6EECF244321}">
                <p14:modId xmlns:p14="http://schemas.microsoft.com/office/powerpoint/2010/main" val="2139205228"/>
              </p:ext>
            </p:extLst>
          </p:nvPr>
        </p:nvGraphicFramePr>
        <p:xfrm>
          <a:off x="457200" y="1219200"/>
          <a:ext cx="8229600" cy="5172717"/>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54526">
                <a:tc>
                  <a:txBody>
                    <a:bodyPr/>
                    <a:lstStyle/>
                    <a:p>
                      <a:pPr fontAlgn="base"/>
                      <a:r>
                        <a:rPr lang="en-CA" sz="1500" b="1" dirty="0">
                          <a:effectLst/>
                          <a:latin typeface="inherit"/>
                        </a:rPr>
                        <a:t>Statement of Earnings Account</a:t>
                      </a:r>
                      <a:endParaRPr lang="en-CA" sz="1500" dirty="0">
                        <a:effectLst/>
                      </a:endParaRP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fontAlgn="base"/>
                      <a:r>
                        <a:rPr lang="en-CA" sz="1500" b="1">
                          <a:effectLst/>
                          <a:latin typeface="inherit"/>
                        </a:rPr>
                        <a:t>+/− Change in Statement of Financial Position Account(s)</a:t>
                      </a:r>
                      <a:endParaRPr lang="en-CA" sz="1500">
                        <a:effectLst/>
                      </a:endParaRP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b="1">
                          <a:effectLst/>
                          <a:latin typeface="inherit"/>
                        </a:rPr>
                        <a:t>= Operating Cash Flow</a:t>
                      </a:r>
                      <a:endParaRPr lang="en-CA" sz="1500">
                        <a:effectLst/>
                      </a:endParaRP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54526">
                <a:tc>
                  <a:txBody>
                    <a:bodyPr/>
                    <a:lstStyle/>
                    <a:p>
                      <a:pPr fontAlgn="base"/>
                      <a:r>
                        <a:rPr lang="en-CA" sz="1500" dirty="0">
                          <a:effectLst/>
                        </a:rPr>
                        <a:t>Sales revenue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Beginning accounts receivable</a:t>
                      </a:r>
                    </a:p>
                    <a:p>
                      <a:pPr fontAlgn="base"/>
                      <a:r>
                        <a:rPr lang="en-CA" sz="1500" dirty="0">
                          <a:effectLst/>
                        </a:rPr>
                        <a:t>− Ending accounts receivable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a:effectLst/>
                        </a:rPr>
                        <a:t>= Collections from customers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47242">
                <a:tc>
                  <a:txBody>
                    <a:bodyPr/>
                    <a:lstStyle/>
                    <a:p>
                      <a:pPr fontAlgn="base"/>
                      <a:r>
                        <a:rPr lang="en-CA" sz="1500">
                          <a:effectLst/>
                        </a:rPr>
                        <a:t>Cost of sales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Beginning inventory</a:t>
                      </a:r>
                    </a:p>
                    <a:p>
                      <a:pPr fontAlgn="base"/>
                      <a:r>
                        <a:rPr lang="en-CA" sz="1500" dirty="0">
                          <a:effectLst/>
                        </a:rPr>
                        <a:t>+ Ending inventory</a:t>
                      </a:r>
                    </a:p>
                    <a:p>
                      <a:pPr fontAlgn="base"/>
                      <a:r>
                        <a:rPr lang="en-CA" sz="1500" dirty="0">
                          <a:effectLst/>
                        </a:rPr>
                        <a:t>+ Beginning accounts payable</a:t>
                      </a:r>
                    </a:p>
                    <a:p>
                      <a:pPr fontAlgn="base"/>
                      <a:r>
                        <a:rPr lang="en-CA" sz="1500" dirty="0">
                          <a:effectLst/>
                        </a:rPr>
                        <a:t>− Ending accounts payable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Payments to suppliers of</a:t>
                      </a:r>
                    </a:p>
                    <a:p>
                      <a:pPr fontAlgn="base"/>
                      <a:r>
                        <a:rPr lang="en-CA" sz="1500" dirty="0">
                          <a:effectLst/>
                        </a:rPr>
                        <a:t>    inventory</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43599">
                <a:tc>
                  <a:txBody>
                    <a:bodyPr/>
                    <a:lstStyle/>
                    <a:p>
                      <a:pPr fontAlgn="base"/>
                      <a:r>
                        <a:rPr lang="en-CA" sz="1500">
                          <a:effectLst/>
                        </a:rPr>
                        <a:t>Selling, general, and administrative expenses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a:effectLst/>
                        </a:rPr>
                        <a:t>− Beginning prepaid expenses</a:t>
                      </a:r>
                    </a:p>
                    <a:p>
                      <a:pPr fontAlgn="base"/>
                      <a:r>
                        <a:rPr lang="en-CA" sz="1500">
                          <a:effectLst/>
                        </a:rPr>
                        <a:t>+ Ending prepaid expenses</a:t>
                      </a:r>
                    </a:p>
                    <a:p>
                      <a:pPr fontAlgn="base"/>
                      <a:r>
                        <a:rPr lang="en-CA" sz="1500">
                          <a:effectLst/>
                        </a:rPr>
                        <a:t>+ Beginning accrued liabilities</a:t>
                      </a:r>
                    </a:p>
                    <a:p>
                      <a:pPr fontAlgn="base"/>
                      <a:r>
                        <a:rPr lang="en-CA" sz="1500">
                          <a:effectLst/>
                        </a:rPr>
                        <a:t>− Ending accrued liabilities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Payments to suppliers of services</a:t>
                      </a:r>
                    </a:p>
                    <a:p>
                      <a:pPr fontAlgn="base"/>
                      <a:r>
                        <a:rPr lang="en-CA" sz="1500" dirty="0">
                          <a:effectLst/>
                        </a:rPr>
                        <a:t>   (e.g., rent, utilities, wages)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4615">
                <a:tc>
                  <a:txBody>
                    <a:bodyPr/>
                    <a:lstStyle/>
                    <a:p>
                      <a:pPr fontAlgn="base"/>
                      <a:r>
                        <a:rPr lang="en-CA" sz="1500">
                          <a:effectLst/>
                        </a:rPr>
                        <a:t>Interest expense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a:effectLst/>
                        </a:rPr>
                        <a:t>+ Beginning interest payable</a:t>
                      </a:r>
                    </a:p>
                    <a:p>
                      <a:pPr fontAlgn="base"/>
                      <a:r>
                        <a:rPr lang="en-CA" sz="1500">
                          <a:effectLst/>
                        </a:rPr>
                        <a:t>− Ending interest payable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Payments for interest</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47242">
                <a:tc>
                  <a:txBody>
                    <a:bodyPr/>
                    <a:lstStyle/>
                    <a:p>
                      <a:pPr fontAlgn="base"/>
                      <a:r>
                        <a:rPr lang="en-CA" sz="1500" dirty="0">
                          <a:effectLst/>
                        </a:rPr>
                        <a:t>Income tax expense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Beginning income taxes payable</a:t>
                      </a:r>
                    </a:p>
                    <a:p>
                      <a:pPr fontAlgn="base"/>
                      <a:r>
                        <a:rPr lang="en-CA" sz="1500" dirty="0">
                          <a:effectLst/>
                        </a:rPr>
                        <a:t>− Ending income taxes payable</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fontAlgn="base"/>
                      <a:r>
                        <a:rPr lang="en-CA" sz="1500" dirty="0">
                          <a:effectLst/>
                        </a:rPr>
                        <a:t>= Payments for income taxes</a:t>
                      </a:r>
                    </a:p>
                  </a:txBody>
                  <a:tcPr marL="21370" marR="21370" marT="34191" marB="3419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682804BF-DB89-457E-B2F4-D224F9EAB611}"/>
              </a:ext>
            </a:extLst>
          </p:cNvPr>
          <p:cNvSpPr>
            <a:spLocks noGrp="1"/>
          </p:cNvSpPr>
          <p:nvPr>
            <p:ph type="title"/>
          </p:nvPr>
        </p:nvSpPr>
        <p:spPr>
          <a:xfrm>
            <a:off x="457200" y="198437"/>
            <a:ext cx="8229600" cy="792163"/>
          </a:xfrm>
        </p:spPr>
        <p:txBody>
          <a:bodyPr/>
          <a:lstStyle/>
          <a:p>
            <a:r>
              <a:rPr lang="en-US" altLang="en-US" dirty="0"/>
              <a:t>Appendix 5C: T-Account Approach – Indirect Method</a:t>
            </a:r>
          </a:p>
        </p:txBody>
      </p:sp>
      <p:sp>
        <p:nvSpPr>
          <p:cNvPr id="3" name="Content Placeholder 2">
            <a:extLst>
              <a:ext uri="{FF2B5EF4-FFF2-40B4-BE49-F238E27FC236}">
                <a16:creationId xmlns:a16="http://schemas.microsoft.com/office/drawing/2014/main" id="{E026E3E8-4E18-428F-8DAC-E91015A54EC1}"/>
              </a:ext>
            </a:extLst>
          </p:cNvPr>
          <p:cNvSpPr>
            <a:spLocks noGrp="1"/>
          </p:cNvSpPr>
          <p:nvPr>
            <p:ph idx="1"/>
          </p:nvPr>
        </p:nvSpPr>
        <p:spPr>
          <a:xfrm>
            <a:off x="457200" y="1066800"/>
            <a:ext cx="8229600" cy="5334000"/>
          </a:xfrm>
        </p:spPr>
        <p:txBody>
          <a:bodyPr/>
          <a:lstStyle/>
          <a:p>
            <a:pPr>
              <a:buFont typeface="Wingdings 3" pitchFamily="2" charset="2"/>
              <a:buChar char=""/>
              <a:defRPr/>
            </a:pPr>
            <a:r>
              <a:rPr lang="en-CA" sz="2400" dirty="0"/>
              <a:t>The following three steps are used to prepare the statement of cash flows:</a:t>
            </a:r>
          </a:p>
          <a:p>
            <a:pPr marL="514350" indent="-514350">
              <a:buFont typeface="+mj-lt"/>
              <a:buAutoNum type="arabicPeriod"/>
              <a:defRPr/>
            </a:pPr>
            <a:r>
              <a:rPr lang="en-CA" sz="2000" dirty="0"/>
              <a:t>Determine the change in each statement of financial position account. From this year’s ending balance, subtract this year’s beginning balance</a:t>
            </a:r>
          </a:p>
          <a:p>
            <a:pPr marL="514350" indent="-514350">
              <a:buFont typeface="+mj-lt"/>
              <a:buAutoNum type="arabicPeriod"/>
              <a:defRPr/>
            </a:pPr>
            <a:r>
              <a:rPr lang="en-CA" sz="2000" dirty="0"/>
              <a:t>Identify the cash flow category or categories to which each account relates. Remember that changes in the balances of some accounts result from two types of activities. </a:t>
            </a:r>
          </a:p>
          <a:p>
            <a:pPr marL="514350" indent="-514350">
              <a:buFont typeface="+mj-lt"/>
              <a:buAutoNum type="arabicPeriod"/>
              <a:defRPr/>
            </a:pPr>
            <a:r>
              <a:rPr lang="en-CA" sz="2000" dirty="0"/>
              <a:t>Create schedules that summarize cash flows from operating, investing, and financing activities.</a:t>
            </a:r>
          </a:p>
          <a:p>
            <a:pPr marL="514350" indent="-514350">
              <a:buFont typeface="+mj-lt"/>
              <a:buAutoNum type="arabicPeriod"/>
              <a:defRPr/>
            </a:pPr>
            <a:endParaRPr lang="en-CA" sz="800" dirty="0"/>
          </a:p>
          <a:p>
            <a:pPr>
              <a:buFont typeface="Wingdings 3" pitchFamily="2" charset="2"/>
              <a:buChar char=""/>
              <a:defRPr/>
            </a:pPr>
            <a:r>
              <a:rPr lang="en-CA" sz="2400" dirty="0"/>
              <a:t>Instead of creating separate schedules for each section of the statement, many accountants prefer to prepare a single large T-account to represent the changes that have taken place in cash, subdivided into the three sections of the statement of cash flows.</a:t>
            </a:r>
          </a:p>
          <a:p>
            <a:pPr>
              <a:buFont typeface="Wingdings 3" pitchFamily="2" charset="2"/>
              <a:buChar char=""/>
              <a:defRPr/>
            </a:pPr>
            <a:endParaRPr 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CB71FDEA-0946-40FB-BE5F-4E8654D9E6E7}"/>
              </a:ext>
            </a:extLst>
          </p:cNvPr>
          <p:cNvSpPr>
            <a:spLocks noGrp="1"/>
          </p:cNvSpPr>
          <p:nvPr>
            <p:ph type="title"/>
          </p:nvPr>
        </p:nvSpPr>
        <p:spPr>
          <a:xfrm>
            <a:off x="457200" y="198437"/>
            <a:ext cx="8229600" cy="792163"/>
          </a:xfrm>
        </p:spPr>
        <p:txBody>
          <a:bodyPr/>
          <a:lstStyle/>
          <a:p>
            <a:r>
              <a:rPr lang="en-US" altLang="en-US" dirty="0"/>
              <a:t>Appendix 5D: Spreadsheet Approach – Statement of Cash Flows, Indirect Method</a:t>
            </a:r>
          </a:p>
        </p:txBody>
      </p:sp>
      <p:sp>
        <p:nvSpPr>
          <p:cNvPr id="3" name="Content Placeholder 2">
            <a:extLst>
              <a:ext uri="{FF2B5EF4-FFF2-40B4-BE49-F238E27FC236}">
                <a16:creationId xmlns:a16="http://schemas.microsoft.com/office/drawing/2014/main" id="{9E65EFDA-C9F7-4B60-A54E-C346EBF0E32A}"/>
              </a:ext>
            </a:extLst>
          </p:cNvPr>
          <p:cNvSpPr>
            <a:spLocks noGrp="1"/>
          </p:cNvSpPr>
          <p:nvPr>
            <p:ph idx="1"/>
          </p:nvPr>
        </p:nvSpPr>
        <p:spPr>
          <a:xfrm>
            <a:off x="457200" y="952183"/>
            <a:ext cx="8229600" cy="5334000"/>
          </a:xfrm>
        </p:spPr>
        <p:txBody>
          <a:bodyPr/>
          <a:lstStyle/>
          <a:p>
            <a:pPr>
              <a:buFont typeface="Wingdings 3" pitchFamily="2" charset="2"/>
              <a:buChar char=""/>
              <a:defRPr/>
            </a:pPr>
            <a:r>
              <a:rPr lang="en-US" dirty="0"/>
              <a:t>The spreadsheet approach offers a systematic way to keep track of data.  A spreadsheet is organized as follows:</a:t>
            </a:r>
          </a:p>
          <a:p>
            <a:pPr marL="514350" indent="-514350">
              <a:buFont typeface="+mj-lt"/>
              <a:buAutoNum type="arabicPeriod"/>
              <a:defRPr/>
            </a:pPr>
            <a:r>
              <a:rPr lang="en-CA" altLang="en-US" sz="2200" dirty="0"/>
              <a:t>Four columns to record dollar amounts are established (beginning balance, debit changes, credit changes, and ending balance).</a:t>
            </a:r>
          </a:p>
          <a:p>
            <a:pPr marL="514350" indent="-514350">
              <a:buFont typeface="+mj-lt"/>
              <a:buAutoNum type="arabicPeriod"/>
              <a:defRPr/>
            </a:pPr>
            <a:r>
              <a:rPr lang="en-CA" altLang="en-US" sz="2200" dirty="0"/>
              <a:t>On the left of the top half of the spreadsheet, each account name from the statement of financial position is entered.</a:t>
            </a:r>
          </a:p>
          <a:p>
            <a:pPr marL="514350" indent="-514350">
              <a:buFont typeface="+mj-lt"/>
              <a:buAutoNum type="arabicPeriod"/>
              <a:defRPr/>
            </a:pPr>
            <a:r>
              <a:rPr lang="en-CA" altLang="en-US" sz="2200" dirty="0"/>
              <a:t>On the left of the bottom half of the spreadsheet, the name of each item that will be reported on the statement of cash flows is entered.</a:t>
            </a:r>
          </a:p>
          <a:p>
            <a:pPr>
              <a:defRPr/>
            </a:pPr>
            <a:r>
              <a:rPr lang="en-US" sz="2200" dirty="0"/>
              <a:t>Changes in the various statement of financial position accounts are analyzed in terms of debits and credits in the top half of the spreadsheet, with the offsetting debits and credits being recorded in the bottom half of the spreadsheet in terms of their impact on cash flows. Each change in the non-cash statement of financial position accounts explains part of the change in the cash account.</a:t>
            </a:r>
          </a:p>
          <a:p>
            <a:pPr>
              <a:buFont typeface="Wingdings 3" pitchFamily="2" charset="2"/>
              <a:buChar char=""/>
              <a:defRPr/>
            </a:pPr>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7D637FBA-6387-4085-94EA-9520B3303324}"/>
              </a:ext>
            </a:extLst>
          </p:cNvPr>
          <p:cNvSpPr>
            <a:spLocks noGrp="1"/>
          </p:cNvSpPr>
          <p:nvPr>
            <p:ph type="title"/>
          </p:nvPr>
        </p:nvSpPr>
        <p:spPr/>
        <p:txBody>
          <a:bodyPr/>
          <a:lstStyle/>
          <a:p>
            <a:r>
              <a:rPr lang="en-US" altLang="en-US"/>
              <a:t>End of Chapter Summary</a:t>
            </a:r>
          </a:p>
        </p:txBody>
      </p:sp>
      <p:sp>
        <p:nvSpPr>
          <p:cNvPr id="31746" name="Content Placeholder 2">
            <a:extLst>
              <a:ext uri="{FF2B5EF4-FFF2-40B4-BE49-F238E27FC236}">
                <a16:creationId xmlns:a16="http://schemas.microsoft.com/office/drawing/2014/main" id="{06EE2F2A-2E9F-4D8C-90DB-D68BB5A098BE}"/>
              </a:ext>
            </a:extLst>
          </p:cNvPr>
          <p:cNvSpPr>
            <a:spLocks noGrp="1"/>
          </p:cNvSpPr>
          <p:nvPr>
            <p:ph idx="1"/>
          </p:nvPr>
        </p:nvSpPr>
        <p:spPr/>
        <p:txBody>
          <a:bodyPr/>
          <a:lstStyle/>
          <a:p>
            <a:r>
              <a:rPr lang="en-CA" altLang="en-US" dirty="0"/>
              <a:t>The statement has three main sections: cash flows from operating activities, which are related to earning revenue from normal operations and incurring related expenses; cash flows from investing activities, which are related to the acquisition and sale of productive assets; and cash flows from financing activities, which are related to external financing of the enterprise. </a:t>
            </a:r>
          </a:p>
          <a:p>
            <a:endParaRPr lang="en-CA" altLang="en-US" sz="800" dirty="0"/>
          </a:p>
          <a:p>
            <a:r>
              <a:rPr lang="en-CA" altLang="en-US" dirty="0"/>
              <a:t>The indirect method for reporting cash flows from operating activities presents a conversion of net earnings (loss) to net cash flows from operating activities.</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F297A295-D836-4027-BACF-558E2D10429A}"/>
              </a:ext>
            </a:extLst>
          </p:cNvPr>
          <p:cNvSpPr>
            <a:spLocks noGrp="1"/>
          </p:cNvSpPr>
          <p:nvPr>
            <p:ph type="title"/>
          </p:nvPr>
        </p:nvSpPr>
        <p:spPr/>
        <p:txBody>
          <a:bodyPr/>
          <a:lstStyle/>
          <a:p>
            <a:r>
              <a:rPr lang="en-US" altLang="en-US"/>
              <a:t>End of Chapter Summary Continued</a:t>
            </a:r>
          </a:p>
        </p:txBody>
      </p:sp>
      <p:sp>
        <p:nvSpPr>
          <p:cNvPr id="32770" name="Content Placeholder 2">
            <a:extLst>
              <a:ext uri="{FF2B5EF4-FFF2-40B4-BE49-F238E27FC236}">
                <a16:creationId xmlns:a16="http://schemas.microsoft.com/office/drawing/2014/main" id="{77442DD3-D789-43D1-815F-4682EAAD261A}"/>
              </a:ext>
            </a:extLst>
          </p:cNvPr>
          <p:cNvSpPr>
            <a:spLocks noGrp="1"/>
          </p:cNvSpPr>
          <p:nvPr>
            <p:ph idx="1"/>
          </p:nvPr>
        </p:nvSpPr>
        <p:spPr/>
        <p:txBody>
          <a:bodyPr/>
          <a:lstStyle/>
          <a:p>
            <a:r>
              <a:rPr lang="en-CA" altLang="en-US" dirty="0"/>
              <a:t>Investing activities reported on the statement of cash flows include cash payments to acquire property, plant, and equipment; intangibles; and short- and long-term investments. They also include cash proceeds from the sale of these assets.</a:t>
            </a:r>
          </a:p>
          <a:p>
            <a:endParaRPr lang="en-CA" altLang="en-US" sz="800" dirty="0"/>
          </a:p>
          <a:p>
            <a:r>
              <a:rPr lang="en-CA" altLang="en-US" dirty="0"/>
              <a:t>Cash inflows from financing activities include cash proceeds from issuance of short- and long-term debt and contributed capital. Cash outflows include principal payments on short- and long-term debt, cash paid for the repurchase of the company’s shares, and dividend payments. Cash payments associated with interest relate to either operating activities or financing activities.</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E4FBC67-15C1-49D2-A219-FDCE35EE91C2}">
  <ds:schemaRefs>
    <ds:schemaRef ds:uri="http://schemas.microsoft.com/sharepoint/v3/contenttype/forms"/>
  </ds:schemaRefs>
</ds:datastoreItem>
</file>

<file path=customXml/itemProps2.xml><?xml version="1.0" encoding="utf-8"?>
<ds:datastoreItem xmlns:ds="http://schemas.openxmlformats.org/officeDocument/2006/customXml" ds:itemID="{4C675139-E4B6-4B71-AB59-145922BA1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C458B2E-E23C-4717-B1C2-01717A75A2B4}">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docProps/app.xml><?xml version="1.0" encoding="utf-8"?>
<Properties xmlns="http://schemas.openxmlformats.org/officeDocument/2006/extended-properties" xmlns:vt="http://schemas.openxmlformats.org/officeDocument/2006/docPropsVTypes">
  <Template/>
  <TotalTime>4424</TotalTime>
  <Words>3587</Words>
  <Application>Microsoft Office PowerPoint</Application>
  <PresentationFormat>On-screen Show (4:3)</PresentationFormat>
  <Paragraphs>421</Paragraphs>
  <Slides>48</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48</vt:i4>
      </vt:variant>
    </vt:vector>
  </HeadingPairs>
  <TitlesOfParts>
    <vt:vector size="58" baseType="lpstr">
      <vt:lpstr>Arial</vt:lpstr>
      <vt:lpstr>Calibri</vt:lpstr>
      <vt:lpstr>inherit</vt:lpstr>
      <vt:lpstr>stix</vt:lpstr>
      <vt:lpstr>Tahoma</vt:lpstr>
      <vt:lpstr>Times New Roman</vt:lpstr>
      <vt:lpstr>Wingdings</vt:lpstr>
      <vt:lpstr>Wingdings 3</vt:lpstr>
      <vt:lpstr>1_Origin</vt:lpstr>
      <vt:lpstr>Origin</vt:lpstr>
      <vt:lpstr>PowerPoint Presentation</vt:lpstr>
      <vt:lpstr>Learning Objectives</vt:lpstr>
      <vt:lpstr>Learning Objectives Continued</vt:lpstr>
      <vt:lpstr>Classifications of Cash Flows Part 1</vt:lpstr>
      <vt:lpstr>Classifications of Cash Flows Part 2</vt:lpstr>
      <vt:lpstr>Cash flows from Operating Activities</vt:lpstr>
      <vt:lpstr>The Direct Method</vt:lpstr>
      <vt:lpstr>The Indirect Method</vt:lpstr>
      <vt:lpstr>Cash Flows from Investing Activities</vt:lpstr>
      <vt:lpstr>Cash Flows from Financing Activities</vt:lpstr>
      <vt:lpstr>Net Increase (Decrease) in Cash</vt:lpstr>
      <vt:lpstr>Relationships to the Statement of Financial Position and the Statement of Earnings Part 1</vt:lpstr>
      <vt:lpstr>Relationships to the Statement of Financial Position and the Statement of Earnings Part 2</vt:lpstr>
      <vt:lpstr>Relationships to the Statement of Financial Position and the Statement of Earnings Part 3</vt:lpstr>
      <vt:lpstr>Cash Transactions and Their Effects on Other Statement of Financial Position Accounts</vt:lpstr>
      <vt:lpstr>Preliminary Steps in Preparing the Statement of Cash Flows</vt:lpstr>
      <vt:lpstr>Reporting Cash Flows from Operating Activities – Indirect Method Part 1</vt:lpstr>
      <vt:lpstr>Reporting Cash Flows from Operating Activities – Indirect Method Part 2</vt:lpstr>
      <vt:lpstr>Reporting Cash Flows from Operating Activities – Indirect Method Part 3</vt:lpstr>
      <vt:lpstr>Reporting Cash Flows from Operating Activities – Indirect Method Part 4</vt:lpstr>
      <vt:lpstr>Change in Accounts Receivable</vt:lpstr>
      <vt:lpstr>Change in Inventory</vt:lpstr>
      <vt:lpstr>Change in Prepaid Expenses</vt:lpstr>
      <vt:lpstr>Change in Accounts Payable</vt:lpstr>
      <vt:lpstr>Change in Accrued Liabilities</vt:lpstr>
      <vt:lpstr>Change in Income Tax Payable</vt:lpstr>
      <vt:lpstr>Summary of Additions and Subtractions</vt:lpstr>
      <vt:lpstr>Interpreting Cash Flows from Operating Activities</vt:lpstr>
      <vt:lpstr>Key Ratio Analysis  Quality of Earnings Ratio</vt:lpstr>
      <vt:lpstr>Reporting Cash Flows from Investing Activities Part 1</vt:lpstr>
      <vt:lpstr>Reporting Cash Flows from Investing Activities Part 2</vt:lpstr>
      <vt:lpstr>Reporting Cash Flows from Investing Activities Part 3</vt:lpstr>
      <vt:lpstr>Key Ratio Analysis  Capital Expenditures Ratio</vt:lpstr>
      <vt:lpstr>Free Cash Flow</vt:lpstr>
      <vt:lpstr>Reporting Cash Flows from Financing Activities</vt:lpstr>
      <vt:lpstr>Preparing, Reporting, and Explaining Cash Flows from Financing Activities Part 1</vt:lpstr>
      <vt:lpstr>Preparing, Reporting, and Explaining Cash Flows from Financing Activities Part 2</vt:lpstr>
      <vt:lpstr>Structure of the Statement of Cash Flows (Indirect Method) – Part 1</vt:lpstr>
      <vt:lpstr>Structure of the Statement of Cash Flows (Indirect Method) – Part 2</vt:lpstr>
      <vt:lpstr>Non-cash Investing and Financing Activities</vt:lpstr>
      <vt:lpstr>Supplemental Cash Flow Information</vt:lpstr>
      <vt:lpstr>Appendix 11A: Adjustment for Gains and Losses on the Sale of Long-Lived Assets — Indirect Method</vt:lpstr>
      <vt:lpstr>Appendix 11B: Reporting Cash Flows from Operating Activities – Direct Method</vt:lpstr>
      <vt:lpstr>Converting Revenue and Expense Items from an Accrual Basis to a Cash Basis</vt:lpstr>
      <vt:lpstr>Appendix 5C: T-Account Approach – Indirect Method</vt:lpstr>
      <vt:lpstr>Appendix 5D: Spreadsheet Approach – Statement of Cash Flows, Indirect Method</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5: Reporting and Interpreting Cash Flows</dc:subject>
  <dc:creator>Robert G. Ducharme, MAcc, CPA, CA - University of Waterloo, School of Accounting and Finance</dc:creator>
  <cp:lastModifiedBy>Schwartz, Stephanie</cp:lastModifiedBy>
  <cp:revision>68</cp:revision>
  <dcterms:created xsi:type="dcterms:W3CDTF">2010-03-30T15:03:05Z</dcterms:created>
  <dcterms:modified xsi:type="dcterms:W3CDTF">2023-01-12T15:29:26Z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
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1" r:id="rId4"/>
    <p:sldMasterId id="2147483822" r:id="rId5"/>
  </p:sldMasterIdLst>
  <p:notesMasterIdLst>
    <p:notesMasterId r:id="rId85"/>
  </p:notesMasterIdLst>
  <p:handoutMasterIdLst>
    <p:handoutMasterId r:id="rId86"/>
  </p:handoutMasterIdLst>
  <p:sldIdLst>
    <p:sldId id="345" r:id="rId6"/>
    <p:sldId id="446" r:id="rId7"/>
    <p:sldId id="448" r:id="rId8"/>
    <p:sldId id="449" r:id="rId9"/>
    <p:sldId id="532" r:id="rId10"/>
    <p:sldId id="450" r:id="rId11"/>
    <p:sldId id="451" r:id="rId12"/>
    <p:sldId id="453" r:id="rId13"/>
    <p:sldId id="454" r:id="rId14"/>
    <p:sldId id="455" r:id="rId15"/>
    <p:sldId id="516" r:id="rId16"/>
    <p:sldId id="517" r:id="rId17"/>
    <p:sldId id="456" r:id="rId18"/>
    <p:sldId id="518" r:id="rId19"/>
    <p:sldId id="519" r:id="rId20"/>
    <p:sldId id="520" r:id="rId21"/>
    <p:sldId id="457" r:id="rId22"/>
    <p:sldId id="458" r:id="rId23"/>
    <p:sldId id="521" r:id="rId24"/>
    <p:sldId id="459" r:id="rId25"/>
    <p:sldId id="461" r:id="rId26"/>
    <p:sldId id="522" r:id="rId27"/>
    <p:sldId id="523" r:id="rId28"/>
    <p:sldId id="462" r:id="rId29"/>
    <p:sldId id="463" r:id="rId30"/>
    <p:sldId id="465" r:id="rId31"/>
    <p:sldId id="464" r:id="rId32"/>
    <p:sldId id="466" r:id="rId33"/>
    <p:sldId id="467" r:id="rId34"/>
    <p:sldId id="468" r:id="rId35"/>
    <p:sldId id="469" r:id="rId36"/>
    <p:sldId id="470" r:id="rId37"/>
    <p:sldId id="472" r:id="rId38"/>
    <p:sldId id="474" r:id="rId39"/>
    <p:sldId id="473" r:id="rId40"/>
    <p:sldId id="475" r:id="rId41"/>
    <p:sldId id="524" r:id="rId42"/>
    <p:sldId id="476" r:id="rId43"/>
    <p:sldId id="525" r:id="rId44"/>
    <p:sldId id="478" r:id="rId45"/>
    <p:sldId id="479" r:id="rId46"/>
    <p:sldId id="480" r:id="rId47"/>
    <p:sldId id="526" r:id="rId48"/>
    <p:sldId id="482" r:id="rId49"/>
    <p:sldId id="527" r:id="rId50"/>
    <p:sldId id="483" r:id="rId51"/>
    <p:sldId id="484" r:id="rId52"/>
    <p:sldId id="485" r:id="rId53"/>
    <p:sldId id="487" r:id="rId54"/>
    <p:sldId id="488" r:id="rId55"/>
    <p:sldId id="489" r:id="rId56"/>
    <p:sldId id="491" r:id="rId57"/>
    <p:sldId id="493" r:id="rId58"/>
    <p:sldId id="494" r:id="rId59"/>
    <p:sldId id="495" r:id="rId60"/>
    <p:sldId id="496" r:id="rId61"/>
    <p:sldId id="497" r:id="rId62"/>
    <p:sldId id="499" r:id="rId63"/>
    <p:sldId id="528" r:id="rId64"/>
    <p:sldId id="529" r:id="rId65"/>
    <p:sldId id="471" r:id="rId66"/>
    <p:sldId id="530" r:id="rId67"/>
    <p:sldId id="531" r:id="rId68"/>
    <p:sldId id="500" r:id="rId69"/>
    <p:sldId id="501" r:id="rId70"/>
    <p:sldId id="502" r:id="rId71"/>
    <p:sldId id="503" r:id="rId72"/>
    <p:sldId id="504" r:id="rId73"/>
    <p:sldId id="505" r:id="rId74"/>
    <p:sldId id="506" r:id="rId75"/>
    <p:sldId id="507" r:id="rId76"/>
    <p:sldId id="508" r:id="rId77"/>
    <p:sldId id="509" r:id="rId78"/>
    <p:sldId id="510" r:id="rId79"/>
    <p:sldId id="512" r:id="rId80"/>
    <p:sldId id="513" r:id="rId81"/>
    <p:sldId id="447" r:id="rId82"/>
    <p:sldId id="514" r:id="rId83"/>
    <p:sldId id="515" r:id="rId8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D1D1"/>
    <a:srgbClr val="005654"/>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CD9AFF-C222-42C1-9E9D-185B7BDA2501}" v="3" dt="2023-01-12T15:30:13.4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1377" autoAdjust="0"/>
    <p:restoredTop sz="84352" autoAdjust="0"/>
  </p:normalViewPr>
  <p:slideViewPr>
    <p:cSldViewPr>
      <p:cViewPr varScale="1">
        <p:scale>
          <a:sx n="115" d="100"/>
          <a:sy n="115" d="100"/>
        </p:scale>
        <p:origin x="116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2610"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theme" Target="theme/theme1.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2.xml"/><Relationship Id="rId90" Type="http://schemas.openxmlformats.org/officeDocument/2006/relationships/tableStyles" Target="tableStyles.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92" Type="http://schemas.microsoft.com/office/2015/10/relationships/revisionInfo" Target="revisionInfo.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presProps" Target="presProp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wartz, Stephanie" userId="aa8fa799-5957-4a86-b1b1-233f34a2fe0c" providerId="ADAL" clId="{BFCD9AFF-C222-42C1-9E9D-185B7BDA2501}"/>
    <pc:docChg chg="modMainMaster">
      <pc:chgData name="Schwartz, Stephanie" userId="aa8fa799-5957-4a86-b1b1-233f34a2fe0c" providerId="ADAL" clId="{BFCD9AFF-C222-42C1-9E9D-185B7BDA2501}" dt="2023-01-12T15:34:27.788" v="3" actId="20577"/>
      <pc:docMkLst>
        <pc:docMk/>
      </pc:docMkLst>
      <pc:sldMasterChg chg="modSp mod">
        <pc:chgData name="Schwartz, Stephanie" userId="aa8fa799-5957-4a86-b1b1-233f34a2fe0c" providerId="ADAL" clId="{BFCD9AFF-C222-42C1-9E9D-185B7BDA2501}" dt="2023-01-12T15:34:21.640" v="1" actId="20577"/>
        <pc:sldMasterMkLst>
          <pc:docMk/>
          <pc:sldMasterMk cId="0" sldId="2147483821"/>
        </pc:sldMasterMkLst>
        <pc:spChg chg="mod">
          <ac:chgData name="Schwartz, Stephanie" userId="aa8fa799-5957-4a86-b1b1-233f34a2fe0c" providerId="ADAL" clId="{BFCD9AFF-C222-42C1-9E9D-185B7BDA2501}" dt="2023-01-12T15:34:21.640" v="1" actId="20577"/>
          <ac:spMkLst>
            <pc:docMk/>
            <pc:sldMasterMk cId="0" sldId="2147483821"/>
            <ac:spMk id="14" creationId="{FD5F4782-1D39-4C33-8890-FD9746368BC2}"/>
          </ac:spMkLst>
        </pc:spChg>
      </pc:sldMasterChg>
      <pc:sldMasterChg chg="modSp mod">
        <pc:chgData name="Schwartz, Stephanie" userId="aa8fa799-5957-4a86-b1b1-233f34a2fe0c" providerId="ADAL" clId="{BFCD9AFF-C222-42C1-9E9D-185B7BDA2501}" dt="2023-01-12T15:34:27.788" v="3" actId="20577"/>
        <pc:sldMasterMkLst>
          <pc:docMk/>
          <pc:sldMasterMk cId="0" sldId="2147483822"/>
        </pc:sldMasterMkLst>
        <pc:spChg chg="mod">
          <ac:chgData name="Schwartz, Stephanie" userId="aa8fa799-5957-4a86-b1b1-233f34a2fe0c" providerId="ADAL" clId="{BFCD9AFF-C222-42C1-9E9D-185B7BDA2501}" dt="2023-01-12T15:34:27.788" v="3" actId="20577"/>
          <ac:spMkLst>
            <pc:docMk/>
            <pc:sldMasterMk cId="0" sldId="2147483822"/>
            <ac:spMk id="8" creationId="{E924D42F-BCEB-4852-B67E-72DC5D0E085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F5E51B0-DE66-4B0A-AAC1-BF1375C5183C}"/>
              </a:ext>
            </a:extLst>
          </p:cNvPr>
          <p:cNvSpPr>
            <a:spLocks noGrp="1"/>
          </p:cNvSpPr>
          <p:nvPr>
            <p:ph type="sldNum" sz="quarter" idx="3"/>
          </p:nvPr>
        </p:nvSpPr>
        <p:spPr>
          <a:xfrm>
            <a:off x="3884613" y="0"/>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r>
              <a:rPr lang="en-US" altLang="en-US"/>
              <a:t>12</a:t>
            </a:r>
            <a:fld id="{FF060B13-4E08-42F7-890E-CD59595362CA}" type="slidenum">
              <a:rPr lang="en-US" altLang="en-US" smtClean="0"/>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CC46A5DA-F1F7-4E0C-AA44-E535D06A55C5}"/>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32BF8F98-67A3-4032-8E44-CC194AB3C61B}"/>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6">
            <a:extLst>
              <a:ext uri="{FF2B5EF4-FFF2-40B4-BE49-F238E27FC236}">
                <a16:creationId xmlns:a16="http://schemas.microsoft.com/office/drawing/2014/main" id="{37FF9014-2BCF-4D90-83C7-BFB8E1403D46}"/>
              </a:ext>
            </a:extLst>
          </p:cNvPr>
          <p:cNvSpPr>
            <a:spLocks noGrp="1"/>
          </p:cNvSpPr>
          <p:nvPr>
            <p:ph type="sldNum" sz="quarter" idx="5"/>
          </p:nvPr>
        </p:nvSpPr>
        <p:spPr>
          <a:xfrm>
            <a:off x="3884613" y="0"/>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r>
              <a:rPr lang="en-US" altLang="en-US"/>
              <a:t>12-</a:t>
            </a:r>
            <a:fld id="{5AE5D99F-D19B-4C69-8135-84FAF5B98E9A}"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Slide Image Placeholder 1">
            <a:extLst>
              <a:ext uri="{FF2B5EF4-FFF2-40B4-BE49-F238E27FC236}">
                <a16:creationId xmlns:a16="http://schemas.microsoft.com/office/drawing/2014/main" id="{8ABC61C4-A107-4DF1-BF24-0B49FFC1A2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6" name="Notes Placeholder 2">
            <a:extLst>
              <a:ext uri="{FF2B5EF4-FFF2-40B4-BE49-F238E27FC236}">
                <a16:creationId xmlns:a16="http://schemas.microsoft.com/office/drawing/2014/main" id="{D5EB9CF1-7AB0-418B-B2B5-F88AB0D0B08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CA" altLang="en-US"/>
              <a:t>Chapter 12: Communicating Accounting Information and Analyzing Financial Statements. </a:t>
            </a:r>
          </a:p>
        </p:txBody>
      </p:sp>
      <p:sp>
        <p:nvSpPr>
          <p:cNvPr id="6147" name="Slide Number Placeholder 3">
            <a:extLst>
              <a:ext uri="{FF2B5EF4-FFF2-40B4-BE49-F238E27FC236}">
                <a16:creationId xmlns:a16="http://schemas.microsoft.com/office/drawing/2014/main" id="{C68ED255-4320-4196-AF21-09820A9829B6}"/>
              </a:ext>
            </a:extLst>
          </p:cNvPr>
          <p:cNvSpPr txBox="1">
            <a:spLocks noGrp="1"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20BC4C2B-BFF0-45E8-9252-16A4F7623255}" type="slidenum">
              <a:rPr lang="en-US" altLang="en-US"/>
              <a:pPr algn="r" eaLnBrk="1" hangingPunct="1">
                <a:spcBef>
                  <a:spcPct val="0"/>
                </a:spcBef>
              </a:pPr>
              <a:t>1</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118780268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97045606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solidFill>
                  <a:srgbClr val="005654"/>
                </a:solidFill>
              </a:defRPr>
            </a:lvl1pPr>
          </a:lstStyle>
          <a:p>
            <a:r>
              <a:rPr lang="en-US" dirty="0"/>
              <a:t>Click to edit Master title style</a:t>
            </a:r>
            <a:endParaRPr lang="en-CA" dirty="0"/>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82145949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03921292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80450858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Tree>
    <p:extLst>
      <p:ext uri="{BB962C8B-B14F-4D97-AF65-F5344CB8AC3E}">
        <p14:creationId xmlns:p14="http://schemas.microsoft.com/office/powerpoint/2010/main" val="302428599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933624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solidFill>
                  <a:srgbClr val="005654"/>
                </a:solidFill>
              </a:defRPr>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2001991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solidFill>
                  <a:srgbClr val="005654"/>
                </a:solidFill>
              </a:defRPr>
            </a:lvl1pPr>
          </a:lstStyle>
          <a:p>
            <a:r>
              <a:rPr lang="en-US" dirty="0"/>
              <a:t>Click to edit Master title style</a:t>
            </a:r>
            <a:endParaRPr lang="en-CA" dirty="0"/>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18867267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063792943"/>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lvl1pPr>
              <a:defRPr>
                <a:solidFill>
                  <a:srgbClr val="005654"/>
                </a:solidFill>
              </a:defRPr>
            </a:lvl1pPr>
          </a:lstStyle>
          <a:p>
            <a:r>
              <a:rPr lang="en-US" dirty="0"/>
              <a:t>Click to edit Master title style</a:t>
            </a:r>
            <a:endParaRPr lang="en-CA" dirty="0"/>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05815366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274445427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28407069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013113733"/>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15562091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708157286"/>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3706920005"/>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3430427"/>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103867517"/>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03259595"/>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631849696"/>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2400"/>
            <a:ext cx="2057400" cy="6324600"/>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152400"/>
            <a:ext cx="6019800" cy="6324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94136755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15">
            <a:extLst>
              <a:ext uri="{FF2B5EF4-FFF2-40B4-BE49-F238E27FC236}">
                <a16:creationId xmlns:a16="http://schemas.microsoft.com/office/drawing/2014/main" id="{5FA32E8F-A58E-4D52-94D8-D41A914AC612}"/>
              </a:ext>
            </a:extLst>
          </p:cNvPr>
          <p:cNvGrpSpPr>
            <a:grpSpLocks/>
          </p:cNvGrpSpPr>
          <p:nvPr/>
        </p:nvGrpSpPr>
        <p:grpSpPr bwMode="auto">
          <a:xfrm>
            <a:off x="914400" y="3352800"/>
            <a:ext cx="7315200" cy="1289050"/>
            <a:chOff x="576" y="2112"/>
            <a:chExt cx="4608" cy="812"/>
          </a:xfrm>
        </p:grpSpPr>
        <p:sp>
          <p:nvSpPr>
            <p:cNvPr id="1036" name="Rectangle 8">
              <a:extLst>
                <a:ext uri="{FF2B5EF4-FFF2-40B4-BE49-F238E27FC236}">
                  <a16:creationId xmlns:a16="http://schemas.microsoft.com/office/drawing/2014/main" id="{D52F7701-2B33-4275-976A-EB13E29DD8FD}"/>
                </a:ext>
              </a:extLst>
            </p:cNvPr>
            <p:cNvSpPr>
              <a:spLocks noChangeArrowheads="1"/>
            </p:cNvSpPr>
            <p:nvPr/>
          </p:nvSpPr>
          <p:spPr bwMode="auto">
            <a:xfrm>
              <a:off x="576" y="2112"/>
              <a:ext cx="4608" cy="806"/>
            </a:xfrm>
            <a:prstGeom prst="rect">
              <a:avLst/>
            </a:prstGeom>
            <a:noFill/>
            <a:ln w="6350" cap="rnd" algn="ctr">
              <a:solidFill>
                <a:schemeClr val="tx2"/>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sp>
          <p:nvSpPr>
            <p:cNvPr id="1037" name="Rectangle 11">
              <a:extLst>
                <a:ext uri="{FF2B5EF4-FFF2-40B4-BE49-F238E27FC236}">
                  <a16:creationId xmlns:a16="http://schemas.microsoft.com/office/drawing/2014/main" id="{2EA10DF9-C6E2-4CFA-A7EE-CEDEA869EE8C}"/>
                </a:ext>
              </a:extLst>
            </p:cNvPr>
            <p:cNvSpPr>
              <a:spLocks noChangeArrowheads="1"/>
            </p:cNvSpPr>
            <p:nvPr/>
          </p:nvSpPr>
          <p:spPr bwMode="auto">
            <a:xfrm>
              <a:off x="582" y="2118"/>
              <a:ext cx="144" cy="806"/>
            </a:xfrm>
            <a:prstGeom prst="rect">
              <a:avLst/>
            </a:prstGeom>
            <a:solidFill>
              <a:srgbClr val="005654"/>
            </a:solidFill>
            <a:ln>
              <a:noFill/>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grpSp>
      <p:grpSp>
        <p:nvGrpSpPr>
          <p:cNvPr id="1027" name="Group 18">
            <a:extLst>
              <a:ext uri="{FF2B5EF4-FFF2-40B4-BE49-F238E27FC236}">
                <a16:creationId xmlns:a16="http://schemas.microsoft.com/office/drawing/2014/main" id="{2EE88EBF-F757-4558-97FD-230F49EF94E4}"/>
              </a:ext>
            </a:extLst>
          </p:cNvPr>
          <p:cNvGrpSpPr>
            <a:grpSpLocks/>
          </p:cNvGrpSpPr>
          <p:nvPr userDrawn="1"/>
        </p:nvGrpSpPr>
        <p:grpSpPr bwMode="auto">
          <a:xfrm>
            <a:off x="914400" y="4724400"/>
            <a:ext cx="7315200" cy="685800"/>
            <a:chOff x="576" y="2976"/>
            <a:chExt cx="4608" cy="432"/>
          </a:xfrm>
        </p:grpSpPr>
        <p:sp>
          <p:nvSpPr>
            <p:cNvPr id="11" name="Rectangle 10">
              <a:extLst>
                <a:ext uri="{FF2B5EF4-FFF2-40B4-BE49-F238E27FC236}">
                  <a16:creationId xmlns:a16="http://schemas.microsoft.com/office/drawing/2014/main" id="{C9B10066-E99B-4A6D-B26F-A401D00F1B87}"/>
                </a:ext>
              </a:extLst>
            </p:cNvPr>
            <p:cNvSpPr>
              <a:spLocks noChangeArrowheads="1"/>
            </p:cNvSpPr>
            <p:nvPr/>
          </p:nvSpPr>
          <p:spPr bwMode="auto">
            <a:xfrm>
              <a:off x="576" y="2976"/>
              <a:ext cx="4608" cy="432"/>
            </a:xfrm>
            <a:prstGeom prst="rect">
              <a:avLst/>
            </a:prstGeom>
            <a:noFill/>
            <a:ln w="6350" cap="rnd" algn="ctr">
              <a:solidFill>
                <a:schemeClr val="bg1">
                  <a:lumMod val="50000"/>
                </a:schemeClr>
              </a:solidFill>
              <a:miter lim="800000"/>
              <a:headEnd/>
              <a:tailEnd/>
            </a:ln>
          </p:spPr>
          <p:txBody>
            <a:bodyPr anchor="ctr"/>
            <a:lstStyle/>
            <a:p>
              <a:pPr algn="ctr" eaLnBrk="1" hangingPunct="1">
                <a:defRPr/>
              </a:pPr>
              <a:endParaRPr lang="en-CA">
                <a:latin typeface="Arial" charset="0"/>
                <a:cs typeface="Arial" charset="0"/>
              </a:endParaRPr>
            </a:p>
          </p:txBody>
        </p:sp>
        <p:sp>
          <p:nvSpPr>
            <p:cNvPr id="13" name="Rectangle 12">
              <a:extLst>
                <a:ext uri="{FF2B5EF4-FFF2-40B4-BE49-F238E27FC236}">
                  <a16:creationId xmlns:a16="http://schemas.microsoft.com/office/drawing/2014/main" id="{C53867EE-4DE0-4DA3-A0E0-880F20719ECD}"/>
                </a:ext>
              </a:extLst>
            </p:cNvPr>
            <p:cNvSpPr>
              <a:spLocks noChangeArrowheads="1"/>
            </p:cNvSpPr>
            <p:nvPr/>
          </p:nvSpPr>
          <p:spPr bwMode="auto">
            <a:xfrm>
              <a:off x="576" y="2976"/>
              <a:ext cx="144" cy="432"/>
            </a:xfrm>
            <a:prstGeom prst="rect">
              <a:avLst/>
            </a:prstGeom>
            <a:solidFill>
              <a:srgbClr val="45D1D1"/>
            </a:solidFill>
            <a:ln w="6350" cap="rnd" algn="ctr">
              <a:solidFill>
                <a:schemeClr val="bg1">
                  <a:lumMod val="50000"/>
                </a:schemeClr>
              </a:solidFill>
              <a:miter lim="800000"/>
              <a:headEnd/>
              <a:tailEnd/>
            </a:ln>
          </p:spPr>
          <p:txBody>
            <a:bodyPr anchor="ctr"/>
            <a:lstStyle/>
            <a:p>
              <a:pPr algn="ctr" eaLnBrk="1" hangingPunct="1">
                <a:defRPr/>
              </a:pPr>
              <a:endParaRPr lang="en-CA">
                <a:latin typeface="Arial" charset="0"/>
                <a:cs typeface="Arial" charset="0"/>
              </a:endParaRPr>
            </a:p>
          </p:txBody>
        </p:sp>
      </p:grpSp>
      <p:sp>
        <p:nvSpPr>
          <p:cNvPr id="1028" name="Freeform 9">
            <a:extLst>
              <a:ext uri="{FF2B5EF4-FFF2-40B4-BE49-F238E27FC236}">
                <a16:creationId xmlns:a16="http://schemas.microsoft.com/office/drawing/2014/main" id="{55CCEF30-379D-417D-BB92-E182F95FBE92}"/>
              </a:ext>
            </a:extLst>
          </p:cNvPr>
          <p:cNvSpPr>
            <a:spLocks/>
          </p:cNvSpPr>
          <p:nvPr userDrawn="1"/>
        </p:nvSpPr>
        <p:spPr bwMode="auto">
          <a:xfrm rot="5400000">
            <a:off x="7734300" y="5441950"/>
            <a:ext cx="1066800" cy="1752600"/>
          </a:xfrm>
          <a:custGeom>
            <a:avLst/>
            <a:gdLst>
              <a:gd name="T0" fmla="*/ 0 w 1432"/>
              <a:gd name="T1" fmla="*/ 0 h 3492"/>
              <a:gd name="T2" fmla="*/ 2147483646 w 1432"/>
              <a:gd name="T3" fmla="*/ 0 h 3492"/>
              <a:gd name="T4" fmla="*/ 2147483646 w 1432"/>
              <a:gd name="T5" fmla="*/ 2147483646 h 3492"/>
              <a:gd name="T6" fmla="*/ 2147483646 w 1432"/>
              <a:gd name="T7" fmla="*/ 2147483646 h 3492"/>
              <a:gd name="T8" fmla="*/ 2147483646 w 1432"/>
              <a:gd name="T9" fmla="*/ 2147483646 h 3492"/>
              <a:gd name="T10" fmla="*/ 2147483646 w 1432"/>
              <a:gd name="T11" fmla="*/ 2147483646 h 3492"/>
              <a:gd name="T12" fmla="*/ 2147483646 w 1432"/>
              <a:gd name="T13" fmla="*/ 2147483646 h 3492"/>
              <a:gd name="T14" fmla="*/ 2147483646 w 1432"/>
              <a:gd name="T15" fmla="*/ 2147483646 h 3492"/>
              <a:gd name="T16" fmla="*/ 2147483646 w 1432"/>
              <a:gd name="T17" fmla="*/ 2147483646 h 3492"/>
              <a:gd name="T18" fmla="*/ 2147483646 w 1432"/>
              <a:gd name="T19" fmla="*/ 2147483646 h 3492"/>
              <a:gd name="T20" fmla="*/ 2147483646 w 1432"/>
              <a:gd name="T21" fmla="*/ 2147483646 h 3492"/>
              <a:gd name="T22" fmla="*/ 2147483646 w 1432"/>
              <a:gd name="T23" fmla="*/ 2147483646 h 3492"/>
              <a:gd name="T24" fmla="*/ 2147483646 w 1432"/>
              <a:gd name="T25" fmla="*/ 2147483646 h 3492"/>
              <a:gd name="T26" fmla="*/ 2147483646 w 1432"/>
              <a:gd name="T27" fmla="*/ 2147483646 h 3492"/>
              <a:gd name="T28" fmla="*/ 2147483646 w 1432"/>
              <a:gd name="T29" fmla="*/ 2147483646 h 3492"/>
              <a:gd name="T30" fmla="*/ 2147483646 w 1432"/>
              <a:gd name="T31" fmla="*/ 2147483646 h 3492"/>
              <a:gd name="T32" fmla="*/ 2147483646 w 1432"/>
              <a:gd name="T33" fmla="*/ 2147483646 h 3492"/>
              <a:gd name="T34" fmla="*/ 2147483646 w 1432"/>
              <a:gd name="T35" fmla="*/ 2147483646 h 3492"/>
              <a:gd name="T36" fmla="*/ 2147483646 w 1432"/>
              <a:gd name="T37" fmla="*/ 2147483646 h 3492"/>
              <a:gd name="T38" fmla="*/ 2147483646 w 1432"/>
              <a:gd name="T39" fmla="*/ 2147483646 h 3492"/>
              <a:gd name="T40" fmla="*/ 2147483646 w 1432"/>
              <a:gd name="T41" fmla="*/ 2147483646 h 3492"/>
              <a:gd name="T42" fmla="*/ 2147483646 w 1432"/>
              <a:gd name="T43" fmla="*/ 2147483646 h 3492"/>
              <a:gd name="T44" fmla="*/ 2147483646 w 1432"/>
              <a:gd name="T45" fmla="*/ 2147483646 h 3492"/>
              <a:gd name="T46" fmla="*/ 2147483646 w 1432"/>
              <a:gd name="T47" fmla="*/ 2147483646 h 3492"/>
              <a:gd name="T48" fmla="*/ 2147483646 w 1432"/>
              <a:gd name="T49" fmla="*/ 2147483646 h 3492"/>
              <a:gd name="T50" fmla="*/ 2147483646 w 1432"/>
              <a:gd name="T51" fmla="*/ 2147483646 h 3492"/>
              <a:gd name="T52" fmla="*/ 2147483646 w 1432"/>
              <a:gd name="T53" fmla="*/ 2147483646 h 3492"/>
              <a:gd name="T54" fmla="*/ 2147483646 w 1432"/>
              <a:gd name="T55" fmla="*/ 2147483646 h 3492"/>
              <a:gd name="T56" fmla="*/ 2147483646 w 1432"/>
              <a:gd name="T57" fmla="*/ 2147483646 h 3492"/>
              <a:gd name="T58" fmla="*/ 2147483646 w 1432"/>
              <a:gd name="T59" fmla="*/ 2147483646 h 3492"/>
              <a:gd name="T60" fmla="*/ 2147483646 w 1432"/>
              <a:gd name="T61" fmla="*/ 2147483646 h 3492"/>
              <a:gd name="T62" fmla="*/ 2147483646 w 1432"/>
              <a:gd name="T63" fmla="*/ 2147483646 h 3492"/>
              <a:gd name="T64" fmla="*/ 2147483646 w 1432"/>
              <a:gd name="T65" fmla="*/ 2147483646 h 3492"/>
              <a:gd name="T66" fmla="*/ 2147483646 w 1432"/>
              <a:gd name="T67" fmla="*/ 2147483646 h 3492"/>
              <a:gd name="T68" fmla="*/ 0 w 1432"/>
              <a:gd name="T69" fmla="*/ 0 h 3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2"/>
              <a:gd name="T106" fmla="*/ 0 h 3492"/>
              <a:gd name="T107" fmla="*/ 1432 w 1432"/>
              <a:gd name="T108" fmla="*/ 3492 h 3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2" h="3492">
                <a:moveTo>
                  <a:pt x="0" y="0"/>
                </a:moveTo>
                <a:lnTo>
                  <a:pt x="1432" y="0"/>
                </a:lnTo>
                <a:lnTo>
                  <a:pt x="1432" y="3492"/>
                </a:lnTo>
                <a:lnTo>
                  <a:pt x="1419" y="3252"/>
                </a:lnTo>
                <a:lnTo>
                  <a:pt x="1406" y="3024"/>
                </a:lnTo>
                <a:lnTo>
                  <a:pt x="1393" y="2807"/>
                </a:lnTo>
                <a:lnTo>
                  <a:pt x="1379" y="2601"/>
                </a:lnTo>
                <a:lnTo>
                  <a:pt x="1364" y="2407"/>
                </a:lnTo>
                <a:lnTo>
                  <a:pt x="1348" y="2222"/>
                </a:lnTo>
                <a:lnTo>
                  <a:pt x="1330" y="2047"/>
                </a:lnTo>
                <a:lnTo>
                  <a:pt x="1311" y="1881"/>
                </a:lnTo>
                <a:lnTo>
                  <a:pt x="1291" y="1726"/>
                </a:lnTo>
                <a:lnTo>
                  <a:pt x="1268" y="1580"/>
                </a:lnTo>
                <a:lnTo>
                  <a:pt x="1245" y="1442"/>
                </a:lnTo>
                <a:lnTo>
                  <a:pt x="1218" y="1313"/>
                </a:lnTo>
                <a:lnTo>
                  <a:pt x="1190" y="1192"/>
                </a:lnTo>
                <a:lnTo>
                  <a:pt x="1158" y="1078"/>
                </a:lnTo>
                <a:lnTo>
                  <a:pt x="1125" y="973"/>
                </a:lnTo>
                <a:lnTo>
                  <a:pt x="1089" y="873"/>
                </a:lnTo>
                <a:lnTo>
                  <a:pt x="1049" y="781"/>
                </a:lnTo>
                <a:lnTo>
                  <a:pt x="1007" y="696"/>
                </a:lnTo>
                <a:lnTo>
                  <a:pt x="962" y="617"/>
                </a:lnTo>
                <a:lnTo>
                  <a:pt x="913" y="544"/>
                </a:lnTo>
                <a:lnTo>
                  <a:pt x="860" y="475"/>
                </a:lnTo>
                <a:lnTo>
                  <a:pt x="804" y="413"/>
                </a:lnTo>
                <a:lnTo>
                  <a:pt x="744" y="354"/>
                </a:lnTo>
                <a:lnTo>
                  <a:pt x="680" y="301"/>
                </a:lnTo>
                <a:lnTo>
                  <a:pt x="611" y="252"/>
                </a:lnTo>
                <a:lnTo>
                  <a:pt x="539" y="206"/>
                </a:lnTo>
                <a:lnTo>
                  <a:pt x="461" y="165"/>
                </a:lnTo>
                <a:lnTo>
                  <a:pt x="379" y="128"/>
                </a:lnTo>
                <a:lnTo>
                  <a:pt x="292" y="92"/>
                </a:lnTo>
                <a:lnTo>
                  <a:pt x="200" y="59"/>
                </a:lnTo>
                <a:lnTo>
                  <a:pt x="103" y="28"/>
                </a:lnTo>
                <a:lnTo>
                  <a:pt x="0" y="0"/>
                </a:lnTo>
                <a:close/>
              </a:path>
            </a:pathLst>
          </a:custGeom>
          <a:solidFill>
            <a:srgbClr val="005654"/>
          </a:solidFill>
          <a:ln>
            <a:noFill/>
          </a:ln>
        </p:spPr>
        <p:txBody>
          <a:bodyPr/>
          <a:lstStyle/>
          <a:p>
            <a:endParaRPr lang="en-US"/>
          </a:p>
        </p:txBody>
      </p:sp>
      <p:sp>
        <p:nvSpPr>
          <p:cNvPr id="14" name="Rectangle 8">
            <a:extLst>
              <a:ext uri="{FF2B5EF4-FFF2-40B4-BE49-F238E27FC236}">
                <a16:creationId xmlns:a16="http://schemas.microsoft.com/office/drawing/2014/main" id="{FD5F4782-1D39-4C33-8890-FD9746368BC2}"/>
              </a:ext>
            </a:extLst>
          </p:cNvPr>
          <p:cNvSpPr>
            <a:spLocks noChangeArrowheads="1"/>
          </p:cNvSpPr>
          <p:nvPr userDrawn="1"/>
        </p:nvSpPr>
        <p:spPr bwMode="auto">
          <a:xfrm>
            <a:off x="34925" y="6553200"/>
            <a:ext cx="1777732" cy="243656"/>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sz="1000" dirty="0"/>
              <a:t>© 2023 McGraw Hill Limited</a:t>
            </a:r>
            <a:endParaRPr lang="en-US" altLang="en-US" sz="1000" dirty="0">
              <a:solidFill>
                <a:srgbClr val="003366"/>
              </a:solidFill>
              <a:latin typeface="Times New Roman" panose="02020603050405020304" pitchFamily="18" charset="0"/>
            </a:endParaRPr>
          </a:p>
        </p:txBody>
      </p:sp>
      <p:sp>
        <p:nvSpPr>
          <p:cNvPr id="16" name="Rectangle 13">
            <a:extLst>
              <a:ext uri="{FF2B5EF4-FFF2-40B4-BE49-F238E27FC236}">
                <a16:creationId xmlns:a16="http://schemas.microsoft.com/office/drawing/2014/main" id="{CCE7804B-8F3D-4949-B4B2-5DEBA707BFAD}"/>
              </a:ext>
            </a:extLst>
          </p:cNvPr>
          <p:cNvSpPr>
            <a:spLocks noChangeArrowheads="1"/>
          </p:cNvSpPr>
          <p:nvPr userDrawn="1"/>
        </p:nvSpPr>
        <p:spPr bwMode="auto">
          <a:xfrm>
            <a:off x="2743200" y="76200"/>
            <a:ext cx="6172200" cy="2971800"/>
          </a:xfrm>
          <a:prstGeom prst="rect">
            <a:avLst/>
          </a:prstGeom>
          <a:noFill/>
          <a:ln>
            <a:noFill/>
          </a:ln>
          <a:effectLst>
            <a:outerShdw dist="35921" dir="2700000" algn="ctr" rotWithShape="0">
              <a:schemeClr val="bg2"/>
            </a:outerShdw>
          </a:effec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4400" dirty="0">
                <a:solidFill>
                  <a:srgbClr val="005654"/>
                </a:solidFill>
                <a:latin typeface="Calibri" panose="020F0502020204030204" pitchFamily="34" charset="0"/>
              </a:rPr>
              <a:t>FINANCIAL ACCOUNTING</a:t>
            </a:r>
            <a:br>
              <a:rPr lang="en-US" altLang="en-US" sz="3200" dirty="0">
                <a:solidFill>
                  <a:srgbClr val="003366"/>
                </a:solidFill>
                <a:latin typeface="Calibri" panose="020F0502020204030204" pitchFamily="34" charset="0"/>
              </a:rPr>
            </a:br>
            <a:br>
              <a:rPr lang="en-US" altLang="en-US" sz="1600" dirty="0">
                <a:solidFill>
                  <a:srgbClr val="003366"/>
                </a:solidFill>
                <a:latin typeface="Calibri" panose="020F0502020204030204" pitchFamily="34" charset="0"/>
              </a:rPr>
            </a:br>
            <a:r>
              <a:rPr lang="en-US" altLang="en-US" dirty="0">
                <a:solidFill>
                  <a:schemeClr val="tx1"/>
                </a:solidFill>
                <a:latin typeface="Calibri" panose="020F0502020204030204" pitchFamily="34" charset="0"/>
              </a:rPr>
              <a:t>Eighth Canadian Edition</a:t>
            </a:r>
            <a:br>
              <a:rPr lang="en-US" altLang="en-US" dirty="0">
                <a:solidFill>
                  <a:schemeClr val="tx1"/>
                </a:solidFill>
                <a:latin typeface="Calibri" panose="020F0502020204030204" pitchFamily="34" charset="0"/>
              </a:rPr>
            </a:br>
            <a:br>
              <a:rPr lang="en-US" altLang="en-US" dirty="0">
                <a:solidFill>
                  <a:schemeClr val="tx1"/>
                </a:solidFill>
                <a:latin typeface="Calibri" panose="020F0502020204030204" pitchFamily="34" charset="0"/>
              </a:rPr>
            </a:br>
            <a:r>
              <a:rPr lang="en-US" altLang="en-US" b="1" dirty="0">
                <a:solidFill>
                  <a:schemeClr val="tx1"/>
                </a:solidFill>
                <a:latin typeface="Calibri" panose="020F0502020204030204" pitchFamily="34" charset="0"/>
              </a:rPr>
              <a:t>LIBBY, LIBBY, HODGE, KANAAN, STERLING</a:t>
            </a:r>
            <a:r>
              <a:rPr lang="en-US" altLang="en-US" dirty="0">
                <a:solidFill>
                  <a:schemeClr val="tx1"/>
                </a:solidFill>
                <a:latin typeface="Calibri" panose="020F0502020204030204" pitchFamily="34" charset="0"/>
              </a:rPr>
              <a:t> </a:t>
            </a:r>
            <a:br>
              <a:rPr lang="en-US" altLang="en-US" dirty="0">
                <a:solidFill>
                  <a:srgbClr val="003366"/>
                </a:solidFill>
                <a:latin typeface="Calibri" panose="020F0502020204030204" pitchFamily="34" charset="0"/>
              </a:rPr>
            </a:br>
            <a:endParaRPr lang="en-US" altLang="en-US" dirty="0">
              <a:solidFill>
                <a:srgbClr val="003366"/>
              </a:solidFill>
              <a:latin typeface="Calibri" panose="020F0502020204030204" pitchFamily="34" charset="0"/>
            </a:endParaRPr>
          </a:p>
        </p:txBody>
      </p:sp>
      <p:pic>
        <p:nvPicPr>
          <p:cNvPr id="17" name="Picture 16" descr="A picture containing text, electronics, sign, green&#10;&#10;Description automatically generated">
            <a:extLst>
              <a:ext uri="{FF2B5EF4-FFF2-40B4-BE49-F238E27FC236}">
                <a16:creationId xmlns:a16="http://schemas.microsoft.com/office/drawing/2014/main" id="{E13EEA68-0BD0-1A4B-979E-45A5EEAB268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81468" y="188842"/>
            <a:ext cx="2300890" cy="2987722"/>
          </a:xfrm>
          <a:prstGeom prst="rect">
            <a:avLst/>
          </a:prstGeom>
        </p:spPr>
      </p:pic>
    </p:spTree>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Lst>
  <p:transition/>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Calibri" pitchFamily="34" charset="0"/>
          <a:cs typeface="Arial" charset="0"/>
        </a:defRPr>
      </a:lvl2pPr>
      <a:lvl3pPr algn="l" rtl="0" eaLnBrk="0" fontAlgn="base" hangingPunct="0">
        <a:spcBef>
          <a:spcPct val="0"/>
        </a:spcBef>
        <a:spcAft>
          <a:spcPct val="0"/>
        </a:spcAft>
        <a:defRPr sz="3200">
          <a:solidFill>
            <a:schemeClr val="tx2"/>
          </a:solidFill>
          <a:latin typeface="Calibri" pitchFamily="34" charset="0"/>
          <a:cs typeface="Arial" charset="0"/>
        </a:defRPr>
      </a:lvl3pPr>
      <a:lvl4pPr algn="l" rtl="0" eaLnBrk="0" fontAlgn="base" hangingPunct="0">
        <a:spcBef>
          <a:spcPct val="0"/>
        </a:spcBef>
        <a:spcAft>
          <a:spcPct val="0"/>
        </a:spcAft>
        <a:defRPr sz="3200">
          <a:solidFill>
            <a:schemeClr val="tx2"/>
          </a:solidFill>
          <a:latin typeface="Calibri" pitchFamily="34" charset="0"/>
          <a:cs typeface="Arial" charset="0"/>
        </a:defRPr>
      </a:lvl4pPr>
      <a:lvl5pPr algn="l" rtl="0" eaLnBrk="0" fontAlgn="base" hangingPunct="0">
        <a:spcBef>
          <a:spcPct val="0"/>
        </a:spcBef>
        <a:spcAft>
          <a:spcPct val="0"/>
        </a:spcAft>
        <a:defRPr sz="3200">
          <a:solidFill>
            <a:schemeClr val="tx2"/>
          </a:solidFill>
          <a:latin typeface="Calibri" pitchFamily="34" charset="0"/>
          <a:cs typeface="Arial" charset="0"/>
        </a:defRPr>
      </a:lvl5pPr>
      <a:lvl6pPr marL="457200" algn="l" rtl="0" fontAlgn="base">
        <a:spcBef>
          <a:spcPct val="0"/>
        </a:spcBef>
        <a:spcAft>
          <a:spcPct val="0"/>
        </a:spcAft>
        <a:defRPr sz="3200">
          <a:solidFill>
            <a:schemeClr val="tx2"/>
          </a:solidFill>
          <a:latin typeface="Calibri" pitchFamily="34" charset="0"/>
          <a:cs typeface="Arial" charset="0"/>
        </a:defRPr>
      </a:lvl6pPr>
      <a:lvl7pPr marL="914400" algn="l" rtl="0" fontAlgn="base">
        <a:spcBef>
          <a:spcPct val="0"/>
        </a:spcBef>
        <a:spcAft>
          <a:spcPct val="0"/>
        </a:spcAft>
        <a:defRPr sz="3200">
          <a:solidFill>
            <a:schemeClr val="tx2"/>
          </a:solidFill>
          <a:latin typeface="Calibri" pitchFamily="34" charset="0"/>
          <a:cs typeface="Arial" charset="0"/>
        </a:defRPr>
      </a:lvl7pPr>
      <a:lvl8pPr marL="1371600" algn="l" rtl="0" fontAlgn="base">
        <a:spcBef>
          <a:spcPct val="0"/>
        </a:spcBef>
        <a:spcAft>
          <a:spcPct val="0"/>
        </a:spcAft>
        <a:defRPr sz="3200">
          <a:solidFill>
            <a:schemeClr val="tx2"/>
          </a:solidFill>
          <a:latin typeface="Calibri" pitchFamily="34" charset="0"/>
          <a:cs typeface="Arial" charset="0"/>
        </a:defRPr>
      </a:lvl8pPr>
      <a:lvl9pPr marL="1828800" algn="l" rtl="0" fontAlgn="base">
        <a:spcBef>
          <a:spcPct val="0"/>
        </a:spcBef>
        <a:spcAft>
          <a:spcPct val="0"/>
        </a:spcAft>
        <a:defRPr sz="3200">
          <a:solidFill>
            <a:schemeClr val="tx2"/>
          </a:solidFill>
          <a:latin typeface="Calibri" pitchFamily="34" charset="0"/>
          <a:cs typeface="Arial" charset="0"/>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a:solidFill>
            <a:schemeClr val="tx2"/>
          </a:solidFill>
          <a:latin typeface="+mn-lt"/>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rgbClr val="A94543"/>
        </a:buClr>
        <a:buSzPct val="70000"/>
        <a:buFont typeface="Wingdings" panose="05000000000000000000" pitchFamily="2" charset="2"/>
        <a:buChar char=""/>
        <a:defRPr sz="2000">
          <a:solidFill>
            <a:schemeClr val="tx1"/>
          </a:solidFill>
          <a:latin typeface="+mn-lt"/>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21">
            <a:extLst>
              <a:ext uri="{FF2B5EF4-FFF2-40B4-BE49-F238E27FC236}">
                <a16:creationId xmlns:a16="http://schemas.microsoft.com/office/drawing/2014/main" id="{332F699C-8609-4171-88FE-EE87565AC52D}"/>
              </a:ext>
            </a:extLst>
          </p:cNvPr>
          <p:cNvSpPr>
            <a:spLocks noGrp="1"/>
          </p:cNvSpPr>
          <p:nvPr>
            <p:ph type="title"/>
          </p:nvPr>
        </p:nvSpPr>
        <p:spPr bwMode="auto">
          <a:xfrm>
            <a:off x="457200" y="152400"/>
            <a:ext cx="82296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CA" altLang="en-US"/>
              <a:t>Click to edit Master title style</a:t>
            </a:r>
          </a:p>
        </p:txBody>
      </p:sp>
      <p:sp>
        <p:nvSpPr>
          <p:cNvPr id="2051" name="Text Placeholder 12">
            <a:extLst>
              <a:ext uri="{FF2B5EF4-FFF2-40B4-BE49-F238E27FC236}">
                <a16:creationId xmlns:a16="http://schemas.microsoft.com/office/drawing/2014/main" id="{B0EDC6BA-871E-41AE-B450-B305F1A6CD33}"/>
              </a:ext>
            </a:extLst>
          </p:cNvPr>
          <p:cNvSpPr>
            <a:spLocks noGrp="1"/>
          </p:cNvSpPr>
          <p:nvPr>
            <p:ph type="body" idx="1"/>
          </p:nvPr>
        </p:nvSpPr>
        <p:spPr bwMode="auto">
          <a:xfrm>
            <a:off x="457200" y="1143000"/>
            <a:ext cx="8229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CA" altLang="en-US" dirty="0"/>
              <a:t>Click to edit Master text styles</a:t>
            </a:r>
          </a:p>
          <a:p>
            <a:pPr lvl="1"/>
            <a:r>
              <a:rPr lang="en-CA" altLang="en-US" dirty="0"/>
              <a:t>Second level</a:t>
            </a:r>
          </a:p>
          <a:p>
            <a:pPr lvl="2"/>
            <a:r>
              <a:rPr lang="en-CA" altLang="en-US" dirty="0"/>
              <a:t>Third level</a:t>
            </a:r>
          </a:p>
          <a:p>
            <a:pPr lvl="3"/>
            <a:r>
              <a:rPr lang="en-CA" altLang="en-US" dirty="0"/>
              <a:t>Fourth level</a:t>
            </a:r>
          </a:p>
          <a:p>
            <a:pPr lvl="4"/>
            <a:r>
              <a:rPr lang="en-CA" altLang="en-US" dirty="0"/>
              <a:t>Fifth level</a:t>
            </a:r>
          </a:p>
        </p:txBody>
      </p:sp>
      <p:sp>
        <p:nvSpPr>
          <p:cNvPr id="2052" name="Straight Connector 28">
            <a:extLst>
              <a:ext uri="{FF2B5EF4-FFF2-40B4-BE49-F238E27FC236}">
                <a16:creationId xmlns:a16="http://schemas.microsoft.com/office/drawing/2014/main" id="{6EF5220D-E0D1-4432-8C65-15ADACC788EB}"/>
              </a:ext>
            </a:extLst>
          </p:cNvPr>
          <p:cNvSpPr>
            <a:spLocks noChangeShapeType="1"/>
          </p:cNvSpPr>
          <p:nvPr/>
        </p:nvSpPr>
        <p:spPr bwMode="auto">
          <a:xfrm>
            <a:off x="457200" y="990600"/>
            <a:ext cx="8229600" cy="0"/>
          </a:xfrm>
          <a:prstGeom prst="line">
            <a:avLst/>
          </a:prstGeom>
          <a:noFill/>
          <a:ln w="9525" algn="ctr">
            <a:solidFill>
              <a:srgbClr val="0033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53" name="Freeform 9">
            <a:extLst>
              <a:ext uri="{FF2B5EF4-FFF2-40B4-BE49-F238E27FC236}">
                <a16:creationId xmlns:a16="http://schemas.microsoft.com/office/drawing/2014/main" id="{C38A8FC5-3063-4AA9-8617-57BDB363F498}"/>
              </a:ext>
            </a:extLst>
          </p:cNvPr>
          <p:cNvSpPr>
            <a:spLocks/>
          </p:cNvSpPr>
          <p:nvPr userDrawn="1"/>
        </p:nvSpPr>
        <p:spPr bwMode="auto">
          <a:xfrm rot="5400000">
            <a:off x="7734300" y="5441950"/>
            <a:ext cx="1066800" cy="1752600"/>
          </a:xfrm>
          <a:custGeom>
            <a:avLst/>
            <a:gdLst>
              <a:gd name="T0" fmla="*/ 0 w 1432"/>
              <a:gd name="T1" fmla="*/ 0 h 3492"/>
              <a:gd name="T2" fmla="*/ 2147483646 w 1432"/>
              <a:gd name="T3" fmla="*/ 0 h 3492"/>
              <a:gd name="T4" fmla="*/ 2147483646 w 1432"/>
              <a:gd name="T5" fmla="*/ 2147483646 h 3492"/>
              <a:gd name="T6" fmla="*/ 2147483646 w 1432"/>
              <a:gd name="T7" fmla="*/ 2147483646 h 3492"/>
              <a:gd name="T8" fmla="*/ 2147483646 w 1432"/>
              <a:gd name="T9" fmla="*/ 2147483646 h 3492"/>
              <a:gd name="T10" fmla="*/ 2147483646 w 1432"/>
              <a:gd name="T11" fmla="*/ 2147483646 h 3492"/>
              <a:gd name="T12" fmla="*/ 2147483646 w 1432"/>
              <a:gd name="T13" fmla="*/ 2147483646 h 3492"/>
              <a:gd name="T14" fmla="*/ 2147483646 w 1432"/>
              <a:gd name="T15" fmla="*/ 2147483646 h 3492"/>
              <a:gd name="T16" fmla="*/ 2147483646 w 1432"/>
              <a:gd name="T17" fmla="*/ 2147483646 h 3492"/>
              <a:gd name="T18" fmla="*/ 2147483646 w 1432"/>
              <a:gd name="T19" fmla="*/ 2147483646 h 3492"/>
              <a:gd name="T20" fmla="*/ 2147483646 w 1432"/>
              <a:gd name="T21" fmla="*/ 2147483646 h 3492"/>
              <a:gd name="T22" fmla="*/ 2147483646 w 1432"/>
              <a:gd name="T23" fmla="*/ 2147483646 h 3492"/>
              <a:gd name="T24" fmla="*/ 2147483646 w 1432"/>
              <a:gd name="T25" fmla="*/ 2147483646 h 3492"/>
              <a:gd name="T26" fmla="*/ 2147483646 w 1432"/>
              <a:gd name="T27" fmla="*/ 2147483646 h 3492"/>
              <a:gd name="T28" fmla="*/ 2147483646 w 1432"/>
              <a:gd name="T29" fmla="*/ 2147483646 h 3492"/>
              <a:gd name="T30" fmla="*/ 2147483646 w 1432"/>
              <a:gd name="T31" fmla="*/ 2147483646 h 3492"/>
              <a:gd name="T32" fmla="*/ 2147483646 w 1432"/>
              <a:gd name="T33" fmla="*/ 2147483646 h 3492"/>
              <a:gd name="T34" fmla="*/ 2147483646 w 1432"/>
              <a:gd name="T35" fmla="*/ 2147483646 h 3492"/>
              <a:gd name="T36" fmla="*/ 2147483646 w 1432"/>
              <a:gd name="T37" fmla="*/ 2147483646 h 3492"/>
              <a:gd name="T38" fmla="*/ 2147483646 w 1432"/>
              <a:gd name="T39" fmla="*/ 2147483646 h 3492"/>
              <a:gd name="T40" fmla="*/ 2147483646 w 1432"/>
              <a:gd name="T41" fmla="*/ 2147483646 h 3492"/>
              <a:gd name="T42" fmla="*/ 2147483646 w 1432"/>
              <a:gd name="T43" fmla="*/ 2147483646 h 3492"/>
              <a:gd name="T44" fmla="*/ 2147483646 w 1432"/>
              <a:gd name="T45" fmla="*/ 2147483646 h 3492"/>
              <a:gd name="T46" fmla="*/ 2147483646 w 1432"/>
              <a:gd name="T47" fmla="*/ 2147483646 h 3492"/>
              <a:gd name="T48" fmla="*/ 2147483646 w 1432"/>
              <a:gd name="T49" fmla="*/ 2147483646 h 3492"/>
              <a:gd name="T50" fmla="*/ 2147483646 w 1432"/>
              <a:gd name="T51" fmla="*/ 2147483646 h 3492"/>
              <a:gd name="T52" fmla="*/ 2147483646 w 1432"/>
              <a:gd name="T53" fmla="*/ 2147483646 h 3492"/>
              <a:gd name="T54" fmla="*/ 2147483646 w 1432"/>
              <a:gd name="T55" fmla="*/ 2147483646 h 3492"/>
              <a:gd name="T56" fmla="*/ 2147483646 w 1432"/>
              <a:gd name="T57" fmla="*/ 2147483646 h 3492"/>
              <a:gd name="T58" fmla="*/ 2147483646 w 1432"/>
              <a:gd name="T59" fmla="*/ 2147483646 h 3492"/>
              <a:gd name="T60" fmla="*/ 2147483646 w 1432"/>
              <a:gd name="T61" fmla="*/ 2147483646 h 3492"/>
              <a:gd name="T62" fmla="*/ 2147483646 w 1432"/>
              <a:gd name="T63" fmla="*/ 2147483646 h 3492"/>
              <a:gd name="T64" fmla="*/ 2147483646 w 1432"/>
              <a:gd name="T65" fmla="*/ 2147483646 h 3492"/>
              <a:gd name="T66" fmla="*/ 2147483646 w 1432"/>
              <a:gd name="T67" fmla="*/ 2147483646 h 3492"/>
              <a:gd name="T68" fmla="*/ 0 w 1432"/>
              <a:gd name="T69" fmla="*/ 0 h 3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2"/>
              <a:gd name="T106" fmla="*/ 0 h 3492"/>
              <a:gd name="T107" fmla="*/ 1432 w 1432"/>
              <a:gd name="T108" fmla="*/ 3492 h 3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2" h="3492">
                <a:moveTo>
                  <a:pt x="0" y="0"/>
                </a:moveTo>
                <a:lnTo>
                  <a:pt x="1432" y="0"/>
                </a:lnTo>
                <a:lnTo>
                  <a:pt x="1432" y="3492"/>
                </a:lnTo>
                <a:lnTo>
                  <a:pt x="1419" y="3252"/>
                </a:lnTo>
                <a:lnTo>
                  <a:pt x="1406" y="3024"/>
                </a:lnTo>
                <a:lnTo>
                  <a:pt x="1393" y="2807"/>
                </a:lnTo>
                <a:lnTo>
                  <a:pt x="1379" y="2601"/>
                </a:lnTo>
                <a:lnTo>
                  <a:pt x="1364" y="2407"/>
                </a:lnTo>
                <a:lnTo>
                  <a:pt x="1348" y="2222"/>
                </a:lnTo>
                <a:lnTo>
                  <a:pt x="1330" y="2047"/>
                </a:lnTo>
                <a:lnTo>
                  <a:pt x="1311" y="1881"/>
                </a:lnTo>
                <a:lnTo>
                  <a:pt x="1291" y="1726"/>
                </a:lnTo>
                <a:lnTo>
                  <a:pt x="1268" y="1580"/>
                </a:lnTo>
                <a:lnTo>
                  <a:pt x="1245" y="1442"/>
                </a:lnTo>
                <a:lnTo>
                  <a:pt x="1218" y="1313"/>
                </a:lnTo>
                <a:lnTo>
                  <a:pt x="1190" y="1192"/>
                </a:lnTo>
                <a:lnTo>
                  <a:pt x="1158" y="1078"/>
                </a:lnTo>
                <a:lnTo>
                  <a:pt x="1125" y="973"/>
                </a:lnTo>
                <a:lnTo>
                  <a:pt x="1089" y="873"/>
                </a:lnTo>
                <a:lnTo>
                  <a:pt x="1049" y="781"/>
                </a:lnTo>
                <a:lnTo>
                  <a:pt x="1007" y="696"/>
                </a:lnTo>
                <a:lnTo>
                  <a:pt x="962" y="617"/>
                </a:lnTo>
                <a:lnTo>
                  <a:pt x="913" y="544"/>
                </a:lnTo>
                <a:lnTo>
                  <a:pt x="860" y="475"/>
                </a:lnTo>
                <a:lnTo>
                  <a:pt x="804" y="413"/>
                </a:lnTo>
                <a:lnTo>
                  <a:pt x="744" y="354"/>
                </a:lnTo>
                <a:lnTo>
                  <a:pt x="680" y="301"/>
                </a:lnTo>
                <a:lnTo>
                  <a:pt x="611" y="252"/>
                </a:lnTo>
                <a:lnTo>
                  <a:pt x="539" y="206"/>
                </a:lnTo>
                <a:lnTo>
                  <a:pt x="461" y="165"/>
                </a:lnTo>
                <a:lnTo>
                  <a:pt x="379" y="128"/>
                </a:lnTo>
                <a:lnTo>
                  <a:pt x="292" y="92"/>
                </a:lnTo>
                <a:lnTo>
                  <a:pt x="200" y="59"/>
                </a:lnTo>
                <a:lnTo>
                  <a:pt x="103" y="28"/>
                </a:lnTo>
                <a:lnTo>
                  <a:pt x="0" y="0"/>
                </a:lnTo>
                <a:close/>
              </a:path>
            </a:pathLst>
          </a:custGeom>
          <a:solidFill>
            <a:srgbClr val="005654"/>
          </a:solidFill>
          <a:ln>
            <a:noFill/>
          </a:ln>
        </p:spPr>
        <p:txBody>
          <a:bodyPr/>
          <a:lstStyle/>
          <a:p>
            <a:endParaRPr lang="en-US"/>
          </a:p>
        </p:txBody>
      </p:sp>
      <p:sp>
        <p:nvSpPr>
          <p:cNvPr id="90121" name="Text Box 9">
            <a:extLst>
              <a:ext uri="{FF2B5EF4-FFF2-40B4-BE49-F238E27FC236}">
                <a16:creationId xmlns:a16="http://schemas.microsoft.com/office/drawing/2014/main" id="{AA536B09-B3B0-491E-83E3-930DC21841DE}"/>
              </a:ext>
            </a:extLst>
          </p:cNvPr>
          <p:cNvSpPr txBox="1">
            <a:spLocks noChangeArrowheads="1"/>
          </p:cNvSpPr>
          <p:nvPr userDrawn="1"/>
        </p:nvSpPr>
        <p:spPr bwMode="auto">
          <a:xfrm>
            <a:off x="8229600" y="6546850"/>
            <a:ext cx="898525" cy="244475"/>
          </a:xfrm>
          <a:prstGeom prst="rect">
            <a:avLst/>
          </a:prstGeom>
          <a:noFill/>
          <a:ln w="9525">
            <a:no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000">
                <a:solidFill>
                  <a:schemeClr val="bg1"/>
                </a:solidFill>
              </a:rPr>
              <a:t>12-</a:t>
            </a:r>
            <a:fld id="{29E486F5-305E-4F7D-B4EC-75660850E20F}" type="slidenum">
              <a:rPr lang="en-US" altLang="en-US" sz="1000" smtClean="0">
                <a:solidFill>
                  <a:schemeClr val="bg1"/>
                </a:solidFill>
              </a:rPr>
              <a:pPr algn="r" eaLnBrk="1" hangingPunct="1">
                <a:defRPr/>
              </a:pPr>
              <a:t>‹#›</a:t>
            </a:fld>
            <a:endParaRPr lang="en-CA" altLang="en-US"/>
          </a:p>
        </p:txBody>
      </p:sp>
      <p:sp>
        <p:nvSpPr>
          <p:cNvPr id="8" name="Rectangle 8">
            <a:extLst>
              <a:ext uri="{FF2B5EF4-FFF2-40B4-BE49-F238E27FC236}">
                <a16:creationId xmlns:a16="http://schemas.microsoft.com/office/drawing/2014/main" id="{E924D42F-BCEB-4852-B67E-72DC5D0E0850}"/>
              </a:ext>
            </a:extLst>
          </p:cNvPr>
          <p:cNvSpPr>
            <a:spLocks noChangeArrowheads="1"/>
          </p:cNvSpPr>
          <p:nvPr userDrawn="1"/>
        </p:nvSpPr>
        <p:spPr bwMode="auto">
          <a:xfrm>
            <a:off x="34925" y="6553200"/>
            <a:ext cx="1777732" cy="243656"/>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sz="1000" dirty="0"/>
              <a:t>© </a:t>
            </a:r>
            <a:r>
              <a:rPr lang="en-CA" sz="1000"/>
              <a:t>2023 McGraw Hill </a:t>
            </a:r>
            <a:r>
              <a:rPr lang="en-CA" sz="1000" dirty="0"/>
              <a:t>Limited</a:t>
            </a:r>
            <a:endParaRPr lang="en-US" altLang="en-US" sz="1000" dirty="0">
              <a:solidFill>
                <a:srgbClr val="003366"/>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Lst>
  <p:transition/>
  <p:txStyles>
    <p:titleStyle>
      <a:lvl1pPr algn="l" rtl="0" eaLnBrk="0" fontAlgn="base" hangingPunct="0">
        <a:spcBef>
          <a:spcPct val="0"/>
        </a:spcBef>
        <a:spcAft>
          <a:spcPct val="0"/>
        </a:spcAft>
        <a:defRPr sz="3200">
          <a:solidFill>
            <a:srgbClr val="005654"/>
          </a:solidFill>
          <a:latin typeface="+mj-lt"/>
          <a:ea typeface="+mj-ea"/>
          <a:cs typeface="+mj-cs"/>
        </a:defRPr>
      </a:lvl1pPr>
      <a:lvl2pPr algn="l" rtl="0" eaLnBrk="0" fontAlgn="base" hangingPunct="0">
        <a:spcBef>
          <a:spcPct val="0"/>
        </a:spcBef>
        <a:spcAft>
          <a:spcPct val="0"/>
        </a:spcAft>
        <a:defRPr sz="3200">
          <a:solidFill>
            <a:schemeClr val="tx2"/>
          </a:solidFill>
          <a:latin typeface="Calibri" pitchFamily="34" charset="0"/>
          <a:cs typeface="Arial" charset="0"/>
        </a:defRPr>
      </a:lvl2pPr>
      <a:lvl3pPr algn="l" rtl="0" eaLnBrk="0" fontAlgn="base" hangingPunct="0">
        <a:spcBef>
          <a:spcPct val="0"/>
        </a:spcBef>
        <a:spcAft>
          <a:spcPct val="0"/>
        </a:spcAft>
        <a:defRPr sz="3200">
          <a:solidFill>
            <a:schemeClr val="tx2"/>
          </a:solidFill>
          <a:latin typeface="Calibri" pitchFamily="34" charset="0"/>
          <a:cs typeface="Arial" charset="0"/>
        </a:defRPr>
      </a:lvl3pPr>
      <a:lvl4pPr algn="l" rtl="0" eaLnBrk="0" fontAlgn="base" hangingPunct="0">
        <a:spcBef>
          <a:spcPct val="0"/>
        </a:spcBef>
        <a:spcAft>
          <a:spcPct val="0"/>
        </a:spcAft>
        <a:defRPr sz="3200">
          <a:solidFill>
            <a:schemeClr val="tx2"/>
          </a:solidFill>
          <a:latin typeface="Calibri" pitchFamily="34" charset="0"/>
          <a:cs typeface="Arial" charset="0"/>
        </a:defRPr>
      </a:lvl4pPr>
      <a:lvl5pPr algn="l" rtl="0" eaLnBrk="0" fontAlgn="base" hangingPunct="0">
        <a:spcBef>
          <a:spcPct val="0"/>
        </a:spcBef>
        <a:spcAft>
          <a:spcPct val="0"/>
        </a:spcAft>
        <a:defRPr sz="3200">
          <a:solidFill>
            <a:schemeClr val="tx2"/>
          </a:solidFill>
          <a:latin typeface="Calibri" pitchFamily="34" charset="0"/>
          <a:cs typeface="Arial" charset="0"/>
        </a:defRPr>
      </a:lvl5pPr>
      <a:lvl6pPr marL="457200" algn="l" rtl="0" fontAlgn="base">
        <a:spcBef>
          <a:spcPct val="0"/>
        </a:spcBef>
        <a:spcAft>
          <a:spcPct val="0"/>
        </a:spcAft>
        <a:defRPr sz="3200">
          <a:solidFill>
            <a:schemeClr val="tx2"/>
          </a:solidFill>
          <a:latin typeface="Calibri" pitchFamily="34" charset="0"/>
          <a:cs typeface="Arial" charset="0"/>
        </a:defRPr>
      </a:lvl6pPr>
      <a:lvl7pPr marL="914400" algn="l" rtl="0" fontAlgn="base">
        <a:spcBef>
          <a:spcPct val="0"/>
        </a:spcBef>
        <a:spcAft>
          <a:spcPct val="0"/>
        </a:spcAft>
        <a:defRPr sz="3200">
          <a:solidFill>
            <a:schemeClr val="tx2"/>
          </a:solidFill>
          <a:latin typeface="Calibri" pitchFamily="34" charset="0"/>
          <a:cs typeface="Arial" charset="0"/>
        </a:defRPr>
      </a:lvl7pPr>
      <a:lvl8pPr marL="1371600" algn="l" rtl="0" fontAlgn="base">
        <a:spcBef>
          <a:spcPct val="0"/>
        </a:spcBef>
        <a:spcAft>
          <a:spcPct val="0"/>
        </a:spcAft>
        <a:defRPr sz="3200">
          <a:solidFill>
            <a:schemeClr val="tx2"/>
          </a:solidFill>
          <a:latin typeface="Calibri" pitchFamily="34" charset="0"/>
          <a:cs typeface="Arial" charset="0"/>
        </a:defRPr>
      </a:lvl8pPr>
      <a:lvl9pPr marL="1828800" algn="l" rtl="0" fontAlgn="base">
        <a:spcBef>
          <a:spcPct val="0"/>
        </a:spcBef>
        <a:spcAft>
          <a:spcPct val="0"/>
        </a:spcAft>
        <a:defRPr sz="3200">
          <a:solidFill>
            <a:schemeClr val="tx2"/>
          </a:solidFill>
          <a:latin typeface="Calibri" pitchFamily="34" charset="0"/>
          <a:cs typeface="Arial" charset="0"/>
        </a:defRPr>
      </a:lvl9pPr>
    </p:titleStyle>
    <p:bodyStyle>
      <a:lvl1pPr marL="273050" indent="-273050" algn="l" rtl="0" eaLnBrk="0" fontAlgn="base" hangingPunct="0">
        <a:spcBef>
          <a:spcPts val="600"/>
        </a:spcBef>
        <a:spcAft>
          <a:spcPct val="0"/>
        </a:spcAft>
        <a:buClr>
          <a:srgbClr val="45D1D1"/>
        </a:buClr>
        <a:buSzPct val="76000"/>
        <a:buFont typeface="Wingdings 3" panose="05040102010807070707" pitchFamily="18"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rgbClr val="45D1D1"/>
        </a:buClr>
        <a:buSzPct val="76000"/>
        <a:buFont typeface="Wingdings 3" panose="05040102010807070707" pitchFamily="18" charset="2"/>
        <a:buChar char=""/>
        <a:defRPr sz="2300">
          <a:solidFill>
            <a:schemeClr val="tx1"/>
          </a:solidFill>
          <a:latin typeface="+mn-lt"/>
          <a:cs typeface="+mn-cs"/>
        </a:defRPr>
      </a:lvl2pPr>
      <a:lvl3pPr marL="822325" indent="-228600" algn="l" rtl="0" eaLnBrk="0" fontAlgn="base" hangingPunct="0">
        <a:spcBef>
          <a:spcPts val="500"/>
        </a:spcBef>
        <a:spcAft>
          <a:spcPct val="0"/>
        </a:spcAft>
        <a:buClr>
          <a:srgbClr val="45D1D1"/>
        </a:buClr>
        <a:buSzPct val="76000"/>
        <a:buFont typeface="Wingdings 3" panose="05040102010807070707" pitchFamily="18"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rgbClr val="45D1D1"/>
        </a:buClr>
        <a:buSzPct val="70000"/>
        <a:buFont typeface="Arial" panose="020B0604020202020204" pitchFamily="34" charset="0"/>
        <a:buChar char="•"/>
        <a:defRPr sz="2000">
          <a:solidFill>
            <a:schemeClr val="tx1"/>
          </a:solidFill>
          <a:latin typeface="+mn-lt"/>
          <a:cs typeface="+mn-cs"/>
        </a:defRPr>
      </a:lvl4pPr>
      <a:lvl5pPr marL="1371600" indent="-228600" algn="l" rtl="0" eaLnBrk="0" fontAlgn="base" hangingPunct="0">
        <a:spcBef>
          <a:spcPts val="300"/>
        </a:spcBef>
        <a:spcAft>
          <a:spcPct val="0"/>
        </a:spcAft>
        <a:buClr>
          <a:srgbClr val="45D1D1"/>
        </a:buClr>
        <a:buSzPct val="70000"/>
        <a:buFont typeface="Arial" panose="020B0604020202020204" pitchFamily="34" charset="0"/>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hyperlink" Target="http://www.sedar.com/" TargetMode="Externa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hyperlink" Target="applewebdata://EFD8A087-5B04-454F-AE3F-DAD8C19CE3C0/dbe48970d53e465fb7b216154d476702" TargetMode="External"/><Relationship Id="rId2" Type="http://schemas.openxmlformats.org/officeDocument/2006/relationships/hyperlink" Target="applewebdata://EFD8A087-5B04-454F-AE3F-DAD8C19CE3C0/73850006ddc442b59fabed5ff87b9f2d" TargetMode="External"/><Relationship Id="rId1" Type="http://schemas.openxmlformats.org/officeDocument/2006/relationships/slideLayout" Target="../slideLayouts/slideLayout13.xml"/><Relationship Id="rId6" Type="http://schemas.openxmlformats.org/officeDocument/2006/relationships/hyperlink" Target="applewebdata://EFD8A087-5B04-454F-AE3F-DAD8C19CE3C0/80ece9dac1d146e9b7a522b59ebcb4b3" TargetMode="External"/><Relationship Id="rId5" Type="http://schemas.openxmlformats.org/officeDocument/2006/relationships/hyperlink" Target="applewebdata://EFD8A087-5B04-454F-AE3F-DAD8C19CE3C0/368e3e9836f24a4c90ed22ffcf562325" TargetMode="External"/><Relationship Id="rId4" Type="http://schemas.openxmlformats.org/officeDocument/2006/relationships/hyperlink" Target="applewebdata://EFD8A087-5B04-454F-AE3F-DAD8C19CE3C0/b42310af38ce406a84f93e90bc2cd09a"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applewebdata://8B49384B-054D-4B35-A4B1-E3945A74C718/641e9576d2c84628b225f6ef1a62080c" TargetMode="External"/><Relationship Id="rId2" Type="http://schemas.openxmlformats.org/officeDocument/2006/relationships/hyperlink" Target="applewebdata://8B49384B-054D-4B35-A4B1-E3945A74C718/dbe48970d53e465fb7b216154d476702" TargetMode="External"/><Relationship Id="rId1" Type="http://schemas.openxmlformats.org/officeDocument/2006/relationships/slideLayout" Target="../slideLayouts/slideLayout13.xml"/><Relationship Id="rId5" Type="http://schemas.openxmlformats.org/officeDocument/2006/relationships/hyperlink" Target="applewebdata://8B49384B-054D-4B35-A4B1-E3945A74C718/d18b8435f7d24d6eaa36f7f2e40bcb56" TargetMode="External"/><Relationship Id="rId4" Type="http://schemas.openxmlformats.org/officeDocument/2006/relationships/hyperlink" Target="applewebdata://8B49384B-054D-4B35-A4B1-E3945A74C718/b42310af38ce406a84f93e90bc2cd09a"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applewebdata://95436588-4F57-4199-8C04-B75CB581CE18/3549af5274724039a8b6e427259580d3" TargetMode="External"/><Relationship Id="rId2" Type="http://schemas.openxmlformats.org/officeDocument/2006/relationships/hyperlink" Target="applewebdata://95436588-4F57-4199-8C04-B75CB581CE18/b227d8ae39e44a11b1c91bce907593c2" TargetMode="External"/><Relationship Id="rId1" Type="http://schemas.openxmlformats.org/officeDocument/2006/relationships/slideLayout" Target="../slideLayouts/slideLayout13.xml"/><Relationship Id="rId5" Type="http://schemas.openxmlformats.org/officeDocument/2006/relationships/hyperlink" Target="applewebdata://95436588-4F57-4199-8C04-B75CB581CE18/44b53beb469744b0b5c9872605905ea4" TargetMode="External"/><Relationship Id="rId4" Type="http://schemas.openxmlformats.org/officeDocument/2006/relationships/hyperlink" Target="applewebdata://95436588-4F57-4199-8C04-B75CB581CE18/f41e1b2ad84a4e90bac199b76f2bb28f"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applewebdata://016BCA78-440D-4A0D-8288-6C13A921B3D4/368e3e9836f24a4c90ed22ffcf562325" TargetMode="External"/><Relationship Id="rId2" Type="http://schemas.openxmlformats.org/officeDocument/2006/relationships/hyperlink" Target="applewebdata://016BCA78-440D-4A0D-8288-6C13A921B3D4/f41e1b2ad84a4e90bac199b76f2bb28f" TargetMode="Externa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Title 3">
            <a:extLst>
              <a:ext uri="{FF2B5EF4-FFF2-40B4-BE49-F238E27FC236}">
                <a16:creationId xmlns:a16="http://schemas.microsoft.com/office/drawing/2014/main" id="{701697E2-AF06-43EC-8E98-257BAA98FA94}"/>
              </a:ext>
            </a:extLst>
          </p:cNvPr>
          <p:cNvSpPr>
            <a:spLocks/>
          </p:cNvSpPr>
          <p:nvPr/>
        </p:nvSpPr>
        <p:spPr bwMode="auto">
          <a:xfrm>
            <a:off x="1143000" y="3352800"/>
            <a:ext cx="701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CA" altLang="en-US" sz="2800" b="1" dirty="0">
                <a:solidFill>
                  <a:srgbClr val="005654"/>
                </a:solidFill>
                <a:latin typeface="Calibri" panose="020F0502020204030204" pitchFamily="34" charset="0"/>
              </a:rPr>
              <a:t>Communicating Accounting Information</a:t>
            </a:r>
          </a:p>
          <a:p>
            <a:pPr algn="r" eaLnBrk="1" hangingPunct="1"/>
            <a:r>
              <a:rPr lang="en-CA" altLang="en-US" sz="2800" b="1" dirty="0">
                <a:solidFill>
                  <a:srgbClr val="005654"/>
                </a:solidFill>
                <a:latin typeface="Calibri" panose="020F0502020204030204" pitchFamily="34" charset="0"/>
              </a:rPr>
              <a:t> and Analyzing Financial Statements</a:t>
            </a:r>
          </a:p>
        </p:txBody>
      </p:sp>
      <p:sp>
        <p:nvSpPr>
          <p:cNvPr id="5122" name="Subtitle 4">
            <a:extLst>
              <a:ext uri="{FF2B5EF4-FFF2-40B4-BE49-F238E27FC236}">
                <a16:creationId xmlns:a16="http://schemas.microsoft.com/office/drawing/2014/main" id="{E83684BD-1745-4F05-A6AB-6FEC769C30AA}"/>
              </a:ext>
            </a:extLst>
          </p:cNvPr>
          <p:cNvSpPr>
            <a:spLocks/>
          </p:cNvSpPr>
          <p:nvPr/>
        </p:nvSpPr>
        <p:spPr bwMode="auto">
          <a:xfrm>
            <a:off x="1295400" y="4800600"/>
            <a:ext cx="685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spcBef>
                <a:spcPts val="600"/>
              </a:spcBef>
              <a:buClr>
                <a:schemeClr val="accent1"/>
              </a:buClr>
              <a:buSzPct val="76000"/>
              <a:buFont typeface="Wingdings 3" panose="05040102010807070707" pitchFamily="18" charset="2"/>
              <a:buNone/>
            </a:pPr>
            <a:r>
              <a:rPr lang="en-CA" altLang="en-US" sz="2800" b="1">
                <a:solidFill>
                  <a:srgbClr val="45D1D1"/>
                </a:solidFill>
                <a:latin typeface="Calibri" panose="020F0502020204030204" pitchFamily="34" charset="0"/>
              </a:rPr>
              <a:t>Chapter 12</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a:extLst>
              <a:ext uri="{FF2B5EF4-FFF2-40B4-BE49-F238E27FC236}">
                <a16:creationId xmlns:a16="http://schemas.microsoft.com/office/drawing/2014/main" id="{F304431D-571B-4471-9324-4C6E3E1A8F67}"/>
              </a:ext>
            </a:extLst>
          </p:cNvPr>
          <p:cNvSpPr>
            <a:spLocks noGrp="1"/>
          </p:cNvSpPr>
          <p:nvPr>
            <p:ph type="title"/>
          </p:nvPr>
        </p:nvSpPr>
        <p:spPr/>
        <p:txBody>
          <a:bodyPr/>
          <a:lstStyle/>
          <a:p>
            <a:r>
              <a:rPr lang="en-US" altLang="en-US"/>
              <a:t>Learning Objectives</a:t>
            </a:r>
          </a:p>
        </p:txBody>
      </p:sp>
      <p:sp>
        <p:nvSpPr>
          <p:cNvPr id="7170" name="Content Placeholder 2">
            <a:extLst>
              <a:ext uri="{FF2B5EF4-FFF2-40B4-BE49-F238E27FC236}">
                <a16:creationId xmlns:a16="http://schemas.microsoft.com/office/drawing/2014/main" id="{6B94BAB6-DD1F-4CA9-9FDC-5DC5CE961018}"/>
              </a:ext>
            </a:extLst>
          </p:cNvPr>
          <p:cNvSpPr>
            <a:spLocks noGrp="1"/>
          </p:cNvSpPr>
          <p:nvPr>
            <p:ph idx="1"/>
          </p:nvPr>
        </p:nvSpPr>
        <p:spPr/>
        <p:txBody>
          <a:bodyPr/>
          <a:lstStyle/>
          <a:p>
            <a:r>
              <a:rPr lang="en-CA" altLang="en-US" b="1" dirty="0"/>
              <a:t>LO12-1 </a:t>
            </a:r>
            <a:r>
              <a:rPr lang="en-CA" altLang="en-US" dirty="0"/>
              <a:t>Recognize the roles of people involved in the accounting communication process (regulators, managers, board of directors, auditors, information intermediaries, and users), and the guidance they receive from legal and professional standards.</a:t>
            </a:r>
          </a:p>
          <a:p>
            <a:r>
              <a:rPr lang="en-CA" altLang="en-US" b="1" dirty="0"/>
              <a:t>LO12-2 </a:t>
            </a:r>
            <a:r>
              <a:rPr lang="en-CA" altLang="en-US" dirty="0"/>
              <a:t>Identify the steps in the accounting communication process, including the issuance of press releases, annual reports, quarterly reports, and documents filed with securities commissions.</a:t>
            </a:r>
          </a:p>
          <a:p>
            <a:r>
              <a:rPr lang="en-CA" altLang="en-US" b="1" dirty="0"/>
              <a:t>LO12-3 </a:t>
            </a:r>
            <a:r>
              <a:rPr lang="en-CA" altLang="en-US" dirty="0"/>
              <a:t>Explain how a company’s business strategy affects financial statement analysis.</a:t>
            </a:r>
          </a:p>
          <a:p>
            <a:r>
              <a:rPr lang="en-CA" altLang="en-US" b="1" dirty="0"/>
              <a:t>LO12-4 </a:t>
            </a:r>
            <a:r>
              <a:rPr lang="en-CA" altLang="en-US" dirty="0"/>
              <a:t>Discuss how analysts use financial statements.</a:t>
            </a:r>
          </a:p>
          <a:p>
            <a:endParaRPr lang="en-US" alt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Title 1">
            <a:extLst>
              <a:ext uri="{FF2B5EF4-FFF2-40B4-BE49-F238E27FC236}">
                <a16:creationId xmlns:a16="http://schemas.microsoft.com/office/drawing/2014/main" id="{376023C2-14FF-46E9-8331-6DE6601FEDF2}"/>
              </a:ext>
            </a:extLst>
          </p:cNvPr>
          <p:cNvSpPr>
            <a:spLocks noGrp="1"/>
          </p:cNvSpPr>
          <p:nvPr>
            <p:ph type="title"/>
          </p:nvPr>
        </p:nvSpPr>
        <p:spPr/>
        <p:txBody>
          <a:bodyPr/>
          <a:lstStyle/>
          <a:p>
            <a:r>
              <a:rPr lang="en-US" altLang="en-US"/>
              <a:t>Learning Objectives Continued</a:t>
            </a:r>
          </a:p>
        </p:txBody>
      </p:sp>
      <p:sp>
        <p:nvSpPr>
          <p:cNvPr id="7170" name="Content Placeholder 2">
            <a:extLst>
              <a:ext uri="{FF2B5EF4-FFF2-40B4-BE49-F238E27FC236}">
                <a16:creationId xmlns:a16="http://schemas.microsoft.com/office/drawing/2014/main" id="{D3D3FA0C-E25E-4D99-8ABC-08AF322B4513}"/>
              </a:ext>
            </a:extLst>
          </p:cNvPr>
          <p:cNvSpPr>
            <a:spLocks noGrp="1"/>
          </p:cNvSpPr>
          <p:nvPr>
            <p:ph idx="1"/>
          </p:nvPr>
        </p:nvSpPr>
        <p:spPr>
          <a:xfrm>
            <a:off x="457200" y="1066800"/>
            <a:ext cx="8229600" cy="5334000"/>
          </a:xfrm>
        </p:spPr>
        <p:txBody>
          <a:bodyPr/>
          <a:lstStyle/>
          <a:p>
            <a:pPr>
              <a:buFont typeface="Wingdings 3" pitchFamily="2" charset="2"/>
              <a:buChar char=""/>
              <a:defRPr/>
            </a:pPr>
            <a:r>
              <a:rPr lang="en-CA" altLang="en-US" b="1" dirty="0"/>
              <a:t>LO12-5 </a:t>
            </a:r>
            <a:r>
              <a:rPr lang="en-CA" dirty="0"/>
              <a:t>Compute and interpret component percentages (vertical analysis).</a:t>
            </a:r>
          </a:p>
          <a:p>
            <a:pPr>
              <a:buFont typeface="Wingdings 3" pitchFamily="2" charset="2"/>
              <a:buChar char=""/>
              <a:defRPr/>
            </a:pPr>
            <a:r>
              <a:rPr lang="en-CA" altLang="en-US" b="1" dirty="0"/>
              <a:t>LO12-6 </a:t>
            </a:r>
            <a:r>
              <a:rPr lang="en-CA" dirty="0"/>
              <a:t>Compute and interpret percentage changes over time (horizontal analysis). </a:t>
            </a:r>
          </a:p>
          <a:p>
            <a:pPr>
              <a:buFont typeface="Wingdings 3" pitchFamily="2" charset="2"/>
              <a:buChar char=""/>
              <a:defRPr/>
            </a:pPr>
            <a:r>
              <a:rPr lang="en-CA" altLang="en-US" b="1" dirty="0"/>
              <a:t>LO12-7 </a:t>
            </a:r>
            <a:r>
              <a:rPr lang="en-CA" dirty="0"/>
              <a:t>Compute and interpret profitability ratios.</a:t>
            </a:r>
          </a:p>
          <a:p>
            <a:pPr>
              <a:buFont typeface="Wingdings 3" pitchFamily="2" charset="2"/>
              <a:buChar char=""/>
              <a:defRPr/>
            </a:pPr>
            <a:r>
              <a:rPr lang="en-CA" altLang="en-US" b="1" dirty="0"/>
              <a:t>LO12-8 </a:t>
            </a:r>
            <a:r>
              <a:rPr lang="en-CA" dirty="0"/>
              <a:t>Compute and interpret asset turnover ratios.</a:t>
            </a:r>
          </a:p>
          <a:p>
            <a:pPr>
              <a:buFont typeface="Wingdings 3" pitchFamily="2" charset="2"/>
              <a:buChar char=""/>
              <a:defRPr/>
            </a:pPr>
            <a:r>
              <a:rPr lang="en-CA" altLang="en-US" b="1" dirty="0"/>
              <a:t>LO12-9 </a:t>
            </a:r>
            <a:r>
              <a:rPr lang="en-CA" dirty="0"/>
              <a:t>Compute and interpret liquidity ratios.</a:t>
            </a:r>
          </a:p>
          <a:p>
            <a:pPr>
              <a:buFont typeface="Wingdings 3" pitchFamily="2" charset="2"/>
              <a:buChar char=""/>
              <a:defRPr/>
            </a:pPr>
            <a:r>
              <a:rPr lang="en-CA" altLang="en-US" b="1" dirty="0"/>
              <a:t>LO12-10 </a:t>
            </a:r>
            <a:r>
              <a:rPr lang="en-CA" dirty="0"/>
              <a:t>Compute and interpret solvency ratios.</a:t>
            </a:r>
          </a:p>
          <a:p>
            <a:pPr>
              <a:buFont typeface="Wingdings 3" pitchFamily="2" charset="2"/>
              <a:buChar char=""/>
              <a:defRPr/>
            </a:pPr>
            <a:r>
              <a:rPr lang="en-CA" altLang="en-US" b="1" dirty="0"/>
              <a:t>LO12-11 </a:t>
            </a:r>
            <a:r>
              <a:rPr lang="en-CA" dirty="0"/>
              <a:t>Compute and interpret market ratios.</a:t>
            </a:r>
            <a:endParaRPr lang="en-CA" sz="800" dirty="0"/>
          </a:p>
          <a:p>
            <a:pPr marL="0" indent="0">
              <a:buFont typeface="Wingdings 3" pitchFamily="2" charset="2"/>
              <a:buNone/>
              <a:defRPr/>
            </a:pPr>
            <a:r>
              <a:rPr lang="en-CA" b="1" cap="all" dirty="0"/>
              <a:t>SUPPLEMENTARY MATERIAL</a:t>
            </a:r>
          </a:p>
          <a:p>
            <a:pPr>
              <a:buFont typeface="Wingdings 3" pitchFamily="2" charset="2"/>
              <a:buChar char=""/>
              <a:defRPr/>
            </a:pPr>
            <a:r>
              <a:rPr lang="en-CA" b="1" dirty="0"/>
              <a:t>LO12-S1 </a:t>
            </a:r>
            <a:r>
              <a:rPr lang="en-CA" dirty="0"/>
              <a:t>Evaluate a company’s performance using the expanded DuPont model.</a:t>
            </a:r>
            <a:endParaRPr lang="en-US" alt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itle 1">
            <a:extLst>
              <a:ext uri="{FF2B5EF4-FFF2-40B4-BE49-F238E27FC236}">
                <a16:creationId xmlns:a16="http://schemas.microsoft.com/office/drawing/2014/main" id="{A77423FB-B820-494D-B0E3-BD2B5150F43F}"/>
              </a:ext>
            </a:extLst>
          </p:cNvPr>
          <p:cNvSpPr>
            <a:spLocks noGrp="1"/>
          </p:cNvSpPr>
          <p:nvPr>
            <p:ph type="title"/>
          </p:nvPr>
        </p:nvSpPr>
        <p:spPr/>
        <p:txBody>
          <a:bodyPr/>
          <a:lstStyle/>
          <a:p>
            <a:r>
              <a:rPr lang="en-CA" altLang="en-US" dirty="0"/>
              <a:t>Ensuring the Integrity of Financial Information</a:t>
            </a:r>
            <a:endParaRPr lang="en-US" altLang="en-US" dirty="0"/>
          </a:p>
        </p:txBody>
      </p:sp>
      <p:pic>
        <p:nvPicPr>
          <p:cNvPr id="5" name="Picture 4">
            <a:extLst>
              <a:ext uri="{FF2B5EF4-FFF2-40B4-BE49-F238E27FC236}">
                <a16:creationId xmlns:a16="http://schemas.microsoft.com/office/drawing/2014/main" id="{25DD10F1-8F4D-F349-8C79-CB2BD7186717}"/>
              </a:ext>
            </a:extLst>
          </p:cNvPr>
          <p:cNvPicPr>
            <a:picLocks noChangeAspect="1"/>
          </p:cNvPicPr>
          <p:nvPr/>
        </p:nvPicPr>
        <p:blipFill>
          <a:blip r:embed="rId2"/>
          <a:stretch>
            <a:fillRect/>
          </a:stretch>
        </p:blipFill>
        <p:spPr>
          <a:xfrm>
            <a:off x="1905000" y="1371600"/>
            <a:ext cx="5156200" cy="4857140"/>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itle 1">
            <a:extLst>
              <a:ext uri="{FF2B5EF4-FFF2-40B4-BE49-F238E27FC236}">
                <a16:creationId xmlns:a16="http://schemas.microsoft.com/office/drawing/2014/main" id="{A77423FB-B820-494D-B0E3-BD2B5150F43F}"/>
              </a:ext>
            </a:extLst>
          </p:cNvPr>
          <p:cNvSpPr>
            <a:spLocks noGrp="1"/>
          </p:cNvSpPr>
          <p:nvPr>
            <p:ph type="title"/>
          </p:nvPr>
        </p:nvSpPr>
        <p:spPr/>
        <p:txBody>
          <a:bodyPr/>
          <a:lstStyle/>
          <a:p>
            <a:r>
              <a:rPr lang="en-US" altLang="en-US"/>
              <a:t>Regulators Part 1</a:t>
            </a:r>
          </a:p>
        </p:txBody>
      </p:sp>
      <p:sp>
        <p:nvSpPr>
          <p:cNvPr id="11266" name="Content Placeholder 2">
            <a:extLst>
              <a:ext uri="{FF2B5EF4-FFF2-40B4-BE49-F238E27FC236}">
                <a16:creationId xmlns:a16="http://schemas.microsoft.com/office/drawing/2014/main" id="{27B635AB-A773-4291-B07F-6A15E3F5A1AB}"/>
              </a:ext>
            </a:extLst>
          </p:cNvPr>
          <p:cNvSpPr>
            <a:spLocks noGrp="1"/>
          </p:cNvSpPr>
          <p:nvPr>
            <p:ph idx="1"/>
          </p:nvPr>
        </p:nvSpPr>
        <p:spPr/>
        <p:txBody>
          <a:bodyPr/>
          <a:lstStyle/>
          <a:p>
            <a:r>
              <a:rPr lang="en-CA" altLang="en-US" dirty="0"/>
              <a:t>The financial information reported by Canadian companies is subject to strict regulations and standards issued by government regulators and private standard-setting organizations. </a:t>
            </a:r>
          </a:p>
          <a:p>
            <a:endParaRPr lang="en-CA" altLang="en-US" sz="800" dirty="0"/>
          </a:p>
          <a:p>
            <a:r>
              <a:rPr lang="en-CA" altLang="en-US" dirty="0"/>
              <a:t>Canadian publicly traded corporations must comply with provincial securities regulations that are coordinated by the Canadian Securities Administrators (CSA). </a:t>
            </a:r>
          </a:p>
          <a:p>
            <a:endParaRPr lang="en-CA" altLang="en-US" sz="800" dirty="0"/>
          </a:p>
          <a:p>
            <a:r>
              <a:rPr lang="en-CA" altLang="en-US" dirty="0"/>
              <a:t>The CSA is a forum for the 13 securities regulators of Canada’s provinces and territories that was established to harmonize regulation of the Canadian capital markets where financial securities are offered and traded.</a:t>
            </a:r>
          </a:p>
          <a:p>
            <a:endParaRPr lang="en-US" altLang="en-US" dirty="0"/>
          </a:p>
        </p:txBody>
      </p:sp>
    </p:spTree>
    <p:extLst>
      <p:ext uri="{BB962C8B-B14F-4D97-AF65-F5344CB8AC3E}">
        <p14:creationId xmlns:p14="http://schemas.microsoft.com/office/powerpoint/2010/main" val="108228232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itle 1">
            <a:extLst>
              <a:ext uri="{FF2B5EF4-FFF2-40B4-BE49-F238E27FC236}">
                <a16:creationId xmlns:a16="http://schemas.microsoft.com/office/drawing/2014/main" id="{B538C36D-D723-423A-A31C-BBFD1461B343}"/>
              </a:ext>
            </a:extLst>
          </p:cNvPr>
          <p:cNvSpPr>
            <a:spLocks noGrp="1"/>
          </p:cNvSpPr>
          <p:nvPr>
            <p:ph type="title"/>
          </p:nvPr>
        </p:nvSpPr>
        <p:spPr/>
        <p:txBody>
          <a:bodyPr/>
          <a:lstStyle/>
          <a:p>
            <a:r>
              <a:rPr lang="en-US" altLang="en-US"/>
              <a:t>Regulators Part 2</a:t>
            </a:r>
          </a:p>
        </p:txBody>
      </p:sp>
      <p:sp>
        <p:nvSpPr>
          <p:cNvPr id="12290" name="Content Placeholder 2">
            <a:extLst>
              <a:ext uri="{FF2B5EF4-FFF2-40B4-BE49-F238E27FC236}">
                <a16:creationId xmlns:a16="http://schemas.microsoft.com/office/drawing/2014/main" id="{65338427-83AA-4A7E-8582-4F57324AD4D0}"/>
              </a:ext>
            </a:extLst>
          </p:cNvPr>
          <p:cNvSpPr>
            <a:spLocks noGrp="1"/>
          </p:cNvSpPr>
          <p:nvPr>
            <p:ph idx="1"/>
          </p:nvPr>
        </p:nvSpPr>
        <p:spPr/>
        <p:txBody>
          <a:bodyPr/>
          <a:lstStyle/>
          <a:p>
            <a:r>
              <a:rPr lang="en-CA" altLang="en-US" dirty="0"/>
              <a:t>Securities regulators work closely with the Accounting Standards Board (</a:t>
            </a:r>
            <a:r>
              <a:rPr lang="en-CA" altLang="en-US" dirty="0" err="1"/>
              <a:t>AcSB</a:t>
            </a:r>
            <a:r>
              <a:rPr lang="en-CA" altLang="en-US" dirty="0"/>
              <a:t>), which is responsible for establishing standards of accounting and reporting by Canadian companies. </a:t>
            </a:r>
          </a:p>
          <a:p>
            <a:endParaRPr lang="en-CA" altLang="en-US" sz="800" dirty="0"/>
          </a:p>
          <a:p>
            <a:r>
              <a:rPr lang="en-CA" altLang="en-US" dirty="0"/>
              <a:t>External auditors ensure that companies prepare their financial reports in accordance with these standards, and their audit work is guided by International Standards on Auditing, which have been adopted by the Canadian Auditing and Assurance Standards Board (AASB) as Canadian Auditing Standards.</a:t>
            </a:r>
          </a:p>
          <a:p>
            <a:endParaRPr lang="en-US" alt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1">
            <a:extLst>
              <a:ext uri="{FF2B5EF4-FFF2-40B4-BE49-F238E27FC236}">
                <a16:creationId xmlns:a16="http://schemas.microsoft.com/office/drawing/2014/main" id="{1E83DF87-101A-4C07-B995-1BE16B9731BB}"/>
              </a:ext>
            </a:extLst>
          </p:cNvPr>
          <p:cNvSpPr>
            <a:spLocks noGrp="1"/>
          </p:cNvSpPr>
          <p:nvPr>
            <p:ph type="title"/>
          </p:nvPr>
        </p:nvSpPr>
        <p:spPr/>
        <p:txBody>
          <a:bodyPr/>
          <a:lstStyle/>
          <a:p>
            <a:r>
              <a:rPr lang="en-US" altLang="en-US"/>
              <a:t>Regulators Part 3</a:t>
            </a:r>
          </a:p>
        </p:txBody>
      </p:sp>
      <p:sp>
        <p:nvSpPr>
          <p:cNvPr id="13314" name="Content Placeholder 2">
            <a:extLst>
              <a:ext uri="{FF2B5EF4-FFF2-40B4-BE49-F238E27FC236}">
                <a16:creationId xmlns:a16="http://schemas.microsoft.com/office/drawing/2014/main" id="{E0CBBD4C-9086-42A4-A691-AC18F3F45A22}"/>
              </a:ext>
            </a:extLst>
          </p:cNvPr>
          <p:cNvSpPr>
            <a:spLocks noGrp="1"/>
          </p:cNvSpPr>
          <p:nvPr>
            <p:ph idx="1"/>
          </p:nvPr>
        </p:nvSpPr>
        <p:spPr/>
        <p:txBody>
          <a:bodyPr/>
          <a:lstStyle/>
          <a:p>
            <a:r>
              <a:rPr lang="en-CA" dirty="0"/>
              <a:t>Stock exchanges also provide an essential quality assurance service to listed companies by undertaking ongoing surveillance of their reporting and trading activities. </a:t>
            </a:r>
          </a:p>
          <a:p>
            <a:endParaRPr lang="en-CA" sz="800" dirty="0"/>
          </a:p>
          <a:p>
            <a:r>
              <a:rPr lang="en-CA" dirty="0"/>
              <a:t>When they suspect non-compliance with accounting standards, the stock exchanges undertake independent investigations and share information with law enforcement agencies such as securities commissions, the Canada Revenue Agency (CRA), which collects income taxes from corporations, and the Royal Canadian Mounted Police (RCMP). </a:t>
            </a:r>
            <a:endParaRPr lang="en-CA"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a:extLst>
              <a:ext uri="{FF2B5EF4-FFF2-40B4-BE49-F238E27FC236}">
                <a16:creationId xmlns:a16="http://schemas.microsoft.com/office/drawing/2014/main" id="{DE4872C9-BF44-4807-BB4E-30705AF947DE}"/>
              </a:ext>
            </a:extLst>
          </p:cNvPr>
          <p:cNvSpPr>
            <a:spLocks noGrp="1"/>
          </p:cNvSpPr>
          <p:nvPr>
            <p:ph type="title"/>
          </p:nvPr>
        </p:nvSpPr>
        <p:spPr/>
        <p:txBody>
          <a:bodyPr/>
          <a:lstStyle/>
          <a:p>
            <a:r>
              <a:rPr lang="en-US" altLang="en-US" dirty="0"/>
              <a:t>Managers Part 1</a:t>
            </a:r>
          </a:p>
        </p:txBody>
      </p:sp>
      <p:sp>
        <p:nvSpPr>
          <p:cNvPr id="14338" name="Content Placeholder 2">
            <a:extLst>
              <a:ext uri="{FF2B5EF4-FFF2-40B4-BE49-F238E27FC236}">
                <a16:creationId xmlns:a16="http://schemas.microsoft.com/office/drawing/2014/main" id="{215B35B8-5D3D-4BB5-BB0D-424B2614F7A1}"/>
              </a:ext>
            </a:extLst>
          </p:cNvPr>
          <p:cNvSpPr>
            <a:spLocks noGrp="1"/>
          </p:cNvSpPr>
          <p:nvPr>
            <p:ph idx="1"/>
          </p:nvPr>
        </p:nvSpPr>
        <p:spPr/>
        <p:txBody>
          <a:bodyPr/>
          <a:lstStyle/>
          <a:p>
            <a:r>
              <a:rPr lang="en-US" altLang="en-US" dirty="0"/>
              <a:t>The primary responsibility is for the information in the financial statements and disclosures lies with both:</a:t>
            </a:r>
            <a:endParaRPr lang="en-US" altLang="en-US" sz="1200" dirty="0"/>
          </a:p>
          <a:p>
            <a:pPr lvl="1"/>
            <a:r>
              <a:rPr lang="en-US" altLang="en-US" sz="2600" u="sng" dirty="0">
                <a:solidFill>
                  <a:schemeClr val="tx1"/>
                </a:solidFill>
              </a:rPr>
              <a:t>Chief Executive Officer (CEO)</a:t>
            </a:r>
            <a:r>
              <a:rPr lang="en-US" altLang="en-US" sz="2600" dirty="0">
                <a:solidFill>
                  <a:schemeClr val="tx1"/>
                </a:solidFill>
              </a:rPr>
              <a:t>: highest officer of the company.</a:t>
            </a:r>
            <a:endParaRPr lang="en-US" altLang="en-US" dirty="0"/>
          </a:p>
          <a:p>
            <a:pPr lvl="1"/>
            <a:r>
              <a:rPr lang="en-US" altLang="en-US" sz="2600" u="sng" dirty="0">
                <a:solidFill>
                  <a:schemeClr val="tx1"/>
                </a:solidFill>
              </a:rPr>
              <a:t>Chief Financial Officer (CFO)</a:t>
            </a:r>
            <a:r>
              <a:rPr lang="en-US" altLang="en-US" sz="2600" dirty="0">
                <a:solidFill>
                  <a:schemeClr val="tx1"/>
                </a:solidFill>
              </a:rPr>
              <a:t>: highest officer associated with the financial and accounting side of the business.</a:t>
            </a:r>
            <a:br>
              <a:rPr lang="en-US" altLang="en-US" dirty="0"/>
            </a:br>
            <a:endParaRPr lang="en-US" altLang="en-US" dirty="0"/>
          </a:p>
          <a:p>
            <a:r>
              <a:rPr lang="en-US" altLang="en-US" u="sng" dirty="0"/>
              <a:t>Accounting Staff</a:t>
            </a:r>
            <a:r>
              <a:rPr lang="en-US" altLang="en-US" dirty="0"/>
              <a:t>:  prepare the details of the reports and bear professional responsibility for the accuracy of the information.</a:t>
            </a:r>
          </a:p>
          <a:p>
            <a:endParaRPr lang="en-US" alt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D3B9B23B-CE08-4656-BE6A-A6E1C1FE5479}"/>
              </a:ext>
            </a:extLst>
          </p:cNvPr>
          <p:cNvSpPr>
            <a:spLocks noGrp="1"/>
          </p:cNvSpPr>
          <p:nvPr>
            <p:ph type="title"/>
          </p:nvPr>
        </p:nvSpPr>
        <p:spPr/>
        <p:txBody>
          <a:bodyPr/>
          <a:lstStyle/>
          <a:p>
            <a:r>
              <a:rPr lang="en-US" altLang="en-US" dirty="0"/>
              <a:t>Managers Part 2</a:t>
            </a:r>
          </a:p>
        </p:txBody>
      </p:sp>
      <p:sp>
        <p:nvSpPr>
          <p:cNvPr id="3" name="Content Placeholder 2">
            <a:extLst>
              <a:ext uri="{FF2B5EF4-FFF2-40B4-BE49-F238E27FC236}">
                <a16:creationId xmlns:a16="http://schemas.microsoft.com/office/drawing/2014/main" id="{C0EFE613-D2F1-43F0-880A-326D67A66D4E}"/>
              </a:ext>
            </a:extLst>
          </p:cNvPr>
          <p:cNvSpPr>
            <a:spLocks noGrp="1"/>
          </p:cNvSpPr>
          <p:nvPr>
            <p:ph idx="1"/>
          </p:nvPr>
        </p:nvSpPr>
        <p:spPr/>
        <p:txBody>
          <a:bodyPr/>
          <a:lstStyle/>
          <a:p>
            <a:pPr>
              <a:buFont typeface="Wingdings 3" pitchFamily="2" charset="2"/>
              <a:buChar char=""/>
              <a:defRPr/>
            </a:pPr>
            <a:r>
              <a:rPr lang="en-CA" dirty="0"/>
              <a:t>All Canadian publicly accountable enterprises, the CEO and CFO must personally certify the following:</a:t>
            </a:r>
          </a:p>
          <a:p>
            <a:pPr lvl="1">
              <a:buFont typeface="Wingdings 3" pitchFamily="2" charset="2"/>
              <a:buChar char=""/>
              <a:defRPr/>
            </a:pPr>
            <a:r>
              <a:rPr lang="en-CA" sz="2000" dirty="0"/>
              <a:t>Each report filed with the regulatory authorities does not contain any untrue statement of a material fact or omit stating a material fact, and fairly presents, in all material respects, the financial condition, financial performance, and cash flows of the company.</a:t>
            </a:r>
          </a:p>
          <a:p>
            <a:pPr lvl="1">
              <a:buFont typeface="Wingdings 3" pitchFamily="2" charset="2"/>
              <a:buChar char=""/>
              <a:defRPr/>
            </a:pPr>
            <a:endParaRPr lang="en-CA" sz="800" dirty="0"/>
          </a:p>
          <a:p>
            <a:pPr lvl="1">
              <a:buFont typeface="Wingdings 3" pitchFamily="2" charset="2"/>
              <a:buChar char=""/>
              <a:defRPr/>
            </a:pPr>
            <a:r>
              <a:rPr lang="en-CA" sz="2000" dirty="0"/>
              <a:t>There are no significant deficiencies and material weaknesses in the design or operation of internal controls over financial reporting that are reasonably likely to adversely affect the company’s ability to record, process, summarize, and report financial information.</a:t>
            </a:r>
          </a:p>
          <a:p>
            <a:pPr lvl="1">
              <a:buFont typeface="Wingdings 3" pitchFamily="2" charset="2"/>
              <a:buChar char=""/>
              <a:defRPr/>
            </a:pPr>
            <a:endParaRPr lang="en-CA" sz="800" dirty="0">
              <a:solidFill>
                <a:schemeClr val="tx1"/>
              </a:solidFill>
            </a:endParaRPr>
          </a:p>
          <a:p>
            <a:pPr lvl="1">
              <a:buFont typeface="Wingdings 3" pitchFamily="2" charset="2"/>
              <a:buChar char=""/>
              <a:defRPr/>
            </a:pPr>
            <a:r>
              <a:rPr lang="en-CA" sz="2000" dirty="0"/>
              <a:t>They have disclosed to the auditors and the audit committee of the board any weaknesses in internal controls or any fraud involving management or other employees who have a significant role in financial reporting.</a:t>
            </a:r>
            <a:endParaRPr lang="en-US" sz="2000"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FA982CC6-1E3C-4D27-97B3-C473B6A521DC}"/>
              </a:ext>
            </a:extLst>
          </p:cNvPr>
          <p:cNvSpPr>
            <a:spLocks noGrp="1"/>
          </p:cNvSpPr>
          <p:nvPr>
            <p:ph type="title"/>
          </p:nvPr>
        </p:nvSpPr>
        <p:spPr/>
        <p:txBody>
          <a:bodyPr/>
          <a:lstStyle/>
          <a:p>
            <a:r>
              <a:rPr lang="en-US" altLang="en-US" dirty="0"/>
              <a:t>Board of Directors (Audit Committee) Part 1</a:t>
            </a:r>
          </a:p>
        </p:txBody>
      </p:sp>
      <p:sp>
        <p:nvSpPr>
          <p:cNvPr id="3" name="Content Placeholder 2">
            <a:extLst>
              <a:ext uri="{FF2B5EF4-FFF2-40B4-BE49-F238E27FC236}">
                <a16:creationId xmlns:a16="http://schemas.microsoft.com/office/drawing/2014/main" id="{B870DFDD-8553-4BEA-92AB-70CF1F352CF7}"/>
              </a:ext>
            </a:extLst>
          </p:cNvPr>
          <p:cNvSpPr>
            <a:spLocks noGrp="1"/>
          </p:cNvSpPr>
          <p:nvPr>
            <p:ph idx="1"/>
          </p:nvPr>
        </p:nvSpPr>
        <p:spPr/>
        <p:txBody>
          <a:bodyPr/>
          <a:lstStyle/>
          <a:p>
            <a:pPr>
              <a:buFont typeface="Wingdings 3" pitchFamily="2" charset="2"/>
              <a:buChar char=""/>
              <a:defRPr/>
            </a:pPr>
            <a:r>
              <a:rPr lang="en-CA" dirty="0"/>
              <a:t>The </a:t>
            </a:r>
            <a:r>
              <a:rPr lang="en-CA" b="1" dirty="0"/>
              <a:t>board of directors</a:t>
            </a:r>
            <a:r>
              <a:rPr lang="en-CA" dirty="0"/>
              <a:t>, elected by the shareholders to represent their interests, is responsible for maintaining the integrity of the company’s strategy, internal control system, and presentation of financial reports.</a:t>
            </a:r>
          </a:p>
          <a:p>
            <a:pPr>
              <a:buFont typeface="Wingdings 3" pitchFamily="2" charset="2"/>
              <a:buChar char=""/>
              <a:defRPr/>
            </a:pPr>
            <a:endParaRPr lang="en-US" sz="800" dirty="0"/>
          </a:p>
          <a:p>
            <a:pPr>
              <a:buFont typeface="Wingdings 3" pitchFamily="2" charset="2"/>
              <a:buChar char=""/>
              <a:defRPr/>
            </a:pPr>
            <a:r>
              <a:rPr lang="en-CA" dirty="0"/>
              <a:t>The audit committee of the board, which must be composed of independent, financially literate directors, oversees management in carrying out its responsibilities for financial reporting systems and internal control.</a:t>
            </a:r>
          </a:p>
          <a:p>
            <a:pPr>
              <a:buFont typeface="Wingdings 3" pitchFamily="2" charset="2"/>
              <a:buChar char=""/>
              <a:defRPr/>
            </a:pPr>
            <a:endParaRPr lang="en-CA" sz="800" dirty="0"/>
          </a:p>
          <a:p>
            <a:pPr>
              <a:buFont typeface="Wingdings 3" pitchFamily="2" charset="2"/>
              <a:buChar char=""/>
              <a:defRPr/>
            </a:pPr>
            <a:r>
              <a:rPr lang="en-CA" dirty="0"/>
              <a:t>The audit committee reports its findings to the board of directors for them to consider and approve the annual financial statements to be issued to shareholders. </a:t>
            </a:r>
            <a:endParaRPr lang="en-US" dirty="0"/>
          </a:p>
          <a:p>
            <a:pPr>
              <a:buFont typeface="Wingdings 3" pitchFamily="2" charset="2"/>
              <a:buChar char=""/>
              <a:defRPr/>
            </a:pPr>
            <a:endParaRPr lang="en-US"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FA982CC6-1E3C-4D27-97B3-C473B6A521DC}"/>
              </a:ext>
            </a:extLst>
          </p:cNvPr>
          <p:cNvSpPr>
            <a:spLocks noGrp="1"/>
          </p:cNvSpPr>
          <p:nvPr>
            <p:ph type="title"/>
          </p:nvPr>
        </p:nvSpPr>
        <p:spPr/>
        <p:txBody>
          <a:bodyPr/>
          <a:lstStyle/>
          <a:p>
            <a:r>
              <a:rPr lang="en-US" altLang="en-US" dirty="0"/>
              <a:t>Board of Directors (Audit Committee) Part 2</a:t>
            </a:r>
          </a:p>
        </p:txBody>
      </p:sp>
      <p:sp>
        <p:nvSpPr>
          <p:cNvPr id="3" name="Content Placeholder 2">
            <a:extLst>
              <a:ext uri="{FF2B5EF4-FFF2-40B4-BE49-F238E27FC236}">
                <a16:creationId xmlns:a16="http://schemas.microsoft.com/office/drawing/2014/main" id="{B870DFDD-8553-4BEA-92AB-70CF1F352CF7}"/>
              </a:ext>
            </a:extLst>
          </p:cNvPr>
          <p:cNvSpPr>
            <a:spLocks noGrp="1"/>
          </p:cNvSpPr>
          <p:nvPr>
            <p:ph idx="1"/>
          </p:nvPr>
        </p:nvSpPr>
        <p:spPr/>
        <p:txBody>
          <a:bodyPr/>
          <a:lstStyle/>
          <a:p>
            <a:pPr>
              <a:buFont typeface="Wingdings 3" pitchFamily="2" charset="2"/>
              <a:buChar char=""/>
              <a:defRPr/>
            </a:pPr>
            <a:r>
              <a:rPr lang="en-CA" dirty="0"/>
              <a:t>Recent changes to securities regulations have increased the burden of management’s responsibility for accurate financial disclosure. </a:t>
            </a:r>
          </a:p>
          <a:p>
            <a:pPr>
              <a:buFont typeface="Wingdings 3" pitchFamily="2" charset="2"/>
              <a:buChar char=""/>
              <a:defRPr/>
            </a:pPr>
            <a:endParaRPr lang="en-CA" sz="800" dirty="0"/>
          </a:p>
          <a:p>
            <a:pPr>
              <a:buFont typeface="Wingdings 3" pitchFamily="2" charset="2"/>
              <a:buChar char=""/>
              <a:defRPr/>
            </a:pPr>
            <a:r>
              <a:rPr lang="en-CA" dirty="0"/>
              <a:t>It is the responsibility of management and those charged with governance, including the board of directors, to develop and oversee systems to prevent and detect fraud. </a:t>
            </a:r>
          </a:p>
          <a:p>
            <a:pPr>
              <a:buFont typeface="Wingdings 3" pitchFamily="2" charset="2"/>
              <a:buChar char=""/>
              <a:defRPr/>
            </a:pPr>
            <a:endParaRPr lang="en-CA" sz="800" dirty="0"/>
          </a:p>
          <a:p>
            <a:pPr>
              <a:buFont typeface="Wingdings 3" pitchFamily="2" charset="2"/>
              <a:buChar char=""/>
              <a:defRPr/>
            </a:pPr>
            <a:r>
              <a:rPr lang="en-CA" dirty="0"/>
              <a:t>If any company listed on a stock exchange is found guilty of knowingly violating any disclosure regulation, not only the company but also individual senior officers, such as the CEO and CFO, and members of its board of directors can be sued. </a:t>
            </a:r>
          </a:p>
        </p:txBody>
      </p:sp>
    </p:spTree>
    <p:extLst>
      <p:ext uri="{BB962C8B-B14F-4D97-AF65-F5344CB8AC3E}">
        <p14:creationId xmlns:p14="http://schemas.microsoft.com/office/powerpoint/2010/main" val="265636991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FA982CC6-1E3C-4D27-97B3-C473B6A521DC}"/>
              </a:ext>
            </a:extLst>
          </p:cNvPr>
          <p:cNvSpPr>
            <a:spLocks noGrp="1"/>
          </p:cNvSpPr>
          <p:nvPr>
            <p:ph type="title"/>
          </p:nvPr>
        </p:nvSpPr>
        <p:spPr/>
        <p:txBody>
          <a:bodyPr/>
          <a:lstStyle/>
          <a:p>
            <a:r>
              <a:rPr lang="en-US" altLang="en-US" dirty="0"/>
              <a:t>Board of Directors (Audit Committee) Part 3</a:t>
            </a:r>
          </a:p>
        </p:txBody>
      </p:sp>
      <p:sp>
        <p:nvSpPr>
          <p:cNvPr id="3" name="Content Placeholder 2">
            <a:extLst>
              <a:ext uri="{FF2B5EF4-FFF2-40B4-BE49-F238E27FC236}">
                <a16:creationId xmlns:a16="http://schemas.microsoft.com/office/drawing/2014/main" id="{B870DFDD-8553-4BEA-92AB-70CF1F352CF7}"/>
              </a:ext>
            </a:extLst>
          </p:cNvPr>
          <p:cNvSpPr>
            <a:spLocks noGrp="1"/>
          </p:cNvSpPr>
          <p:nvPr>
            <p:ph idx="1"/>
          </p:nvPr>
        </p:nvSpPr>
        <p:spPr/>
        <p:txBody>
          <a:bodyPr/>
          <a:lstStyle/>
          <a:p>
            <a:pPr>
              <a:buFont typeface="Wingdings 3" pitchFamily="2" charset="2"/>
              <a:buChar char=""/>
              <a:defRPr/>
            </a:pPr>
            <a:r>
              <a:rPr lang="en-CA" dirty="0"/>
              <a:t>If experts, such as accountants or financial analysts, who relied on the company’s financial reports also issued disclosure that misrepresented the company, they too may be individually sued by users who seek to recover some or all of their financial losses, which may have resulted from reliance on misleading information.</a:t>
            </a:r>
            <a:endParaRPr lang="en-US" dirty="0"/>
          </a:p>
        </p:txBody>
      </p:sp>
    </p:spTree>
    <p:extLst>
      <p:ext uri="{BB962C8B-B14F-4D97-AF65-F5344CB8AC3E}">
        <p14:creationId xmlns:p14="http://schemas.microsoft.com/office/powerpoint/2010/main" val="342053576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88548554-4206-44A6-9768-E49C8BFA62E4}"/>
              </a:ext>
            </a:extLst>
          </p:cNvPr>
          <p:cNvSpPr>
            <a:spLocks noGrp="1"/>
          </p:cNvSpPr>
          <p:nvPr>
            <p:ph type="title"/>
          </p:nvPr>
        </p:nvSpPr>
        <p:spPr/>
        <p:txBody>
          <a:bodyPr/>
          <a:lstStyle/>
          <a:p>
            <a:r>
              <a:rPr lang="en-US" altLang="en-US" dirty="0"/>
              <a:t>Auditors Part 1</a:t>
            </a:r>
          </a:p>
        </p:txBody>
      </p:sp>
      <p:sp>
        <p:nvSpPr>
          <p:cNvPr id="17410" name="Content Placeholder 2">
            <a:extLst>
              <a:ext uri="{FF2B5EF4-FFF2-40B4-BE49-F238E27FC236}">
                <a16:creationId xmlns:a16="http://schemas.microsoft.com/office/drawing/2014/main" id="{39545428-6B75-4EAD-954D-CA4C5AA0D063}"/>
              </a:ext>
            </a:extLst>
          </p:cNvPr>
          <p:cNvSpPr>
            <a:spLocks noGrp="1"/>
          </p:cNvSpPr>
          <p:nvPr>
            <p:ph idx="1"/>
          </p:nvPr>
        </p:nvSpPr>
        <p:spPr/>
        <p:txBody>
          <a:bodyPr/>
          <a:lstStyle/>
          <a:p>
            <a:r>
              <a:rPr lang="en-CA" dirty="0"/>
              <a:t>The provincial securities commissions require that publicly traded companies have their statements and their control systems over the financial reporting process audited by professional independent accountants in accordance with International Standards on Auditing (ISA). </a:t>
            </a:r>
          </a:p>
          <a:p>
            <a:endParaRPr lang="en-CA" sz="800" dirty="0"/>
          </a:p>
          <a:p>
            <a:r>
              <a:rPr lang="en-CA" dirty="0"/>
              <a:t>In Canada, the Canadian Auditing Standards (CAS) converge with the ISA. Many privately owned companies also have their statements audited. </a:t>
            </a:r>
            <a:endParaRPr lang="en-US" altLang="en-US" sz="1200" dirty="0">
              <a:sym typeface="Wingdings" panose="05000000000000000000" pitchFamily="2" charset="2"/>
            </a:endParaRPr>
          </a:p>
          <a:p>
            <a:endParaRPr lang="en-US" altLang="en-US" dirty="0">
              <a:sym typeface="Wingdings" panose="05000000000000000000" pitchFamily="2" charset="2"/>
            </a:endParaRPr>
          </a:p>
          <a:p>
            <a:endParaRPr lang="en-US" altLang="en-US" dirty="0">
              <a:sym typeface="Wingdings" panose="05000000000000000000" pitchFamily="2" charset="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88548554-4206-44A6-9768-E49C8BFA62E4}"/>
              </a:ext>
            </a:extLst>
          </p:cNvPr>
          <p:cNvSpPr>
            <a:spLocks noGrp="1"/>
          </p:cNvSpPr>
          <p:nvPr>
            <p:ph type="title"/>
          </p:nvPr>
        </p:nvSpPr>
        <p:spPr/>
        <p:txBody>
          <a:bodyPr/>
          <a:lstStyle/>
          <a:p>
            <a:r>
              <a:rPr lang="en-US" altLang="en-US" dirty="0"/>
              <a:t>Auditors Part 2</a:t>
            </a:r>
          </a:p>
        </p:txBody>
      </p:sp>
      <p:sp>
        <p:nvSpPr>
          <p:cNvPr id="17410" name="Content Placeholder 2">
            <a:extLst>
              <a:ext uri="{FF2B5EF4-FFF2-40B4-BE49-F238E27FC236}">
                <a16:creationId xmlns:a16="http://schemas.microsoft.com/office/drawing/2014/main" id="{39545428-6B75-4EAD-954D-CA4C5AA0D063}"/>
              </a:ext>
            </a:extLst>
          </p:cNvPr>
          <p:cNvSpPr>
            <a:spLocks noGrp="1"/>
          </p:cNvSpPr>
          <p:nvPr>
            <p:ph idx="1"/>
          </p:nvPr>
        </p:nvSpPr>
        <p:spPr>
          <a:xfrm>
            <a:off x="457200" y="1066800"/>
            <a:ext cx="8229600" cy="5334000"/>
          </a:xfrm>
        </p:spPr>
        <p:txBody>
          <a:bodyPr/>
          <a:lstStyle/>
          <a:p>
            <a:r>
              <a:rPr lang="en-CA" altLang="en-US" dirty="0"/>
              <a:t>An unqualified (clean) audit opinion </a:t>
            </a:r>
            <a:r>
              <a:rPr lang="en-CA" dirty="0"/>
              <a:t>is the auditors’ declaration that the financial statements are fair presentations in all material respects in conformity with IFRS.</a:t>
            </a:r>
          </a:p>
          <a:p>
            <a:endParaRPr lang="en-CA" sz="800" dirty="0"/>
          </a:p>
          <a:p>
            <a:r>
              <a:rPr lang="en-CA" dirty="0"/>
              <a:t>By signing an unqualified audit opinion, the audit firm assumes full responsibility for conducting the audit in compliance with all authoritative accounting standards and guidance, as well as the jurisdiction’s laws and regulations. </a:t>
            </a:r>
          </a:p>
          <a:p>
            <a:endParaRPr lang="en-CA" sz="800" dirty="0"/>
          </a:p>
          <a:p>
            <a:r>
              <a:rPr lang="en-CA" dirty="0"/>
              <a:t>This opinion, which adds credibility to the statements, is also often required by agreements with lenders and private investors.</a:t>
            </a:r>
            <a:endParaRPr lang="en-US" altLang="en-US" dirty="0">
              <a:sym typeface="Wingdings" panose="05000000000000000000" pitchFamily="2" charset="2"/>
            </a:endParaRPr>
          </a:p>
          <a:p>
            <a:endParaRPr lang="en-US" altLang="en-US" dirty="0">
              <a:sym typeface="Wingdings" panose="05000000000000000000" pitchFamily="2" charset="2"/>
            </a:endParaRPr>
          </a:p>
          <a:p>
            <a:endParaRPr lang="en-US" altLang="en-US" dirty="0">
              <a:sym typeface="Wingdings" panose="05000000000000000000" pitchFamily="2" charset="2"/>
            </a:endParaRPr>
          </a:p>
        </p:txBody>
      </p:sp>
    </p:spTree>
    <p:extLst>
      <p:ext uri="{BB962C8B-B14F-4D97-AF65-F5344CB8AC3E}">
        <p14:creationId xmlns:p14="http://schemas.microsoft.com/office/powerpoint/2010/main" val="109821315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88548554-4206-44A6-9768-E49C8BFA62E4}"/>
              </a:ext>
            </a:extLst>
          </p:cNvPr>
          <p:cNvSpPr>
            <a:spLocks noGrp="1"/>
          </p:cNvSpPr>
          <p:nvPr>
            <p:ph type="title"/>
          </p:nvPr>
        </p:nvSpPr>
        <p:spPr>
          <a:xfrm>
            <a:off x="457200" y="198437"/>
            <a:ext cx="8458200" cy="792163"/>
          </a:xfrm>
        </p:spPr>
        <p:txBody>
          <a:bodyPr/>
          <a:lstStyle/>
          <a:p>
            <a:r>
              <a:rPr lang="en-US" altLang="en-US" dirty="0"/>
              <a:t>How Data Analytics is Affecting What Auditors Do Part 1</a:t>
            </a:r>
          </a:p>
        </p:txBody>
      </p:sp>
      <p:sp>
        <p:nvSpPr>
          <p:cNvPr id="17410" name="Content Placeholder 2">
            <a:extLst>
              <a:ext uri="{FF2B5EF4-FFF2-40B4-BE49-F238E27FC236}">
                <a16:creationId xmlns:a16="http://schemas.microsoft.com/office/drawing/2014/main" id="{39545428-6B75-4EAD-954D-CA4C5AA0D063}"/>
              </a:ext>
            </a:extLst>
          </p:cNvPr>
          <p:cNvSpPr>
            <a:spLocks noGrp="1"/>
          </p:cNvSpPr>
          <p:nvPr>
            <p:ph idx="1"/>
          </p:nvPr>
        </p:nvSpPr>
        <p:spPr/>
        <p:txBody>
          <a:bodyPr/>
          <a:lstStyle/>
          <a:p>
            <a:r>
              <a:rPr lang="en-CA" dirty="0"/>
              <a:t>Modern data analytics is changing the world of auditing.</a:t>
            </a:r>
          </a:p>
          <a:p>
            <a:r>
              <a:rPr lang="en-CA" dirty="0"/>
              <a:t>The availability of more data from clients’ enterprise-wide accounting systems, has allowed access now to entire populations of transactions instead of smaller statistical samples as in the past. </a:t>
            </a:r>
          </a:p>
          <a:p>
            <a:r>
              <a:rPr lang="en-CA" dirty="0"/>
              <a:t>This eases identification of trends, patterns, and outliers, which become the focus for further investigation. </a:t>
            </a:r>
          </a:p>
          <a:p>
            <a:r>
              <a:rPr lang="en-CA" dirty="0"/>
              <a:t>Even for a large multinational client, auditors can now examine the whole population of manual entries to determine particular locations and types of transactions generating unexpected numbers of entries, which the auditor then examines further.</a:t>
            </a:r>
          </a:p>
          <a:p>
            <a:endParaRPr lang="en-US" altLang="en-US" dirty="0">
              <a:sym typeface="Wingdings" panose="05000000000000000000" pitchFamily="2" charset="2"/>
            </a:endParaRPr>
          </a:p>
        </p:txBody>
      </p:sp>
    </p:spTree>
    <p:extLst>
      <p:ext uri="{BB962C8B-B14F-4D97-AF65-F5344CB8AC3E}">
        <p14:creationId xmlns:p14="http://schemas.microsoft.com/office/powerpoint/2010/main" val="54982510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88548554-4206-44A6-9768-E49C8BFA62E4}"/>
              </a:ext>
            </a:extLst>
          </p:cNvPr>
          <p:cNvSpPr>
            <a:spLocks noGrp="1"/>
          </p:cNvSpPr>
          <p:nvPr>
            <p:ph type="title"/>
          </p:nvPr>
        </p:nvSpPr>
        <p:spPr>
          <a:xfrm>
            <a:off x="457200" y="198437"/>
            <a:ext cx="8458200" cy="792163"/>
          </a:xfrm>
        </p:spPr>
        <p:txBody>
          <a:bodyPr/>
          <a:lstStyle/>
          <a:p>
            <a:r>
              <a:rPr lang="en-US" altLang="en-US" dirty="0"/>
              <a:t>How Data Analytics is Affecting What Auditors Do Part 2</a:t>
            </a:r>
          </a:p>
        </p:txBody>
      </p:sp>
      <p:sp>
        <p:nvSpPr>
          <p:cNvPr id="17410" name="Content Placeholder 2">
            <a:extLst>
              <a:ext uri="{FF2B5EF4-FFF2-40B4-BE49-F238E27FC236}">
                <a16:creationId xmlns:a16="http://schemas.microsoft.com/office/drawing/2014/main" id="{39545428-6B75-4EAD-954D-CA4C5AA0D063}"/>
              </a:ext>
            </a:extLst>
          </p:cNvPr>
          <p:cNvSpPr>
            <a:spLocks noGrp="1"/>
          </p:cNvSpPr>
          <p:nvPr>
            <p:ph idx="1"/>
          </p:nvPr>
        </p:nvSpPr>
        <p:spPr/>
        <p:txBody>
          <a:bodyPr/>
          <a:lstStyle/>
          <a:p>
            <a:r>
              <a:rPr lang="en-CA" dirty="0"/>
              <a:t>Data analytics also makes it easier to correlate information from various parts of the client’s accounting systems such as sales invoices, shipping records, and cash receipts to identify areas where undetected material misstatements may exist (audit risks). </a:t>
            </a:r>
          </a:p>
          <a:p>
            <a:r>
              <a:rPr lang="en-CA" dirty="0"/>
              <a:t>The ability to understand client accounting systems and to apply predictive models and data visualization tools to data extracted from client systems is fast becoming a key part of the auditor’s skill set. </a:t>
            </a:r>
          </a:p>
          <a:p>
            <a:r>
              <a:rPr lang="en-CA" dirty="0"/>
              <a:t>The availability of data analytics also decreases the amount of repetitive manual work in the audit and increases the value of audit services to clients and securities markets.</a:t>
            </a:r>
            <a:endParaRPr lang="en-US" altLang="en-US" dirty="0">
              <a:sym typeface="Wingdings" panose="05000000000000000000" pitchFamily="2" charset="2"/>
            </a:endParaRPr>
          </a:p>
        </p:txBody>
      </p:sp>
    </p:spTree>
    <p:extLst>
      <p:ext uri="{BB962C8B-B14F-4D97-AF65-F5344CB8AC3E}">
        <p14:creationId xmlns:p14="http://schemas.microsoft.com/office/powerpoint/2010/main" val="105189862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1E34058E-9805-4FBA-9DBC-666523B0343A}"/>
              </a:ext>
            </a:extLst>
          </p:cNvPr>
          <p:cNvSpPr>
            <a:spLocks noGrp="1"/>
          </p:cNvSpPr>
          <p:nvPr>
            <p:ph type="title"/>
          </p:nvPr>
        </p:nvSpPr>
        <p:spPr>
          <a:xfrm>
            <a:off x="457200" y="198437"/>
            <a:ext cx="8229600" cy="792163"/>
          </a:xfrm>
        </p:spPr>
        <p:txBody>
          <a:bodyPr/>
          <a:lstStyle/>
          <a:p>
            <a:r>
              <a:rPr lang="en-CA" altLang="en-US" dirty="0"/>
              <a:t>Information Intermediaries: Analysts and Information Services</a:t>
            </a:r>
            <a:endParaRPr lang="en-US" altLang="en-US" dirty="0"/>
          </a:p>
        </p:txBody>
      </p:sp>
      <p:sp>
        <p:nvSpPr>
          <p:cNvPr id="18434" name="Content Placeholder 2">
            <a:extLst>
              <a:ext uri="{FF2B5EF4-FFF2-40B4-BE49-F238E27FC236}">
                <a16:creationId xmlns:a16="http://schemas.microsoft.com/office/drawing/2014/main" id="{BA7B70A3-B294-4930-AED6-24F20E6F04CB}"/>
              </a:ext>
            </a:extLst>
          </p:cNvPr>
          <p:cNvSpPr>
            <a:spLocks noGrp="1"/>
          </p:cNvSpPr>
          <p:nvPr>
            <p:ph idx="1"/>
          </p:nvPr>
        </p:nvSpPr>
        <p:spPr/>
        <p:txBody>
          <a:bodyPr/>
          <a:lstStyle/>
          <a:p>
            <a:endParaRPr lang="en-US" altLang="en-US"/>
          </a:p>
          <a:p>
            <a:endParaRPr lang="en-US" altLang="en-US"/>
          </a:p>
        </p:txBody>
      </p:sp>
      <p:pic>
        <p:nvPicPr>
          <p:cNvPr id="2" name="Picture 1">
            <a:extLst>
              <a:ext uri="{FF2B5EF4-FFF2-40B4-BE49-F238E27FC236}">
                <a16:creationId xmlns:a16="http://schemas.microsoft.com/office/drawing/2014/main" id="{94F90FEF-7A53-F241-84F0-0629E9C66460}"/>
              </a:ext>
            </a:extLst>
          </p:cNvPr>
          <p:cNvPicPr>
            <a:picLocks noChangeAspect="1"/>
          </p:cNvPicPr>
          <p:nvPr/>
        </p:nvPicPr>
        <p:blipFill>
          <a:blip r:embed="rId2"/>
          <a:stretch>
            <a:fillRect/>
          </a:stretch>
        </p:blipFill>
        <p:spPr>
          <a:xfrm>
            <a:off x="1085829" y="1676400"/>
            <a:ext cx="6972342" cy="4197350"/>
          </a:xfrm>
          <a:prstGeom prst="rect">
            <a:avLst/>
          </a:prstGeom>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19C7FAA1-FE62-414C-ADA9-909071E56E60}"/>
              </a:ext>
            </a:extLst>
          </p:cNvPr>
          <p:cNvSpPr>
            <a:spLocks noGrp="1"/>
          </p:cNvSpPr>
          <p:nvPr>
            <p:ph type="title"/>
          </p:nvPr>
        </p:nvSpPr>
        <p:spPr/>
        <p:txBody>
          <a:bodyPr/>
          <a:lstStyle/>
          <a:p>
            <a:r>
              <a:rPr lang="en-US" altLang="en-US" dirty="0"/>
              <a:t>Financial Analysts Part 1</a:t>
            </a:r>
          </a:p>
        </p:txBody>
      </p:sp>
      <p:sp>
        <p:nvSpPr>
          <p:cNvPr id="19458" name="Content Placeholder 2">
            <a:extLst>
              <a:ext uri="{FF2B5EF4-FFF2-40B4-BE49-F238E27FC236}">
                <a16:creationId xmlns:a16="http://schemas.microsoft.com/office/drawing/2014/main" id="{8EABAEE7-BA74-4B8B-ABD3-36CA797F9D76}"/>
              </a:ext>
            </a:extLst>
          </p:cNvPr>
          <p:cNvSpPr>
            <a:spLocks noGrp="1"/>
          </p:cNvSpPr>
          <p:nvPr>
            <p:ph idx="1"/>
          </p:nvPr>
        </p:nvSpPr>
        <p:spPr/>
        <p:txBody>
          <a:bodyPr/>
          <a:lstStyle/>
          <a:p>
            <a:r>
              <a:rPr lang="en-CA" altLang="en-US" dirty="0"/>
              <a:t>Financial analysts receive accounting reports and other information about the company from electronic information services. They also gather information through conversations with company executives and visits to company facilities and competitors. The results of their analyses are combined into analysts’ reports. </a:t>
            </a:r>
          </a:p>
          <a:p>
            <a:endParaRPr lang="en-CA" altLang="en-US" sz="800" dirty="0"/>
          </a:p>
          <a:p>
            <a:r>
              <a:rPr lang="en-CA" altLang="en-US" dirty="0"/>
              <a:t>Analysts’ reports normally include forecasts of share price and future quarterly and annual earnings per share; a buy, sell, or hold recommendation for the company shares; and explanations for these judgments. </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19C7FAA1-FE62-414C-ADA9-909071E56E60}"/>
              </a:ext>
            </a:extLst>
          </p:cNvPr>
          <p:cNvSpPr>
            <a:spLocks noGrp="1"/>
          </p:cNvSpPr>
          <p:nvPr>
            <p:ph type="title"/>
          </p:nvPr>
        </p:nvSpPr>
        <p:spPr/>
        <p:txBody>
          <a:bodyPr/>
          <a:lstStyle/>
          <a:p>
            <a:r>
              <a:rPr lang="en-US" altLang="en-US" dirty="0"/>
              <a:t>Financial Analysts Part 2</a:t>
            </a:r>
          </a:p>
        </p:txBody>
      </p:sp>
      <p:sp>
        <p:nvSpPr>
          <p:cNvPr id="19458" name="Content Placeholder 2">
            <a:extLst>
              <a:ext uri="{FF2B5EF4-FFF2-40B4-BE49-F238E27FC236}">
                <a16:creationId xmlns:a16="http://schemas.microsoft.com/office/drawing/2014/main" id="{8EABAEE7-BA74-4B8B-ABD3-36CA797F9D76}"/>
              </a:ext>
            </a:extLst>
          </p:cNvPr>
          <p:cNvSpPr>
            <a:spLocks noGrp="1"/>
          </p:cNvSpPr>
          <p:nvPr>
            <p:ph idx="1"/>
          </p:nvPr>
        </p:nvSpPr>
        <p:spPr/>
        <p:txBody>
          <a:bodyPr/>
          <a:lstStyle/>
          <a:p>
            <a:r>
              <a:rPr lang="en-CA" dirty="0"/>
              <a:t>In making these </a:t>
            </a:r>
            <a:r>
              <a:rPr lang="en-CA" b="1" dirty="0"/>
              <a:t>earnings forecasts </a:t>
            </a:r>
            <a:r>
              <a:rPr lang="en-CA" dirty="0"/>
              <a:t>or predictions of earnings for future accounting periods, the analysts rely heavily on their knowledge of how the accounting system translates business events into the numbers on a company’s financial statements. </a:t>
            </a:r>
          </a:p>
          <a:p>
            <a:endParaRPr lang="en-CA" sz="800" dirty="0"/>
          </a:p>
          <a:p>
            <a:r>
              <a:rPr lang="en-CA" dirty="0"/>
              <a:t>Individual analysts often specialize in particular industries (such as sporting goods or energy companies). Analysts are regularly evaluated based on the accuracy of their forecasts, as well as the profitability of their stock picks.</a:t>
            </a:r>
            <a:endParaRPr lang="en-CA" altLang="en-US" dirty="0"/>
          </a:p>
        </p:txBody>
      </p:sp>
    </p:spTree>
    <p:extLst>
      <p:ext uri="{BB962C8B-B14F-4D97-AF65-F5344CB8AC3E}">
        <p14:creationId xmlns:p14="http://schemas.microsoft.com/office/powerpoint/2010/main" val="2649946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6FAB7892-ABD2-4FB8-862A-BBAAC300A07F}"/>
              </a:ext>
            </a:extLst>
          </p:cNvPr>
          <p:cNvSpPr>
            <a:spLocks noGrp="1"/>
          </p:cNvSpPr>
          <p:nvPr>
            <p:ph type="title"/>
          </p:nvPr>
        </p:nvSpPr>
        <p:spPr/>
        <p:txBody>
          <a:bodyPr/>
          <a:lstStyle/>
          <a:p>
            <a:r>
              <a:rPr lang="en-US" altLang="en-US"/>
              <a:t>Information Services</a:t>
            </a:r>
          </a:p>
        </p:txBody>
      </p:sp>
      <p:sp>
        <p:nvSpPr>
          <p:cNvPr id="20482" name="Content Placeholder 2">
            <a:extLst>
              <a:ext uri="{FF2B5EF4-FFF2-40B4-BE49-F238E27FC236}">
                <a16:creationId xmlns:a16="http://schemas.microsoft.com/office/drawing/2014/main" id="{AD198D6D-2610-47F4-B1BF-4567A1994F02}"/>
              </a:ext>
            </a:extLst>
          </p:cNvPr>
          <p:cNvSpPr>
            <a:spLocks noGrp="1"/>
          </p:cNvSpPr>
          <p:nvPr>
            <p:ph idx="1"/>
          </p:nvPr>
        </p:nvSpPr>
        <p:spPr/>
        <p:txBody>
          <a:bodyPr/>
          <a:lstStyle/>
          <a:p>
            <a:r>
              <a:rPr lang="en-CA" altLang="en-US" dirty="0"/>
              <a:t>Canadian companies file financial statements and other securities-related forms electronically with SEDAR (System for Electronic Document Analysis and Retrieval), which is the official site for the filing of documents by public companies as required by securities laws in Canada.</a:t>
            </a:r>
          </a:p>
          <a:p>
            <a:endParaRPr lang="en-CA" altLang="en-US" sz="800" baseline="30000" dirty="0"/>
          </a:p>
          <a:p>
            <a:r>
              <a:rPr lang="en-CA" altLang="en-US" dirty="0"/>
              <a:t>SEDAR is currently a free service available on the Internet at </a:t>
            </a:r>
            <a:r>
              <a:rPr lang="en-CA" altLang="en-US" dirty="0">
                <a:hlinkClick r:id="rId2"/>
              </a:rPr>
              <a:t>www.sedar.com</a:t>
            </a:r>
            <a:r>
              <a:rPr lang="en-CA" altLang="en-US" dirty="0"/>
              <a:t>. </a:t>
            </a:r>
          </a:p>
          <a:p>
            <a:endParaRPr lang="en-CA" altLang="en-US" sz="800" dirty="0"/>
          </a:p>
          <a:p>
            <a:r>
              <a:rPr lang="en-CA" altLang="en-US" dirty="0"/>
              <a:t>Many companies also provide access to their financial statements and other information over the Internet.</a:t>
            </a:r>
            <a:endParaRPr lang="en-US" alt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B313787E-8317-4D5F-92AD-93C50EBEBAD1}"/>
              </a:ext>
            </a:extLst>
          </p:cNvPr>
          <p:cNvSpPr>
            <a:spLocks noGrp="1"/>
          </p:cNvSpPr>
          <p:nvPr>
            <p:ph type="title"/>
          </p:nvPr>
        </p:nvSpPr>
        <p:spPr>
          <a:xfrm>
            <a:off x="457200" y="274637"/>
            <a:ext cx="8229600" cy="792163"/>
          </a:xfrm>
        </p:spPr>
        <p:txBody>
          <a:bodyPr/>
          <a:lstStyle/>
          <a:p>
            <a:r>
              <a:rPr lang="en-CA" altLang="en-US" dirty="0"/>
              <a:t>Users: Institutional and Private Investors, Creditors, and Other</a:t>
            </a:r>
            <a:endParaRPr lang="en-US" altLang="en-US" dirty="0"/>
          </a:p>
        </p:txBody>
      </p:sp>
      <p:sp>
        <p:nvSpPr>
          <p:cNvPr id="3" name="Content Placeholder 2">
            <a:extLst>
              <a:ext uri="{FF2B5EF4-FFF2-40B4-BE49-F238E27FC236}">
                <a16:creationId xmlns:a16="http://schemas.microsoft.com/office/drawing/2014/main" id="{0F81C97F-13CA-468D-8DFB-D0EDABE3594E}"/>
              </a:ext>
            </a:extLst>
          </p:cNvPr>
          <p:cNvSpPr>
            <a:spLocks noGrp="1"/>
          </p:cNvSpPr>
          <p:nvPr>
            <p:ph idx="1"/>
          </p:nvPr>
        </p:nvSpPr>
        <p:spPr/>
        <p:txBody>
          <a:bodyPr/>
          <a:lstStyle/>
          <a:p>
            <a:pPr>
              <a:buFont typeface="Wingdings 3" pitchFamily="2" charset="2"/>
              <a:buChar char=""/>
              <a:defRPr/>
            </a:pPr>
            <a:r>
              <a:rPr lang="en-US" b="1" dirty="0"/>
              <a:t>Institutional Investors:</a:t>
            </a:r>
          </a:p>
          <a:p>
            <a:pPr lvl="1">
              <a:buFont typeface="Wingdings 3" pitchFamily="2" charset="2"/>
              <a:buChar char=""/>
              <a:defRPr/>
            </a:pPr>
            <a:r>
              <a:rPr lang="en-US" sz="2600" dirty="0">
                <a:solidFill>
                  <a:schemeClr val="tx1"/>
                </a:solidFill>
              </a:rPr>
              <a:t>Includes private pension funds, public pension funds, mutual funds, endowments and trust funds, and charitable foundations.</a:t>
            </a:r>
          </a:p>
          <a:p>
            <a:pPr lvl="1">
              <a:buFont typeface="Wingdings 3" pitchFamily="2" charset="2"/>
              <a:buChar char=""/>
              <a:defRPr/>
            </a:pPr>
            <a:endParaRPr lang="en-US" sz="800" dirty="0"/>
          </a:p>
          <a:p>
            <a:pPr>
              <a:buFont typeface="Wingdings 3" pitchFamily="2" charset="2"/>
              <a:buChar char=""/>
              <a:defRPr/>
            </a:pPr>
            <a:r>
              <a:rPr lang="en-US" b="1" dirty="0"/>
              <a:t>Private Investors:</a:t>
            </a:r>
          </a:p>
          <a:p>
            <a:pPr lvl="1">
              <a:buFont typeface="Wingdings 3" pitchFamily="2" charset="2"/>
              <a:buChar char=""/>
              <a:defRPr/>
            </a:pPr>
            <a:r>
              <a:rPr lang="en-US" sz="2600" dirty="0">
                <a:solidFill>
                  <a:schemeClr val="tx1"/>
                </a:solidFill>
              </a:rPr>
              <a:t>Individuals who purchase shares in companies.</a:t>
            </a:r>
          </a:p>
          <a:p>
            <a:pPr>
              <a:buFont typeface="Wingdings 3" pitchFamily="2" charset="2"/>
              <a:buChar char=""/>
              <a:defRPr/>
            </a:pPr>
            <a:endParaRPr lang="en-US" sz="800" dirty="0"/>
          </a:p>
          <a:p>
            <a:pPr>
              <a:buFont typeface="Wingdings 3" pitchFamily="2" charset="2"/>
              <a:buChar char=""/>
              <a:defRPr/>
            </a:pPr>
            <a:r>
              <a:rPr lang="en-US" b="1" dirty="0"/>
              <a:t>Lenders (creditors):</a:t>
            </a:r>
          </a:p>
          <a:p>
            <a:pPr lvl="1">
              <a:buFont typeface="Wingdings 3" pitchFamily="2" charset="2"/>
              <a:buChar char=""/>
              <a:defRPr/>
            </a:pPr>
            <a:r>
              <a:rPr lang="en-US" sz="2600" dirty="0">
                <a:solidFill>
                  <a:schemeClr val="tx1"/>
                </a:solidFill>
              </a:rPr>
              <a:t>Suppliers, banks, commercial credit companies, and other financial institutions that lend money to companies.</a:t>
            </a:r>
            <a:endParaRPr lang="en-US" sz="2600" dirty="0">
              <a:solidFill>
                <a:schemeClr val="tx1"/>
              </a:solidFill>
              <a:effectLst>
                <a:outerShdw blurRad="38100" dist="38100" dir="2700000" algn="tl">
                  <a:srgbClr val="000000">
                    <a:alpha val="43137"/>
                  </a:srgbClr>
                </a:outerShdw>
              </a:effectLst>
            </a:endParaRPr>
          </a:p>
          <a:p>
            <a:pPr>
              <a:buFont typeface="Wingdings 3" pitchFamily="2" charset="2"/>
              <a:buChar char=""/>
              <a:defRPr/>
            </a:pPr>
            <a:endParaRPr 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A09C294C-B559-4DA2-A55C-CD913916F6A6}"/>
              </a:ext>
            </a:extLst>
          </p:cNvPr>
          <p:cNvSpPr>
            <a:spLocks noGrp="1"/>
          </p:cNvSpPr>
          <p:nvPr>
            <p:ph type="title"/>
          </p:nvPr>
        </p:nvSpPr>
        <p:spPr>
          <a:xfrm>
            <a:off x="457200" y="152400"/>
            <a:ext cx="8458200" cy="792163"/>
          </a:xfrm>
        </p:spPr>
        <p:txBody>
          <a:bodyPr/>
          <a:lstStyle/>
          <a:p>
            <a:r>
              <a:rPr lang="en-CA" altLang="en-US" dirty="0"/>
              <a:t>ESG – Investor Demand for Relevant Information</a:t>
            </a:r>
            <a:endParaRPr lang="en-US" altLang="en-US" dirty="0"/>
          </a:p>
        </p:txBody>
      </p:sp>
      <p:sp>
        <p:nvSpPr>
          <p:cNvPr id="3" name="Content Placeholder 2">
            <a:extLst>
              <a:ext uri="{FF2B5EF4-FFF2-40B4-BE49-F238E27FC236}">
                <a16:creationId xmlns:a16="http://schemas.microsoft.com/office/drawing/2014/main" id="{319DA019-0774-4D7B-AFED-5F5530361A0B}"/>
              </a:ext>
            </a:extLst>
          </p:cNvPr>
          <p:cNvSpPr>
            <a:spLocks noGrp="1"/>
          </p:cNvSpPr>
          <p:nvPr>
            <p:ph idx="1"/>
          </p:nvPr>
        </p:nvSpPr>
        <p:spPr/>
        <p:txBody>
          <a:bodyPr/>
          <a:lstStyle/>
          <a:p>
            <a:pPr>
              <a:buFont typeface="Wingdings 3" pitchFamily="2" charset="2"/>
              <a:buChar char=""/>
              <a:defRPr/>
            </a:pPr>
            <a:r>
              <a:rPr lang="en-CA" dirty="0"/>
              <a:t>In 2021, the CPA profession responded to intensifying demand by global institutional investors for relevant, faithfully representative, standardized, and publicly available ESG measures. </a:t>
            </a:r>
          </a:p>
          <a:p>
            <a:pPr>
              <a:buFont typeface="Wingdings 3" pitchFamily="2" charset="2"/>
              <a:buChar char=""/>
              <a:defRPr/>
            </a:pPr>
            <a:r>
              <a:rPr lang="en-CA" dirty="0"/>
              <a:t>The IASB established the International Sustainability Standards Board (ISSB). </a:t>
            </a:r>
          </a:p>
          <a:p>
            <a:pPr>
              <a:buFont typeface="Wingdings 3" pitchFamily="2" charset="2"/>
              <a:buChar char=""/>
              <a:defRPr/>
            </a:pPr>
            <a:r>
              <a:rPr lang="en-CA" dirty="0"/>
              <a:t>IFRS published drafts of general ESG and specific environmental standards, with the expectation that final standards will follow in due course. </a:t>
            </a:r>
          </a:p>
          <a:p>
            <a:pPr>
              <a:buFont typeface="Wingdings 3" pitchFamily="2" charset="2"/>
              <a:buChar char=""/>
              <a:defRPr/>
            </a:pPr>
            <a:r>
              <a:rPr lang="en-CA" dirty="0"/>
              <a:t>CPA Canada can choose to adopt the standards as they are or adapt them to better reflect unique factors in Canada’s business and economic contexts.</a:t>
            </a:r>
          </a:p>
          <a:p>
            <a:pPr>
              <a:buFont typeface="Wingdings 3" pitchFamily="2" charset="2"/>
              <a:buChar char=""/>
              <a:defRPr/>
            </a:pPr>
            <a:endParaRPr lang="en-US" dirty="0"/>
          </a:p>
        </p:txBody>
      </p:sp>
    </p:spTree>
    <p:extLst>
      <p:ext uri="{BB962C8B-B14F-4D97-AF65-F5344CB8AC3E}">
        <p14:creationId xmlns:p14="http://schemas.microsoft.com/office/powerpoint/2010/main" val="347627354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A09C294C-B559-4DA2-A55C-CD913916F6A6}"/>
              </a:ext>
            </a:extLst>
          </p:cNvPr>
          <p:cNvSpPr>
            <a:spLocks noGrp="1"/>
          </p:cNvSpPr>
          <p:nvPr>
            <p:ph type="title"/>
          </p:nvPr>
        </p:nvSpPr>
        <p:spPr/>
        <p:txBody>
          <a:bodyPr/>
          <a:lstStyle/>
          <a:p>
            <a:r>
              <a:rPr lang="en-CA" altLang="en-US" dirty="0"/>
              <a:t>The Disclosure Process – Press Releases</a:t>
            </a:r>
            <a:endParaRPr lang="en-US" altLang="en-US" dirty="0"/>
          </a:p>
        </p:txBody>
      </p:sp>
      <p:sp>
        <p:nvSpPr>
          <p:cNvPr id="3" name="Content Placeholder 2">
            <a:extLst>
              <a:ext uri="{FF2B5EF4-FFF2-40B4-BE49-F238E27FC236}">
                <a16:creationId xmlns:a16="http://schemas.microsoft.com/office/drawing/2014/main" id="{319DA019-0774-4D7B-AFED-5F5530361A0B}"/>
              </a:ext>
            </a:extLst>
          </p:cNvPr>
          <p:cNvSpPr>
            <a:spLocks noGrp="1"/>
          </p:cNvSpPr>
          <p:nvPr>
            <p:ph idx="1"/>
          </p:nvPr>
        </p:nvSpPr>
        <p:spPr/>
        <p:txBody>
          <a:bodyPr/>
          <a:lstStyle/>
          <a:p>
            <a:pPr>
              <a:buFont typeface="Wingdings 3" pitchFamily="2" charset="2"/>
              <a:buChar char=""/>
              <a:defRPr/>
            </a:pPr>
            <a:r>
              <a:rPr lang="en-CA" dirty="0"/>
              <a:t>To provide timely information to external users and to limit the possibility of selective leakage of information, most public companies announce quarterly and annual earnings through a </a:t>
            </a:r>
            <a:r>
              <a:rPr lang="en-CA" b="1" dirty="0"/>
              <a:t>press release</a:t>
            </a:r>
            <a:r>
              <a:rPr lang="en-CA" dirty="0"/>
              <a:t>: a written public news announcement normally distributed to major news services as soon as the verified figures (audited for annual and reviewed for quarterly earnings) are available. </a:t>
            </a:r>
          </a:p>
          <a:p>
            <a:pPr>
              <a:buFont typeface="Wingdings 3" pitchFamily="2" charset="2"/>
              <a:buChar char=""/>
              <a:defRPr/>
            </a:pPr>
            <a:endParaRPr lang="en-CA" sz="800" dirty="0"/>
          </a:p>
          <a:p>
            <a:pPr>
              <a:buFont typeface="Wingdings 3" pitchFamily="2" charset="2"/>
              <a:buChar char=""/>
              <a:defRPr/>
            </a:pPr>
            <a:r>
              <a:rPr lang="en-CA" dirty="0"/>
              <a:t>The announcements are sent electronically to the major print and electronic news services, which make them immediately available to subscribers.</a:t>
            </a:r>
            <a:endParaRPr lang="en-CA" altLang="en-US" dirty="0"/>
          </a:p>
          <a:p>
            <a:pPr>
              <a:buFont typeface="Wingdings 3" pitchFamily="2" charset="2"/>
              <a:buChar char=""/>
              <a:defRPr/>
            </a:pPr>
            <a:endParaRPr lang="en-US" dirty="0"/>
          </a:p>
        </p:txBody>
      </p:sp>
    </p:spTree>
    <p:extLst>
      <p:ext uri="{BB962C8B-B14F-4D97-AF65-F5344CB8AC3E}">
        <p14:creationId xmlns:p14="http://schemas.microsoft.com/office/powerpoint/2010/main" val="134050331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A09C294C-B559-4DA2-A55C-CD913916F6A6}"/>
              </a:ext>
            </a:extLst>
          </p:cNvPr>
          <p:cNvSpPr>
            <a:spLocks noGrp="1"/>
          </p:cNvSpPr>
          <p:nvPr>
            <p:ph type="title"/>
          </p:nvPr>
        </p:nvSpPr>
        <p:spPr/>
        <p:txBody>
          <a:bodyPr/>
          <a:lstStyle/>
          <a:p>
            <a:r>
              <a:rPr lang="en-US" altLang="en-US"/>
              <a:t>Annual Reports Part 1</a:t>
            </a:r>
          </a:p>
        </p:txBody>
      </p:sp>
      <p:sp>
        <p:nvSpPr>
          <p:cNvPr id="3" name="Content Placeholder 2">
            <a:extLst>
              <a:ext uri="{FF2B5EF4-FFF2-40B4-BE49-F238E27FC236}">
                <a16:creationId xmlns:a16="http://schemas.microsoft.com/office/drawing/2014/main" id="{319DA019-0774-4D7B-AFED-5F5530361A0B}"/>
              </a:ext>
            </a:extLst>
          </p:cNvPr>
          <p:cNvSpPr>
            <a:spLocks noGrp="1"/>
          </p:cNvSpPr>
          <p:nvPr>
            <p:ph idx="1"/>
          </p:nvPr>
        </p:nvSpPr>
        <p:spPr/>
        <p:txBody>
          <a:bodyPr/>
          <a:lstStyle/>
          <a:p>
            <a:pPr>
              <a:buFont typeface="Wingdings 3" pitchFamily="2" charset="2"/>
              <a:buChar char=""/>
              <a:defRPr/>
            </a:pPr>
            <a:r>
              <a:rPr lang="en-CA" dirty="0"/>
              <a:t>For privately held companies, </a:t>
            </a:r>
            <a:r>
              <a:rPr lang="en-CA" i="1" dirty="0"/>
              <a:t>annual reports</a:t>
            </a:r>
            <a:r>
              <a:rPr lang="en-CA" dirty="0"/>
              <a:t> are relatively simple documents.</a:t>
            </a:r>
          </a:p>
          <a:p>
            <a:pPr>
              <a:buFont typeface="Wingdings 3" pitchFamily="2" charset="2"/>
              <a:buChar char=""/>
              <a:defRPr/>
            </a:pPr>
            <a:endParaRPr lang="en-CA" sz="800" dirty="0"/>
          </a:p>
          <a:p>
            <a:pPr>
              <a:buFont typeface="Wingdings 3" pitchFamily="2" charset="2"/>
              <a:buChar char=""/>
              <a:defRPr/>
            </a:pPr>
            <a:r>
              <a:rPr lang="en-CA" dirty="0"/>
              <a:t>They normally include the following:</a:t>
            </a:r>
          </a:p>
          <a:p>
            <a:pPr marL="514350" indent="-514350">
              <a:buFont typeface="+mj-lt"/>
              <a:buAutoNum type="arabicPeriod"/>
              <a:defRPr/>
            </a:pPr>
            <a:r>
              <a:rPr lang="en-CA" dirty="0"/>
              <a:t>Basic financial statements: statement of earnings, statement of financial position, statement of changes in equity, and statement of cash flows.</a:t>
            </a:r>
          </a:p>
          <a:p>
            <a:pPr marL="514350" indent="-514350">
              <a:buFont typeface="+mj-lt"/>
              <a:buAutoNum type="arabicPeriod"/>
              <a:defRPr/>
            </a:pPr>
            <a:r>
              <a:rPr lang="en-CA" dirty="0"/>
              <a:t>Related notes.</a:t>
            </a:r>
          </a:p>
          <a:p>
            <a:pPr marL="514350" indent="-514350">
              <a:buFont typeface="+mj-lt"/>
              <a:buAutoNum type="arabicPeriod"/>
              <a:defRPr/>
            </a:pPr>
            <a:r>
              <a:rPr lang="en-CA" dirty="0"/>
              <a:t>Report of independent accountants (auditor’s opinion) if the statements are audited.</a:t>
            </a:r>
          </a:p>
          <a:p>
            <a:pPr>
              <a:buFont typeface="Wingdings 3" pitchFamily="2" charset="2"/>
              <a:buChar char=""/>
              <a:defRPr/>
            </a:pPr>
            <a:endParaRPr 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7FF2C0CE-D178-402C-B37F-1D8AB883B07B}"/>
              </a:ext>
            </a:extLst>
          </p:cNvPr>
          <p:cNvSpPr>
            <a:spLocks noGrp="1"/>
          </p:cNvSpPr>
          <p:nvPr>
            <p:ph type="title"/>
          </p:nvPr>
        </p:nvSpPr>
        <p:spPr/>
        <p:txBody>
          <a:bodyPr/>
          <a:lstStyle/>
          <a:p>
            <a:r>
              <a:rPr lang="en-US" altLang="en-US"/>
              <a:t>Annual Reports Part 2</a:t>
            </a:r>
          </a:p>
        </p:txBody>
      </p:sp>
      <p:sp>
        <p:nvSpPr>
          <p:cNvPr id="25602" name="Content Placeholder 2">
            <a:extLst>
              <a:ext uri="{FF2B5EF4-FFF2-40B4-BE49-F238E27FC236}">
                <a16:creationId xmlns:a16="http://schemas.microsoft.com/office/drawing/2014/main" id="{CAAAAE05-4E2A-4818-936C-19F0FE557B9A}"/>
              </a:ext>
            </a:extLst>
          </p:cNvPr>
          <p:cNvSpPr>
            <a:spLocks noGrp="1"/>
          </p:cNvSpPr>
          <p:nvPr>
            <p:ph idx="1"/>
          </p:nvPr>
        </p:nvSpPr>
        <p:spPr/>
        <p:txBody>
          <a:bodyPr/>
          <a:lstStyle/>
          <a:p>
            <a:r>
              <a:rPr lang="en-CA" dirty="0"/>
              <a:t>The annual reports of public companies are significantly more elaborate, both because of additional reporting requirements imposed on these companies by securities commissions and because many companies use their annual reports as public relations tools to communicate non-accounting information to shareholders, customers, the press, and others.</a:t>
            </a:r>
            <a:endParaRPr lang="en-CA" altLang="en-US"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0F512827-013E-41BC-8491-D1031C4F6610}"/>
              </a:ext>
            </a:extLst>
          </p:cNvPr>
          <p:cNvSpPr>
            <a:spLocks noGrp="1"/>
          </p:cNvSpPr>
          <p:nvPr>
            <p:ph type="title"/>
          </p:nvPr>
        </p:nvSpPr>
        <p:spPr/>
        <p:txBody>
          <a:bodyPr/>
          <a:lstStyle/>
          <a:p>
            <a:r>
              <a:rPr lang="en-US" altLang="en-US"/>
              <a:t>Annual Reports Part 3</a:t>
            </a:r>
          </a:p>
        </p:txBody>
      </p:sp>
      <p:sp>
        <p:nvSpPr>
          <p:cNvPr id="26626" name="Content Placeholder 2">
            <a:extLst>
              <a:ext uri="{FF2B5EF4-FFF2-40B4-BE49-F238E27FC236}">
                <a16:creationId xmlns:a16="http://schemas.microsoft.com/office/drawing/2014/main" id="{3924B8DA-705B-47EA-9B11-148AFCF406A4}"/>
              </a:ext>
            </a:extLst>
          </p:cNvPr>
          <p:cNvSpPr>
            <a:spLocks noGrp="1"/>
          </p:cNvSpPr>
          <p:nvPr>
            <p:ph idx="1"/>
          </p:nvPr>
        </p:nvSpPr>
        <p:spPr/>
        <p:txBody>
          <a:bodyPr/>
          <a:lstStyle/>
          <a:p>
            <a:r>
              <a:rPr lang="en-CA" altLang="en-US"/>
              <a:t>The annual reports of public companies are normally split into two sections. </a:t>
            </a:r>
          </a:p>
          <a:p>
            <a:pPr marL="788988" lvl="1" indent="-514350">
              <a:buFont typeface="Calibri" panose="020F0502020204030204" pitchFamily="34" charset="0"/>
              <a:buAutoNum type="arabicPeriod"/>
            </a:pPr>
            <a:r>
              <a:rPr lang="en-CA" altLang="en-US" sz="2600" b="1">
                <a:solidFill>
                  <a:schemeClr val="tx1"/>
                </a:solidFill>
              </a:rPr>
              <a:t>Non-financial:</a:t>
            </a:r>
          </a:p>
          <a:p>
            <a:pPr lvl="2"/>
            <a:r>
              <a:rPr lang="en-CA" altLang="en-US" sz="2400"/>
              <a:t>Includes a letter to shareholders from the chairperson and CEO, along with descriptions of the company’s management philosophy, products, successes (and occasionally failures), and exciting prospects and challenges for the future. </a:t>
            </a:r>
          </a:p>
          <a:p>
            <a:pPr marL="788988" lvl="1" indent="-514350">
              <a:buFont typeface="Calibri" panose="020F0502020204030204" pitchFamily="34" charset="0"/>
              <a:buAutoNum type="arabicPeriod"/>
            </a:pPr>
            <a:r>
              <a:rPr lang="en-CA" altLang="en-US" sz="2600" b="1">
                <a:solidFill>
                  <a:schemeClr val="tx1"/>
                </a:solidFill>
              </a:rPr>
              <a:t>Financial:</a:t>
            </a:r>
          </a:p>
          <a:p>
            <a:pPr lvl="2"/>
            <a:r>
              <a:rPr lang="en-CA" altLang="en-US" sz="2400"/>
              <a:t>Includes the core of the report. Securities regulators set minimum disclosure standards for the financial section of the annual reports of public companies.</a:t>
            </a:r>
            <a:endParaRPr lang="en-US" altLang="en-US" sz="240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93922FB4-9C54-46A5-89B8-AE383F1F9FBA}"/>
              </a:ext>
            </a:extLst>
          </p:cNvPr>
          <p:cNvSpPr>
            <a:spLocks noGrp="1"/>
          </p:cNvSpPr>
          <p:nvPr>
            <p:ph type="title"/>
          </p:nvPr>
        </p:nvSpPr>
        <p:spPr/>
        <p:txBody>
          <a:bodyPr/>
          <a:lstStyle/>
          <a:p>
            <a:r>
              <a:rPr lang="en-US" altLang="en-US"/>
              <a:t>Annual Reports Part 4</a:t>
            </a:r>
          </a:p>
        </p:txBody>
      </p:sp>
      <p:sp>
        <p:nvSpPr>
          <p:cNvPr id="3" name="Content Placeholder 2">
            <a:extLst>
              <a:ext uri="{FF2B5EF4-FFF2-40B4-BE49-F238E27FC236}">
                <a16:creationId xmlns:a16="http://schemas.microsoft.com/office/drawing/2014/main" id="{D7C914E1-CDC8-4C5F-8D43-0E65E2626E7B}"/>
              </a:ext>
            </a:extLst>
          </p:cNvPr>
          <p:cNvSpPr>
            <a:spLocks noGrp="1"/>
          </p:cNvSpPr>
          <p:nvPr>
            <p:ph idx="1"/>
          </p:nvPr>
        </p:nvSpPr>
        <p:spPr/>
        <p:txBody>
          <a:bodyPr/>
          <a:lstStyle/>
          <a:p>
            <a:pPr>
              <a:buFont typeface="Wingdings 3" pitchFamily="2" charset="2"/>
              <a:buChar char=""/>
              <a:defRPr/>
            </a:pPr>
            <a:r>
              <a:rPr lang="en-CA" dirty="0"/>
              <a:t>The principal components of the financial section follow:</a:t>
            </a:r>
          </a:p>
          <a:p>
            <a:pPr marL="514350" indent="-514350">
              <a:buFont typeface="+mj-lt"/>
              <a:buAutoNum type="arabicPeriod"/>
              <a:defRPr/>
            </a:pPr>
            <a:r>
              <a:rPr lang="en-CA" dirty="0"/>
              <a:t>Summarized financial data.</a:t>
            </a:r>
          </a:p>
          <a:p>
            <a:pPr marL="514350" indent="-514350">
              <a:buFont typeface="+mj-lt"/>
              <a:buAutoNum type="arabicPeriod"/>
              <a:defRPr/>
            </a:pPr>
            <a:r>
              <a:rPr lang="en-CA" dirty="0"/>
              <a:t>Management’s discussion and analysis (MD&amp;A) of the company's financial condition and results of operations.</a:t>
            </a:r>
          </a:p>
          <a:p>
            <a:pPr marL="514350" indent="-514350">
              <a:buFont typeface="+mj-lt"/>
              <a:buAutoNum type="arabicPeriod"/>
              <a:defRPr/>
            </a:pPr>
            <a:r>
              <a:rPr lang="en-CA" dirty="0"/>
              <a:t>Report of the independent accountants (Auditor’s Opinion) and the management report.</a:t>
            </a:r>
          </a:p>
          <a:p>
            <a:pPr marL="514350" indent="-514350">
              <a:buFont typeface="+mj-lt"/>
              <a:buAutoNum type="arabicPeriod"/>
              <a:defRPr/>
            </a:pPr>
            <a:r>
              <a:rPr lang="en-CA" dirty="0"/>
              <a:t>The basic financial statements.</a:t>
            </a:r>
          </a:p>
          <a:p>
            <a:pPr marL="514350" indent="-514350">
              <a:buFont typeface="+mj-lt"/>
              <a:buAutoNum type="arabicPeriod"/>
              <a:defRPr/>
            </a:pPr>
            <a:r>
              <a:rPr lang="en-CA" dirty="0"/>
              <a:t>Notes to the financial statements.</a:t>
            </a:r>
          </a:p>
          <a:p>
            <a:pPr marL="514350" indent="-514350">
              <a:buFont typeface="+mj-lt"/>
              <a:buAutoNum type="arabicPeriod"/>
              <a:defRPr/>
            </a:pPr>
            <a:endParaRPr lang="en-CA" sz="800" dirty="0"/>
          </a:p>
          <a:p>
            <a:pPr>
              <a:buFont typeface="Wingdings 3" pitchFamily="2" charset="2"/>
              <a:buChar char=""/>
              <a:defRPr/>
            </a:pPr>
            <a:r>
              <a:rPr lang="en-CA" dirty="0"/>
              <a:t>The order of these components varies.</a:t>
            </a:r>
          </a:p>
          <a:p>
            <a:pPr>
              <a:buFont typeface="Wingdings 3" pitchFamily="2" charset="2"/>
              <a:buChar char=""/>
              <a:defRPr/>
            </a:pPr>
            <a:endParaRPr lang="en-CA"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CE9BD627-A3B0-4A85-BD25-9A1EFB318DD9}"/>
              </a:ext>
            </a:extLst>
          </p:cNvPr>
          <p:cNvSpPr>
            <a:spLocks noGrp="1"/>
          </p:cNvSpPr>
          <p:nvPr>
            <p:ph type="title"/>
          </p:nvPr>
        </p:nvSpPr>
        <p:spPr/>
        <p:txBody>
          <a:bodyPr/>
          <a:lstStyle/>
          <a:p>
            <a:r>
              <a:rPr lang="en-US" altLang="en-US"/>
              <a:t>Quarterly Reports</a:t>
            </a:r>
          </a:p>
        </p:txBody>
      </p:sp>
      <p:sp>
        <p:nvSpPr>
          <p:cNvPr id="28674" name="Content Placeholder 2">
            <a:extLst>
              <a:ext uri="{FF2B5EF4-FFF2-40B4-BE49-F238E27FC236}">
                <a16:creationId xmlns:a16="http://schemas.microsoft.com/office/drawing/2014/main" id="{7B9B4077-D584-4D6C-89C0-C524C4E6C466}"/>
              </a:ext>
            </a:extLst>
          </p:cNvPr>
          <p:cNvSpPr>
            <a:spLocks noGrp="1"/>
          </p:cNvSpPr>
          <p:nvPr>
            <p:ph idx="1"/>
          </p:nvPr>
        </p:nvSpPr>
        <p:spPr/>
        <p:txBody>
          <a:bodyPr/>
          <a:lstStyle/>
          <a:p>
            <a:r>
              <a:rPr lang="en-CA" altLang="en-US" dirty="0"/>
              <a:t>Quarterly reports normally begin with a short letter to shareholders. </a:t>
            </a:r>
          </a:p>
          <a:p>
            <a:endParaRPr lang="en-CA" altLang="en-US" sz="800" dirty="0"/>
          </a:p>
          <a:p>
            <a:r>
              <a:rPr lang="en-CA" altLang="en-US" dirty="0"/>
              <a:t>A condensed statement of earnings for the quarter, which often shows less detail than the annual statement of earnings, and a condensed statement of financial position dated at the end of the quarter. These condensed financial statements are not audited and so are marked “unaudited.” </a:t>
            </a:r>
          </a:p>
          <a:p>
            <a:endParaRPr lang="en-CA" altLang="en-US" sz="800" dirty="0"/>
          </a:p>
          <a:p>
            <a:r>
              <a:rPr lang="en-CA" altLang="en-US" dirty="0"/>
              <a:t>Often, the statement of cash flows, the statement of changes in equity, and some notes to the financial statements are omitted. </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2C653953-5B0F-4FEC-A1CA-745B9BFB2DF3}"/>
              </a:ext>
            </a:extLst>
          </p:cNvPr>
          <p:cNvSpPr>
            <a:spLocks noGrp="1"/>
          </p:cNvSpPr>
          <p:nvPr>
            <p:ph type="title"/>
          </p:nvPr>
        </p:nvSpPr>
        <p:spPr/>
        <p:txBody>
          <a:bodyPr/>
          <a:lstStyle/>
          <a:p>
            <a:r>
              <a:rPr lang="en-US" altLang="en-US"/>
              <a:t>Reports to Securities Commissions</a:t>
            </a:r>
          </a:p>
        </p:txBody>
      </p:sp>
      <p:sp>
        <p:nvSpPr>
          <p:cNvPr id="29698" name="Content Placeholder 2">
            <a:extLst>
              <a:ext uri="{FF2B5EF4-FFF2-40B4-BE49-F238E27FC236}">
                <a16:creationId xmlns:a16="http://schemas.microsoft.com/office/drawing/2014/main" id="{267B0D0C-A17C-40CD-AA84-CBB746590CC1}"/>
              </a:ext>
            </a:extLst>
          </p:cNvPr>
          <p:cNvSpPr>
            <a:spLocks noGrp="1"/>
          </p:cNvSpPr>
          <p:nvPr>
            <p:ph idx="1"/>
          </p:nvPr>
        </p:nvSpPr>
        <p:spPr>
          <a:xfrm>
            <a:off x="457200" y="990600"/>
            <a:ext cx="8229600" cy="5486400"/>
          </a:xfrm>
        </p:spPr>
        <p:txBody>
          <a:bodyPr/>
          <a:lstStyle/>
          <a:p>
            <a:r>
              <a:rPr lang="en-CA" altLang="en-US" dirty="0"/>
              <a:t>Public companies must also file periodic reports with the OSC and other provincial securities commissions. </a:t>
            </a:r>
          </a:p>
          <a:p>
            <a:r>
              <a:rPr lang="en-CA" altLang="en-US" dirty="0"/>
              <a:t>These reports include the annual report, quarterly reports, an annual information form, and an information circular.</a:t>
            </a:r>
          </a:p>
          <a:p>
            <a:r>
              <a:rPr lang="en-CA" altLang="en-US" dirty="0"/>
              <a:t>The annual information form provides a more detailed description of the business.</a:t>
            </a:r>
          </a:p>
          <a:p>
            <a:r>
              <a:rPr lang="en-CA" altLang="en-US" dirty="0"/>
              <a:t>The information circular is a legal document that is forwarded to the company’s shareholders prior to the annual general or special meeting of shareholders. The circular also provides compensation details for the CEO, CFO, and other key executives as well as information about the company’s corporate governance practices.</a:t>
            </a:r>
            <a:endParaRPr lang="en-US" altLang="en-US"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092B3598-A15C-4872-B87D-A186006759FF}"/>
              </a:ext>
            </a:extLst>
          </p:cNvPr>
          <p:cNvSpPr>
            <a:spLocks noGrp="1"/>
          </p:cNvSpPr>
          <p:nvPr>
            <p:ph type="title"/>
          </p:nvPr>
        </p:nvSpPr>
        <p:spPr/>
        <p:txBody>
          <a:bodyPr/>
          <a:lstStyle/>
          <a:p>
            <a:r>
              <a:rPr lang="en-US" altLang="en-US" dirty="0"/>
              <a:t>The Investment Decision Part 1</a:t>
            </a:r>
          </a:p>
        </p:txBody>
      </p:sp>
      <p:sp>
        <p:nvSpPr>
          <p:cNvPr id="30722" name="Content Placeholder 2">
            <a:extLst>
              <a:ext uri="{FF2B5EF4-FFF2-40B4-BE49-F238E27FC236}">
                <a16:creationId xmlns:a16="http://schemas.microsoft.com/office/drawing/2014/main" id="{B55E855D-5D1A-4E94-9623-47E3D447097C}"/>
              </a:ext>
            </a:extLst>
          </p:cNvPr>
          <p:cNvSpPr>
            <a:spLocks noGrp="1"/>
          </p:cNvSpPr>
          <p:nvPr>
            <p:ph idx="1"/>
          </p:nvPr>
        </p:nvSpPr>
        <p:spPr/>
        <p:txBody>
          <a:bodyPr/>
          <a:lstStyle/>
          <a:p>
            <a:r>
              <a:rPr lang="en-CA" altLang="en-US"/>
              <a:t>When considering an investment in shares, the investor should evaluate the future net earnings and growth potential of the business on the basis of three factors:</a:t>
            </a:r>
          </a:p>
          <a:p>
            <a:endParaRPr lang="en-US" altLang="en-US"/>
          </a:p>
        </p:txBody>
      </p:sp>
      <p:pic>
        <p:nvPicPr>
          <p:cNvPr id="30723" name="Picture 3">
            <a:extLst>
              <a:ext uri="{FF2B5EF4-FFF2-40B4-BE49-F238E27FC236}">
                <a16:creationId xmlns:a16="http://schemas.microsoft.com/office/drawing/2014/main" id="{CB0D1725-954F-434D-ACA7-249DE21247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000" y="2667000"/>
            <a:ext cx="63500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5C8BE70B-603B-4D35-9FAA-F65C4871122B}"/>
              </a:ext>
            </a:extLst>
          </p:cNvPr>
          <p:cNvSpPr>
            <a:spLocks noGrp="1"/>
          </p:cNvSpPr>
          <p:nvPr>
            <p:ph type="title"/>
          </p:nvPr>
        </p:nvSpPr>
        <p:spPr/>
        <p:txBody>
          <a:bodyPr/>
          <a:lstStyle/>
          <a:p>
            <a:r>
              <a:rPr lang="en-US" altLang="en-US" dirty="0"/>
              <a:t>The Investment Decision Part 2</a:t>
            </a:r>
          </a:p>
        </p:txBody>
      </p:sp>
      <p:sp>
        <p:nvSpPr>
          <p:cNvPr id="31746" name="Content Placeholder 2">
            <a:extLst>
              <a:ext uri="{FF2B5EF4-FFF2-40B4-BE49-F238E27FC236}">
                <a16:creationId xmlns:a16="http://schemas.microsoft.com/office/drawing/2014/main" id="{208AE65A-A507-41DA-8765-99319362B5E8}"/>
              </a:ext>
            </a:extLst>
          </p:cNvPr>
          <p:cNvSpPr>
            <a:spLocks noGrp="1"/>
          </p:cNvSpPr>
          <p:nvPr>
            <p:ph idx="1"/>
          </p:nvPr>
        </p:nvSpPr>
        <p:spPr>
          <a:xfrm>
            <a:off x="457200" y="1143000"/>
            <a:ext cx="8305800" cy="5334000"/>
          </a:xfrm>
        </p:spPr>
        <p:txBody>
          <a:bodyPr/>
          <a:lstStyle/>
          <a:p>
            <a:r>
              <a:rPr lang="en-CA" altLang="en-US" sz="2500" b="1"/>
              <a:t>Economy-wide factors: </a:t>
            </a:r>
            <a:r>
              <a:rPr lang="en-CA" altLang="en-US" sz="2500"/>
              <a:t>The overall health of the economy has a direct impact on the performance of an individual business. Prudent investors must consider data such as the unemployment rate, the general inflation rate, and changes in interest rates. </a:t>
            </a:r>
          </a:p>
          <a:p>
            <a:r>
              <a:rPr lang="en-CA" altLang="en-US" sz="2500" b="1"/>
              <a:t>Industry factors: </a:t>
            </a:r>
            <a:r>
              <a:rPr lang="en-CA" altLang="en-US" sz="2500"/>
              <a:t>Certain events have a major impact on each company within an industry but have only a minor impact on other companies outside the industry.</a:t>
            </a:r>
          </a:p>
          <a:p>
            <a:r>
              <a:rPr lang="en-CA" altLang="en-US" sz="2500" b="1"/>
              <a:t>Individual company factors: </a:t>
            </a:r>
            <a:r>
              <a:rPr lang="en-CA" altLang="en-US" sz="2500"/>
              <a:t>To properly analyze a company, you should learn as much as you can about it. Good analysts do not rely solely on the information contained in the financial statements. They visit the company, buy its products, and read about it in the business press. </a:t>
            </a:r>
            <a:endParaRPr lang="en-US" altLang="en-US" sz="250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5077C666-B56A-4A66-9E03-18505E58517A}"/>
              </a:ext>
            </a:extLst>
          </p:cNvPr>
          <p:cNvSpPr>
            <a:spLocks noGrp="1"/>
          </p:cNvSpPr>
          <p:nvPr>
            <p:ph type="title"/>
          </p:nvPr>
        </p:nvSpPr>
        <p:spPr/>
        <p:txBody>
          <a:bodyPr/>
          <a:lstStyle/>
          <a:p>
            <a:r>
              <a:rPr lang="en-US" altLang="en-US"/>
              <a:t>Understanding A Company’s Strategy Part 1</a:t>
            </a:r>
          </a:p>
        </p:txBody>
      </p:sp>
      <p:sp>
        <p:nvSpPr>
          <p:cNvPr id="32770" name="Content Placeholder 2">
            <a:extLst>
              <a:ext uri="{FF2B5EF4-FFF2-40B4-BE49-F238E27FC236}">
                <a16:creationId xmlns:a16="http://schemas.microsoft.com/office/drawing/2014/main" id="{19EAF7D1-7DD3-481B-A75D-BB8B4964AB1A}"/>
              </a:ext>
            </a:extLst>
          </p:cNvPr>
          <p:cNvSpPr>
            <a:spLocks noGrp="1"/>
          </p:cNvSpPr>
          <p:nvPr>
            <p:ph idx="1"/>
          </p:nvPr>
        </p:nvSpPr>
        <p:spPr/>
        <p:txBody>
          <a:bodyPr/>
          <a:lstStyle/>
          <a:p>
            <a:r>
              <a:rPr lang="en-CA" altLang="en-US" dirty="0"/>
              <a:t>Financial statement analysis involves more than just “crunching numbers.” </a:t>
            </a:r>
          </a:p>
          <a:p>
            <a:endParaRPr lang="en-CA" altLang="en-US" sz="800" dirty="0"/>
          </a:p>
          <a:p>
            <a:r>
              <a:rPr lang="en-CA" altLang="en-US" dirty="0"/>
              <a:t>Before you start looking at numbers, you should know what you are looking for. </a:t>
            </a:r>
          </a:p>
          <a:p>
            <a:endParaRPr lang="en-CA" altLang="en-US" sz="800" dirty="0"/>
          </a:p>
          <a:p>
            <a:r>
              <a:rPr lang="en-CA" altLang="en-US" dirty="0"/>
              <a:t>While financial statements report on transactions, each of these transactions is the result of a company’s operating decisions as it implements its business strategy.</a:t>
            </a:r>
            <a:endParaRPr lang="en-US" altLang="en-US" dirty="0"/>
          </a:p>
        </p:txBody>
      </p:sp>
      <p:pic>
        <p:nvPicPr>
          <p:cNvPr id="32771" name="Picture 3">
            <a:extLst>
              <a:ext uri="{FF2B5EF4-FFF2-40B4-BE49-F238E27FC236}">
                <a16:creationId xmlns:a16="http://schemas.microsoft.com/office/drawing/2014/main" id="{2004753C-6FDD-4EFE-BE73-65A9235C62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 y="5029200"/>
            <a:ext cx="85915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a:extLst>
              <a:ext uri="{FF2B5EF4-FFF2-40B4-BE49-F238E27FC236}">
                <a16:creationId xmlns:a16="http://schemas.microsoft.com/office/drawing/2014/main" id="{1888D716-FB81-4B21-B83F-8BB88A1C20D0}"/>
              </a:ext>
            </a:extLst>
          </p:cNvPr>
          <p:cNvSpPr>
            <a:spLocks noGrp="1"/>
          </p:cNvSpPr>
          <p:nvPr>
            <p:ph type="title"/>
          </p:nvPr>
        </p:nvSpPr>
        <p:spPr/>
        <p:txBody>
          <a:bodyPr/>
          <a:lstStyle/>
          <a:p>
            <a:r>
              <a:rPr lang="en-US" altLang="en-US" dirty="0"/>
              <a:t>Understanding A Company’s Strategy Part 2</a:t>
            </a:r>
          </a:p>
        </p:txBody>
      </p:sp>
      <p:sp>
        <p:nvSpPr>
          <p:cNvPr id="3" name="Content Placeholder 2">
            <a:extLst>
              <a:ext uri="{FF2B5EF4-FFF2-40B4-BE49-F238E27FC236}">
                <a16:creationId xmlns:a16="http://schemas.microsoft.com/office/drawing/2014/main" id="{D8EF64B1-9C59-4AD6-8C0A-D20F5BF5AFC7}"/>
              </a:ext>
            </a:extLst>
          </p:cNvPr>
          <p:cNvSpPr>
            <a:spLocks noGrp="1"/>
          </p:cNvSpPr>
          <p:nvPr>
            <p:ph idx="1"/>
          </p:nvPr>
        </p:nvSpPr>
        <p:spPr/>
        <p:txBody>
          <a:bodyPr/>
          <a:lstStyle/>
          <a:p>
            <a:pPr>
              <a:buFont typeface="Wingdings 3" pitchFamily="2" charset="2"/>
              <a:buChar char=""/>
              <a:defRPr/>
            </a:pPr>
            <a:r>
              <a:rPr lang="en-CA" dirty="0"/>
              <a:t>Businesses can earn a high rate of return by following different strategies. There are two fundamental strategies:</a:t>
            </a:r>
          </a:p>
          <a:p>
            <a:pPr marL="514350" indent="-514350">
              <a:buFont typeface="+mj-lt"/>
              <a:buAutoNum type="arabicPeriod"/>
              <a:defRPr/>
            </a:pPr>
            <a:r>
              <a:rPr lang="en-CA" b="1" dirty="0"/>
              <a:t>Product differentiation (or high-value): </a:t>
            </a:r>
            <a:r>
              <a:rPr lang="en-CA" dirty="0"/>
              <a:t>Under this strategy, companies offer products with unique benefits, such as high quality or unusual features or style. </a:t>
            </a:r>
          </a:p>
          <a:p>
            <a:pPr marL="514350" indent="-514350">
              <a:buFont typeface="+mj-lt"/>
              <a:buAutoNum type="arabicPeriod"/>
              <a:defRPr/>
            </a:pPr>
            <a:r>
              <a:rPr lang="en-CA" b="1" dirty="0"/>
              <a:t>Cost differentiation:</a:t>
            </a:r>
            <a:r>
              <a:rPr lang="en-CA" dirty="0"/>
              <a:t> Under this strategy, companies selling similar products attempt to operate more efficiently than their competitors, allowing them to offer lower prices to attract customers. </a:t>
            </a:r>
            <a:endParaRPr lang="en-US"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a:extLst>
              <a:ext uri="{FF2B5EF4-FFF2-40B4-BE49-F238E27FC236}">
                <a16:creationId xmlns:a16="http://schemas.microsoft.com/office/drawing/2014/main" id="{C4B1153B-2419-4AE7-B238-0C46E6EB71EC}"/>
              </a:ext>
            </a:extLst>
          </p:cNvPr>
          <p:cNvSpPr>
            <a:spLocks noGrp="1"/>
          </p:cNvSpPr>
          <p:nvPr>
            <p:ph type="title"/>
          </p:nvPr>
        </p:nvSpPr>
        <p:spPr/>
        <p:txBody>
          <a:bodyPr/>
          <a:lstStyle/>
          <a:p>
            <a:r>
              <a:rPr lang="en-US" altLang="en-US" dirty="0"/>
              <a:t>Financial Statement Analysis Part 1</a:t>
            </a:r>
          </a:p>
        </p:txBody>
      </p:sp>
      <p:sp>
        <p:nvSpPr>
          <p:cNvPr id="62466" name="Content Placeholder 2">
            <a:extLst>
              <a:ext uri="{FF2B5EF4-FFF2-40B4-BE49-F238E27FC236}">
                <a16:creationId xmlns:a16="http://schemas.microsoft.com/office/drawing/2014/main" id="{D917A5AD-1454-4756-862B-3847C1825CD5}"/>
              </a:ext>
            </a:extLst>
          </p:cNvPr>
          <p:cNvSpPr>
            <a:spLocks noGrp="1"/>
          </p:cNvSpPr>
          <p:nvPr>
            <p:ph idx="1"/>
          </p:nvPr>
        </p:nvSpPr>
        <p:spPr/>
        <p:txBody>
          <a:bodyPr/>
          <a:lstStyle/>
          <a:p>
            <a:r>
              <a:rPr lang="en-CA" altLang="en-US" dirty="0"/>
              <a:t>Financial results cannot be evaluated in isolation. </a:t>
            </a:r>
          </a:p>
          <a:p>
            <a:endParaRPr lang="en-CA" altLang="en-US" sz="800" dirty="0"/>
          </a:p>
          <a:p>
            <a:r>
              <a:rPr lang="en-CA" altLang="en-US" dirty="0"/>
              <a:t>To properly analyze the information reported in financial statements, you must develop appropriate comparisons.</a:t>
            </a:r>
          </a:p>
          <a:p>
            <a:endParaRPr lang="en-CA" altLang="en-US" sz="800" dirty="0"/>
          </a:p>
          <a:p>
            <a:r>
              <a:rPr lang="en-CA" altLang="en-US" dirty="0"/>
              <a:t>The task of finding appropriate benchmarks requires judgment, and it is not always an easy task. </a:t>
            </a:r>
          </a:p>
          <a:p>
            <a:endParaRPr lang="en-CA" altLang="en-US" sz="800" dirty="0"/>
          </a:p>
          <a:p>
            <a:r>
              <a:rPr lang="en-CA" altLang="en-US" dirty="0"/>
              <a:t>For this reason, financial analysis is a sophisticated skill, not a mechanical process.</a:t>
            </a:r>
            <a:endParaRPr lang="en-US" altLang="en-US"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26387F1A-7F35-4464-AAE0-8A43BA67D38A}"/>
              </a:ext>
            </a:extLst>
          </p:cNvPr>
          <p:cNvSpPr>
            <a:spLocks noGrp="1"/>
          </p:cNvSpPr>
          <p:nvPr>
            <p:ph type="title"/>
          </p:nvPr>
        </p:nvSpPr>
        <p:spPr/>
        <p:txBody>
          <a:bodyPr/>
          <a:lstStyle/>
          <a:p>
            <a:r>
              <a:rPr lang="en-US" altLang="en-US" dirty="0"/>
              <a:t>Financial Statement Analysis Part 2</a:t>
            </a:r>
          </a:p>
        </p:txBody>
      </p:sp>
      <p:sp>
        <p:nvSpPr>
          <p:cNvPr id="108546" name="Content Placeholder 2">
            <a:extLst>
              <a:ext uri="{FF2B5EF4-FFF2-40B4-BE49-F238E27FC236}">
                <a16:creationId xmlns:a16="http://schemas.microsoft.com/office/drawing/2014/main" id="{4BBA72ED-5233-40C3-9F80-A2CF4F648484}"/>
              </a:ext>
            </a:extLst>
          </p:cNvPr>
          <p:cNvSpPr>
            <a:spLocks noGrp="1"/>
          </p:cNvSpPr>
          <p:nvPr>
            <p:ph idx="1"/>
          </p:nvPr>
        </p:nvSpPr>
        <p:spPr/>
        <p:txBody>
          <a:bodyPr/>
          <a:lstStyle/>
          <a:p>
            <a:pPr>
              <a:buFont typeface="Wingdings 3" pitchFamily="2" charset="2"/>
              <a:buChar char=""/>
              <a:defRPr/>
            </a:pPr>
            <a:r>
              <a:rPr lang="en-CA" dirty="0"/>
              <a:t>There are two types of benchmarks for making financial comparisons: time series and comparisons with other companies.</a:t>
            </a:r>
          </a:p>
          <a:p>
            <a:pPr marL="514350" indent="-514350">
              <a:buFont typeface="+mj-lt"/>
              <a:buAutoNum type="arabicPeriod"/>
              <a:defRPr/>
            </a:pPr>
            <a:r>
              <a:rPr lang="en-CA" b="1" dirty="0"/>
              <a:t>Comparing across time. </a:t>
            </a:r>
            <a:r>
              <a:rPr lang="en-CA" dirty="0"/>
              <a:t>In this type of analysis, which often is referred to as “time-series analysis,” information on a single company is compared over time. </a:t>
            </a:r>
          </a:p>
          <a:p>
            <a:pPr marL="514350" indent="-514350">
              <a:buFont typeface="+mj-lt"/>
              <a:buAutoNum type="arabicPeriod"/>
              <a:defRPr/>
            </a:pPr>
            <a:r>
              <a:rPr lang="en-CA" b="1" dirty="0"/>
              <a:t>Comparing across companies. </a:t>
            </a:r>
            <a:r>
              <a:rPr lang="en-CA" dirty="0"/>
              <a:t>In this type of analysis, which often is referred to as “cross-sectional analysis,” information for multiple companies is compared at a point in time or across time. By comparing a company with another one in the same line of business, an analyst can obtain better insight into its performance.</a:t>
            </a:r>
            <a:endParaRPr lang="en-US" altLang="en-US"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F975C0DC-06A9-4BF8-BD8E-9A8247B0DA47}"/>
              </a:ext>
            </a:extLst>
          </p:cNvPr>
          <p:cNvSpPr>
            <a:spLocks noGrp="1"/>
          </p:cNvSpPr>
          <p:nvPr>
            <p:ph type="title"/>
          </p:nvPr>
        </p:nvSpPr>
        <p:spPr>
          <a:xfrm>
            <a:off x="457200" y="274637"/>
            <a:ext cx="8229600" cy="792163"/>
          </a:xfrm>
        </p:spPr>
        <p:txBody>
          <a:bodyPr/>
          <a:lstStyle/>
          <a:p>
            <a:r>
              <a:rPr lang="en-US" altLang="en-US" dirty="0"/>
              <a:t>Component Percentages, Trend Analysis, and Ratio Analysis</a:t>
            </a:r>
          </a:p>
        </p:txBody>
      </p:sp>
      <p:sp>
        <p:nvSpPr>
          <p:cNvPr id="3" name="Content Placeholder 2">
            <a:extLst>
              <a:ext uri="{FF2B5EF4-FFF2-40B4-BE49-F238E27FC236}">
                <a16:creationId xmlns:a16="http://schemas.microsoft.com/office/drawing/2014/main" id="{355B351C-03BF-462E-88CF-25B71DE4F6E0}"/>
              </a:ext>
            </a:extLst>
          </p:cNvPr>
          <p:cNvSpPr>
            <a:spLocks noGrp="1"/>
          </p:cNvSpPr>
          <p:nvPr>
            <p:ph idx="1"/>
          </p:nvPr>
        </p:nvSpPr>
        <p:spPr/>
        <p:txBody>
          <a:bodyPr/>
          <a:lstStyle/>
          <a:p>
            <a:pPr>
              <a:buFont typeface="Wingdings 3" pitchFamily="2" charset="2"/>
              <a:buChar char=""/>
              <a:defRPr/>
            </a:pPr>
            <a:r>
              <a:rPr lang="en-CA" dirty="0"/>
              <a:t>All financial analysts use various tools to analyze a company’s financial statements. </a:t>
            </a:r>
          </a:p>
          <a:p>
            <a:pPr>
              <a:buFont typeface="Wingdings 3" pitchFamily="2" charset="2"/>
              <a:buChar char=""/>
              <a:defRPr/>
            </a:pPr>
            <a:endParaRPr lang="en-CA" sz="800" dirty="0"/>
          </a:p>
          <a:p>
            <a:pPr>
              <a:buFont typeface="Wingdings 3" pitchFamily="2" charset="2"/>
              <a:buChar char=""/>
              <a:defRPr/>
            </a:pPr>
            <a:r>
              <a:rPr lang="en-CA" dirty="0"/>
              <a:t>These tools include:</a:t>
            </a:r>
          </a:p>
          <a:p>
            <a:pPr marL="514350" indent="-514350">
              <a:buFont typeface="+mj-lt"/>
              <a:buAutoNum type="arabicPeriod"/>
              <a:defRPr/>
            </a:pPr>
            <a:r>
              <a:rPr lang="en-CA" dirty="0"/>
              <a:t>Component percentages,</a:t>
            </a:r>
          </a:p>
          <a:p>
            <a:pPr marL="514350" indent="-514350">
              <a:buFont typeface="+mj-lt"/>
              <a:buAutoNum type="arabicPeriod"/>
              <a:defRPr/>
            </a:pPr>
            <a:r>
              <a:rPr lang="en-CA" dirty="0"/>
              <a:t>Trend analysis, and</a:t>
            </a:r>
          </a:p>
          <a:p>
            <a:pPr marL="514350" indent="-514350">
              <a:buFont typeface="+mj-lt"/>
              <a:buAutoNum type="arabicPeriod"/>
              <a:defRPr/>
            </a:pPr>
            <a:r>
              <a:rPr lang="en-CA" dirty="0"/>
              <a:t>Ratio analysis</a:t>
            </a:r>
          </a:p>
          <a:p>
            <a:pPr marL="514350" indent="-514350">
              <a:buFont typeface="+mj-lt"/>
              <a:buAutoNum type="arabicPeriod"/>
              <a:defRPr/>
            </a:pPr>
            <a:endParaRPr lang="en-CA" sz="1200"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F975C0DC-06A9-4BF8-BD8E-9A8247B0DA47}"/>
              </a:ext>
            </a:extLst>
          </p:cNvPr>
          <p:cNvSpPr>
            <a:spLocks noGrp="1"/>
          </p:cNvSpPr>
          <p:nvPr>
            <p:ph type="title"/>
          </p:nvPr>
        </p:nvSpPr>
        <p:spPr/>
        <p:txBody>
          <a:bodyPr/>
          <a:lstStyle/>
          <a:p>
            <a:r>
              <a:rPr lang="en-US" altLang="en-US"/>
              <a:t>Component Percentages</a:t>
            </a:r>
          </a:p>
        </p:txBody>
      </p:sp>
      <p:sp>
        <p:nvSpPr>
          <p:cNvPr id="3" name="Content Placeholder 2">
            <a:extLst>
              <a:ext uri="{FF2B5EF4-FFF2-40B4-BE49-F238E27FC236}">
                <a16:creationId xmlns:a16="http://schemas.microsoft.com/office/drawing/2014/main" id="{355B351C-03BF-462E-88CF-25B71DE4F6E0}"/>
              </a:ext>
            </a:extLst>
          </p:cNvPr>
          <p:cNvSpPr>
            <a:spLocks noGrp="1"/>
          </p:cNvSpPr>
          <p:nvPr>
            <p:ph idx="1"/>
          </p:nvPr>
        </p:nvSpPr>
        <p:spPr>
          <a:xfrm>
            <a:off x="457200" y="1066800"/>
            <a:ext cx="8229600" cy="5334000"/>
          </a:xfrm>
        </p:spPr>
        <p:txBody>
          <a:bodyPr/>
          <a:lstStyle/>
          <a:p>
            <a:pPr>
              <a:defRPr/>
            </a:pPr>
            <a:r>
              <a:rPr lang="en-CA" dirty="0"/>
              <a:t>A </a:t>
            </a:r>
            <a:r>
              <a:rPr lang="en-CA" b="1" dirty="0"/>
              <a:t>component percentage</a:t>
            </a:r>
            <a:r>
              <a:rPr lang="en-CA" dirty="0"/>
              <a:t> expresses each item on a financial statement as a percentage of a single </a:t>
            </a:r>
            <a:r>
              <a:rPr lang="en-CA" i="1" dirty="0"/>
              <a:t>base amount</a:t>
            </a:r>
            <a:r>
              <a:rPr lang="en-CA" dirty="0"/>
              <a:t>, the denominator of the ratio. The base amount on the statement of earnings is net sales. </a:t>
            </a:r>
          </a:p>
          <a:p>
            <a:pPr>
              <a:defRPr/>
            </a:pPr>
            <a:endParaRPr lang="en-CA" sz="800" dirty="0"/>
          </a:p>
          <a:p>
            <a:r>
              <a:rPr lang="en-CA" altLang="en-US" dirty="0"/>
              <a:t>To calculate component percentages on the statement of earnings, each amount reported is divided by net sales. The base amount on the statement of financial position is total assets. </a:t>
            </a:r>
          </a:p>
          <a:p>
            <a:endParaRPr lang="en-CA" altLang="en-US" sz="800" dirty="0"/>
          </a:p>
          <a:p>
            <a:r>
              <a:rPr lang="en-CA" altLang="en-US" dirty="0"/>
              <a:t>To calculate component percentages on the statement of financial position, each amount is divided by total assets. This is also known as </a:t>
            </a:r>
            <a:r>
              <a:rPr lang="en-CA" altLang="en-US" i="1" dirty="0"/>
              <a:t>vertical analysis </a:t>
            </a:r>
            <a:r>
              <a:rPr lang="en-CA" altLang="en-US" dirty="0"/>
              <a:t>or creating a </a:t>
            </a:r>
            <a:r>
              <a:rPr lang="en-CA" altLang="en-US" i="1" dirty="0"/>
              <a:t>common-size</a:t>
            </a:r>
            <a:r>
              <a:rPr lang="en-CA" altLang="en-US" dirty="0"/>
              <a:t> financial statement. </a:t>
            </a:r>
          </a:p>
        </p:txBody>
      </p:sp>
    </p:spTree>
    <p:extLst>
      <p:ext uri="{BB962C8B-B14F-4D97-AF65-F5344CB8AC3E}">
        <p14:creationId xmlns:p14="http://schemas.microsoft.com/office/powerpoint/2010/main" val="2452085459"/>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a:extLst>
              <a:ext uri="{FF2B5EF4-FFF2-40B4-BE49-F238E27FC236}">
                <a16:creationId xmlns:a16="http://schemas.microsoft.com/office/drawing/2014/main" id="{426B51F6-316E-488B-A2BC-68D46DFB3330}"/>
              </a:ext>
            </a:extLst>
          </p:cNvPr>
          <p:cNvSpPr>
            <a:spLocks noGrp="1"/>
          </p:cNvSpPr>
          <p:nvPr>
            <p:ph type="title"/>
          </p:nvPr>
        </p:nvSpPr>
        <p:spPr/>
        <p:txBody>
          <a:bodyPr/>
          <a:lstStyle/>
          <a:p>
            <a:r>
              <a:rPr lang="en-US" altLang="en-US" dirty="0"/>
              <a:t>Trend Analysis and Ratio Analysis</a:t>
            </a:r>
          </a:p>
        </p:txBody>
      </p:sp>
      <p:sp>
        <p:nvSpPr>
          <p:cNvPr id="64514" name="Content Placeholder 2">
            <a:extLst>
              <a:ext uri="{FF2B5EF4-FFF2-40B4-BE49-F238E27FC236}">
                <a16:creationId xmlns:a16="http://schemas.microsoft.com/office/drawing/2014/main" id="{F1E56140-7BCE-43C2-95D9-67B3BB0FB644}"/>
              </a:ext>
            </a:extLst>
          </p:cNvPr>
          <p:cNvSpPr>
            <a:spLocks noGrp="1"/>
          </p:cNvSpPr>
          <p:nvPr>
            <p:ph idx="1"/>
          </p:nvPr>
        </p:nvSpPr>
        <p:spPr/>
        <p:txBody>
          <a:bodyPr/>
          <a:lstStyle/>
          <a:p>
            <a:r>
              <a:rPr lang="en-CA" dirty="0"/>
              <a:t>Trend analysis (or horizontal analysis) examines the dollar amounts or changes in the reported values of specific financial statement items over multiple periods to identify patterns that may be useful in predicting future values. </a:t>
            </a:r>
          </a:p>
          <a:p>
            <a:endParaRPr lang="en-CA" altLang="en-US" sz="800" dirty="0"/>
          </a:p>
          <a:p>
            <a:r>
              <a:rPr lang="en-CA" dirty="0"/>
              <a:t>Ratios may be computed by using amounts in one statement, such as the statement of earnings, or in two different statements, such as the statement of earnings and the statement of financial position.</a:t>
            </a:r>
            <a:endParaRPr lang="en-US" altLang="en-US"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a:extLst>
              <a:ext uri="{FF2B5EF4-FFF2-40B4-BE49-F238E27FC236}">
                <a16:creationId xmlns:a16="http://schemas.microsoft.com/office/drawing/2014/main" id="{426B51F6-316E-488B-A2BC-68D46DFB3330}"/>
              </a:ext>
            </a:extLst>
          </p:cNvPr>
          <p:cNvSpPr>
            <a:spLocks noGrp="1"/>
          </p:cNvSpPr>
          <p:nvPr>
            <p:ph type="title"/>
          </p:nvPr>
        </p:nvSpPr>
        <p:spPr/>
        <p:txBody>
          <a:bodyPr/>
          <a:lstStyle/>
          <a:p>
            <a:r>
              <a:rPr lang="en-US" altLang="en-US" dirty="0"/>
              <a:t>Trend Analysis</a:t>
            </a:r>
          </a:p>
        </p:txBody>
      </p:sp>
      <p:sp>
        <p:nvSpPr>
          <p:cNvPr id="64514" name="Content Placeholder 2">
            <a:extLst>
              <a:ext uri="{FF2B5EF4-FFF2-40B4-BE49-F238E27FC236}">
                <a16:creationId xmlns:a16="http://schemas.microsoft.com/office/drawing/2014/main" id="{F1E56140-7BCE-43C2-95D9-67B3BB0FB644}"/>
              </a:ext>
            </a:extLst>
          </p:cNvPr>
          <p:cNvSpPr>
            <a:spLocks noGrp="1"/>
          </p:cNvSpPr>
          <p:nvPr>
            <p:ph idx="1"/>
          </p:nvPr>
        </p:nvSpPr>
        <p:spPr/>
        <p:txBody>
          <a:bodyPr/>
          <a:lstStyle/>
          <a:p>
            <a:r>
              <a:rPr lang="en-US" dirty="0"/>
              <a:t>Another type of analysis tracks the changes to specific line items in financial statements over time for the purpose of identifying significant changes that may be used in predicting future values. </a:t>
            </a:r>
          </a:p>
          <a:p>
            <a:endParaRPr lang="en-US" altLang="en-US" dirty="0"/>
          </a:p>
          <a:p>
            <a:endParaRPr lang="en-US" altLang="en-US" dirty="0"/>
          </a:p>
          <a:p>
            <a:endParaRPr lang="en-US" altLang="en-US" sz="800" dirty="0"/>
          </a:p>
          <a:p>
            <a:r>
              <a:rPr lang="en-US" dirty="0"/>
              <a:t>Trend analysis helps in identifying significant changes over time and in raising questions about the underlying reasons for such changes. It is important to remember, however, that changes that appear to be significant in percentage terms may not be significant in dollar amount.</a:t>
            </a:r>
            <a:endParaRPr lang="en-US" altLang="en-US" dirty="0"/>
          </a:p>
        </p:txBody>
      </p:sp>
      <p:pic>
        <p:nvPicPr>
          <p:cNvPr id="3" name="Picture 2">
            <a:extLst>
              <a:ext uri="{FF2B5EF4-FFF2-40B4-BE49-F238E27FC236}">
                <a16:creationId xmlns:a16="http://schemas.microsoft.com/office/drawing/2014/main" id="{61CDFB1C-DB76-B54D-8627-D314E8BF13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9968" y="2882900"/>
            <a:ext cx="7624064" cy="850900"/>
          </a:xfrm>
          <a:prstGeom prst="rect">
            <a:avLst/>
          </a:prstGeom>
        </p:spPr>
      </p:pic>
    </p:spTree>
    <p:extLst>
      <p:ext uri="{BB962C8B-B14F-4D97-AF65-F5344CB8AC3E}">
        <p14:creationId xmlns:p14="http://schemas.microsoft.com/office/powerpoint/2010/main" val="1439330866"/>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a:extLst>
              <a:ext uri="{FF2B5EF4-FFF2-40B4-BE49-F238E27FC236}">
                <a16:creationId xmlns:a16="http://schemas.microsoft.com/office/drawing/2014/main" id="{45B23AA5-F929-487E-B2C1-0643D2142BF1}"/>
              </a:ext>
            </a:extLst>
          </p:cNvPr>
          <p:cNvSpPr>
            <a:spLocks noGrp="1"/>
          </p:cNvSpPr>
          <p:nvPr>
            <p:ph type="title"/>
          </p:nvPr>
        </p:nvSpPr>
        <p:spPr/>
        <p:txBody>
          <a:bodyPr/>
          <a:lstStyle/>
          <a:p>
            <a:r>
              <a:rPr lang="en-US" altLang="en-US" dirty="0"/>
              <a:t>Ratio Analysis Part 1</a:t>
            </a:r>
          </a:p>
        </p:txBody>
      </p:sp>
      <p:sp>
        <p:nvSpPr>
          <p:cNvPr id="65538" name="Content Placeholder 2">
            <a:extLst>
              <a:ext uri="{FF2B5EF4-FFF2-40B4-BE49-F238E27FC236}">
                <a16:creationId xmlns:a16="http://schemas.microsoft.com/office/drawing/2014/main" id="{9FE60013-4702-4744-B287-F00731383E14}"/>
              </a:ext>
            </a:extLst>
          </p:cNvPr>
          <p:cNvSpPr>
            <a:spLocks noGrp="1"/>
          </p:cNvSpPr>
          <p:nvPr>
            <p:ph idx="1"/>
          </p:nvPr>
        </p:nvSpPr>
        <p:spPr/>
        <p:txBody>
          <a:bodyPr/>
          <a:lstStyle/>
          <a:p>
            <a:r>
              <a:rPr lang="en-CA" altLang="en-US" dirty="0"/>
              <a:t>Component percentages are a type of ratio. </a:t>
            </a:r>
          </a:p>
          <a:p>
            <a:endParaRPr lang="en-CA" altLang="en-US" sz="800" dirty="0"/>
          </a:p>
          <a:p>
            <a:r>
              <a:rPr lang="en-CA" altLang="en-US" dirty="0"/>
              <a:t>Ratios simply express one number relative to another number. </a:t>
            </a:r>
          </a:p>
          <a:p>
            <a:endParaRPr lang="en-CA" altLang="en-US" sz="800" dirty="0"/>
          </a:p>
          <a:p>
            <a:r>
              <a:rPr lang="en-CA" altLang="en-US" dirty="0"/>
              <a:t>With component percentages, both the numerator and the denominator of the ratio come from the same financial statement. This does not have to be the case.</a:t>
            </a:r>
          </a:p>
          <a:p>
            <a:endParaRPr lang="en-CA" altLang="en-US" sz="800" dirty="0"/>
          </a:p>
          <a:p>
            <a:r>
              <a:rPr lang="en-CA" dirty="0"/>
              <a:t>Ratio analysis helps decision makers identify significant relationships and make meaningful comparisons.</a:t>
            </a:r>
            <a:endParaRPr lang="en-CA" altLang="en-US" dirty="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a:extLst>
              <a:ext uri="{FF2B5EF4-FFF2-40B4-BE49-F238E27FC236}">
                <a16:creationId xmlns:a16="http://schemas.microsoft.com/office/drawing/2014/main" id="{BB59C5DD-EF44-4DBC-BDFD-8F59E8F5E626}"/>
              </a:ext>
            </a:extLst>
          </p:cNvPr>
          <p:cNvSpPr>
            <a:spLocks noGrp="1"/>
          </p:cNvSpPr>
          <p:nvPr>
            <p:ph type="title"/>
          </p:nvPr>
        </p:nvSpPr>
        <p:spPr/>
        <p:txBody>
          <a:bodyPr/>
          <a:lstStyle/>
          <a:p>
            <a:r>
              <a:rPr lang="en-US" altLang="en-US" dirty="0"/>
              <a:t>Ratio Analysis Part 2</a:t>
            </a:r>
          </a:p>
        </p:txBody>
      </p:sp>
      <p:sp>
        <p:nvSpPr>
          <p:cNvPr id="66562" name="Content Placeholder 2">
            <a:extLst>
              <a:ext uri="{FF2B5EF4-FFF2-40B4-BE49-F238E27FC236}">
                <a16:creationId xmlns:a16="http://schemas.microsoft.com/office/drawing/2014/main" id="{E8E58045-1FE2-4657-BC52-2B4F8A87A530}"/>
              </a:ext>
            </a:extLst>
          </p:cNvPr>
          <p:cNvSpPr>
            <a:spLocks noGrp="1"/>
          </p:cNvSpPr>
          <p:nvPr>
            <p:ph idx="1"/>
          </p:nvPr>
        </p:nvSpPr>
        <p:spPr>
          <a:xfrm>
            <a:off x="457200" y="1066800"/>
            <a:ext cx="8229600" cy="5334000"/>
          </a:xfrm>
        </p:spPr>
        <p:txBody>
          <a:bodyPr/>
          <a:lstStyle/>
          <a:p>
            <a:r>
              <a:rPr lang="en-CA" altLang="en-US" dirty="0"/>
              <a:t>A basic fact about financial statements: The statement of financial position amounts are as at a specific point in time while statement of earnings amounts relate to a period of time. </a:t>
            </a:r>
          </a:p>
          <a:p>
            <a:endParaRPr lang="en-CA" altLang="en-US" sz="800" dirty="0"/>
          </a:p>
          <a:p>
            <a:r>
              <a:rPr lang="en-CA" altLang="en-US" dirty="0"/>
              <a:t>To adjust for this difference, analysts often use the average statement of financial position amount when comparing a statement of financial position amount to a statement of earnings amount. </a:t>
            </a:r>
          </a:p>
          <a:p>
            <a:endParaRPr lang="en-CA" altLang="en-US" sz="800" dirty="0"/>
          </a:p>
          <a:p>
            <a:r>
              <a:rPr lang="en-CA" altLang="en-US" dirty="0"/>
              <a:t>Making this adjustment allows you to compare the average statement of financial position amount that corresponds to the period for which the statement of earnings amount was generated.</a:t>
            </a:r>
            <a:endParaRPr lang="en-US" altLang="en-US" dirty="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7FC0B9BD-4B8D-4D9F-A73D-C85ABECAE2B4}"/>
              </a:ext>
            </a:extLst>
          </p:cNvPr>
          <p:cNvSpPr>
            <a:spLocks noGrp="1"/>
          </p:cNvSpPr>
          <p:nvPr>
            <p:ph type="title"/>
          </p:nvPr>
        </p:nvSpPr>
        <p:spPr/>
        <p:txBody>
          <a:bodyPr/>
          <a:lstStyle/>
          <a:p>
            <a:r>
              <a:rPr lang="en-US" altLang="en-US" dirty="0"/>
              <a:t>Widely Used Accounting Ratios Part 1</a:t>
            </a:r>
          </a:p>
        </p:txBody>
      </p:sp>
      <p:graphicFrame>
        <p:nvGraphicFramePr>
          <p:cNvPr id="12" name="Table 11">
            <a:extLst>
              <a:ext uri="{FF2B5EF4-FFF2-40B4-BE49-F238E27FC236}">
                <a16:creationId xmlns:a16="http://schemas.microsoft.com/office/drawing/2014/main" id="{50C88A61-C855-7445-9B21-B3EFE572DDBC}"/>
              </a:ext>
            </a:extLst>
          </p:cNvPr>
          <p:cNvGraphicFramePr>
            <a:graphicFrameLocks noGrp="1"/>
          </p:cNvGraphicFramePr>
          <p:nvPr>
            <p:extLst>
              <p:ext uri="{D42A27DB-BD31-4B8C-83A1-F6EECF244321}">
                <p14:modId xmlns:p14="http://schemas.microsoft.com/office/powerpoint/2010/main" val="3028868089"/>
              </p:ext>
            </p:extLst>
          </p:nvPr>
        </p:nvGraphicFramePr>
        <p:xfrm>
          <a:off x="152400" y="1588770"/>
          <a:ext cx="8839200" cy="3973830"/>
        </p:xfrm>
        <a:graphic>
          <a:graphicData uri="http://schemas.openxmlformats.org/drawingml/2006/table">
            <a:tbl>
              <a:tblPr/>
              <a:tblGrid>
                <a:gridCol w="3200400">
                  <a:extLst>
                    <a:ext uri="{9D8B030D-6E8A-4147-A177-3AD203B41FA5}">
                      <a16:colId xmlns:a16="http://schemas.microsoft.com/office/drawing/2014/main" val="537233240"/>
                    </a:ext>
                  </a:extLst>
                </a:gridCol>
                <a:gridCol w="1066800">
                  <a:extLst>
                    <a:ext uri="{9D8B030D-6E8A-4147-A177-3AD203B41FA5}">
                      <a16:colId xmlns:a16="http://schemas.microsoft.com/office/drawing/2014/main" val="380587356"/>
                    </a:ext>
                  </a:extLst>
                </a:gridCol>
                <a:gridCol w="4572000">
                  <a:extLst>
                    <a:ext uri="{9D8B030D-6E8A-4147-A177-3AD203B41FA5}">
                      <a16:colId xmlns:a16="http://schemas.microsoft.com/office/drawing/2014/main" val="1178131362"/>
                    </a:ext>
                  </a:extLst>
                </a:gridCol>
              </a:tblGrid>
              <a:tr h="283029">
                <a:tc>
                  <a:txBody>
                    <a:bodyPr/>
                    <a:lstStyle/>
                    <a:p>
                      <a:pPr algn="l" fontAlgn="b"/>
                      <a:endParaRPr lang="en-CA" sz="1800" b="1"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CA" sz="18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ctr" fontAlgn="b"/>
                      <a:endParaRPr lang="en-CA" sz="1800" b="1"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3123980066"/>
                  </a:ext>
                </a:extLst>
              </a:tr>
              <a:tr h="283029">
                <a:tc>
                  <a:txBody>
                    <a:bodyPr/>
                    <a:lstStyle/>
                    <a:p>
                      <a:pPr algn="l" fontAlgn="b"/>
                      <a:r>
                        <a:rPr lang="en-CA" sz="1800" b="1" i="0" u="none" strike="noStrike" dirty="0">
                          <a:solidFill>
                            <a:srgbClr val="000000"/>
                          </a:solidFill>
                          <a:effectLst/>
                          <a:latin typeface="Calibri" panose="020F0502020204030204" pitchFamily="34" charset="0"/>
                        </a:rPr>
                        <a:t>Profitability Ratios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CA" sz="18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CA" sz="1800" b="1" i="0" u="none" strike="noStrike" dirty="0">
                          <a:solidFill>
                            <a:srgbClr val="000000"/>
                          </a:solidFill>
                          <a:effectLst/>
                          <a:latin typeface="Calibri" panose="020F0502020204030204" pitchFamily="34" charset="0"/>
                        </a:rPr>
                        <a:t>BASIC COMPUTATION</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0076331"/>
                  </a:ext>
                </a:extLst>
              </a:tr>
              <a:tr h="283029">
                <a:tc rowSpan="2">
                  <a:txBody>
                    <a:bodyPr/>
                    <a:lstStyle/>
                    <a:p>
                      <a:pPr algn="l" fontAlgn="ctr"/>
                      <a:r>
                        <a:rPr lang="en-CA" sz="1800" b="0" i="0" u="none" strike="noStrike">
                          <a:solidFill>
                            <a:srgbClr val="000000"/>
                          </a:solidFill>
                          <a:effectLst/>
                          <a:latin typeface="Calibri" panose="020F0502020204030204" pitchFamily="34" charset="0"/>
                        </a:rPr>
                        <a:t>1. Return on equity (ROE)</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CA" sz="1800" b="0" i="0" u="sng" strike="noStrike" dirty="0">
                          <a:solidFill>
                            <a:schemeClr val="tx1"/>
                          </a:solidFill>
                          <a:effectLst/>
                          <a:latin typeface="Calibri" panose="020F0502020204030204" pitchFamily="34" charset="0"/>
                          <a:hlinkClick r:id="rId2">
                            <a:extLst>
                              <a:ext uri="{A12FA001-AC4F-418D-AE19-62706E023703}">
                                <ahyp:hlinkClr xmlns:ahyp="http://schemas.microsoft.com/office/drawing/2018/hyperlinkcolor" val="tx"/>
                              </a:ext>
                            </a:extLst>
                          </a:hlinkClick>
                        </a:rPr>
                        <a:t>Chapter 4</a:t>
                      </a:r>
                      <a:endParaRPr lang="en-CA" sz="1800" b="0" i="0" u="sng"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CA" sz="1800" b="0" i="0" u="sng" strike="noStrike">
                          <a:solidFill>
                            <a:srgbClr val="000000"/>
                          </a:solidFill>
                          <a:effectLst/>
                          <a:latin typeface="Calibri" panose="020F0502020204030204" pitchFamily="34" charset="0"/>
                        </a:rPr>
                        <a:t>Net earnings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62351018"/>
                  </a:ext>
                </a:extLst>
              </a:tr>
              <a:tr h="283029">
                <a:tc vMerge="1">
                  <a:txBody>
                    <a:bodyPr/>
                    <a:lstStyle/>
                    <a:p>
                      <a:endParaRPr lang="en-US"/>
                    </a:p>
                  </a:txBody>
                  <a:tcPr/>
                </a:tc>
                <a:tc vMerge="1">
                  <a:txBody>
                    <a:bodyPr/>
                    <a:lstStyle/>
                    <a:p>
                      <a:endParaRPr lang="en-US"/>
                    </a:p>
                  </a:txBody>
                  <a:tcPr/>
                </a:tc>
                <a:tc>
                  <a:txBody>
                    <a:bodyPr/>
                    <a:lstStyle/>
                    <a:p>
                      <a:pPr algn="ctr" fontAlgn="b"/>
                      <a:r>
                        <a:rPr lang="en-CA" sz="1800" b="0" i="0" u="none" strike="noStrike">
                          <a:solidFill>
                            <a:srgbClr val="000000"/>
                          </a:solidFill>
                          <a:effectLst/>
                          <a:latin typeface="Calibri" panose="020F0502020204030204" pitchFamily="34" charset="0"/>
                        </a:rPr>
                        <a:t>Net earnings Average shareholders ’ equity</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8563069"/>
                  </a:ext>
                </a:extLst>
              </a:tr>
              <a:tr h="283029">
                <a:tc rowSpan="2">
                  <a:txBody>
                    <a:bodyPr/>
                    <a:lstStyle/>
                    <a:p>
                      <a:pPr algn="l" fontAlgn="ctr"/>
                      <a:r>
                        <a:rPr lang="en-CA" sz="1800" b="0" i="0" u="none" strike="noStrike" dirty="0">
                          <a:solidFill>
                            <a:srgbClr val="000000"/>
                          </a:solidFill>
                          <a:effectLst/>
                          <a:latin typeface="Calibri" panose="020F0502020204030204" pitchFamily="34" charset="0"/>
                        </a:rPr>
                        <a:t>2. Return on assets (ROA)</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CA" sz="1800" b="0" i="0" u="sng" strike="noStrike" dirty="0">
                          <a:solidFill>
                            <a:schemeClr val="tx1"/>
                          </a:solidFill>
                          <a:effectLst/>
                          <a:latin typeface="Calibri" panose="020F0502020204030204" pitchFamily="34" charset="0"/>
                          <a:hlinkClick r:id="rId3">
                            <a:extLst>
                              <a:ext uri="{A12FA001-AC4F-418D-AE19-62706E023703}">
                                <ahyp:hlinkClr xmlns:ahyp="http://schemas.microsoft.com/office/drawing/2018/hyperlinkcolor" val="tx"/>
                              </a:ext>
                            </a:extLst>
                          </a:hlinkClick>
                        </a:rPr>
                        <a:t>Chapter 3</a:t>
                      </a:r>
                      <a:endParaRPr lang="en-CA" sz="1800" b="0" i="0" u="sng"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CA" sz="1800" b="0" i="0" u="sng" strike="noStrike">
                          <a:solidFill>
                            <a:srgbClr val="000000"/>
                          </a:solidFill>
                          <a:effectLst/>
                          <a:latin typeface="Calibri" panose="020F0502020204030204" pitchFamily="34" charset="0"/>
                        </a:rPr>
                        <a:t>Net earnings</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602787403"/>
                  </a:ext>
                </a:extLst>
              </a:tr>
              <a:tr h="283029">
                <a:tc vMerge="1">
                  <a:txBody>
                    <a:bodyPr/>
                    <a:lstStyle/>
                    <a:p>
                      <a:endParaRPr lang="en-US"/>
                    </a:p>
                  </a:txBody>
                  <a:tcPr/>
                </a:tc>
                <a:tc vMerge="1">
                  <a:txBody>
                    <a:bodyPr/>
                    <a:lstStyle/>
                    <a:p>
                      <a:endParaRPr lang="en-US"/>
                    </a:p>
                  </a:txBody>
                  <a:tcPr/>
                </a:tc>
                <a:tc>
                  <a:txBody>
                    <a:bodyPr/>
                    <a:lstStyle/>
                    <a:p>
                      <a:pPr algn="ctr" fontAlgn="b"/>
                      <a:r>
                        <a:rPr lang="en-CA" sz="1800" b="0" i="0" u="none" strike="noStrike">
                          <a:solidFill>
                            <a:srgbClr val="000000"/>
                          </a:solidFill>
                          <a:effectLst/>
                          <a:latin typeface="Calibri" panose="020F0502020204030204" pitchFamily="34" charset="0"/>
                        </a:rPr>
                        <a:t>Average total assets</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4439184"/>
                  </a:ext>
                </a:extLst>
              </a:tr>
              <a:tr h="283029">
                <a:tc rowSpan="2">
                  <a:txBody>
                    <a:bodyPr/>
                    <a:lstStyle/>
                    <a:p>
                      <a:pPr algn="l" fontAlgn="ctr"/>
                      <a:r>
                        <a:rPr lang="en-CA" sz="1800" b="0" i="0" u="none" strike="noStrike">
                          <a:solidFill>
                            <a:srgbClr val="000000"/>
                          </a:solidFill>
                          <a:effectLst/>
                          <a:latin typeface="Calibri" panose="020F0502020204030204" pitchFamily="34" charset="0"/>
                        </a:rPr>
                        <a:t>3. Gross profit margin ratio</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CA" sz="1800" b="0" i="0" u="sng" strike="noStrike" dirty="0">
                          <a:solidFill>
                            <a:schemeClr val="tx1"/>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Chapter 5</a:t>
                      </a:r>
                      <a:endParaRPr lang="en-CA" sz="1800" b="0" i="0" u="sng"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CA" sz="1800" b="0" i="0" u="sng" strike="noStrike">
                          <a:solidFill>
                            <a:srgbClr val="000000"/>
                          </a:solidFill>
                          <a:effectLst/>
                          <a:latin typeface="Calibri" panose="020F0502020204030204" pitchFamily="34" charset="0"/>
                        </a:rPr>
                        <a:t>Gross profit</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866271318"/>
                  </a:ext>
                </a:extLst>
              </a:tr>
              <a:tr h="283029">
                <a:tc vMerge="1">
                  <a:txBody>
                    <a:bodyPr/>
                    <a:lstStyle/>
                    <a:p>
                      <a:endParaRPr lang="en-US"/>
                    </a:p>
                  </a:txBody>
                  <a:tcPr/>
                </a:tc>
                <a:tc vMerge="1">
                  <a:txBody>
                    <a:bodyPr/>
                    <a:lstStyle/>
                    <a:p>
                      <a:endParaRPr lang="en-US"/>
                    </a:p>
                  </a:txBody>
                  <a:tcPr/>
                </a:tc>
                <a:tc>
                  <a:txBody>
                    <a:bodyPr/>
                    <a:lstStyle/>
                    <a:p>
                      <a:pPr algn="ctr" fontAlgn="b"/>
                      <a:r>
                        <a:rPr lang="en-CA" sz="1800" b="0" i="0" u="none" strike="noStrike">
                          <a:solidFill>
                            <a:srgbClr val="000000"/>
                          </a:solidFill>
                          <a:effectLst/>
                          <a:latin typeface="Calibri" panose="020F0502020204030204" pitchFamily="34" charset="0"/>
                        </a:rPr>
                        <a:t>Net sales</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3028573"/>
                  </a:ext>
                </a:extLst>
              </a:tr>
              <a:tr h="283029">
                <a:tc rowSpan="2">
                  <a:txBody>
                    <a:bodyPr/>
                    <a:lstStyle/>
                    <a:p>
                      <a:pPr algn="l" fontAlgn="ctr"/>
                      <a:r>
                        <a:rPr lang="en-CA" sz="1800" b="0" i="0" u="none" strike="noStrike">
                          <a:solidFill>
                            <a:srgbClr val="000000"/>
                          </a:solidFill>
                          <a:effectLst/>
                          <a:latin typeface="Calibri" panose="020F0502020204030204" pitchFamily="34" charset="0"/>
                        </a:rPr>
                        <a:t>4. Net profit margin ratio</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CA" sz="1800" b="0" i="0" u="sng" strike="noStrike" dirty="0">
                          <a:solidFill>
                            <a:schemeClr val="tx1"/>
                          </a:solidFill>
                          <a:effectLst/>
                          <a:latin typeface="Calibri" panose="020F0502020204030204" pitchFamily="34" charset="0"/>
                          <a:hlinkClick r:id="rId2">
                            <a:extLst>
                              <a:ext uri="{A12FA001-AC4F-418D-AE19-62706E023703}">
                                <ahyp:hlinkClr xmlns:ahyp="http://schemas.microsoft.com/office/drawing/2018/hyperlinkcolor" val="tx"/>
                              </a:ext>
                            </a:extLst>
                          </a:hlinkClick>
                        </a:rPr>
                        <a:t>Chapter 4</a:t>
                      </a:r>
                      <a:endParaRPr lang="en-CA" sz="1800" b="0" i="0" u="sng"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CA" sz="1800" b="0" i="0" u="sng" strike="noStrike">
                          <a:solidFill>
                            <a:srgbClr val="000000"/>
                          </a:solidFill>
                          <a:effectLst/>
                          <a:latin typeface="Calibri" panose="020F0502020204030204" pitchFamily="34" charset="0"/>
                        </a:rPr>
                        <a:t>Net earnings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366363159"/>
                  </a:ext>
                </a:extLst>
              </a:tr>
              <a:tr h="283029">
                <a:tc vMerge="1">
                  <a:txBody>
                    <a:bodyPr/>
                    <a:lstStyle/>
                    <a:p>
                      <a:endParaRPr lang="en-US"/>
                    </a:p>
                  </a:txBody>
                  <a:tcPr/>
                </a:tc>
                <a:tc vMerge="1">
                  <a:txBody>
                    <a:bodyPr/>
                    <a:lstStyle/>
                    <a:p>
                      <a:endParaRPr lang="en-US"/>
                    </a:p>
                  </a:txBody>
                  <a:tcPr/>
                </a:tc>
                <a:tc>
                  <a:txBody>
                    <a:bodyPr/>
                    <a:lstStyle/>
                    <a:p>
                      <a:pPr algn="ctr" fontAlgn="b"/>
                      <a:r>
                        <a:rPr lang="en-CA" sz="1800" b="0" i="0" u="none" strike="noStrike">
                          <a:solidFill>
                            <a:srgbClr val="000000"/>
                          </a:solidFill>
                          <a:effectLst/>
                          <a:latin typeface="Calibri" panose="020F0502020204030204" pitchFamily="34" charset="0"/>
                        </a:rPr>
                        <a:t>Net sales</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7041551"/>
                  </a:ext>
                </a:extLst>
              </a:tr>
              <a:tr h="283029">
                <a:tc rowSpan="2">
                  <a:txBody>
                    <a:bodyPr/>
                    <a:lstStyle/>
                    <a:p>
                      <a:pPr algn="l" fontAlgn="ctr"/>
                      <a:r>
                        <a:rPr lang="en-CA" sz="1800" b="0" i="0" u="none" strike="noStrike">
                          <a:solidFill>
                            <a:srgbClr val="000000"/>
                          </a:solidFill>
                          <a:effectLst/>
                          <a:latin typeface="Calibri" panose="020F0502020204030204" pitchFamily="34" charset="0"/>
                        </a:rPr>
                        <a:t>5. Earnings per share (EPS) ratio</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CA" sz="1800" b="0" i="0" u="sng" strike="noStrike" dirty="0">
                          <a:solidFill>
                            <a:schemeClr val="tx1"/>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Chapter 10</a:t>
                      </a:r>
                      <a:endParaRPr lang="en-CA" sz="1800" b="0" i="0" u="sng"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CA" sz="1800" b="0" i="0" u="sng" strike="noStrike">
                          <a:solidFill>
                            <a:srgbClr val="000000"/>
                          </a:solidFill>
                          <a:effectLst/>
                          <a:latin typeface="Calibri" panose="020F0502020204030204" pitchFamily="34" charset="0"/>
                        </a:rPr>
                        <a:t>Net earnings available to common shareholders</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926352256"/>
                  </a:ext>
                </a:extLst>
              </a:tr>
              <a:tr h="283029">
                <a:tc vMerge="1">
                  <a:txBody>
                    <a:bodyPr/>
                    <a:lstStyle/>
                    <a:p>
                      <a:endParaRPr lang="en-US"/>
                    </a:p>
                  </a:txBody>
                  <a:tcPr/>
                </a:tc>
                <a:tc vMerge="1">
                  <a:txBody>
                    <a:bodyPr/>
                    <a:lstStyle/>
                    <a:p>
                      <a:endParaRPr lang="en-US"/>
                    </a:p>
                  </a:txBody>
                  <a:tcPr/>
                </a:tc>
                <a:tc>
                  <a:txBody>
                    <a:bodyPr/>
                    <a:lstStyle/>
                    <a:p>
                      <a:pPr algn="ctr" fontAlgn="b"/>
                      <a:r>
                        <a:rPr lang="en-CA" sz="1800" b="0" i="0" u="none" strike="noStrike">
                          <a:solidFill>
                            <a:srgbClr val="000000"/>
                          </a:solidFill>
                          <a:effectLst/>
                          <a:latin typeface="Calibri" panose="020F0502020204030204" pitchFamily="34" charset="0"/>
                        </a:rPr>
                        <a:t>Average number of common shares outstanding</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80428941"/>
                  </a:ext>
                </a:extLst>
              </a:tr>
              <a:tr h="283029">
                <a:tc rowSpan="2">
                  <a:txBody>
                    <a:bodyPr/>
                    <a:lstStyle/>
                    <a:p>
                      <a:pPr algn="l" fontAlgn="ctr"/>
                      <a:r>
                        <a:rPr lang="en-CA" sz="1800" b="0" i="0" u="none" strike="noStrike">
                          <a:solidFill>
                            <a:srgbClr val="000000"/>
                          </a:solidFill>
                          <a:effectLst/>
                          <a:latin typeface="Calibri" panose="020F0502020204030204" pitchFamily="34" charset="0"/>
                        </a:rPr>
                        <a:t>6. Quality of earnings ratio</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CA" sz="1800" b="0" i="0" u="sng" strike="noStrike" dirty="0">
                          <a:solidFill>
                            <a:schemeClr val="tx1"/>
                          </a:solidFill>
                          <a:effectLst/>
                          <a:latin typeface="Calibri" panose="020F0502020204030204" pitchFamily="34" charset="0"/>
                          <a:hlinkClick r:id="rId6">
                            <a:extLst>
                              <a:ext uri="{A12FA001-AC4F-418D-AE19-62706E023703}">
                                <ahyp:hlinkClr xmlns:ahyp="http://schemas.microsoft.com/office/drawing/2018/hyperlinkcolor" val="tx"/>
                              </a:ext>
                            </a:extLst>
                          </a:hlinkClick>
                        </a:rPr>
                        <a:t>Chapter 11</a:t>
                      </a:r>
                      <a:endParaRPr lang="en-CA" sz="1800" b="0" i="0" u="sng"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CA" sz="1800" b="0" i="0" u="sng" strike="noStrike">
                          <a:solidFill>
                            <a:srgbClr val="000000"/>
                          </a:solidFill>
                          <a:effectLst/>
                          <a:latin typeface="Calibri" panose="020F0502020204030204" pitchFamily="34" charset="0"/>
                        </a:rPr>
                        <a:t>Cash flows from operating activities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87493756"/>
                  </a:ext>
                </a:extLst>
              </a:tr>
              <a:tr h="283029">
                <a:tc vMerge="1">
                  <a:txBody>
                    <a:bodyPr/>
                    <a:lstStyle/>
                    <a:p>
                      <a:endParaRPr lang="en-US"/>
                    </a:p>
                  </a:txBody>
                  <a:tcPr/>
                </a:tc>
                <a:tc vMerge="1">
                  <a:txBody>
                    <a:bodyPr/>
                    <a:lstStyle/>
                    <a:p>
                      <a:endParaRPr lang="en-US"/>
                    </a:p>
                  </a:txBody>
                  <a:tcPr/>
                </a:tc>
                <a:tc>
                  <a:txBody>
                    <a:bodyPr/>
                    <a:lstStyle/>
                    <a:p>
                      <a:pPr algn="ctr" fontAlgn="b"/>
                      <a:r>
                        <a:rPr lang="en-CA" sz="1800" b="0" i="0" u="none" strike="noStrike" dirty="0">
                          <a:solidFill>
                            <a:srgbClr val="000000"/>
                          </a:solidFill>
                          <a:effectLst/>
                          <a:latin typeface="Calibri" panose="020F0502020204030204" pitchFamily="34" charset="0"/>
                        </a:rPr>
                        <a:t>Net earnings</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8569640"/>
                  </a:ext>
                </a:extLst>
              </a:tr>
            </a:tbl>
          </a:graphicData>
        </a:graphic>
      </p:graphicFrame>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7FC0B9BD-4B8D-4D9F-A73D-C85ABECAE2B4}"/>
              </a:ext>
            </a:extLst>
          </p:cNvPr>
          <p:cNvSpPr>
            <a:spLocks noGrp="1"/>
          </p:cNvSpPr>
          <p:nvPr>
            <p:ph type="title"/>
          </p:nvPr>
        </p:nvSpPr>
        <p:spPr/>
        <p:txBody>
          <a:bodyPr/>
          <a:lstStyle/>
          <a:p>
            <a:r>
              <a:rPr lang="en-US" altLang="en-US" dirty="0"/>
              <a:t>Widely Used Accounting Ratios Part 2</a:t>
            </a:r>
          </a:p>
        </p:txBody>
      </p:sp>
      <p:graphicFrame>
        <p:nvGraphicFramePr>
          <p:cNvPr id="5" name="Table 4">
            <a:extLst>
              <a:ext uri="{FF2B5EF4-FFF2-40B4-BE49-F238E27FC236}">
                <a16:creationId xmlns:a16="http://schemas.microsoft.com/office/drawing/2014/main" id="{D2D5DC7B-F7C4-5745-80FD-C1EC1E36BA42}"/>
              </a:ext>
            </a:extLst>
          </p:cNvPr>
          <p:cNvGraphicFramePr>
            <a:graphicFrameLocks noGrp="1"/>
          </p:cNvGraphicFramePr>
          <p:nvPr>
            <p:extLst>
              <p:ext uri="{D42A27DB-BD31-4B8C-83A1-F6EECF244321}">
                <p14:modId xmlns:p14="http://schemas.microsoft.com/office/powerpoint/2010/main" val="837463077"/>
              </p:ext>
            </p:extLst>
          </p:nvPr>
        </p:nvGraphicFramePr>
        <p:xfrm>
          <a:off x="190500" y="1608137"/>
          <a:ext cx="8763000" cy="3336715"/>
        </p:xfrm>
        <a:graphic>
          <a:graphicData uri="http://schemas.openxmlformats.org/drawingml/2006/table">
            <a:tbl>
              <a:tblPr/>
              <a:tblGrid>
                <a:gridCol w="3543300">
                  <a:extLst>
                    <a:ext uri="{9D8B030D-6E8A-4147-A177-3AD203B41FA5}">
                      <a16:colId xmlns:a16="http://schemas.microsoft.com/office/drawing/2014/main" val="3582231319"/>
                    </a:ext>
                  </a:extLst>
                </a:gridCol>
                <a:gridCol w="1295400">
                  <a:extLst>
                    <a:ext uri="{9D8B030D-6E8A-4147-A177-3AD203B41FA5}">
                      <a16:colId xmlns:a16="http://schemas.microsoft.com/office/drawing/2014/main" val="3609809240"/>
                    </a:ext>
                  </a:extLst>
                </a:gridCol>
                <a:gridCol w="3924300">
                  <a:extLst>
                    <a:ext uri="{9D8B030D-6E8A-4147-A177-3AD203B41FA5}">
                      <a16:colId xmlns:a16="http://schemas.microsoft.com/office/drawing/2014/main" val="4022323008"/>
                    </a:ext>
                  </a:extLst>
                </a:gridCol>
              </a:tblGrid>
              <a:tr h="440267">
                <a:tc>
                  <a:txBody>
                    <a:bodyPr/>
                    <a:lstStyle/>
                    <a:p>
                      <a:pPr algn="l" fontAlgn="ctr"/>
                      <a:r>
                        <a:rPr lang="en-CA" sz="1800" b="1" i="0" u="none" strike="noStrike">
                          <a:solidFill>
                            <a:srgbClr val="000000"/>
                          </a:solidFill>
                          <a:effectLst/>
                          <a:latin typeface="Calibri" panose="020F0502020204030204" pitchFamily="34" charset="0"/>
                        </a:rPr>
                        <a:t>Asset Turnover Ratios</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en-CA" sz="18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CA" sz="1800" b="1" i="0" u="none" strike="noStrike" dirty="0">
                          <a:solidFill>
                            <a:srgbClr val="000000"/>
                          </a:solidFill>
                          <a:effectLst/>
                          <a:latin typeface="Calibri" panose="020F0502020204030204" pitchFamily="34" charset="0"/>
                        </a:rPr>
                        <a:t>BASIC COMPUTATION</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9086011"/>
                  </a:ext>
                </a:extLst>
              </a:tr>
              <a:tr h="440267">
                <a:tc rowSpan="2">
                  <a:txBody>
                    <a:bodyPr/>
                    <a:lstStyle/>
                    <a:p>
                      <a:pPr algn="l" fontAlgn="ctr"/>
                      <a:r>
                        <a:rPr lang="en-CA" sz="1800" b="0" i="0" u="none" strike="noStrike" dirty="0">
                          <a:solidFill>
                            <a:srgbClr val="000000"/>
                          </a:solidFill>
                          <a:effectLst/>
                          <a:latin typeface="Calibri" panose="020F0502020204030204" pitchFamily="34" charset="0"/>
                        </a:rPr>
                        <a:t>7. Total asset turnover ratio</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CA" sz="1800" b="0" i="0" u="none" strike="noStrike" dirty="0">
                          <a:solidFill>
                            <a:schemeClr val="tx1"/>
                          </a:solidFill>
                          <a:effectLst/>
                          <a:latin typeface="Calibri" panose="020F0502020204030204" pitchFamily="34" charset="0"/>
                          <a:hlinkClick r:id="rId2">
                            <a:extLst>
                              <a:ext uri="{A12FA001-AC4F-418D-AE19-62706E023703}">
                                <ahyp:hlinkClr xmlns:ahyp="http://schemas.microsoft.com/office/drawing/2018/hyperlinkcolor" val="tx"/>
                              </a:ext>
                            </a:extLst>
                          </a:hlinkClick>
                        </a:rPr>
                        <a:t>Chapter 3</a:t>
                      </a:r>
                      <a:endParaRPr lang="en-CA" sz="1800" b="0" i="0" u="none"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CA" sz="1800" b="0" i="0" u="sng" strike="noStrike" dirty="0">
                          <a:solidFill>
                            <a:srgbClr val="000000"/>
                          </a:solidFill>
                          <a:effectLst/>
                          <a:latin typeface="Calibri" panose="020F0502020204030204" pitchFamily="34" charset="0"/>
                        </a:rPr>
                        <a:t>Net sales</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691078795"/>
                  </a:ext>
                </a:extLst>
              </a:tr>
              <a:tr h="0">
                <a:tc vMerge="1">
                  <a:txBody>
                    <a:bodyPr/>
                    <a:lstStyle/>
                    <a:p>
                      <a:endParaRPr lang="en-US"/>
                    </a:p>
                  </a:txBody>
                  <a:tcPr/>
                </a:tc>
                <a:tc vMerge="1">
                  <a:txBody>
                    <a:bodyPr/>
                    <a:lstStyle/>
                    <a:p>
                      <a:endParaRPr lang="en-US"/>
                    </a:p>
                  </a:txBody>
                  <a:tcPr/>
                </a:tc>
                <a:tc>
                  <a:txBody>
                    <a:bodyPr/>
                    <a:lstStyle/>
                    <a:p>
                      <a:pPr algn="ctr" fontAlgn="b"/>
                      <a:r>
                        <a:rPr lang="en-CA" sz="1800" b="0" i="0" u="none" strike="noStrike" dirty="0">
                          <a:solidFill>
                            <a:srgbClr val="000000"/>
                          </a:solidFill>
                          <a:effectLst/>
                          <a:latin typeface="Calibri" panose="020F0502020204030204" pitchFamily="34" charset="0"/>
                        </a:rPr>
                        <a:t>Average total assets</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7376314"/>
                  </a:ext>
                </a:extLst>
              </a:tr>
              <a:tr h="440267">
                <a:tc rowSpan="2">
                  <a:txBody>
                    <a:bodyPr/>
                    <a:lstStyle/>
                    <a:p>
                      <a:pPr algn="l" fontAlgn="ctr"/>
                      <a:r>
                        <a:rPr lang="en-CA" sz="1800" b="0" i="0" u="none" strike="noStrike">
                          <a:solidFill>
                            <a:srgbClr val="000000"/>
                          </a:solidFill>
                          <a:effectLst/>
                          <a:latin typeface="Calibri" panose="020F0502020204030204" pitchFamily="34" charset="0"/>
                        </a:rPr>
                        <a:t>8. Fixed asset turnover ratio</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CA" sz="1800" b="0" i="0" u="none" strike="noStrike" dirty="0">
                          <a:solidFill>
                            <a:schemeClr val="tx1"/>
                          </a:solidFill>
                          <a:effectLst/>
                          <a:latin typeface="Calibri" panose="020F0502020204030204" pitchFamily="34" charset="0"/>
                          <a:hlinkClick r:id="rId3">
                            <a:extLst>
                              <a:ext uri="{A12FA001-AC4F-418D-AE19-62706E023703}">
                                <ahyp:hlinkClr xmlns:ahyp="http://schemas.microsoft.com/office/drawing/2018/hyperlinkcolor" val="tx"/>
                              </a:ext>
                            </a:extLst>
                          </a:hlinkClick>
                        </a:rPr>
                        <a:t>Chapter 7</a:t>
                      </a:r>
                      <a:endParaRPr lang="en-CA" sz="1800" b="0" i="0" u="none"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CA" sz="1800" b="0" i="0" u="sng" strike="noStrike" dirty="0">
                          <a:solidFill>
                            <a:srgbClr val="000000"/>
                          </a:solidFill>
                          <a:effectLst/>
                          <a:latin typeface="Calibri" panose="020F0502020204030204" pitchFamily="34" charset="0"/>
                        </a:rPr>
                        <a:t>Net sales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893623818"/>
                  </a:ext>
                </a:extLst>
              </a:tr>
              <a:tr h="140017">
                <a:tc vMerge="1">
                  <a:txBody>
                    <a:bodyPr/>
                    <a:lstStyle/>
                    <a:p>
                      <a:endParaRPr lang="en-US"/>
                    </a:p>
                  </a:txBody>
                  <a:tcPr/>
                </a:tc>
                <a:tc vMerge="1">
                  <a:txBody>
                    <a:bodyPr/>
                    <a:lstStyle/>
                    <a:p>
                      <a:endParaRPr lang="en-US"/>
                    </a:p>
                  </a:txBody>
                  <a:tcPr/>
                </a:tc>
                <a:tc>
                  <a:txBody>
                    <a:bodyPr/>
                    <a:lstStyle/>
                    <a:p>
                      <a:pPr algn="ctr" fontAlgn="b"/>
                      <a:r>
                        <a:rPr lang="en-CA" sz="1800" b="0" i="0" u="none" strike="noStrike" dirty="0">
                          <a:solidFill>
                            <a:srgbClr val="000000"/>
                          </a:solidFill>
                          <a:effectLst/>
                          <a:latin typeface="Calibri" panose="020F0502020204030204" pitchFamily="34" charset="0"/>
                        </a:rPr>
                        <a:t>Average net fixed assets</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1487935"/>
                  </a:ext>
                </a:extLst>
              </a:tr>
              <a:tr h="440267">
                <a:tc rowSpan="2">
                  <a:txBody>
                    <a:bodyPr/>
                    <a:lstStyle/>
                    <a:p>
                      <a:pPr algn="l" fontAlgn="ctr"/>
                      <a:r>
                        <a:rPr lang="en-CA" sz="1800" b="0" i="0" u="none" strike="noStrike">
                          <a:solidFill>
                            <a:srgbClr val="000000"/>
                          </a:solidFill>
                          <a:effectLst/>
                          <a:latin typeface="Calibri" panose="020F0502020204030204" pitchFamily="34" charset="0"/>
                        </a:rPr>
                        <a:t>9. Receivables turnover ratio</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CA" sz="1800" b="0" i="0" u="none" strike="noStrike" dirty="0">
                          <a:solidFill>
                            <a:schemeClr val="tx1"/>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Chapter 5</a:t>
                      </a:r>
                      <a:endParaRPr lang="en-CA" sz="1800" b="0" i="0" u="none"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CA" sz="1800" b="0" i="0" u="sng" strike="noStrike" dirty="0">
                          <a:solidFill>
                            <a:srgbClr val="000000"/>
                          </a:solidFill>
                          <a:effectLst/>
                          <a:latin typeface="Calibri" panose="020F0502020204030204" pitchFamily="34" charset="0"/>
                        </a:rPr>
                        <a:t>Net credit sales</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384972119"/>
                  </a:ext>
                </a:extLst>
              </a:tr>
              <a:tr h="101705">
                <a:tc vMerge="1">
                  <a:txBody>
                    <a:bodyPr/>
                    <a:lstStyle/>
                    <a:p>
                      <a:endParaRPr lang="en-US"/>
                    </a:p>
                  </a:txBody>
                  <a:tcPr/>
                </a:tc>
                <a:tc vMerge="1">
                  <a:txBody>
                    <a:bodyPr/>
                    <a:lstStyle/>
                    <a:p>
                      <a:endParaRPr lang="en-US"/>
                    </a:p>
                  </a:txBody>
                  <a:tcPr/>
                </a:tc>
                <a:tc>
                  <a:txBody>
                    <a:bodyPr/>
                    <a:lstStyle/>
                    <a:p>
                      <a:pPr algn="ctr" fontAlgn="b"/>
                      <a:r>
                        <a:rPr lang="en-CA" sz="1800" b="0" i="0" u="none" strike="noStrike" dirty="0">
                          <a:solidFill>
                            <a:srgbClr val="000000"/>
                          </a:solidFill>
                          <a:effectLst/>
                          <a:latin typeface="Calibri" panose="020F0502020204030204" pitchFamily="34" charset="0"/>
                        </a:rPr>
                        <a:t>Average net accounts receivable</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9029874"/>
                  </a:ext>
                </a:extLst>
              </a:tr>
              <a:tr h="440267">
                <a:tc rowSpan="2">
                  <a:txBody>
                    <a:bodyPr/>
                    <a:lstStyle/>
                    <a:p>
                      <a:pPr algn="l" fontAlgn="ctr"/>
                      <a:r>
                        <a:rPr lang="en-CA" sz="1800" b="0" i="0" u="none" strike="noStrike">
                          <a:solidFill>
                            <a:srgbClr val="000000"/>
                          </a:solidFill>
                          <a:effectLst/>
                          <a:latin typeface="Calibri" panose="020F0502020204030204" pitchFamily="34" charset="0"/>
                        </a:rPr>
                        <a:t>10. Inventory turnover ratio</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CA" sz="1800" b="0" i="0" u="none" strike="noStrike" dirty="0">
                          <a:solidFill>
                            <a:schemeClr val="tx1"/>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Chapter 6</a:t>
                      </a:r>
                      <a:endParaRPr lang="en-CA" sz="1800" b="0" i="0" u="none"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CA" sz="1800" b="0" i="0" u="sng" strike="noStrike" dirty="0">
                          <a:solidFill>
                            <a:srgbClr val="000000"/>
                          </a:solidFill>
                          <a:effectLst/>
                          <a:latin typeface="Calibri" panose="020F0502020204030204" pitchFamily="34" charset="0"/>
                        </a:rPr>
                        <a:t>Cost of sales</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219997352"/>
                  </a:ext>
                </a:extLst>
              </a:tr>
              <a:tr h="63393">
                <a:tc vMerge="1">
                  <a:txBody>
                    <a:bodyPr/>
                    <a:lstStyle/>
                    <a:p>
                      <a:endParaRPr lang="en-US"/>
                    </a:p>
                  </a:txBody>
                  <a:tcPr/>
                </a:tc>
                <a:tc vMerge="1">
                  <a:txBody>
                    <a:bodyPr/>
                    <a:lstStyle/>
                    <a:p>
                      <a:endParaRPr lang="en-US"/>
                    </a:p>
                  </a:txBody>
                  <a:tcPr/>
                </a:tc>
                <a:tc>
                  <a:txBody>
                    <a:bodyPr/>
                    <a:lstStyle/>
                    <a:p>
                      <a:pPr algn="ctr" fontAlgn="b"/>
                      <a:r>
                        <a:rPr lang="en-CA" sz="1800" b="0" i="0" u="none" strike="noStrike" dirty="0">
                          <a:solidFill>
                            <a:srgbClr val="000000"/>
                          </a:solidFill>
                          <a:effectLst/>
                          <a:latin typeface="Calibri" panose="020F0502020204030204" pitchFamily="34" charset="0"/>
                        </a:rPr>
                        <a:t>Average inventory</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39494691"/>
                  </a:ext>
                </a:extLst>
              </a:tr>
            </a:tbl>
          </a:graphicData>
        </a:graphic>
      </p:graphicFrame>
    </p:spTree>
    <p:extLst>
      <p:ext uri="{BB962C8B-B14F-4D97-AF65-F5344CB8AC3E}">
        <p14:creationId xmlns:p14="http://schemas.microsoft.com/office/powerpoint/2010/main" val="4214069933"/>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a:extLst>
              <a:ext uri="{FF2B5EF4-FFF2-40B4-BE49-F238E27FC236}">
                <a16:creationId xmlns:a16="http://schemas.microsoft.com/office/drawing/2014/main" id="{8A1E6FA4-7756-4AC4-9A3F-F276CFDA4800}"/>
              </a:ext>
            </a:extLst>
          </p:cNvPr>
          <p:cNvSpPr>
            <a:spLocks noGrp="1"/>
          </p:cNvSpPr>
          <p:nvPr>
            <p:ph type="title"/>
          </p:nvPr>
        </p:nvSpPr>
        <p:spPr/>
        <p:txBody>
          <a:bodyPr/>
          <a:lstStyle/>
          <a:p>
            <a:r>
              <a:rPr lang="en-US" altLang="en-US"/>
              <a:t>Widely Used Accounting Ratios Part 3</a:t>
            </a:r>
          </a:p>
        </p:txBody>
      </p:sp>
      <p:graphicFrame>
        <p:nvGraphicFramePr>
          <p:cNvPr id="5" name="Table 4">
            <a:extLst>
              <a:ext uri="{FF2B5EF4-FFF2-40B4-BE49-F238E27FC236}">
                <a16:creationId xmlns:a16="http://schemas.microsoft.com/office/drawing/2014/main" id="{4526FE22-3C7D-C04F-B840-270515BF0A8D}"/>
              </a:ext>
            </a:extLst>
          </p:cNvPr>
          <p:cNvGraphicFramePr>
            <a:graphicFrameLocks noGrp="1"/>
          </p:cNvGraphicFramePr>
          <p:nvPr>
            <p:extLst>
              <p:ext uri="{D42A27DB-BD31-4B8C-83A1-F6EECF244321}">
                <p14:modId xmlns:p14="http://schemas.microsoft.com/office/powerpoint/2010/main" val="4262814036"/>
              </p:ext>
            </p:extLst>
          </p:nvPr>
        </p:nvGraphicFramePr>
        <p:xfrm>
          <a:off x="76200" y="1156311"/>
          <a:ext cx="8991600" cy="4787289"/>
        </p:xfrm>
        <a:graphic>
          <a:graphicData uri="http://schemas.openxmlformats.org/drawingml/2006/table">
            <a:tbl>
              <a:tblPr/>
              <a:tblGrid>
                <a:gridCol w="1905000">
                  <a:extLst>
                    <a:ext uri="{9D8B030D-6E8A-4147-A177-3AD203B41FA5}">
                      <a16:colId xmlns:a16="http://schemas.microsoft.com/office/drawing/2014/main" val="283782708"/>
                    </a:ext>
                  </a:extLst>
                </a:gridCol>
                <a:gridCol w="1066800">
                  <a:extLst>
                    <a:ext uri="{9D8B030D-6E8A-4147-A177-3AD203B41FA5}">
                      <a16:colId xmlns:a16="http://schemas.microsoft.com/office/drawing/2014/main" val="732865662"/>
                    </a:ext>
                  </a:extLst>
                </a:gridCol>
                <a:gridCol w="6019800">
                  <a:extLst>
                    <a:ext uri="{9D8B030D-6E8A-4147-A177-3AD203B41FA5}">
                      <a16:colId xmlns:a16="http://schemas.microsoft.com/office/drawing/2014/main" val="3964071402"/>
                    </a:ext>
                  </a:extLst>
                </a:gridCol>
              </a:tblGrid>
              <a:tr h="279007">
                <a:tc>
                  <a:txBody>
                    <a:bodyPr/>
                    <a:lstStyle/>
                    <a:p>
                      <a:pPr algn="l" fontAlgn="ctr"/>
                      <a:r>
                        <a:rPr lang="en-CA" sz="1800" b="1" i="0" u="none" strike="noStrike">
                          <a:solidFill>
                            <a:srgbClr val="000000"/>
                          </a:solidFill>
                          <a:effectLst/>
                          <a:latin typeface="Calibri" panose="020F0502020204030204" pitchFamily="34" charset="0"/>
                        </a:rPr>
                        <a:t>Liquidity Ratios</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en-CA" sz="18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CA" sz="1800" b="1" i="0" u="none" strike="noStrike">
                          <a:solidFill>
                            <a:srgbClr val="000000"/>
                          </a:solidFill>
                          <a:effectLst/>
                          <a:latin typeface="Calibri" panose="020F0502020204030204" pitchFamily="34" charset="0"/>
                        </a:rPr>
                        <a:t>BASIC COMPUTATION</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3738122"/>
                  </a:ext>
                </a:extLst>
              </a:tr>
              <a:tr h="279007">
                <a:tc rowSpan="2">
                  <a:txBody>
                    <a:bodyPr/>
                    <a:lstStyle/>
                    <a:p>
                      <a:pPr algn="l" fontAlgn="ctr"/>
                      <a:r>
                        <a:rPr lang="en-CA" sz="1800" b="0" i="0" u="none" strike="noStrike">
                          <a:solidFill>
                            <a:srgbClr val="000000"/>
                          </a:solidFill>
                          <a:effectLst/>
                          <a:latin typeface="Calibri" panose="020F0502020204030204" pitchFamily="34" charset="0"/>
                        </a:rPr>
                        <a:t>11. Current ratio</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CA" sz="1800" b="0" i="0" u="none" strike="noStrike" dirty="0">
                          <a:solidFill>
                            <a:schemeClr val="tx1"/>
                          </a:solidFill>
                          <a:effectLst/>
                          <a:latin typeface="Calibri" panose="020F0502020204030204" pitchFamily="34" charset="0"/>
                          <a:hlinkClick r:id="rId2">
                            <a:extLst>
                              <a:ext uri="{A12FA001-AC4F-418D-AE19-62706E023703}">
                                <ahyp:hlinkClr xmlns:ahyp="http://schemas.microsoft.com/office/drawing/2018/hyperlinkcolor" val="tx"/>
                              </a:ext>
                            </a:extLst>
                          </a:hlinkClick>
                        </a:rPr>
                        <a:t>Chapter 2</a:t>
                      </a:r>
                      <a:endParaRPr lang="en-CA" sz="1800" b="0" i="0" u="none"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CA" sz="1800" b="0" i="0" u="sng" strike="noStrike">
                          <a:solidFill>
                            <a:srgbClr val="000000"/>
                          </a:solidFill>
                          <a:effectLst/>
                          <a:latin typeface="Calibri" panose="020F0502020204030204" pitchFamily="34" charset="0"/>
                        </a:rPr>
                        <a:t>Current assets</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568789613"/>
                  </a:ext>
                </a:extLst>
              </a:tr>
              <a:tr h="279007">
                <a:tc vMerge="1">
                  <a:txBody>
                    <a:bodyPr/>
                    <a:lstStyle/>
                    <a:p>
                      <a:endParaRPr lang="en-US"/>
                    </a:p>
                  </a:txBody>
                  <a:tcPr/>
                </a:tc>
                <a:tc vMerge="1">
                  <a:txBody>
                    <a:bodyPr/>
                    <a:lstStyle/>
                    <a:p>
                      <a:endParaRPr lang="en-US"/>
                    </a:p>
                  </a:txBody>
                  <a:tcPr/>
                </a:tc>
                <a:tc>
                  <a:txBody>
                    <a:bodyPr/>
                    <a:lstStyle/>
                    <a:p>
                      <a:pPr algn="ctr" fontAlgn="b"/>
                      <a:r>
                        <a:rPr lang="en-CA" sz="1800" b="0" i="0" u="none" strike="noStrike">
                          <a:solidFill>
                            <a:srgbClr val="000000"/>
                          </a:solidFill>
                          <a:effectLst/>
                          <a:latin typeface="Calibri" panose="020F0502020204030204" pitchFamily="34" charset="0"/>
                        </a:rPr>
                        <a:t>Current liabilities</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6289360"/>
                  </a:ext>
                </a:extLst>
              </a:tr>
              <a:tr h="279007">
                <a:tc rowSpan="2">
                  <a:txBody>
                    <a:bodyPr/>
                    <a:lstStyle/>
                    <a:p>
                      <a:pPr algn="l" fontAlgn="ctr"/>
                      <a:r>
                        <a:rPr lang="en-CA" sz="1800" b="0" i="0" u="none" strike="noStrike">
                          <a:solidFill>
                            <a:srgbClr val="000000"/>
                          </a:solidFill>
                          <a:effectLst/>
                          <a:latin typeface="Calibri" panose="020F0502020204030204" pitchFamily="34" charset="0"/>
                        </a:rPr>
                        <a:t>12. Quick ratio</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CA" sz="1800" b="0" i="0" u="none" strike="noStrike" dirty="0">
                          <a:solidFill>
                            <a:schemeClr val="tx1"/>
                          </a:solidFill>
                          <a:effectLst/>
                          <a:latin typeface="Calibri" panose="020F0502020204030204" pitchFamily="34" charset="0"/>
                          <a:hlinkClick r:id="rId3">
                            <a:extLst>
                              <a:ext uri="{A12FA001-AC4F-418D-AE19-62706E023703}">
                                <ahyp:hlinkClr xmlns:ahyp="http://schemas.microsoft.com/office/drawing/2018/hyperlinkcolor" val="tx"/>
                              </a:ext>
                            </a:extLst>
                          </a:hlinkClick>
                        </a:rPr>
                        <a:t>Chapter 8</a:t>
                      </a:r>
                      <a:endParaRPr lang="en-CA" sz="1800" b="0" i="0" u="none"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CA" sz="1800" b="0" i="0" u="sng" strike="noStrike">
                          <a:solidFill>
                            <a:srgbClr val="000000"/>
                          </a:solidFill>
                          <a:effectLst/>
                          <a:latin typeface="Calibri" panose="020F0502020204030204" pitchFamily="34" charset="0"/>
                        </a:rPr>
                        <a:t>Quick assets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424223981"/>
                  </a:ext>
                </a:extLst>
              </a:tr>
              <a:tr h="279007">
                <a:tc vMerge="1">
                  <a:txBody>
                    <a:bodyPr/>
                    <a:lstStyle/>
                    <a:p>
                      <a:endParaRPr lang="en-US"/>
                    </a:p>
                  </a:txBody>
                  <a:tcPr/>
                </a:tc>
                <a:tc vMerge="1">
                  <a:txBody>
                    <a:bodyPr/>
                    <a:lstStyle/>
                    <a:p>
                      <a:endParaRPr lang="en-US"/>
                    </a:p>
                  </a:txBody>
                  <a:tcPr/>
                </a:tc>
                <a:tc>
                  <a:txBody>
                    <a:bodyPr/>
                    <a:lstStyle/>
                    <a:p>
                      <a:pPr algn="ctr" fontAlgn="b"/>
                      <a:r>
                        <a:rPr lang="en-CA" sz="1800" b="0" i="0" u="none" strike="noStrike">
                          <a:solidFill>
                            <a:srgbClr val="000000"/>
                          </a:solidFill>
                          <a:effectLst/>
                          <a:latin typeface="Calibri" panose="020F0502020204030204" pitchFamily="34" charset="0"/>
                        </a:rPr>
                        <a:t>Current liabilities</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9767617"/>
                  </a:ext>
                </a:extLst>
              </a:tr>
              <a:tr h="279007">
                <a:tc rowSpan="2">
                  <a:txBody>
                    <a:bodyPr/>
                    <a:lstStyle/>
                    <a:p>
                      <a:pPr algn="l" fontAlgn="ctr"/>
                      <a:r>
                        <a:rPr lang="en-CA" sz="1800" b="0" i="0" u="none" strike="noStrike">
                          <a:solidFill>
                            <a:srgbClr val="000000"/>
                          </a:solidFill>
                          <a:effectLst/>
                          <a:latin typeface="Calibri" panose="020F0502020204030204" pitchFamily="34" charset="0"/>
                        </a:rPr>
                        <a:t>13. Cash ratio</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CA" sz="1800" b="0" i="0" u="none" strike="noStrike" dirty="0">
                          <a:solidFill>
                            <a:schemeClr val="tx1"/>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Chapter 12</a:t>
                      </a:r>
                      <a:endParaRPr lang="en-CA" sz="1800" b="0" i="0" u="none"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CA" sz="1800" b="0" i="0" u="sng" strike="noStrike">
                          <a:solidFill>
                            <a:srgbClr val="000000"/>
                          </a:solidFill>
                          <a:effectLst/>
                          <a:latin typeface="Calibri" panose="020F0502020204030204" pitchFamily="34" charset="0"/>
                        </a:rPr>
                        <a:t>Cash + Cash equivalents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758154334"/>
                  </a:ext>
                </a:extLst>
              </a:tr>
              <a:tr h="279007">
                <a:tc vMerge="1">
                  <a:txBody>
                    <a:bodyPr/>
                    <a:lstStyle/>
                    <a:p>
                      <a:endParaRPr lang="en-US"/>
                    </a:p>
                  </a:txBody>
                  <a:tcPr/>
                </a:tc>
                <a:tc vMerge="1">
                  <a:txBody>
                    <a:bodyPr/>
                    <a:lstStyle/>
                    <a:p>
                      <a:endParaRPr lang="en-US"/>
                    </a:p>
                  </a:txBody>
                  <a:tcPr/>
                </a:tc>
                <a:tc>
                  <a:txBody>
                    <a:bodyPr/>
                    <a:lstStyle/>
                    <a:p>
                      <a:pPr algn="ctr" fontAlgn="b"/>
                      <a:r>
                        <a:rPr lang="en-CA" sz="1800" b="0" i="0" u="none" strike="noStrike">
                          <a:solidFill>
                            <a:srgbClr val="000000"/>
                          </a:solidFill>
                          <a:effectLst/>
                          <a:latin typeface="Calibri" panose="020F0502020204030204" pitchFamily="34" charset="0"/>
                        </a:rPr>
                        <a:t>Current liabilities</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37691484"/>
                  </a:ext>
                </a:extLst>
              </a:tr>
              <a:tr h="279007">
                <a:tc>
                  <a:txBody>
                    <a:bodyPr/>
                    <a:lstStyle/>
                    <a:p>
                      <a:pPr algn="l" fontAlgn="ctr"/>
                      <a:endParaRPr lang="en-CA" sz="1800" b="0" i="0" u="none" strike="noStrike">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endParaRPr lang="en-CA" sz="1800" b="0" i="0" u="none"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CA"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708517448"/>
                  </a:ext>
                </a:extLst>
              </a:tr>
              <a:tr h="279007">
                <a:tc>
                  <a:txBody>
                    <a:bodyPr/>
                    <a:lstStyle/>
                    <a:p>
                      <a:pPr algn="l" fontAlgn="ctr"/>
                      <a:r>
                        <a:rPr lang="en-CA" sz="1800" b="1" i="0" u="none" strike="noStrike">
                          <a:solidFill>
                            <a:srgbClr val="000000"/>
                          </a:solidFill>
                          <a:effectLst/>
                          <a:latin typeface="Calibri" panose="020F0502020204030204" pitchFamily="34" charset="0"/>
                        </a:rPr>
                        <a:t>Solvency Ratios</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en-CA" sz="1800" b="0" i="0" u="none" strike="noStrike" dirty="0">
                        <a:solidFill>
                          <a:schemeClr val="tx1"/>
                        </a:solidFill>
                        <a:effectLst/>
                        <a:latin typeface="Calibri" panose="020F0502020204030204" pitchFamily="34" charset="0"/>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CA" sz="1800" b="1" i="0" u="none" strike="noStrike">
                          <a:solidFill>
                            <a:srgbClr val="000000"/>
                          </a:solidFill>
                          <a:effectLst/>
                          <a:latin typeface="Calibri" panose="020F0502020204030204" pitchFamily="34" charset="0"/>
                        </a:rPr>
                        <a:t>BASIC COMPUTATION</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93429327"/>
                  </a:ext>
                </a:extLst>
              </a:tr>
              <a:tr h="548652">
                <a:tc rowSpan="2">
                  <a:txBody>
                    <a:bodyPr/>
                    <a:lstStyle/>
                    <a:p>
                      <a:pPr algn="l" fontAlgn="ctr"/>
                      <a:r>
                        <a:rPr lang="en-CA" sz="1800" b="0" i="0" u="none" strike="noStrike">
                          <a:solidFill>
                            <a:srgbClr val="000000"/>
                          </a:solidFill>
                          <a:effectLst/>
                          <a:latin typeface="Calibri" panose="020F0502020204030204" pitchFamily="34" charset="0"/>
                        </a:rPr>
                        <a:t>14. Times interest earned ratio</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CA" sz="1800" b="0" i="0" u="none" strike="noStrike" dirty="0">
                          <a:solidFill>
                            <a:schemeClr val="tx1"/>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Chapter 9</a:t>
                      </a:r>
                      <a:endParaRPr lang="en-CA" sz="1800" b="0" i="0" u="none"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CA" sz="1800" b="0" i="0" u="sng" strike="noStrike">
                          <a:solidFill>
                            <a:srgbClr val="000000"/>
                          </a:solidFill>
                          <a:effectLst/>
                          <a:latin typeface="Calibri" panose="020F0502020204030204" pitchFamily="34" charset="0"/>
                        </a:rPr>
                        <a:t>Net earnings + Interest expense + Income tax expense</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652249615"/>
                  </a:ext>
                </a:extLst>
              </a:tr>
              <a:tr h="0">
                <a:tc vMerge="1">
                  <a:txBody>
                    <a:bodyPr/>
                    <a:lstStyle/>
                    <a:p>
                      <a:endParaRPr lang="en-US"/>
                    </a:p>
                  </a:txBody>
                  <a:tcPr/>
                </a:tc>
                <a:tc vMerge="1">
                  <a:txBody>
                    <a:bodyPr/>
                    <a:lstStyle/>
                    <a:p>
                      <a:endParaRPr lang="en-US"/>
                    </a:p>
                  </a:txBody>
                  <a:tcPr/>
                </a:tc>
                <a:tc>
                  <a:txBody>
                    <a:bodyPr/>
                    <a:lstStyle/>
                    <a:p>
                      <a:pPr algn="ctr" fontAlgn="b"/>
                      <a:r>
                        <a:rPr lang="en-CA" sz="1800" b="0" i="0" u="none" strike="noStrike">
                          <a:solidFill>
                            <a:srgbClr val="000000"/>
                          </a:solidFill>
                          <a:effectLst/>
                          <a:latin typeface="Calibri" panose="020F0502020204030204" pitchFamily="34" charset="0"/>
                        </a:rPr>
                        <a:t> Interest expense</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638882"/>
                  </a:ext>
                </a:extLst>
              </a:tr>
              <a:tr h="548652">
                <a:tc rowSpan="2">
                  <a:txBody>
                    <a:bodyPr/>
                    <a:lstStyle/>
                    <a:p>
                      <a:pPr algn="l" fontAlgn="ctr"/>
                      <a:r>
                        <a:rPr lang="en-CA" sz="1800" b="0" i="0" u="none" strike="noStrike">
                          <a:solidFill>
                            <a:srgbClr val="000000"/>
                          </a:solidFill>
                          <a:effectLst/>
                          <a:latin typeface="Calibri" panose="020F0502020204030204" pitchFamily="34" charset="0"/>
                        </a:rPr>
                        <a:t>15. Cash coverage ratio</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CA" sz="1800" b="0" i="0" u="none" strike="noStrike" dirty="0">
                          <a:solidFill>
                            <a:schemeClr val="tx1"/>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Chapter 12</a:t>
                      </a:r>
                      <a:endParaRPr lang="en-CA" sz="1800" b="0" i="0" u="none"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CA" sz="1800" b="0" i="0" u="sng" strike="noStrike">
                          <a:solidFill>
                            <a:srgbClr val="000000"/>
                          </a:solidFill>
                          <a:effectLst/>
                          <a:latin typeface="Calibri" panose="020F0502020204030204" pitchFamily="34" charset="0"/>
                        </a:rPr>
                        <a:t>Cash flows from operating activities (before interest and taxes)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001275650"/>
                  </a:ext>
                </a:extLst>
              </a:tr>
              <a:tr h="279007">
                <a:tc vMerge="1">
                  <a:txBody>
                    <a:bodyPr/>
                    <a:lstStyle/>
                    <a:p>
                      <a:endParaRPr lang="en-US"/>
                    </a:p>
                  </a:txBody>
                  <a:tcPr/>
                </a:tc>
                <a:tc vMerge="1">
                  <a:txBody>
                    <a:bodyPr/>
                    <a:lstStyle/>
                    <a:p>
                      <a:endParaRPr lang="en-US"/>
                    </a:p>
                  </a:txBody>
                  <a:tcPr/>
                </a:tc>
                <a:tc>
                  <a:txBody>
                    <a:bodyPr/>
                    <a:lstStyle/>
                    <a:p>
                      <a:pPr algn="ctr" fontAlgn="b"/>
                      <a:r>
                        <a:rPr lang="en-CA" sz="1800" b="0" i="0" u="none" strike="noStrike">
                          <a:solidFill>
                            <a:srgbClr val="000000"/>
                          </a:solidFill>
                          <a:effectLst/>
                          <a:latin typeface="Calibri" panose="020F0502020204030204" pitchFamily="34" charset="0"/>
                        </a:rPr>
                        <a:t>Interest paid</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7850692"/>
                  </a:ext>
                </a:extLst>
              </a:tr>
              <a:tr h="279007">
                <a:tc rowSpan="2">
                  <a:txBody>
                    <a:bodyPr/>
                    <a:lstStyle/>
                    <a:p>
                      <a:pPr algn="l" fontAlgn="ctr"/>
                      <a:r>
                        <a:rPr lang="en-CA" sz="1800" b="0" i="0" u="none" strike="noStrike">
                          <a:solidFill>
                            <a:srgbClr val="000000"/>
                          </a:solidFill>
                          <a:effectLst/>
                          <a:latin typeface="Calibri" panose="020F0502020204030204" pitchFamily="34" charset="0"/>
                        </a:rPr>
                        <a:t>16. Debt-to-equity ratio</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CA" sz="1800" b="0" i="0" u="none" strike="noStrike" dirty="0">
                          <a:solidFill>
                            <a:schemeClr val="tx1"/>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Chapter 9</a:t>
                      </a:r>
                      <a:endParaRPr lang="en-CA" sz="1800" b="0" i="0" u="none"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CA" sz="1800" b="0" i="0" u="sng" strike="noStrike">
                          <a:solidFill>
                            <a:srgbClr val="000000"/>
                          </a:solidFill>
                          <a:effectLst/>
                          <a:latin typeface="Calibri" panose="020F0502020204030204" pitchFamily="34" charset="0"/>
                        </a:rPr>
                        <a:t>Total liabilities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331516137"/>
                  </a:ext>
                </a:extLst>
              </a:tr>
              <a:tr h="279007">
                <a:tc vMerge="1">
                  <a:txBody>
                    <a:bodyPr/>
                    <a:lstStyle/>
                    <a:p>
                      <a:endParaRPr lang="en-US"/>
                    </a:p>
                  </a:txBody>
                  <a:tcPr/>
                </a:tc>
                <a:tc vMerge="1">
                  <a:txBody>
                    <a:bodyPr/>
                    <a:lstStyle/>
                    <a:p>
                      <a:endParaRPr lang="en-US"/>
                    </a:p>
                  </a:txBody>
                  <a:tcPr/>
                </a:tc>
                <a:tc>
                  <a:txBody>
                    <a:bodyPr/>
                    <a:lstStyle/>
                    <a:p>
                      <a:pPr algn="ctr" fontAlgn="b"/>
                      <a:r>
                        <a:rPr lang="en-CA" sz="1800" b="0" i="0" u="none" strike="noStrike" dirty="0">
                          <a:solidFill>
                            <a:srgbClr val="000000"/>
                          </a:solidFill>
                          <a:effectLst/>
                          <a:latin typeface="Calibri" panose="020F0502020204030204" pitchFamily="34" charset="0"/>
                        </a:rPr>
                        <a:t>Shareholders ’ equity</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2819230"/>
                  </a:ext>
                </a:extLst>
              </a:tr>
            </a:tbl>
          </a:graphicData>
        </a:graphic>
      </p:graphicFrame>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a:extLst>
              <a:ext uri="{FF2B5EF4-FFF2-40B4-BE49-F238E27FC236}">
                <a16:creationId xmlns:a16="http://schemas.microsoft.com/office/drawing/2014/main" id="{8A1E6FA4-7756-4AC4-9A3F-F276CFDA4800}"/>
              </a:ext>
            </a:extLst>
          </p:cNvPr>
          <p:cNvSpPr>
            <a:spLocks noGrp="1"/>
          </p:cNvSpPr>
          <p:nvPr>
            <p:ph type="title"/>
          </p:nvPr>
        </p:nvSpPr>
        <p:spPr/>
        <p:txBody>
          <a:bodyPr/>
          <a:lstStyle/>
          <a:p>
            <a:r>
              <a:rPr lang="en-US" altLang="en-US" dirty="0"/>
              <a:t>Widely Used Accounting Ratios Part 4</a:t>
            </a:r>
          </a:p>
        </p:txBody>
      </p:sp>
      <p:graphicFrame>
        <p:nvGraphicFramePr>
          <p:cNvPr id="3" name="Table 2">
            <a:extLst>
              <a:ext uri="{FF2B5EF4-FFF2-40B4-BE49-F238E27FC236}">
                <a16:creationId xmlns:a16="http://schemas.microsoft.com/office/drawing/2014/main" id="{9AD1E4FE-3BA9-2341-A34B-6CAC3B2EA412}"/>
              </a:ext>
            </a:extLst>
          </p:cNvPr>
          <p:cNvGraphicFramePr>
            <a:graphicFrameLocks noGrp="1"/>
          </p:cNvGraphicFramePr>
          <p:nvPr>
            <p:extLst>
              <p:ext uri="{D42A27DB-BD31-4B8C-83A1-F6EECF244321}">
                <p14:modId xmlns:p14="http://schemas.microsoft.com/office/powerpoint/2010/main" val="3160245270"/>
              </p:ext>
            </p:extLst>
          </p:nvPr>
        </p:nvGraphicFramePr>
        <p:xfrm>
          <a:off x="609599" y="2133600"/>
          <a:ext cx="8077201" cy="1955800"/>
        </p:xfrm>
        <a:graphic>
          <a:graphicData uri="http://schemas.openxmlformats.org/drawingml/2006/table">
            <a:tbl>
              <a:tblPr/>
              <a:tblGrid>
                <a:gridCol w="2854872">
                  <a:extLst>
                    <a:ext uri="{9D8B030D-6E8A-4147-A177-3AD203B41FA5}">
                      <a16:colId xmlns:a16="http://schemas.microsoft.com/office/drawing/2014/main" val="584252593"/>
                    </a:ext>
                  </a:extLst>
                </a:gridCol>
                <a:gridCol w="1462252">
                  <a:extLst>
                    <a:ext uri="{9D8B030D-6E8A-4147-A177-3AD203B41FA5}">
                      <a16:colId xmlns:a16="http://schemas.microsoft.com/office/drawing/2014/main" val="2612310756"/>
                    </a:ext>
                  </a:extLst>
                </a:gridCol>
                <a:gridCol w="3760077">
                  <a:extLst>
                    <a:ext uri="{9D8B030D-6E8A-4147-A177-3AD203B41FA5}">
                      <a16:colId xmlns:a16="http://schemas.microsoft.com/office/drawing/2014/main" val="2401509858"/>
                    </a:ext>
                  </a:extLst>
                </a:gridCol>
              </a:tblGrid>
              <a:tr h="391160">
                <a:tc>
                  <a:txBody>
                    <a:bodyPr/>
                    <a:lstStyle/>
                    <a:p>
                      <a:pPr algn="l" fontAlgn="ctr"/>
                      <a:r>
                        <a:rPr lang="en-CA" sz="1800" b="1" i="0" u="none" strike="noStrike">
                          <a:solidFill>
                            <a:srgbClr val="000000"/>
                          </a:solidFill>
                          <a:effectLst/>
                          <a:latin typeface="Calibri" panose="020F0502020204030204" pitchFamily="34" charset="0"/>
                        </a:rPr>
                        <a:t>Market Ratios</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en-CA" sz="1800" b="0" i="0" u="none" strike="noStrike">
                        <a:solidFill>
                          <a:srgbClr val="000000"/>
                        </a:solidFill>
                        <a:effectLst/>
                        <a:latin typeface="Calibri" panose="020F0502020204030204" pitchFamily="34" charset="0"/>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CA" sz="1800" b="1" i="0" u="none" strike="noStrike">
                          <a:solidFill>
                            <a:srgbClr val="000000"/>
                          </a:solidFill>
                          <a:effectLst/>
                          <a:latin typeface="Calibri" panose="020F0502020204030204" pitchFamily="34" charset="0"/>
                        </a:rPr>
                        <a:t>BASIC COMPUTATION</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6303296"/>
                  </a:ext>
                </a:extLst>
              </a:tr>
              <a:tr h="391160">
                <a:tc rowSpan="2">
                  <a:txBody>
                    <a:bodyPr/>
                    <a:lstStyle/>
                    <a:p>
                      <a:pPr algn="l" fontAlgn="ctr"/>
                      <a:r>
                        <a:rPr lang="en-CA" sz="1800" b="0" i="0" u="none" strike="noStrike" dirty="0">
                          <a:solidFill>
                            <a:srgbClr val="000000"/>
                          </a:solidFill>
                          <a:effectLst/>
                          <a:latin typeface="Calibri" panose="020F0502020204030204" pitchFamily="34" charset="0"/>
                        </a:rPr>
                        <a:t>17. Price/earnings ratio</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CA" sz="1800" b="0" i="0" u="none" strike="noStrike" dirty="0">
                          <a:solidFill>
                            <a:schemeClr val="tx1"/>
                          </a:solidFill>
                          <a:effectLst/>
                          <a:latin typeface="Calibri" panose="020F0502020204030204" pitchFamily="34" charset="0"/>
                          <a:hlinkClick r:id="rId2">
                            <a:extLst>
                              <a:ext uri="{A12FA001-AC4F-418D-AE19-62706E023703}">
                                <ahyp:hlinkClr xmlns:ahyp="http://schemas.microsoft.com/office/drawing/2018/hyperlinkcolor" val="tx"/>
                              </a:ext>
                            </a:extLst>
                          </a:hlinkClick>
                        </a:rPr>
                        <a:t>Chapter 12</a:t>
                      </a:r>
                      <a:endParaRPr lang="en-CA" sz="1800" b="0" i="0" u="none"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CA" sz="1800" b="0" i="0" u="sng" strike="noStrike">
                          <a:solidFill>
                            <a:srgbClr val="000000"/>
                          </a:solidFill>
                          <a:effectLst/>
                          <a:latin typeface="Calibri" panose="020F0502020204030204" pitchFamily="34" charset="0"/>
                        </a:rPr>
                        <a:t>Current market price per share</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459469215"/>
                  </a:ext>
                </a:extLst>
              </a:tr>
              <a:tr h="391160">
                <a:tc vMerge="1">
                  <a:txBody>
                    <a:bodyPr/>
                    <a:lstStyle/>
                    <a:p>
                      <a:endParaRPr lang="en-US"/>
                    </a:p>
                  </a:txBody>
                  <a:tcPr/>
                </a:tc>
                <a:tc vMerge="1">
                  <a:txBody>
                    <a:bodyPr/>
                    <a:lstStyle/>
                    <a:p>
                      <a:endParaRPr lang="en-US"/>
                    </a:p>
                  </a:txBody>
                  <a:tcPr/>
                </a:tc>
                <a:tc>
                  <a:txBody>
                    <a:bodyPr/>
                    <a:lstStyle/>
                    <a:p>
                      <a:pPr algn="ctr" fontAlgn="b"/>
                      <a:r>
                        <a:rPr lang="en-CA" sz="1800" b="0" i="0" u="none" strike="noStrike">
                          <a:solidFill>
                            <a:srgbClr val="000000"/>
                          </a:solidFill>
                          <a:effectLst/>
                          <a:latin typeface="Calibri" panose="020F0502020204030204" pitchFamily="34" charset="0"/>
                        </a:rPr>
                        <a:t> Earnings per share</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1959051"/>
                  </a:ext>
                </a:extLst>
              </a:tr>
              <a:tr h="391160">
                <a:tc rowSpan="2">
                  <a:txBody>
                    <a:bodyPr/>
                    <a:lstStyle/>
                    <a:p>
                      <a:pPr algn="l" fontAlgn="ctr"/>
                      <a:r>
                        <a:rPr lang="en-CA" sz="1800" b="0" i="0" u="none" strike="noStrike">
                          <a:solidFill>
                            <a:srgbClr val="000000"/>
                          </a:solidFill>
                          <a:effectLst/>
                          <a:latin typeface="Calibri" panose="020F0502020204030204" pitchFamily="34" charset="0"/>
                        </a:rPr>
                        <a:t>18. Dividend yield ratio</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en-CA" sz="1800" b="0" i="0" u="none" strike="noStrike" dirty="0">
                          <a:solidFill>
                            <a:schemeClr val="tx1"/>
                          </a:solidFill>
                          <a:effectLst/>
                          <a:latin typeface="Calibri" panose="020F0502020204030204" pitchFamily="34" charset="0"/>
                          <a:hlinkClick r:id="rId3">
                            <a:extLst>
                              <a:ext uri="{A12FA001-AC4F-418D-AE19-62706E023703}">
                                <ahyp:hlinkClr xmlns:ahyp="http://schemas.microsoft.com/office/drawing/2018/hyperlinkcolor" val="tx"/>
                              </a:ext>
                            </a:extLst>
                          </a:hlinkClick>
                        </a:rPr>
                        <a:t>Chapter 10</a:t>
                      </a:r>
                      <a:endParaRPr lang="en-CA" sz="1800" b="0" i="0" u="none" strike="noStrike" dirty="0">
                        <a:solidFill>
                          <a:schemeClr val="tx1"/>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CA" sz="1800" b="0" i="0" u="sng" strike="noStrike">
                          <a:solidFill>
                            <a:srgbClr val="000000"/>
                          </a:solidFill>
                          <a:effectLst/>
                          <a:latin typeface="Calibri" panose="020F0502020204030204" pitchFamily="34" charset="0"/>
                        </a:rPr>
                        <a:t>Dividends per share</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382913375"/>
                  </a:ext>
                </a:extLst>
              </a:tr>
              <a:tr h="391160">
                <a:tc vMerge="1">
                  <a:txBody>
                    <a:bodyPr/>
                    <a:lstStyle/>
                    <a:p>
                      <a:endParaRPr lang="en-US"/>
                    </a:p>
                  </a:txBody>
                  <a:tcPr/>
                </a:tc>
                <a:tc vMerge="1">
                  <a:txBody>
                    <a:bodyPr/>
                    <a:lstStyle/>
                    <a:p>
                      <a:endParaRPr lang="en-US"/>
                    </a:p>
                  </a:txBody>
                  <a:tcPr/>
                </a:tc>
                <a:tc>
                  <a:txBody>
                    <a:bodyPr/>
                    <a:lstStyle/>
                    <a:p>
                      <a:pPr algn="ctr" fontAlgn="b"/>
                      <a:r>
                        <a:rPr lang="en-CA" sz="1800" b="0" i="0" u="none" strike="noStrike" dirty="0">
                          <a:solidFill>
                            <a:srgbClr val="000000"/>
                          </a:solidFill>
                          <a:effectLst/>
                          <a:latin typeface="Calibri" panose="020F0502020204030204" pitchFamily="34" charset="0"/>
                        </a:rPr>
                        <a:t>Market price per share</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5359378"/>
                  </a:ext>
                </a:extLst>
              </a:tr>
            </a:tbl>
          </a:graphicData>
        </a:graphic>
      </p:graphicFrame>
    </p:spTree>
    <p:extLst>
      <p:ext uri="{BB962C8B-B14F-4D97-AF65-F5344CB8AC3E}">
        <p14:creationId xmlns:p14="http://schemas.microsoft.com/office/powerpoint/2010/main" val="765200528"/>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a:extLst>
              <a:ext uri="{FF2B5EF4-FFF2-40B4-BE49-F238E27FC236}">
                <a16:creationId xmlns:a16="http://schemas.microsoft.com/office/drawing/2014/main" id="{974798B3-F9E3-4613-A922-6DF0D4AAE987}"/>
              </a:ext>
            </a:extLst>
          </p:cNvPr>
          <p:cNvSpPr>
            <a:spLocks noGrp="1"/>
          </p:cNvSpPr>
          <p:nvPr>
            <p:ph type="title"/>
          </p:nvPr>
        </p:nvSpPr>
        <p:spPr/>
        <p:txBody>
          <a:bodyPr/>
          <a:lstStyle/>
          <a:p>
            <a:r>
              <a:rPr lang="en-US" altLang="en-US"/>
              <a:t>Profitability Ratios</a:t>
            </a:r>
          </a:p>
        </p:txBody>
      </p:sp>
      <p:sp>
        <p:nvSpPr>
          <p:cNvPr id="69634" name="Content Placeholder 2">
            <a:extLst>
              <a:ext uri="{FF2B5EF4-FFF2-40B4-BE49-F238E27FC236}">
                <a16:creationId xmlns:a16="http://schemas.microsoft.com/office/drawing/2014/main" id="{D8B44121-4065-4CF9-91FC-115429FFA4DF}"/>
              </a:ext>
            </a:extLst>
          </p:cNvPr>
          <p:cNvSpPr>
            <a:spLocks noGrp="1"/>
          </p:cNvSpPr>
          <p:nvPr>
            <p:ph idx="1"/>
          </p:nvPr>
        </p:nvSpPr>
        <p:spPr/>
        <p:txBody>
          <a:bodyPr/>
          <a:lstStyle/>
          <a:p>
            <a:r>
              <a:rPr lang="en-CA" altLang="en-US" dirty="0"/>
              <a:t>Profitability is a primary measure of the overall success of a company. It is necessary for a company’s survival.</a:t>
            </a:r>
          </a:p>
          <a:p>
            <a:endParaRPr lang="en-CA" altLang="en-US" sz="800" dirty="0"/>
          </a:p>
          <a:p>
            <a:r>
              <a:rPr lang="en-CA" altLang="en-US" dirty="0"/>
              <a:t>Investors and creditors prefer a single measure of profitability that is meaningful in all situations. However, there is no single measure that can meet this need.</a:t>
            </a:r>
          </a:p>
          <a:p>
            <a:endParaRPr lang="en-CA" altLang="en-US" sz="800" dirty="0"/>
          </a:p>
          <a:p>
            <a:r>
              <a:rPr lang="en-CA" altLang="en-US" dirty="0"/>
              <a:t>Several </a:t>
            </a:r>
            <a:r>
              <a:rPr lang="en-CA" altLang="en-US" b="1" dirty="0"/>
              <a:t>profitability ratios</a:t>
            </a:r>
            <a:r>
              <a:rPr lang="en-CA" altLang="en-US" dirty="0"/>
              <a:t> focus on measuring the adequacy of net earnings by comparing it to other items reported on the financial statements.</a:t>
            </a:r>
            <a:endParaRPr lang="en-US" altLang="en-US"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0DBD7E2C-64C1-40AF-80C2-B70BB5250DEB}"/>
              </a:ext>
            </a:extLst>
          </p:cNvPr>
          <p:cNvSpPr>
            <a:spLocks noGrp="1"/>
          </p:cNvSpPr>
          <p:nvPr>
            <p:ph type="title"/>
          </p:nvPr>
        </p:nvSpPr>
        <p:spPr/>
        <p:txBody>
          <a:bodyPr/>
          <a:lstStyle/>
          <a:p>
            <a:r>
              <a:rPr lang="en-US" altLang="en-US" dirty="0"/>
              <a:t>1. Return on Equity (ROE)</a:t>
            </a:r>
          </a:p>
        </p:txBody>
      </p:sp>
      <p:sp>
        <p:nvSpPr>
          <p:cNvPr id="3" name="Content Placeholder 2">
            <a:extLst>
              <a:ext uri="{FF2B5EF4-FFF2-40B4-BE49-F238E27FC236}">
                <a16:creationId xmlns:a16="http://schemas.microsoft.com/office/drawing/2014/main" id="{01AD13A0-FEDD-4F04-8942-6FD4BC53FA45}"/>
              </a:ext>
            </a:extLst>
          </p:cNvPr>
          <p:cNvSpPr>
            <a:spLocks noGrp="1"/>
          </p:cNvSpPr>
          <p:nvPr>
            <p:ph idx="1"/>
          </p:nvPr>
        </p:nvSpPr>
        <p:spPr/>
        <p:txBody>
          <a:bodyPr/>
          <a:lstStyle/>
          <a:p>
            <a:pPr>
              <a:buFont typeface="Wingdings 3" pitchFamily="2" charset="2"/>
              <a:buChar char=""/>
              <a:defRPr/>
            </a:pPr>
            <a:r>
              <a:rPr lang="en-CA" i="1" dirty="0"/>
              <a:t>Return on equity</a:t>
            </a:r>
            <a:r>
              <a:rPr lang="en-CA" dirty="0"/>
              <a:t> (also called </a:t>
            </a:r>
            <a:r>
              <a:rPr lang="en-CA" i="1" dirty="0"/>
              <a:t>return on owners’ investment</a:t>
            </a:r>
            <a:r>
              <a:rPr lang="en-CA" dirty="0"/>
              <a:t>) relates net earnings to the investment made by the owners. </a:t>
            </a:r>
          </a:p>
          <a:p>
            <a:pPr>
              <a:buFont typeface="Wingdings 3" pitchFamily="2" charset="2"/>
              <a:buChar char=""/>
              <a:defRPr/>
            </a:pPr>
            <a:endParaRPr lang="en-CA" sz="800" dirty="0"/>
          </a:p>
          <a:p>
            <a:pPr>
              <a:buFont typeface="Wingdings 3" pitchFamily="2" charset="2"/>
              <a:buChar char=""/>
              <a:defRPr/>
            </a:pPr>
            <a:r>
              <a:rPr lang="en-CA" dirty="0"/>
              <a:t>It reflects the simple fact that investors expect to earn a return on the money they invest in a company.</a:t>
            </a:r>
            <a:endParaRPr lang="en-US" dirty="0"/>
          </a:p>
        </p:txBody>
      </p:sp>
      <p:grpSp>
        <p:nvGrpSpPr>
          <p:cNvPr id="4" name="Group 9">
            <a:extLst>
              <a:ext uri="{FF2B5EF4-FFF2-40B4-BE49-F238E27FC236}">
                <a16:creationId xmlns:a16="http://schemas.microsoft.com/office/drawing/2014/main" id="{CB82CCA4-92D2-4E80-9DC3-B84B21A52857}"/>
              </a:ext>
            </a:extLst>
          </p:cNvPr>
          <p:cNvGrpSpPr>
            <a:grpSpLocks/>
          </p:cNvGrpSpPr>
          <p:nvPr/>
        </p:nvGrpSpPr>
        <p:grpSpPr bwMode="auto">
          <a:xfrm>
            <a:off x="488950" y="3783012"/>
            <a:ext cx="8259763" cy="1017588"/>
            <a:chOff x="427" y="1235"/>
            <a:chExt cx="4281" cy="641"/>
          </a:xfrm>
        </p:grpSpPr>
        <p:sp>
          <p:nvSpPr>
            <p:cNvPr id="5" name="Rectangle 10">
              <a:extLst>
                <a:ext uri="{FF2B5EF4-FFF2-40B4-BE49-F238E27FC236}">
                  <a16:creationId xmlns:a16="http://schemas.microsoft.com/office/drawing/2014/main" id="{AE63745C-2EEF-4326-A535-8C5DC9AC59A8}"/>
                </a:ext>
              </a:extLst>
            </p:cNvPr>
            <p:cNvSpPr>
              <a:spLocks noChangeArrowheads="1"/>
            </p:cNvSpPr>
            <p:nvPr/>
          </p:nvSpPr>
          <p:spPr bwMode="auto">
            <a:xfrm>
              <a:off x="2148" y="1235"/>
              <a:ext cx="2560" cy="641"/>
            </a:xfrm>
            <a:prstGeom prst="rect">
              <a:avLst/>
            </a:prstGeom>
            <a:noFill/>
            <a:ln>
              <a:noFill/>
            </a:ln>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defRPr/>
              </a:pPr>
              <a:r>
                <a:rPr lang="en-CA" altLang="en-US" sz="2600" b="1" dirty="0">
                  <a:latin typeface="+mn-lt"/>
                </a:rPr>
                <a:t>                   Net Earnings </a:t>
              </a:r>
            </a:p>
            <a:p>
              <a:pPr>
                <a:lnSpc>
                  <a:spcPct val="120000"/>
                </a:lnSpc>
                <a:defRPr/>
              </a:pPr>
              <a:r>
                <a:rPr lang="en-CA" altLang="en-US" sz="2600" b="1" dirty="0">
                  <a:latin typeface="+mn-lt"/>
                </a:rPr>
                <a:t>   Average Shareholders’ Equity</a:t>
              </a:r>
            </a:p>
          </p:txBody>
        </p:sp>
        <p:sp>
          <p:nvSpPr>
            <p:cNvPr id="6" name="Rectangle 11">
              <a:extLst>
                <a:ext uri="{FF2B5EF4-FFF2-40B4-BE49-F238E27FC236}">
                  <a16:creationId xmlns:a16="http://schemas.microsoft.com/office/drawing/2014/main" id="{6AE42E0A-BB9F-41C9-AC44-83F2DD3CDA16}"/>
                </a:ext>
              </a:extLst>
            </p:cNvPr>
            <p:cNvSpPr>
              <a:spLocks noChangeArrowheads="1"/>
            </p:cNvSpPr>
            <p:nvPr/>
          </p:nvSpPr>
          <p:spPr bwMode="auto">
            <a:xfrm>
              <a:off x="427" y="1392"/>
              <a:ext cx="1461" cy="339"/>
            </a:xfrm>
            <a:prstGeom prst="rect">
              <a:avLst/>
            </a:prstGeom>
            <a:noFill/>
            <a:ln>
              <a:noFill/>
            </a:ln>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defRPr/>
              </a:pPr>
              <a:r>
                <a:rPr lang="en-CA" altLang="en-US" sz="2600" b="1" dirty="0">
                  <a:latin typeface="+mn-lt"/>
                </a:rPr>
                <a:t>Return on Equity</a:t>
              </a:r>
            </a:p>
          </p:txBody>
        </p:sp>
        <p:sp>
          <p:nvSpPr>
            <p:cNvPr id="7" name="Rectangle 12">
              <a:extLst>
                <a:ext uri="{FF2B5EF4-FFF2-40B4-BE49-F238E27FC236}">
                  <a16:creationId xmlns:a16="http://schemas.microsoft.com/office/drawing/2014/main" id="{464C3CC7-6285-43E4-8FBC-9AB5C9022A14}"/>
                </a:ext>
              </a:extLst>
            </p:cNvPr>
            <p:cNvSpPr>
              <a:spLocks noChangeArrowheads="1"/>
            </p:cNvSpPr>
            <p:nvPr/>
          </p:nvSpPr>
          <p:spPr bwMode="auto">
            <a:xfrm>
              <a:off x="1900" y="1415"/>
              <a:ext cx="181" cy="309"/>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altLang="en-US" sz="2600" b="1">
                  <a:latin typeface="+mn-lt"/>
                </a:rPr>
                <a:t>=</a:t>
              </a:r>
            </a:p>
          </p:txBody>
        </p:sp>
        <p:sp>
          <p:nvSpPr>
            <p:cNvPr id="8" name="Line 13">
              <a:extLst>
                <a:ext uri="{FF2B5EF4-FFF2-40B4-BE49-F238E27FC236}">
                  <a16:creationId xmlns:a16="http://schemas.microsoft.com/office/drawing/2014/main" id="{F029E37D-5C73-4A94-8675-582AE24E6DC6}"/>
                </a:ext>
              </a:extLst>
            </p:cNvPr>
            <p:cNvSpPr>
              <a:spLocks noChangeShapeType="1"/>
            </p:cNvSpPr>
            <p:nvPr/>
          </p:nvSpPr>
          <p:spPr bwMode="auto">
            <a:xfrm>
              <a:off x="2323" y="1558"/>
              <a:ext cx="2217" cy="0"/>
            </a:xfrm>
            <a:prstGeom prst="line">
              <a:avLst/>
            </a:prstGeom>
            <a:noFill/>
            <a:ln w="25399">
              <a:solidFill>
                <a:schemeClr val="tx1"/>
              </a:solidFill>
              <a:round/>
              <a:headEnd/>
              <a:tailEnd/>
            </a:ln>
          </p:spPr>
          <p:txBody>
            <a:bodyPr wrap="none" anchor="ctr"/>
            <a:lstStyle/>
            <a:p>
              <a:pPr>
                <a:defRPr/>
              </a:pPr>
              <a:endParaRPr lang="en-US" sz="2600">
                <a:latin typeface="+mn-lt"/>
              </a:endParaRPr>
            </a:p>
          </p:txBody>
        </p:sp>
      </p:gr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C31F7694-C99C-4601-8BA3-E2AB947199C1}"/>
              </a:ext>
            </a:extLst>
          </p:cNvPr>
          <p:cNvSpPr>
            <a:spLocks noGrp="1"/>
          </p:cNvSpPr>
          <p:nvPr>
            <p:ph type="title"/>
          </p:nvPr>
        </p:nvSpPr>
        <p:spPr/>
        <p:txBody>
          <a:bodyPr/>
          <a:lstStyle/>
          <a:p>
            <a:r>
              <a:rPr lang="en-US" altLang="en-US" dirty="0"/>
              <a:t>2. Return on Assets (ROA)</a:t>
            </a:r>
          </a:p>
        </p:txBody>
      </p:sp>
      <p:sp>
        <p:nvSpPr>
          <p:cNvPr id="3" name="Content Placeholder 2">
            <a:extLst>
              <a:ext uri="{FF2B5EF4-FFF2-40B4-BE49-F238E27FC236}">
                <a16:creationId xmlns:a16="http://schemas.microsoft.com/office/drawing/2014/main" id="{200F1F74-3CD5-483A-9D6A-2896B1DB7196}"/>
              </a:ext>
            </a:extLst>
          </p:cNvPr>
          <p:cNvSpPr>
            <a:spLocks noGrp="1"/>
          </p:cNvSpPr>
          <p:nvPr>
            <p:ph idx="1"/>
          </p:nvPr>
        </p:nvSpPr>
        <p:spPr/>
        <p:txBody>
          <a:bodyPr/>
          <a:lstStyle/>
          <a:p>
            <a:pPr>
              <a:buFont typeface="Wingdings 3" pitchFamily="2" charset="2"/>
              <a:buChar char=""/>
              <a:defRPr/>
            </a:pPr>
            <a:r>
              <a:rPr lang="en-CA" dirty="0"/>
              <a:t>Another test of profitability compares net earnings to the total assets (i.e., total investment) used to generate the net earnings. The ROA is computed as follows:</a:t>
            </a:r>
            <a:endParaRPr lang="en-US" altLang="en-US" dirty="0"/>
          </a:p>
          <a:p>
            <a:pPr>
              <a:buFont typeface="Wingdings 3" pitchFamily="2" charset="2"/>
              <a:buChar char=""/>
              <a:defRPr/>
            </a:pPr>
            <a:endParaRPr lang="en-US" altLang="en-US" dirty="0"/>
          </a:p>
          <a:p>
            <a:pPr>
              <a:buFont typeface="Wingdings 3" pitchFamily="2" charset="2"/>
              <a:buChar char=""/>
              <a:defRPr/>
            </a:pPr>
            <a:endParaRPr lang="en-US" altLang="en-US" dirty="0"/>
          </a:p>
          <a:p>
            <a:pPr>
              <a:buFont typeface="Wingdings 3" pitchFamily="2" charset="2"/>
              <a:buChar char=""/>
              <a:defRPr/>
            </a:pPr>
            <a:endParaRPr lang="en-US" altLang="en-US" dirty="0"/>
          </a:p>
          <a:p>
            <a:pPr>
              <a:buFont typeface="Wingdings 3" pitchFamily="2" charset="2"/>
              <a:buChar char=""/>
              <a:defRPr/>
            </a:pPr>
            <a:endParaRPr lang="en-US" altLang="en-US" dirty="0"/>
          </a:p>
          <a:p>
            <a:pPr>
              <a:buFont typeface="Wingdings 3" pitchFamily="2" charset="2"/>
              <a:buChar char=""/>
              <a:defRPr/>
            </a:pPr>
            <a:endParaRPr lang="en-US" dirty="0"/>
          </a:p>
        </p:txBody>
      </p:sp>
      <p:grpSp>
        <p:nvGrpSpPr>
          <p:cNvPr id="4" name="Group 9">
            <a:extLst>
              <a:ext uri="{FF2B5EF4-FFF2-40B4-BE49-F238E27FC236}">
                <a16:creationId xmlns:a16="http://schemas.microsoft.com/office/drawing/2014/main" id="{BC7FA270-14B0-4F9D-AB0D-F16DE10C4EC6}"/>
              </a:ext>
            </a:extLst>
          </p:cNvPr>
          <p:cNvGrpSpPr>
            <a:grpSpLocks/>
          </p:cNvGrpSpPr>
          <p:nvPr/>
        </p:nvGrpSpPr>
        <p:grpSpPr bwMode="auto">
          <a:xfrm>
            <a:off x="1599236" y="3124200"/>
            <a:ext cx="7392365" cy="1076325"/>
            <a:chOff x="1002" y="1218"/>
            <a:chExt cx="3832" cy="678"/>
          </a:xfrm>
        </p:grpSpPr>
        <p:sp>
          <p:nvSpPr>
            <p:cNvPr id="5" name="Rectangle 10">
              <a:extLst>
                <a:ext uri="{FF2B5EF4-FFF2-40B4-BE49-F238E27FC236}">
                  <a16:creationId xmlns:a16="http://schemas.microsoft.com/office/drawing/2014/main" id="{4545C929-37F2-4483-9CC6-7DA5F4BB3305}"/>
                </a:ext>
              </a:extLst>
            </p:cNvPr>
            <p:cNvSpPr>
              <a:spLocks noChangeArrowheads="1"/>
            </p:cNvSpPr>
            <p:nvPr/>
          </p:nvSpPr>
          <p:spPr bwMode="auto">
            <a:xfrm>
              <a:off x="1264" y="1235"/>
              <a:ext cx="3570" cy="661"/>
            </a:xfrm>
            <a:prstGeom prst="rect">
              <a:avLst/>
            </a:prstGeom>
            <a:noFill/>
            <a:ln>
              <a:noFill/>
            </a:ln>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defRPr/>
              </a:pPr>
              <a:r>
                <a:rPr lang="en-CA" altLang="en-US" sz="2600" b="1" dirty="0">
                  <a:latin typeface="+mn-lt"/>
                </a:rPr>
                <a:t>                                  Net Earnings</a:t>
              </a:r>
            </a:p>
            <a:p>
              <a:pPr>
                <a:lnSpc>
                  <a:spcPct val="120000"/>
                </a:lnSpc>
                <a:defRPr/>
              </a:pPr>
              <a:r>
                <a:rPr lang="en-CA" altLang="en-US" sz="2600" b="1" dirty="0">
                  <a:latin typeface="+mn-lt"/>
                </a:rPr>
                <a:t>                             Average Total Assets</a:t>
              </a:r>
            </a:p>
          </p:txBody>
        </p:sp>
        <p:sp>
          <p:nvSpPr>
            <p:cNvPr id="6" name="Rectangle 11">
              <a:extLst>
                <a:ext uri="{FF2B5EF4-FFF2-40B4-BE49-F238E27FC236}">
                  <a16:creationId xmlns:a16="http://schemas.microsoft.com/office/drawing/2014/main" id="{998BDA24-B8F8-4AAF-8D3B-AA743DD56414}"/>
                </a:ext>
              </a:extLst>
            </p:cNvPr>
            <p:cNvSpPr>
              <a:spLocks noChangeArrowheads="1"/>
            </p:cNvSpPr>
            <p:nvPr/>
          </p:nvSpPr>
          <p:spPr bwMode="auto">
            <a:xfrm>
              <a:off x="1002" y="1218"/>
              <a:ext cx="988" cy="641"/>
            </a:xfrm>
            <a:prstGeom prst="rect">
              <a:avLst/>
            </a:prstGeom>
            <a:noFill/>
            <a:ln>
              <a:noFill/>
            </a:ln>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defRPr/>
              </a:pPr>
              <a:r>
                <a:rPr lang="en-CA" altLang="en-US" sz="2600" b="1" dirty="0">
                  <a:latin typeface="+mn-lt"/>
                </a:rPr>
                <a:t>Return on Assets</a:t>
              </a:r>
            </a:p>
          </p:txBody>
        </p:sp>
        <p:sp>
          <p:nvSpPr>
            <p:cNvPr id="7" name="Rectangle 12">
              <a:extLst>
                <a:ext uri="{FF2B5EF4-FFF2-40B4-BE49-F238E27FC236}">
                  <a16:creationId xmlns:a16="http://schemas.microsoft.com/office/drawing/2014/main" id="{B2295EDD-A39A-4C17-8CB2-028691475A60}"/>
                </a:ext>
              </a:extLst>
            </p:cNvPr>
            <p:cNvSpPr>
              <a:spLocks noChangeArrowheads="1"/>
            </p:cNvSpPr>
            <p:nvPr/>
          </p:nvSpPr>
          <p:spPr bwMode="auto">
            <a:xfrm>
              <a:off x="1927" y="1415"/>
              <a:ext cx="181" cy="309"/>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altLang="en-US" sz="2600" b="1" dirty="0">
                  <a:latin typeface="+mn-lt"/>
                </a:rPr>
                <a:t>=</a:t>
              </a:r>
            </a:p>
          </p:txBody>
        </p:sp>
        <p:sp>
          <p:nvSpPr>
            <p:cNvPr id="8" name="Line 13">
              <a:extLst>
                <a:ext uri="{FF2B5EF4-FFF2-40B4-BE49-F238E27FC236}">
                  <a16:creationId xmlns:a16="http://schemas.microsoft.com/office/drawing/2014/main" id="{7043DD8F-DA0B-4A51-A5CB-2B74B6E08801}"/>
                </a:ext>
              </a:extLst>
            </p:cNvPr>
            <p:cNvSpPr>
              <a:spLocks noChangeShapeType="1"/>
            </p:cNvSpPr>
            <p:nvPr/>
          </p:nvSpPr>
          <p:spPr bwMode="auto">
            <a:xfrm>
              <a:off x="2329" y="1586"/>
              <a:ext cx="1636" cy="16"/>
            </a:xfrm>
            <a:prstGeom prst="line">
              <a:avLst/>
            </a:prstGeom>
            <a:noFill/>
            <a:ln w="25399">
              <a:solidFill>
                <a:schemeClr val="tx1"/>
              </a:solidFill>
              <a:round/>
              <a:headEnd/>
              <a:tailEnd/>
            </a:ln>
          </p:spPr>
          <p:txBody>
            <a:bodyPr wrap="none" anchor="ctr"/>
            <a:lstStyle/>
            <a:p>
              <a:pPr>
                <a:defRPr/>
              </a:pPr>
              <a:endParaRPr lang="en-US" sz="2600">
                <a:latin typeface="+mn-lt"/>
              </a:endParaRPr>
            </a:p>
          </p:txBody>
        </p:sp>
      </p:gr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8910AF87-F40C-4C64-A041-F0D793436D83}"/>
              </a:ext>
            </a:extLst>
          </p:cNvPr>
          <p:cNvSpPr>
            <a:spLocks noGrp="1"/>
          </p:cNvSpPr>
          <p:nvPr>
            <p:ph type="title"/>
          </p:nvPr>
        </p:nvSpPr>
        <p:spPr/>
        <p:txBody>
          <a:bodyPr/>
          <a:lstStyle/>
          <a:p>
            <a:r>
              <a:rPr lang="en-US" altLang="en-US" dirty="0"/>
              <a:t>3. Gross Profit Margin Ratio</a:t>
            </a:r>
          </a:p>
        </p:txBody>
      </p:sp>
      <p:sp>
        <p:nvSpPr>
          <p:cNvPr id="3" name="Content Placeholder 2">
            <a:extLst>
              <a:ext uri="{FF2B5EF4-FFF2-40B4-BE49-F238E27FC236}">
                <a16:creationId xmlns:a16="http://schemas.microsoft.com/office/drawing/2014/main" id="{923652BC-74BF-4424-A788-0D40D3EFDCAC}"/>
              </a:ext>
            </a:extLst>
          </p:cNvPr>
          <p:cNvSpPr>
            <a:spLocks noGrp="1"/>
          </p:cNvSpPr>
          <p:nvPr>
            <p:ph idx="1"/>
          </p:nvPr>
        </p:nvSpPr>
        <p:spPr/>
        <p:txBody>
          <a:bodyPr/>
          <a:lstStyle/>
          <a:p>
            <a:pPr>
              <a:buFont typeface="Wingdings 3" pitchFamily="2" charset="2"/>
              <a:buChar char=""/>
              <a:defRPr/>
            </a:pPr>
            <a:r>
              <a:rPr lang="en-CA" dirty="0"/>
              <a:t>The gross profit margin ratio (also referred to as the gross profit percentage) reflects gross profit as a percent of sales. </a:t>
            </a:r>
          </a:p>
          <a:p>
            <a:pPr>
              <a:buFont typeface="Wingdings 3" pitchFamily="2" charset="2"/>
              <a:buChar char=""/>
              <a:defRPr/>
            </a:pPr>
            <a:endParaRPr lang="en-CA" sz="800" dirty="0"/>
          </a:p>
          <a:p>
            <a:pPr>
              <a:buFont typeface="Wingdings 3" pitchFamily="2" charset="2"/>
              <a:buChar char=""/>
              <a:defRPr/>
            </a:pPr>
            <a:r>
              <a:rPr lang="en-CA" dirty="0"/>
              <a:t>If not shown separately on a company’s statement of earnings, gross profit is computed by subtracting cost of sales from net sales. </a:t>
            </a:r>
          </a:p>
          <a:p>
            <a:pPr>
              <a:buFont typeface="Wingdings 3" pitchFamily="2" charset="2"/>
              <a:buChar char=""/>
              <a:defRPr/>
            </a:pPr>
            <a:endParaRPr lang="en-CA" sz="800" dirty="0"/>
          </a:p>
          <a:p>
            <a:pPr>
              <a:buFont typeface="Wingdings 3" pitchFamily="2" charset="2"/>
              <a:buChar char=""/>
              <a:defRPr/>
            </a:pPr>
            <a:r>
              <a:rPr lang="en-CA" dirty="0"/>
              <a:t>The gross profit margin ratio is computed as follows:</a:t>
            </a:r>
            <a:endParaRPr lang="en-US" altLang="en-US" dirty="0"/>
          </a:p>
          <a:p>
            <a:pPr>
              <a:buFont typeface="Wingdings 3" pitchFamily="2" charset="2"/>
              <a:buChar char=""/>
              <a:defRPr/>
            </a:pPr>
            <a:endParaRPr lang="en-US" altLang="en-US" dirty="0"/>
          </a:p>
          <a:p>
            <a:pPr>
              <a:buFont typeface="Wingdings 3" pitchFamily="2" charset="2"/>
              <a:buChar char=""/>
              <a:defRPr/>
            </a:pPr>
            <a:endParaRPr lang="en-US" altLang="en-US" dirty="0"/>
          </a:p>
          <a:p>
            <a:pPr>
              <a:buFont typeface="Wingdings 3" pitchFamily="2" charset="2"/>
              <a:buChar char=""/>
              <a:defRPr/>
            </a:pPr>
            <a:endParaRPr lang="en-US" altLang="en-US" dirty="0"/>
          </a:p>
          <a:p>
            <a:pPr marL="0" indent="0">
              <a:buFont typeface="Wingdings 3" pitchFamily="2" charset="2"/>
              <a:buNone/>
              <a:defRPr/>
            </a:pPr>
            <a:endParaRPr lang="en-US" altLang="en-US" dirty="0"/>
          </a:p>
        </p:txBody>
      </p:sp>
      <p:grpSp>
        <p:nvGrpSpPr>
          <p:cNvPr id="4" name="Group 9">
            <a:extLst>
              <a:ext uri="{FF2B5EF4-FFF2-40B4-BE49-F238E27FC236}">
                <a16:creationId xmlns:a16="http://schemas.microsoft.com/office/drawing/2014/main" id="{276F9935-FE64-400B-B7A4-79817CDFF770}"/>
              </a:ext>
            </a:extLst>
          </p:cNvPr>
          <p:cNvGrpSpPr>
            <a:grpSpLocks/>
          </p:cNvGrpSpPr>
          <p:nvPr/>
        </p:nvGrpSpPr>
        <p:grpSpPr bwMode="auto">
          <a:xfrm>
            <a:off x="913888" y="4741862"/>
            <a:ext cx="9373112" cy="1049338"/>
            <a:chOff x="15" y="1249"/>
            <a:chExt cx="4858" cy="661"/>
          </a:xfrm>
        </p:grpSpPr>
        <p:sp>
          <p:nvSpPr>
            <p:cNvPr id="5" name="Rectangle 10">
              <a:extLst>
                <a:ext uri="{FF2B5EF4-FFF2-40B4-BE49-F238E27FC236}">
                  <a16:creationId xmlns:a16="http://schemas.microsoft.com/office/drawing/2014/main" id="{C55E71D6-6A38-4A47-8755-0E308EA8843A}"/>
                </a:ext>
              </a:extLst>
            </p:cNvPr>
            <p:cNvSpPr>
              <a:spLocks noChangeArrowheads="1"/>
            </p:cNvSpPr>
            <p:nvPr/>
          </p:nvSpPr>
          <p:spPr bwMode="auto">
            <a:xfrm>
              <a:off x="2054" y="1249"/>
              <a:ext cx="2819" cy="661"/>
            </a:xfrm>
            <a:prstGeom prst="rect">
              <a:avLst/>
            </a:prstGeom>
            <a:noFill/>
            <a:ln>
              <a:noFill/>
            </a:ln>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defRPr/>
              </a:pPr>
              <a:r>
                <a:rPr lang="en-CA" altLang="en-US" sz="2600" b="1" dirty="0">
                  <a:latin typeface="+mn-lt"/>
                </a:rPr>
                <a:t>   Gross Profit</a:t>
              </a:r>
            </a:p>
            <a:p>
              <a:pPr>
                <a:lnSpc>
                  <a:spcPct val="120000"/>
                </a:lnSpc>
                <a:defRPr/>
              </a:pPr>
              <a:r>
                <a:rPr lang="en-CA" altLang="en-US" sz="2600" b="1" dirty="0">
                  <a:latin typeface="+mn-lt"/>
                </a:rPr>
                <a:t>     Net Sales</a:t>
              </a:r>
            </a:p>
          </p:txBody>
        </p:sp>
        <p:sp>
          <p:nvSpPr>
            <p:cNvPr id="6" name="Rectangle 11">
              <a:extLst>
                <a:ext uri="{FF2B5EF4-FFF2-40B4-BE49-F238E27FC236}">
                  <a16:creationId xmlns:a16="http://schemas.microsoft.com/office/drawing/2014/main" id="{B19B7FE8-04E0-40A1-9C67-3D8728F62F00}"/>
                </a:ext>
              </a:extLst>
            </p:cNvPr>
            <p:cNvSpPr>
              <a:spLocks noChangeArrowheads="1"/>
            </p:cNvSpPr>
            <p:nvPr/>
          </p:nvSpPr>
          <p:spPr bwMode="auto">
            <a:xfrm>
              <a:off x="15" y="1406"/>
              <a:ext cx="1986" cy="339"/>
            </a:xfrm>
            <a:prstGeom prst="rect">
              <a:avLst/>
            </a:prstGeom>
            <a:noFill/>
            <a:ln>
              <a:noFill/>
            </a:ln>
          </p:spPr>
          <p:txBody>
            <a:bodyPr wrap="squar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defRPr/>
              </a:pPr>
              <a:r>
                <a:rPr lang="en-CA" altLang="en-US" sz="2600" b="1" dirty="0">
                  <a:latin typeface="+mn-lt"/>
                </a:rPr>
                <a:t>Gross Profit Margin Ratio</a:t>
              </a:r>
            </a:p>
          </p:txBody>
        </p:sp>
        <p:sp>
          <p:nvSpPr>
            <p:cNvPr id="7" name="Rectangle 12">
              <a:extLst>
                <a:ext uri="{FF2B5EF4-FFF2-40B4-BE49-F238E27FC236}">
                  <a16:creationId xmlns:a16="http://schemas.microsoft.com/office/drawing/2014/main" id="{E8237A53-ED19-4E78-B022-60140BFE46F4}"/>
                </a:ext>
              </a:extLst>
            </p:cNvPr>
            <p:cNvSpPr>
              <a:spLocks noChangeArrowheads="1"/>
            </p:cNvSpPr>
            <p:nvPr/>
          </p:nvSpPr>
          <p:spPr bwMode="auto">
            <a:xfrm>
              <a:off x="1896" y="1443"/>
              <a:ext cx="181" cy="309"/>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altLang="en-US" sz="2600" b="1" dirty="0">
                  <a:latin typeface="+mn-lt"/>
                </a:rPr>
                <a:t>=</a:t>
              </a:r>
            </a:p>
          </p:txBody>
        </p:sp>
      </p:grpSp>
      <p:cxnSp>
        <p:nvCxnSpPr>
          <p:cNvPr id="9" name="Straight Connector 8">
            <a:extLst>
              <a:ext uri="{FF2B5EF4-FFF2-40B4-BE49-F238E27FC236}">
                <a16:creationId xmlns:a16="http://schemas.microsoft.com/office/drawing/2014/main" id="{C55684F3-B42C-4BE4-AE60-E0F2630FEB22}"/>
              </a:ext>
            </a:extLst>
          </p:cNvPr>
          <p:cNvCxnSpPr/>
          <p:nvPr/>
        </p:nvCxnSpPr>
        <p:spPr>
          <a:xfrm>
            <a:off x="4953000" y="5257800"/>
            <a:ext cx="204152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7EEE41C6-EC2D-4E03-A0C5-F1AFF68BDBA1}"/>
              </a:ext>
            </a:extLst>
          </p:cNvPr>
          <p:cNvSpPr>
            <a:spLocks noGrp="1"/>
          </p:cNvSpPr>
          <p:nvPr>
            <p:ph type="title"/>
          </p:nvPr>
        </p:nvSpPr>
        <p:spPr/>
        <p:txBody>
          <a:bodyPr/>
          <a:lstStyle/>
          <a:p>
            <a:r>
              <a:rPr lang="en-US" altLang="en-US" dirty="0"/>
              <a:t>4. Net Profit Margin Ratio</a:t>
            </a:r>
          </a:p>
        </p:txBody>
      </p:sp>
      <p:sp>
        <p:nvSpPr>
          <p:cNvPr id="3" name="Content Placeholder 2">
            <a:extLst>
              <a:ext uri="{FF2B5EF4-FFF2-40B4-BE49-F238E27FC236}">
                <a16:creationId xmlns:a16="http://schemas.microsoft.com/office/drawing/2014/main" id="{5A635F79-4382-44CC-89C4-5D784D75D2C3}"/>
              </a:ext>
            </a:extLst>
          </p:cNvPr>
          <p:cNvSpPr>
            <a:spLocks noGrp="1"/>
          </p:cNvSpPr>
          <p:nvPr>
            <p:ph idx="1"/>
          </p:nvPr>
        </p:nvSpPr>
        <p:spPr/>
        <p:txBody>
          <a:bodyPr/>
          <a:lstStyle/>
          <a:p>
            <a:pPr>
              <a:buFont typeface="Wingdings 3" pitchFamily="2" charset="2"/>
              <a:buChar char=""/>
              <a:defRPr/>
            </a:pPr>
            <a:r>
              <a:rPr lang="en-CA" dirty="0"/>
              <a:t>The </a:t>
            </a:r>
            <a:r>
              <a:rPr lang="en-CA" i="1" dirty="0"/>
              <a:t>net profit margin ratio</a:t>
            </a:r>
            <a:r>
              <a:rPr lang="en-CA" dirty="0"/>
              <a:t> measures the percentage of each sales dollar, on average, that represents net earnings. It is computed as follows:</a:t>
            </a:r>
            <a:endParaRPr lang="en-US" altLang="en-US" dirty="0"/>
          </a:p>
          <a:p>
            <a:pPr>
              <a:buFont typeface="Wingdings 3" pitchFamily="2" charset="2"/>
              <a:buChar char=""/>
              <a:defRPr/>
            </a:pPr>
            <a:endParaRPr lang="en-US" altLang="en-US" dirty="0"/>
          </a:p>
          <a:p>
            <a:pPr>
              <a:buFont typeface="Wingdings 3" pitchFamily="2" charset="2"/>
              <a:buChar char=""/>
              <a:defRPr/>
            </a:pPr>
            <a:endParaRPr lang="en-US" altLang="en-US" dirty="0"/>
          </a:p>
          <a:p>
            <a:pPr marL="0" indent="0">
              <a:buFont typeface="Wingdings 3" pitchFamily="2" charset="2"/>
              <a:buNone/>
              <a:defRPr/>
            </a:pPr>
            <a:endParaRPr lang="en-US" altLang="en-US" dirty="0"/>
          </a:p>
        </p:txBody>
      </p:sp>
      <p:grpSp>
        <p:nvGrpSpPr>
          <p:cNvPr id="4" name="Group 9">
            <a:extLst>
              <a:ext uri="{FF2B5EF4-FFF2-40B4-BE49-F238E27FC236}">
                <a16:creationId xmlns:a16="http://schemas.microsoft.com/office/drawing/2014/main" id="{CC602B3D-0345-44D5-956A-DC1B4E935F6E}"/>
              </a:ext>
            </a:extLst>
          </p:cNvPr>
          <p:cNvGrpSpPr>
            <a:grpSpLocks/>
          </p:cNvGrpSpPr>
          <p:nvPr/>
        </p:nvGrpSpPr>
        <p:grpSpPr bwMode="auto">
          <a:xfrm>
            <a:off x="1241425" y="3097213"/>
            <a:ext cx="8740775" cy="1017587"/>
            <a:chOff x="343" y="1249"/>
            <a:chExt cx="4530" cy="641"/>
          </a:xfrm>
        </p:grpSpPr>
        <p:sp>
          <p:nvSpPr>
            <p:cNvPr id="5" name="Rectangle 10">
              <a:extLst>
                <a:ext uri="{FF2B5EF4-FFF2-40B4-BE49-F238E27FC236}">
                  <a16:creationId xmlns:a16="http://schemas.microsoft.com/office/drawing/2014/main" id="{9E42E603-1995-46BC-BA90-C019F678E49F}"/>
                </a:ext>
              </a:extLst>
            </p:cNvPr>
            <p:cNvSpPr>
              <a:spLocks noChangeArrowheads="1"/>
            </p:cNvSpPr>
            <p:nvPr/>
          </p:nvSpPr>
          <p:spPr bwMode="auto">
            <a:xfrm>
              <a:off x="2315" y="1249"/>
              <a:ext cx="2558" cy="641"/>
            </a:xfrm>
            <a:prstGeom prst="rect">
              <a:avLst/>
            </a:prstGeom>
            <a:noFill/>
            <a:ln>
              <a:noFill/>
            </a:ln>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20000"/>
                </a:lnSpc>
                <a:defRPr/>
              </a:pPr>
              <a:r>
                <a:rPr lang="en-CA" altLang="en-US" sz="2600" b="1" dirty="0">
                  <a:latin typeface="+mn-lt"/>
                </a:rPr>
                <a:t>   Net Earnings</a:t>
              </a:r>
            </a:p>
            <a:p>
              <a:pPr>
                <a:lnSpc>
                  <a:spcPct val="120000"/>
                </a:lnSpc>
                <a:defRPr/>
              </a:pPr>
              <a:r>
                <a:rPr lang="en-CA" altLang="en-US" sz="2600" b="1" dirty="0">
                  <a:latin typeface="+mn-lt"/>
                </a:rPr>
                <a:t>      Net Sales</a:t>
              </a:r>
            </a:p>
          </p:txBody>
        </p:sp>
        <p:sp>
          <p:nvSpPr>
            <p:cNvPr id="6" name="Rectangle 11">
              <a:extLst>
                <a:ext uri="{FF2B5EF4-FFF2-40B4-BE49-F238E27FC236}">
                  <a16:creationId xmlns:a16="http://schemas.microsoft.com/office/drawing/2014/main" id="{F467A3A3-42EC-44D1-9CCA-6695C0EC89F6}"/>
                </a:ext>
              </a:extLst>
            </p:cNvPr>
            <p:cNvSpPr>
              <a:spLocks noChangeArrowheads="1"/>
            </p:cNvSpPr>
            <p:nvPr/>
          </p:nvSpPr>
          <p:spPr bwMode="auto">
            <a:xfrm>
              <a:off x="343" y="1406"/>
              <a:ext cx="1757" cy="339"/>
            </a:xfrm>
            <a:prstGeom prst="rect">
              <a:avLst/>
            </a:prstGeom>
            <a:noFill/>
            <a:ln>
              <a:noFill/>
            </a:ln>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defRPr/>
              </a:pPr>
              <a:r>
                <a:rPr lang="en-CA" altLang="en-US" sz="2600" b="1" dirty="0">
                  <a:latin typeface="+mn-lt"/>
                </a:rPr>
                <a:t>Net Profit Margin Ratio</a:t>
              </a:r>
            </a:p>
          </p:txBody>
        </p:sp>
        <p:sp>
          <p:nvSpPr>
            <p:cNvPr id="7" name="Rectangle 12">
              <a:extLst>
                <a:ext uri="{FF2B5EF4-FFF2-40B4-BE49-F238E27FC236}">
                  <a16:creationId xmlns:a16="http://schemas.microsoft.com/office/drawing/2014/main" id="{5DC84987-794F-4B77-B6D6-5D2E4E6D7393}"/>
                </a:ext>
              </a:extLst>
            </p:cNvPr>
            <p:cNvSpPr>
              <a:spLocks noChangeArrowheads="1"/>
            </p:cNvSpPr>
            <p:nvPr/>
          </p:nvSpPr>
          <p:spPr bwMode="auto">
            <a:xfrm>
              <a:off x="2117" y="1443"/>
              <a:ext cx="181" cy="309"/>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altLang="en-US" sz="2600" b="1" dirty="0">
                  <a:latin typeface="+mn-lt"/>
                </a:rPr>
                <a:t>=</a:t>
              </a:r>
            </a:p>
          </p:txBody>
        </p:sp>
      </p:grpSp>
      <p:cxnSp>
        <p:nvCxnSpPr>
          <p:cNvPr id="9" name="Straight Connector 8">
            <a:extLst>
              <a:ext uri="{FF2B5EF4-FFF2-40B4-BE49-F238E27FC236}">
                <a16:creationId xmlns:a16="http://schemas.microsoft.com/office/drawing/2014/main" id="{2373C49D-92C7-4EBB-AB11-C14ED5A56ADB}"/>
              </a:ext>
            </a:extLst>
          </p:cNvPr>
          <p:cNvCxnSpPr/>
          <p:nvPr/>
        </p:nvCxnSpPr>
        <p:spPr>
          <a:xfrm>
            <a:off x="5197475" y="3657600"/>
            <a:ext cx="204152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4CE4FF39-2516-46B6-B4EE-CB7EFAD46B6B}"/>
              </a:ext>
            </a:extLst>
          </p:cNvPr>
          <p:cNvSpPr>
            <a:spLocks noGrp="1"/>
          </p:cNvSpPr>
          <p:nvPr>
            <p:ph type="title"/>
          </p:nvPr>
        </p:nvSpPr>
        <p:spPr/>
        <p:txBody>
          <a:bodyPr/>
          <a:lstStyle/>
          <a:p>
            <a:r>
              <a:rPr lang="en-US" altLang="en-US" dirty="0"/>
              <a:t>5. Earnings per Share (EPS)</a:t>
            </a:r>
          </a:p>
        </p:txBody>
      </p:sp>
      <p:sp>
        <p:nvSpPr>
          <p:cNvPr id="3" name="Content Placeholder 2">
            <a:extLst>
              <a:ext uri="{FF2B5EF4-FFF2-40B4-BE49-F238E27FC236}">
                <a16:creationId xmlns:a16="http://schemas.microsoft.com/office/drawing/2014/main" id="{0EAEA790-814D-42A6-B8FF-9FC93CC0A875}"/>
              </a:ext>
            </a:extLst>
          </p:cNvPr>
          <p:cNvSpPr>
            <a:spLocks noGrp="1"/>
          </p:cNvSpPr>
          <p:nvPr>
            <p:ph idx="1"/>
          </p:nvPr>
        </p:nvSpPr>
        <p:spPr/>
        <p:txBody>
          <a:bodyPr/>
          <a:lstStyle/>
          <a:p>
            <a:pPr>
              <a:buFont typeface="Wingdings 3" pitchFamily="2" charset="2"/>
              <a:buChar char=""/>
              <a:defRPr/>
            </a:pPr>
            <a:r>
              <a:rPr lang="en-CA" i="1" dirty="0"/>
              <a:t>Earnings per share</a:t>
            </a:r>
            <a:r>
              <a:rPr lang="en-CA" dirty="0"/>
              <a:t> (EPS) is a measure of the return on investment that is based on the number of shares outstanding instead of the dollar amounts reported on the statement of financial position. In simple situations, EPS is computed as follows:</a:t>
            </a:r>
            <a:endParaRPr lang="en-US" dirty="0"/>
          </a:p>
          <a:p>
            <a:pPr>
              <a:buFont typeface="Wingdings 3" pitchFamily="2" charset="2"/>
              <a:buChar char=""/>
              <a:defRPr/>
            </a:pPr>
            <a:endParaRPr lang="en-US" dirty="0"/>
          </a:p>
          <a:p>
            <a:pPr>
              <a:buFont typeface="Wingdings 3" pitchFamily="2" charset="2"/>
              <a:buChar char=""/>
              <a:defRPr/>
            </a:pPr>
            <a:endParaRPr lang="en-US" dirty="0"/>
          </a:p>
          <a:p>
            <a:pPr marL="0" indent="0">
              <a:buNone/>
              <a:defRPr/>
            </a:pPr>
            <a:endParaRPr lang="en-US" sz="800" dirty="0"/>
          </a:p>
          <a:p>
            <a:pPr>
              <a:buFont typeface="Wingdings 3" pitchFamily="2" charset="2"/>
              <a:buChar char=""/>
              <a:defRPr/>
            </a:pPr>
            <a:r>
              <a:rPr lang="en-CA" dirty="0"/>
              <a:t>This calculation of EPS is based on information reported on the statement of earnings. The additional complexities in the calculation of EPS are discussed in advanced accounting courses.</a:t>
            </a:r>
            <a:endParaRPr lang="en-US" dirty="0"/>
          </a:p>
          <a:p>
            <a:pPr>
              <a:buFont typeface="Wingdings 3" pitchFamily="2" charset="2"/>
              <a:buChar char=""/>
              <a:defRPr/>
            </a:pPr>
            <a:endParaRPr lang="en-US" dirty="0"/>
          </a:p>
          <a:p>
            <a:pPr>
              <a:buFont typeface="Wingdings 3" pitchFamily="2" charset="2"/>
              <a:buChar char=""/>
              <a:defRPr/>
            </a:pPr>
            <a:endParaRPr lang="en-US" dirty="0"/>
          </a:p>
          <a:p>
            <a:pPr>
              <a:buFont typeface="Wingdings 3" pitchFamily="2" charset="2"/>
              <a:buChar char=""/>
              <a:defRPr/>
            </a:pPr>
            <a:endParaRPr lang="en-US" dirty="0"/>
          </a:p>
          <a:p>
            <a:pPr>
              <a:buFont typeface="Wingdings 3" pitchFamily="2" charset="2"/>
              <a:buChar char=""/>
              <a:defRPr/>
            </a:pPr>
            <a:endParaRPr lang="en-US" altLang="en-US" dirty="0"/>
          </a:p>
          <a:p>
            <a:pPr>
              <a:buFont typeface="Wingdings 3" pitchFamily="2" charset="2"/>
              <a:buChar char=""/>
              <a:defRPr/>
            </a:pPr>
            <a:endParaRPr lang="en-US" altLang="en-US" dirty="0"/>
          </a:p>
          <a:p>
            <a:pPr>
              <a:buFont typeface="Wingdings 3" pitchFamily="2" charset="2"/>
              <a:buChar char=""/>
              <a:defRPr/>
            </a:pPr>
            <a:endParaRPr lang="en-US" altLang="en-US" dirty="0"/>
          </a:p>
          <a:p>
            <a:pPr marL="0" indent="0">
              <a:buFont typeface="Wingdings 3" pitchFamily="2" charset="2"/>
              <a:buNone/>
              <a:defRPr/>
            </a:pPr>
            <a:endParaRPr lang="en-US" altLang="en-US" dirty="0"/>
          </a:p>
        </p:txBody>
      </p:sp>
      <p:grpSp>
        <p:nvGrpSpPr>
          <p:cNvPr id="44035" name="Group 3">
            <a:extLst>
              <a:ext uri="{FF2B5EF4-FFF2-40B4-BE49-F238E27FC236}">
                <a16:creationId xmlns:a16="http://schemas.microsoft.com/office/drawing/2014/main" id="{FE55DABB-F007-4E7C-BC36-B67BC324CF10}"/>
              </a:ext>
            </a:extLst>
          </p:cNvPr>
          <p:cNvGrpSpPr>
            <a:grpSpLocks/>
          </p:cNvGrpSpPr>
          <p:nvPr/>
        </p:nvGrpSpPr>
        <p:grpSpPr bwMode="auto">
          <a:xfrm>
            <a:off x="714375" y="3352800"/>
            <a:ext cx="9382125" cy="901700"/>
            <a:chOff x="540" y="1077"/>
            <a:chExt cx="5910" cy="568"/>
          </a:xfrm>
        </p:grpSpPr>
        <p:sp>
          <p:nvSpPr>
            <p:cNvPr id="44042" name="Rectangle 4">
              <a:extLst>
                <a:ext uri="{FF2B5EF4-FFF2-40B4-BE49-F238E27FC236}">
                  <a16:creationId xmlns:a16="http://schemas.microsoft.com/office/drawing/2014/main" id="{3EE16C23-5BFC-49EC-AFCE-223082EC5380}"/>
                </a:ext>
              </a:extLst>
            </p:cNvPr>
            <p:cNvSpPr>
              <a:spLocks noChangeArrowheads="1"/>
            </p:cNvSpPr>
            <p:nvPr/>
          </p:nvSpPr>
          <p:spPr bwMode="auto">
            <a:xfrm>
              <a:off x="1146" y="1077"/>
              <a:ext cx="5304" cy="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nSpc>
                  <a:spcPct val="120000"/>
                </a:lnSpc>
                <a:spcBef>
                  <a:spcPct val="0"/>
                </a:spcBef>
                <a:buClrTx/>
                <a:buSzTx/>
                <a:buFontTx/>
                <a:buNone/>
              </a:pPr>
              <a:r>
                <a:rPr lang="en-CA" altLang="en-US" sz="2400" b="1" dirty="0">
                  <a:latin typeface="Arial" panose="020B0604020202020204" pitchFamily="34" charset="0"/>
                </a:rPr>
                <a:t>Net earnings available to common shareholders     </a:t>
              </a:r>
            </a:p>
            <a:p>
              <a:pPr>
                <a:spcBef>
                  <a:spcPct val="0"/>
                </a:spcBef>
                <a:buClrTx/>
                <a:buSzTx/>
                <a:buFontTx/>
                <a:buNone/>
              </a:pPr>
              <a:r>
                <a:rPr lang="en-CA" altLang="en-US" sz="2400" b="1" dirty="0">
                  <a:latin typeface="Arial" panose="020B0604020202020204" pitchFamily="34" charset="0"/>
                </a:rPr>
                <a:t>Average number of common shares outstanding</a:t>
              </a:r>
            </a:p>
          </p:txBody>
        </p:sp>
        <p:sp>
          <p:nvSpPr>
            <p:cNvPr id="44043" name="Rectangle 5">
              <a:extLst>
                <a:ext uri="{FF2B5EF4-FFF2-40B4-BE49-F238E27FC236}">
                  <a16:creationId xmlns:a16="http://schemas.microsoft.com/office/drawing/2014/main" id="{5185489D-CD1C-4DE9-8DE4-F4C05F692E59}"/>
                </a:ext>
              </a:extLst>
            </p:cNvPr>
            <p:cNvSpPr>
              <a:spLocks noChangeArrowheads="1"/>
            </p:cNvSpPr>
            <p:nvPr/>
          </p:nvSpPr>
          <p:spPr bwMode="auto">
            <a:xfrm>
              <a:off x="540" y="1225"/>
              <a:ext cx="669"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0"/>
                </a:spcBef>
                <a:buClrTx/>
                <a:buSzTx/>
                <a:buFontTx/>
                <a:buNone/>
              </a:pPr>
              <a:r>
                <a:rPr lang="en-CA" altLang="en-US" sz="2400" b="1">
                  <a:latin typeface="Arial" panose="020B0604020202020204" pitchFamily="34" charset="0"/>
                </a:rPr>
                <a:t>EPS =</a:t>
              </a:r>
            </a:p>
          </p:txBody>
        </p:sp>
      </p:grpSp>
      <p:cxnSp>
        <p:nvCxnSpPr>
          <p:cNvPr id="24" name="Straight Connector 23">
            <a:extLst>
              <a:ext uri="{FF2B5EF4-FFF2-40B4-BE49-F238E27FC236}">
                <a16:creationId xmlns:a16="http://schemas.microsoft.com/office/drawing/2014/main" id="{71BD595C-8B3C-4A75-AA43-466CA29BCFD3}"/>
              </a:ext>
            </a:extLst>
          </p:cNvPr>
          <p:cNvCxnSpPr>
            <a:cxnSpLocks/>
          </p:cNvCxnSpPr>
          <p:nvPr/>
        </p:nvCxnSpPr>
        <p:spPr>
          <a:xfrm>
            <a:off x="1776413" y="3810000"/>
            <a:ext cx="698658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C23F50FE-8407-46C9-9214-6E3D94E5D26F}"/>
              </a:ext>
            </a:extLst>
          </p:cNvPr>
          <p:cNvSpPr>
            <a:spLocks noGrp="1"/>
          </p:cNvSpPr>
          <p:nvPr>
            <p:ph type="title"/>
          </p:nvPr>
        </p:nvSpPr>
        <p:spPr/>
        <p:txBody>
          <a:bodyPr/>
          <a:lstStyle/>
          <a:p>
            <a:r>
              <a:rPr lang="en-US" altLang="en-US" dirty="0"/>
              <a:t>6. Quality of Earnings Ratio</a:t>
            </a:r>
          </a:p>
        </p:txBody>
      </p:sp>
      <p:sp>
        <p:nvSpPr>
          <p:cNvPr id="3" name="Content Placeholder 2">
            <a:extLst>
              <a:ext uri="{FF2B5EF4-FFF2-40B4-BE49-F238E27FC236}">
                <a16:creationId xmlns:a16="http://schemas.microsoft.com/office/drawing/2014/main" id="{ACDA22BD-476F-4123-92B7-7CD4FD9F31E0}"/>
              </a:ext>
            </a:extLst>
          </p:cNvPr>
          <p:cNvSpPr>
            <a:spLocks noGrp="1"/>
          </p:cNvSpPr>
          <p:nvPr>
            <p:ph idx="1"/>
          </p:nvPr>
        </p:nvSpPr>
        <p:spPr/>
        <p:txBody>
          <a:bodyPr/>
          <a:lstStyle/>
          <a:p>
            <a:pPr>
              <a:buFont typeface="Wingdings 3" pitchFamily="2" charset="2"/>
              <a:buChar char=""/>
              <a:defRPr/>
            </a:pPr>
            <a:r>
              <a:rPr lang="en-CA" dirty="0"/>
              <a:t>Most financial analysts are concerned about the quality of a company’s earnings because the use of some accounting procedures can result in higher earnings numbers. </a:t>
            </a:r>
            <a:r>
              <a:rPr lang="en-CA" altLang="en-US" dirty="0">
                <a:solidFill>
                  <a:srgbClr val="000000"/>
                </a:solidFill>
              </a:rPr>
              <a:t>A ratio higher than 1 indicates high-quality earnings.</a:t>
            </a:r>
          </a:p>
          <a:p>
            <a:pPr>
              <a:buFont typeface="Wingdings 3" pitchFamily="2" charset="2"/>
              <a:buChar char=""/>
              <a:defRPr/>
            </a:pPr>
            <a:endParaRPr lang="en-US" dirty="0"/>
          </a:p>
          <a:p>
            <a:pPr marL="0" indent="0">
              <a:buNone/>
              <a:defRPr/>
            </a:pPr>
            <a:endParaRPr lang="en-US" dirty="0"/>
          </a:p>
          <a:p>
            <a:pPr>
              <a:buFont typeface="Wingdings 3" pitchFamily="2" charset="2"/>
              <a:buChar char=""/>
              <a:defRPr/>
            </a:pPr>
            <a:endParaRPr lang="en-US" dirty="0"/>
          </a:p>
          <a:p>
            <a:pPr>
              <a:buFont typeface="Wingdings 3" pitchFamily="2" charset="2"/>
              <a:buChar char=""/>
              <a:defRPr/>
            </a:pPr>
            <a:endParaRPr lang="en-US" sz="800" dirty="0"/>
          </a:p>
          <a:p>
            <a:pPr>
              <a:buFont typeface="Wingdings 3" pitchFamily="2" charset="2"/>
              <a:buChar char=""/>
              <a:defRPr/>
            </a:pPr>
            <a:endParaRPr lang="en-US" dirty="0"/>
          </a:p>
          <a:p>
            <a:pPr>
              <a:buFont typeface="Wingdings 3" pitchFamily="2" charset="2"/>
              <a:buChar char=""/>
              <a:defRPr/>
            </a:pPr>
            <a:endParaRPr lang="en-US" dirty="0"/>
          </a:p>
          <a:p>
            <a:pPr>
              <a:buFont typeface="Wingdings 3" pitchFamily="2" charset="2"/>
              <a:buChar char=""/>
              <a:defRPr/>
            </a:pPr>
            <a:endParaRPr lang="en-US" dirty="0"/>
          </a:p>
          <a:p>
            <a:pPr>
              <a:buFont typeface="Wingdings 3" pitchFamily="2" charset="2"/>
              <a:buChar char=""/>
              <a:defRPr/>
            </a:pPr>
            <a:endParaRPr lang="en-US" altLang="en-US" dirty="0"/>
          </a:p>
          <a:p>
            <a:pPr>
              <a:buFont typeface="Wingdings 3" pitchFamily="2" charset="2"/>
              <a:buChar char=""/>
              <a:defRPr/>
            </a:pPr>
            <a:endParaRPr lang="en-US" altLang="en-US" dirty="0"/>
          </a:p>
          <a:p>
            <a:pPr>
              <a:buFont typeface="Wingdings 3" pitchFamily="2" charset="2"/>
              <a:buChar char=""/>
              <a:defRPr/>
            </a:pPr>
            <a:endParaRPr lang="en-US" altLang="en-US" dirty="0"/>
          </a:p>
          <a:p>
            <a:pPr marL="0" indent="0">
              <a:buFont typeface="Wingdings 3" pitchFamily="2" charset="2"/>
              <a:buNone/>
              <a:defRPr/>
            </a:pPr>
            <a:endParaRPr lang="en-US" altLang="en-US" dirty="0"/>
          </a:p>
        </p:txBody>
      </p:sp>
      <p:grpSp>
        <p:nvGrpSpPr>
          <p:cNvPr id="45059" name="Group 3">
            <a:extLst>
              <a:ext uri="{FF2B5EF4-FFF2-40B4-BE49-F238E27FC236}">
                <a16:creationId xmlns:a16="http://schemas.microsoft.com/office/drawing/2014/main" id="{51FBCE44-D7E9-4391-8AA1-27199FDA856A}"/>
              </a:ext>
            </a:extLst>
          </p:cNvPr>
          <p:cNvGrpSpPr>
            <a:grpSpLocks/>
          </p:cNvGrpSpPr>
          <p:nvPr/>
        </p:nvGrpSpPr>
        <p:grpSpPr bwMode="auto">
          <a:xfrm>
            <a:off x="304800" y="3809999"/>
            <a:ext cx="8534401" cy="952501"/>
            <a:chOff x="282" y="817"/>
            <a:chExt cx="5376" cy="600"/>
          </a:xfrm>
        </p:grpSpPr>
        <p:sp>
          <p:nvSpPr>
            <p:cNvPr id="45067" name="Rectangle 4">
              <a:extLst>
                <a:ext uri="{FF2B5EF4-FFF2-40B4-BE49-F238E27FC236}">
                  <a16:creationId xmlns:a16="http://schemas.microsoft.com/office/drawing/2014/main" id="{990545E4-C945-4CE3-84A4-DB8C4765EDEB}"/>
                </a:ext>
              </a:extLst>
            </p:cNvPr>
            <p:cNvSpPr>
              <a:spLocks noChangeArrowheads="1"/>
            </p:cNvSpPr>
            <p:nvPr/>
          </p:nvSpPr>
          <p:spPr bwMode="auto">
            <a:xfrm>
              <a:off x="2241" y="1081"/>
              <a:ext cx="341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squar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nSpc>
                  <a:spcPct val="120000"/>
                </a:lnSpc>
                <a:spcBef>
                  <a:spcPct val="0"/>
                </a:spcBef>
                <a:buClrTx/>
                <a:buSzTx/>
                <a:buFontTx/>
                <a:buNone/>
              </a:pPr>
              <a:r>
                <a:rPr lang="en-CA" altLang="en-US" sz="2400" b="1" dirty="0">
                  <a:latin typeface="Arial" panose="020B0604020202020204" pitchFamily="34" charset="0"/>
                </a:rPr>
                <a:t>Cash flows from operating activities</a:t>
              </a:r>
            </a:p>
          </p:txBody>
        </p:sp>
        <p:sp>
          <p:nvSpPr>
            <p:cNvPr id="45068" name="Rectangle 5">
              <a:extLst>
                <a:ext uri="{FF2B5EF4-FFF2-40B4-BE49-F238E27FC236}">
                  <a16:creationId xmlns:a16="http://schemas.microsoft.com/office/drawing/2014/main" id="{9D37D83C-23A5-4E9B-9C52-B3F912637141}"/>
                </a:ext>
              </a:extLst>
            </p:cNvPr>
            <p:cNvSpPr>
              <a:spLocks noChangeArrowheads="1"/>
            </p:cNvSpPr>
            <p:nvPr/>
          </p:nvSpPr>
          <p:spPr bwMode="auto">
            <a:xfrm>
              <a:off x="282" y="817"/>
              <a:ext cx="1880"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squar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0"/>
                </a:spcBef>
                <a:buClrTx/>
                <a:buSzTx/>
                <a:buFontTx/>
                <a:buNone/>
              </a:pPr>
              <a:r>
                <a:rPr lang="en-CA" altLang="en-US" sz="2400" b="1" dirty="0">
                  <a:latin typeface="Arial" panose="020B0604020202020204" pitchFamily="34" charset="0"/>
                </a:rPr>
                <a:t>Quality of earnings</a:t>
              </a:r>
            </a:p>
            <a:p>
              <a:pPr>
                <a:spcBef>
                  <a:spcPct val="0"/>
                </a:spcBef>
                <a:buClrTx/>
                <a:buSzTx/>
                <a:buFontTx/>
                <a:buNone/>
              </a:pPr>
              <a:r>
                <a:rPr lang="en-CA" altLang="en-US" sz="2400" b="1" dirty="0">
                  <a:latin typeface="Arial" panose="020B0604020202020204" pitchFamily="34" charset="0"/>
                </a:rPr>
                <a:t>            ratio</a:t>
              </a:r>
            </a:p>
          </p:txBody>
        </p:sp>
      </p:grpSp>
      <p:cxnSp>
        <p:nvCxnSpPr>
          <p:cNvPr id="24" name="Straight Connector 23">
            <a:extLst>
              <a:ext uri="{FF2B5EF4-FFF2-40B4-BE49-F238E27FC236}">
                <a16:creationId xmlns:a16="http://schemas.microsoft.com/office/drawing/2014/main" id="{612D72FE-FC13-4804-807F-69EA1126A1C1}"/>
              </a:ext>
            </a:extLst>
          </p:cNvPr>
          <p:cNvCxnSpPr>
            <a:cxnSpLocks/>
          </p:cNvCxnSpPr>
          <p:nvPr/>
        </p:nvCxnSpPr>
        <p:spPr>
          <a:xfrm flipV="1">
            <a:off x="3511221" y="4267200"/>
            <a:ext cx="5251779" cy="79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5064" name="Rectangle 4">
            <a:extLst>
              <a:ext uri="{FF2B5EF4-FFF2-40B4-BE49-F238E27FC236}">
                <a16:creationId xmlns:a16="http://schemas.microsoft.com/office/drawing/2014/main" id="{BE04CA95-04B7-4F63-9D6E-5F9D2192439D}"/>
              </a:ext>
            </a:extLst>
          </p:cNvPr>
          <p:cNvSpPr>
            <a:spLocks noChangeArrowheads="1"/>
          </p:cNvSpPr>
          <p:nvPr/>
        </p:nvSpPr>
        <p:spPr bwMode="auto">
          <a:xfrm>
            <a:off x="4051300" y="3810000"/>
            <a:ext cx="48641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nSpc>
                <a:spcPct val="120000"/>
              </a:lnSpc>
              <a:spcBef>
                <a:spcPct val="0"/>
              </a:spcBef>
              <a:buClrTx/>
              <a:buSzTx/>
              <a:buFontTx/>
              <a:buNone/>
            </a:pPr>
            <a:r>
              <a:rPr lang="en-CA" altLang="en-US" sz="2400" b="1" dirty="0">
                <a:latin typeface="Arial" panose="020B0604020202020204" pitchFamily="34" charset="0"/>
              </a:rPr>
              <a:t>            Net earnings</a:t>
            </a:r>
          </a:p>
        </p:txBody>
      </p:sp>
      <p:sp>
        <p:nvSpPr>
          <p:cNvPr id="14" name="Rectangle 12">
            <a:extLst>
              <a:ext uri="{FF2B5EF4-FFF2-40B4-BE49-F238E27FC236}">
                <a16:creationId xmlns:a16="http://schemas.microsoft.com/office/drawing/2014/main" id="{EC112E0C-F169-4C17-AEDE-0C4F50D98E30}"/>
              </a:ext>
            </a:extLst>
          </p:cNvPr>
          <p:cNvSpPr>
            <a:spLocks noChangeArrowheads="1"/>
          </p:cNvSpPr>
          <p:nvPr/>
        </p:nvSpPr>
        <p:spPr bwMode="auto">
          <a:xfrm>
            <a:off x="3148941" y="4051345"/>
            <a:ext cx="362280" cy="520655"/>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altLang="en-US" sz="2800" b="1" dirty="0">
                <a:latin typeface="+mn-lt"/>
              </a:rPr>
              <a:t>=</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8F9DEE55-025B-436E-9E8B-91590C2829DF}"/>
              </a:ext>
            </a:extLst>
          </p:cNvPr>
          <p:cNvSpPr>
            <a:spLocks noGrp="1"/>
          </p:cNvSpPr>
          <p:nvPr>
            <p:ph type="title"/>
          </p:nvPr>
        </p:nvSpPr>
        <p:spPr/>
        <p:txBody>
          <a:bodyPr/>
          <a:lstStyle/>
          <a:p>
            <a:r>
              <a:rPr lang="en-US" altLang="en-US"/>
              <a:t>Asset Turnover Ratios</a:t>
            </a:r>
          </a:p>
        </p:txBody>
      </p:sp>
      <p:sp>
        <p:nvSpPr>
          <p:cNvPr id="70658" name="Content Placeholder 2">
            <a:extLst>
              <a:ext uri="{FF2B5EF4-FFF2-40B4-BE49-F238E27FC236}">
                <a16:creationId xmlns:a16="http://schemas.microsoft.com/office/drawing/2014/main" id="{8F246C33-1099-49D9-8F23-ECBC6693DEF1}"/>
              </a:ext>
            </a:extLst>
          </p:cNvPr>
          <p:cNvSpPr>
            <a:spLocks noGrp="1"/>
          </p:cNvSpPr>
          <p:nvPr>
            <p:ph idx="1"/>
          </p:nvPr>
        </p:nvSpPr>
        <p:spPr/>
        <p:txBody>
          <a:bodyPr/>
          <a:lstStyle/>
          <a:p>
            <a:r>
              <a:rPr lang="en-CA" altLang="en-US" b="1" dirty="0"/>
              <a:t>Asset turnover ratios </a:t>
            </a:r>
            <a:r>
              <a:rPr lang="en-CA" altLang="en-US" dirty="0"/>
              <a:t>focus on capturing how efficiently a company uses its assets. </a:t>
            </a:r>
          </a:p>
          <a:p>
            <a:endParaRPr lang="en-CA" altLang="en-US" sz="800" dirty="0"/>
          </a:p>
          <a:p>
            <a:r>
              <a:rPr lang="en-CA" altLang="en-US" dirty="0"/>
              <a:t>For example, acquiring and selling inventory is a key activity for many companies. The inventory turnover ratio helps analysts evaluate a company’s ability to sell its inventory. </a:t>
            </a:r>
          </a:p>
          <a:p>
            <a:endParaRPr lang="en-CA" altLang="en-US" sz="800" dirty="0"/>
          </a:p>
          <a:p>
            <a:r>
              <a:rPr lang="en-CA" altLang="en-US" dirty="0"/>
              <a:t>Another example is the receivables turnover ratio, which helps analysts evaluate a company’s ability to collect its receivables. </a:t>
            </a:r>
          </a:p>
          <a:p>
            <a:endParaRPr lang="en-CA" altLang="en-US" sz="800" dirty="0"/>
          </a:p>
          <a:p>
            <a:r>
              <a:rPr lang="en-CA" altLang="en-US" dirty="0"/>
              <a:t>These and other asset turnover ratios are discussed below.</a:t>
            </a:r>
            <a:endParaRPr lang="en-US" altLang="en-US"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B10D6DB3-9C41-40E0-B5BB-1718D8E65702}"/>
              </a:ext>
            </a:extLst>
          </p:cNvPr>
          <p:cNvSpPr>
            <a:spLocks noGrp="1"/>
          </p:cNvSpPr>
          <p:nvPr>
            <p:ph type="title"/>
          </p:nvPr>
        </p:nvSpPr>
        <p:spPr/>
        <p:txBody>
          <a:bodyPr/>
          <a:lstStyle/>
          <a:p>
            <a:r>
              <a:rPr lang="en-US" altLang="en-US" dirty="0"/>
              <a:t>7. Total Asset Turnover Ratio</a:t>
            </a:r>
          </a:p>
        </p:txBody>
      </p:sp>
      <p:sp>
        <p:nvSpPr>
          <p:cNvPr id="46082" name="Content Placeholder 2">
            <a:extLst>
              <a:ext uri="{FF2B5EF4-FFF2-40B4-BE49-F238E27FC236}">
                <a16:creationId xmlns:a16="http://schemas.microsoft.com/office/drawing/2014/main" id="{5570BF65-30B5-4CF4-AB16-2A3B6336DA8D}"/>
              </a:ext>
            </a:extLst>
          </p:cNvPr>
          <p:cNvSpPr>
            <a:spLocks noGrp="1"/>
          </p:cNvSpPr>
          <p:nvPr>
            <p:ph idx="1"/>
          </p:nvPr>
        </p:nvSpPr>
        <p:spPr/>
        <p:txBody>
          <a:bodyPr/>
          <a:lstStyle/>
          <a:p>
            <a:r>
              <a:rPr lang="en-CA" dirty="0"/>
              <a:t>The total asset turnover ratio captures how well a company uses its assets to generate revenue. The ratio is computed as follows:</a:t>
            </a:r>
            <a:endParaRPr lang="en-CA" altLang="en-US" dirty="0"/>
          </a:p>
          <a:p>
            <a:endParaRPr lang="en-US" altLang="en-US" dirty="0"/>
          </a:p>
        </p:txBody>
      </p:sp>
      <p:grpSp>
        <p:nvGrpSpPr>
          <p:cNvPr id="46083" name="Group 9">
            <a:extLst>
              <a:ext uri="{FF2B5EF4-FFF2-40B4-BE49-F238E27FC236}">
                <a16:creationId xmlns:a16="http://schemas.microsoft.com/office/drawing/2014/main" id="{F693DFB2-2B90-4603-AB35-AD3C0FA53898}"/>
              </a:ext>
            </a:extLst>
          </p:cNvPr>
          <p:cNvGrpSpPr>
            <a:grpSpLocks/>
          </p:cNvGrpSpPr>
          <p:nvPr/>
        </p:nvGrpSpPr>
        <p:grpSpPr bwMode="auto">
          <a:xfrm>
            <a:off x="814388" y="3049589"/>
            <a:ext cx="6548438" cy="935038"/>
            <a:chOff x="296" y="1125"/>
            <a:chExt cx="4125" cy="589"/>
          </a:xfrm>
        </p:grpSpPr>
        <p:sp>
          <p:nvSpPr>
            <p:cNvPr id="46090" name="Rectangle 10">
              <a:extLst>
                <a:ext uri="{FF2B5EF4-FFF2-40B4-BE49-F238E27FC236}">
                  <a16:creationId xmlns:a16="http://schemas.microsoft.com/office/drawing/2014/main" id="{551CED7C-B5AE-4F33-AAFA-7DAB706844FB}"/>
                </a:ext>
              </a:extLst>
            </p:cNvPr>
            <p:cNvSpPr>
              <a:spLocks noChangeArrowheads="1"/>
            </p:cNvSpPr>
            <p:nvPr/>
          </p:nvSpPr>
          <p:spPr bwMode="auto">
            <a:xfrm>
              <a:off x="296" y="1158"/>
              <a:ext cx="1489"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squar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0"/>
                </a:spcBef>
                <a:buClrTx/>
                <a:buSzTx/>
                <a:buFontTx/>
                <a:buNone/>
              </a:pPr>
              <a:r>
                <a:rPr lang="en-CA" altLang="en-US" sz="2400" b="1" dirty="0">
                  <a:latin typeface="Arial" panose="020B0604020202020204" pitchFamily="34" charset="0"/>
                </a:rPr>
                <a:t>Total Asset</a:t>
              </a:r>
              <a:br>
                <a:rPr lang="en-CA" altLang="en-US" sz="2400" b="1" dirty="0">
                  <a:latin typeface="Arial" panose="020B0604020202020204" pitchFamily="34" charset="0"/>
                </a:rPr>
              </a:br>
              <a:r>
                <a:rPr lang="en-CA" altLang="en-US" sz="2400" b="1" dirty="0">
                  <a:latin typeface="Arial" panose="020B0604020202020204" pitchFamily="34" charset="0"/>
                </a:rPr>
                <a:t>Turnover</a:t>
              </a:r>
            </a:p>
          </p:txBody>
        </p:sp>
        <p:sp>
          <p:nvSpPr>
            <p:cNvPr id="46091" name="Rectangle 11">
              <a:extLst>
                <a:ext uri="{FF2B5EF4-FFF2-40B4-BE49-F238E27FC236}">
                  <a16:creationId xmlns:a16="http://schemas.microsoft.com/office/drawing/2014/main" id="{E26CB12E-CC2F-4F1C-B5CC-4F107166D108}"/>
                </a:ext>
              </a:extLst>
            </p:cNvPr>
            <p:cNvSpPr>
              <a:spLocks noChangeArrowheads="1"/>
            </p:cNvSpPr>
            <p:nvPr/>
          </p:nvSpPr>
          <p:spPr bwMode="auto">
            <a:xfrm>
              <a:off x="2255" y="1125"/>
              <a:ext cx="2059" cy="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ClrTx/>
                <a:buSzTx/>
                <a:buFontTx/>
                <a:buNone/>
              </a:pPr>
              <a:r>
                <a:rPr lang="en-CA" altLang="en-US" sz="2400" b="1" dirty="0">
                  <a:latin typeface="Arial" panose="020B0604020202020204" pitchFamily="34" charset="0"/>
                </a:rPr>
                <a:t>Net Sales</a:t>
              </a:r>
              <a:br>
                <a:rPr lang="en-CA" altLang="en-US" sz="2400" b="1" dirty="0">
                  <a:latin typeface="Arial" panose="020B0604020202020204" pitchFamily="34" charset="0"/>
                </a:rPr>
              </a:br>
              <a:r>
                <a:rPr lang="en-CA" altLang="en-US" sz="2400" b="1" dirty="0">
                  <a:latin typeface="Arial" panose="020B0604020202020204" pitchFamily="34" charset="0"/>
                </a:rPr>
                <a:t>Average Total Assets</a:t>
              </a:r>
            </a:p>
          </p:txBody>
        </p:sp>
        <p:sp>
          <p:nvSpPr>
            <p:cNvPr id="46092" name="Rectangle 12">
              <a:extLst>
                <a:ext uri="{FF2B5EF4-FFF2-40B4-BE49-F238E27FC236}">
                  <a16:creationId xmlns:a16="http://schemas.microsoft.com/office/drawing/2014/main" id="{316B2E4D-1225-4DFC-A1A1-8A5533DE62BD}"/>
                </a:ext>
              </a:extLst>
            </p:cNvPr>
            <p:cNvSpPr>
              <a:spLocks noChangeArrowheads="1"/>
            </p:cNvSpPr>
            <p:nvPr/>
          </p:nvSpPr>
          <p:spPr bwMode="auto">
            <a:xfrm>
              <a:off x="1725" y="1283"/>
              <a:ext cx="22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0"/>
                </a:spcBef>
                <a:buClrTx/>
                <a:buSzTx/>
                <a:buFontTx/>
                <a:buNone/>
              </a:pPr>
              <a:r>
                <a:rPr lang="en-CA" altLang="en-US" sz="2400" b="1">
                  <a:latin typeface="Arial" panose="020B0604020202020204" pitchFamily="34" charset="0"/>
                </a:rPr>
                <a:t>=</a:t>
              </a:r>
            </a:p>
          </p:txBody>
        </p:sp>
        <p:sp>
          <p:nvSpPr>
            <p:cNvPr id="46093" name="Line 13">
              <a:extLst>
                <a:ext uri="{FF2B5EF4-FFF2-40B4-BE49-F238E27FC236}">
                  <a16:creationId xmlns:a16="http://schemas.microsoft.com/office/drawing/2014/main" id="{F1C9CA1E-8168-48A6-A908-EF9542F51D8C}"/>
                </a:ext>
              </a:extLst>
            </p:cNvPr>
            <p:cNvSpPr>
              <a:spLocks noChangeShapeType="1"/>
            </p:cNvSpPr>
            <p:nvPr/>
          </p:nvSpPr>
          <p:spPr bwMode="auto">
            <a:xfrm>
              <a:off x="2133" y="1440"/>
              <a:ext cx="2288" cy="0"/>
            </a:xfrm>
            <a:prstGeom prst="line">
              <a:avLst/>
            </a:prstGeom>
            <a:noFill/>
            <a:ln w="25399">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5AC289CF-E3E0-4122-963A-A38A83B61BE5}"/>
              </a:ext>
            </a:extLst>
          </p:cNvPr>
          <p:cNvSpPr>
            <a:spLocks noGrp="1"/>
          </p:cNvSpPr>
          <p:nvPr>
            <p:ph type="title"/>
          </p:nvPr>
        </p:nvSpPr>
        <p:spPr/>
        <p:txBody>
          <a:bodyPr/>
          <a:lstStyle/>
          <a:p>
            <a:r>
              <a:rPr lang="en-US" altLang="en-US" dirty="0"/>
              <a:t>8. Fixed Asset Turnover Ratio</a:t>
            </a:r>
          </a:p>
        </p:txBody>
      </p:sp>
      <p:sp>
        <p:nvSpPr>
          <p:cNvPr id="3" name="Content Placeholder 2">
            <a:extLst>
              <a:ext uri="{FF2B5EF4-FFF2-40B4-BE49-F238E27FC236}">
                <a16:creationId xmlns:a16="http://schemas.microsoft.com/office/drawing/2014/main" id="{7693CEBF-EBBA-4358-A1C1-BC7A0C8675F6}"/>
              </a:ext>
            </a:extLst>
          </p:cNvPr>
          <p:cNvSpPr>
            <a:spLocks noGrp="1"/>
          </p:cNvSpPr>
          <p:nvPr>
            <p:ph idx="1"/>
          </p:nvPr>
        </p:nvSpPr>
        <p:spPr/>
        <p:txBody>
          <a:bodyPr/>
          <a:lstStyle/>
          <a:p>
            <a:pPr>
              <a:buFont typeface="Wingdings 3" pitchFamily="2" charset="2"/>
              <a:buChar char=""/>
              <a:defRPr/>
            </a:pPr>
            <a:r>
              <a:rPr lang="en-CA" dirty="0"/>
              <a:t>The fixed asset turnover ratio focuses more narrowly on how well a company uses its </a:t>
            </a:r>
            <a:r>
              <a:rPr lang="en-CA" i="1" dirty="0"/>
              <a:t>fixed assets</a:t>
            </a:r>
            <a:r>
              <a:rPr lang="en-CA" dirty="0"/>
              <a:t> to generate revenues. </a:t>
            </a:r>
          </a:p>
          <a:p>
            <a:pPr>
              <a:buFont typeface="Wingdings 3" pitchFamily="2" charset="2"/>
              <a:buChar char=""/>
              <a:defRPr/>
            </a:pPr>
            <a:endParaRPr lang="en-CA" sz="800" dirty="0"/>
          </a:p>
          <a:p>
            <a:pPr>
              <a:buFont typeface="Wingdings 3" pitchFamily="2" charset="2"/>
              <a:buChar char=""/>
              <a:defRPr/>
            </a:pPr>
            <a:r>
              <a:rPr lang="en-CA" dirty="0"/>
              <a:t>The term </a:t>
            </a:r>
            <a:r>
              <a:rPr lang="en-CA" i="1" dirty="0"/>
              <a:t>fixed assets</a:t>
            </a:r>
            <a:r>
              <a:rPr lang="en-CA" dirty="0"/>
              <a:t> is synonymous with </a:t>
            </a:r>
            <a:r>
              <a:rPr lang="en-CA" i="1" dirty="0"/>
              <a:t>property</a:t>
            </a:r>
            <a:r>
              <a:rPr lang="en-CA" dirty="0"/>
              <a:t>, </a:t>
            </a:r>
            <a:r>
              <a:rPr lang="en-CA" i="1" dirty="0"/>
              <a:t>plant</a:t>
            </a:r>
            <a:r>
              <a:rPr lang="en-CA" dirty="0"/>
              <a:t>, </a:t>
            </a:r>
            <a:r>
              <a:rPr lang="en-CA" i="1" dirty="0"/>
              <a:t>and equipment</a:t>
            </a:r>
            <a:r>
              <a:rPr lang="en-CA" dirty="0"/>
              <a:t>. </a:t>
            </a:r>
          </a:p>
          <a:p>
            <a:pPr>
              <a:buFont typeface="Wingdings 3" pitchFamily="2" charset="2"/>
              <a:buChar char=""/>
              <a:defRPr/>
            </a:pPr>
            <a:endParaRPr lang="en-CA" sz="800" dirty="0"/>
          </a:p>
          <a:p>
            <a:pPr>
              <a:buFont typeface="Wingdings 3" pitchFamily="2" charset="2"/>
              <a:buChar char=""/>
              <a:defRPr/>
            </a:pPr>
            <a:r>
              <a:rPr lang="en-CA" dirty="0"/>
              <a:t>The ratio is computed as follows:</a:t>
            </a:r>
            <a:endParaRPr lang="en-US" sz="2800" b="1" dirty="0">
              <a:solidFill>
                <a:schemeClr val="accent2">
                  <a:lumMod val="50000"/>
                </a:schemeClr>
              </a:solidFill>
              <a:latin typeface="Arial" charset="0"/>
            </a:endParaRPr>
          </a:p>
          <a:p>
            <a:pPr>
              <a:buFont typeface="Wingdings 3" pitchFamily="2" charset="2"/>
              <a:buChar char=""/>
              <a:defRPr/>
            </a:pPr>
            <a:endParaRPr lang="en-US" sz="2800" b="1" dirty="0">
              <a:solidFill>
                <a:schemeClr val="accent2">
                  <a:lumMod val="50000"/>
                </a:schemeClr>
              </a:solidFill>
              <a:latin typeface="Arial" charset="0"/>
            </a:endParaRPr>
          </a:p>
          <a:p>
            <a:pPr>
              <a:buFont typeface="Wingdings 3" pitchFamily="2" charset="2"/>
              <a:buChar char=""/>
              <a:defRPr/>
            </a:pPr>
            <a:endParaRPr lang="en-US" dirty="0"/>
          </a:p>
        </p:txBody>
      </p:sp>
      <p:grpSp>
        <p:nvGrpSpPr>
          <p:cNvPr id="47107" name="Group 9">
            <a:extLst>
              <a:ext uri="{FF2B5EF4-FFF2-40B4-BE49-F238E27FC236}">
                <a16:creationId xmlns:a16="http://schemas.microsoft.com/office/drawing/2014/main" id="{4F502755-258C-4D5D-BC9C-F2DD88F5738E}"/>
              </a:ext>
            </a:extLst>
          </p:cNvPr>
          <p:cNvGrpSpPr>
            <a:grpSpLocks/>
          </p:cNvGrpSpPr>
          <p:nvPr/>
        </p:nvGrpSpPr>
        <p:grpSpPr bwMode="auto">
          <a:xfrm>
            <a:off x="950912" y="4445000"/>
            <a:ext cx="7050088" cy="965200"/>
            <a:chOff x="80" y="1125"/>
            <a:chExt cx="4441" cy="608"/>
          </a:xfrm>
        </p:grpSpPr>
        <p:sp>
          <p:nvSpPr>
            <p:cNvPr id="47114" name="Rectangle 10">
              <a:extLst>
                <a:ext uri="{FF2B5EF4-FFF2-40B4-BE49-F238E27FC236}">
                  <a16:creationId xmlns:a16="http://schemas.microsoft.com/office/drawing/2014/main" id="{5F3AACCD-B289-48FF-9A29-198543FD8EFC}"/>
                </a:ext>
              </a:extLst>
            </p:cNvPr>
            <p:cNvSpPr>
              <a:spLocks noChangeArrowheads="1"/>
            </p:cNvSpPr>
            <p:nvPr/>
          </p:nvSpPr>
          <p:spPr bwMode="auto">
            <a:xfrm>
              <a:off x="80" y="1162"/>
              <a:ext cx="1714"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0"/>
                </a:spcBef>
                <a:buClrTx/>
                <a:buSzTx/>
                <a:buFontTx/>
                <a:buNone/>
              </a:pPr>
              <a:r>
                <a:rPr lang="en-CA" altLang="en-US" sz="2400" b="1" dirty="0">
                  <a:latin typeface="Arial" panose="020B0604020202020204" pitchFamily="34" charset="0"/>
                </a:rPr>
                <a:t>Fixed Asset</a:t>
              </a:r>
              <a:br>
                <a:rPr lang="en-CA" altLang="en-US" sz="2400" b="1" dirty="0">
                  <a:latin typeface="Arial" panose="020B0604020202020204" pitchFamily="34" charset="0"/>
                </a:rPr>
              </a:br>
              <a:r>
                <a:rPr lang="en-CA" altLang="en-US" sz="2400" b="1" dirty="0">
                  <a:latin typeface="Arial" panose="020B0604020202020204" pitchFamily="34" charset="0"/>
                </a:rPr>
                <a:t>Turnover Ratio</a:t>
              </a:r>
            </a:p>
          </p:txBody>
        </p:sp>
        <p:sp>
          <p:nvSpPr>
            <p:cNvPr id="47115" name="Rectangle 11">
              <a:extLst>
                <a:ext uri="{FF2B5EF4-FFF2-40B4-BE49-F238E27FC236}">
                  <a16:creationId xmlns:a16="http://schemas.microsoft.com/office/drawing/2014/main" id="{8914E11C-CB68-433C-A087-8CFB42064A69}"/>
                </a:ext>
              </a:extLst>
            </p:cNvPr>
            <p:cNvSpPr>
              <a:spLocks noChangeArrowheads="1"/>
            </p:cNvSpPr>
            <p:nvPr/>
          </p:nvSpPr>
          <p:spPr bwMode="auto">
            <a:xfrm>
              <a:off x="2047" y="1125"/>
              <a:ext cx="2474"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ClrTx/>
                <a:buSzTx/>
                <a:buFontTx/>
                <a:buNone/>
              </a:pPr>
              <a:r>
                <a:rPr lang="en-CA" altLang="en-US" sz="2400" b="1" dirty="0">
                  <a:latin typeface="Arial" panose="020B0604020202020204" pitchFamily="34" charset="0"/>
                </a:rPr>
                <a:t>Net Sales</a:t>
              </a:r>
              <a:br>
                <a:rPr lang="en-CA" altLang="en-US" sz="2400" b="1" dirty="0">
                  <a:latin typeface="Arial" panose="020B0604020202020204" pitchFamily="34" charset="0"/>
                </a:rPr>
              </a:br>
              <a:r>
                <a:rPr lang="en-CA" altLang="en-US" sz="2400" b="1" dirty="0">
                  <a:latin typeface="Arial" panose="020B0604020202020204" pitchFamily="34" charset="0"/>
                </a:rPr>
                <a:t>Average Net Fixed Assets</a:t>
              </a:r>
            </a:p>
          </p:txBody>
        </p:sp>
        <p:sp>
          <p:nvSpPr>
            <p:cNvPr id="47116" name="Rectangle 12">
              <a:extLst>
                <a:ext uri="{FF2B5EF4-FFF2-40B4-BE49-F238E27FC236}">
                  <a16:creationId xmlns:a16="http://schemas.microsoft.com/office/drawing/2014/main" id="{D01485E5-0377-41EA-90C9-EEB9A98EAA65}"/>
                </a:ext>
              </a:extLst>
            </p:cNvPr>
            <p:cNvSpPr>
              <a:spLocks noChangeArrowheads="1"/>
            </p:cNvSpPr>
            <p:nvPr/>
          </p:nvSpPr>
          <p:spPr bwMode="auto">
            <a:xfrm>
              <a:off x="1725" y="1283"/>
              <a:ext cx="22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0"/>
                </a:spcBef>
                <a:buClrTx/>
                <a:buSzTx/>
                <a:buFontTx/>
                <a:buNone/>
              </a:pPr>
              <a:r>
                <a:rPr lang="en-CA" altLang="en-US" sz="2400" b="1">
                  <a:latin typeface="Arial" panose="020B0604020202020204" pitchFamily="34" charset="0"/>
                </a:rPr>
                <a:t>=</a:t>
              </a:r>
            </a:p>
          </p:txBody>
        </p:sp>
        <p:sp>
          <p:nvSpPr>
            <p:cNvPr id="47117" name="Line 13">
              <a:extLst>
                <a:ext uri="{FF2B5EF4-FFF2-40B4-BE49-F238E27FC236}">
                  <a16:creationId xmlns:a16="http://schemas.microsoft.com/office/drawing/2014/main" id="{0AFB13E8-F024-44A2-8332-62482E064098}"/>
                </a:ext>
              </a:extLst>
            </p:cNvPr>
            <p:cNvSpPr>
              <a:spLocks noChangeShapeType="1"/>
            </p:cNvSpPr>
            <p:nvPr/>
          </p:nvSpPr>
          <p:spPr bwMode="auto">
            <a:xfrm>
              <a:off x="2133" y="1440"/>
              <a:ext cx="2288" cy="0"/>
            </a:xfrm>
            <a:prstGeom prst="line">
              <a:avLst/>
            </a:prstGeom>
            <a:noFill/>
            <a:ln w="25399">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B227BBE8-3F0D-42CC-AA63-B04040471CC4}"/>
              </a:ext>
            </a:extLst>
          </p:cNvPr>
          <p:cNvSpPr>
            <a:spLocks noGrp="1"/>
          </p:cNvSpPr>
          <p:nvPr>
            <p:ph type="title"/>
          </p:nvPr>
        </p:nvSpPr>
        <p:spPr/>
        <p:txBody>
          <a:bodyPr/>
          <a:lstStyle/>
          <a:p>
            <a:r>
              <a:rPr lang="en-US" altLang="en-US" dirty="0"/>
              <a:t>9. Receivables Turnover Ratio</a:t>
            </a:r>
          </a:p>
        </p:txBody>
      </p:sp>
      <p:sp>
        <p:nvSpPr>
          <p:cNvPr id="48130" name="Content Placeholder 2">
            <a:extLst>
              <a:ext uri="{FF2B5EF4-FFF2-40B4-BE49-F238E27FC236}">
                <a16:creationId xmlns:a16="http://schemas.microsoft.com/office/drawing/2014/main" id="{97D37C5F-7BF2-473B-8D6E-FEE2C11AF93D}"/>
              </a:ext>
            </a:extLst>
          </p:cNvPr>
          <p:cNvSpPr>
            <a:spLocks noGrp="1"/>
          </p:cNvSpPr>
          <p:nvPr>
            <p:ph idx="1"/>
          </p:nvPr>
        </p:nvSpPr>
        <p:spPr/>
        <p:txBody>
          <a:bodyPr/>
          <a:lstStyle/>
          <a:p>
            <a:r>
              <a:rPr lang="en-CA" altLang="en-US" sz="2800" dirty="0">
                <a:solidFill>
                  <a:srgbClr val="000000"/>
                </a:solidFill>
              </a:rPr>
              <a:t>This ratio measures how quickly a company collects its trade receivables.</a:t>
            </a:r>
          </a:p>
          <a:p>
            <a:endParaRPr lang="en-CA" altLang="en-US" sz="2800" dirty="0">
              <a:solidFill>
                <a:srgbClr val="000000"/>
              </a:solidFill>
            </a:endParaRPr>
          </a:p>
          <a:p>
            <a:endParaRPr lang="en-CA" altLang="en-US" sz="2800" dirty="0">
              <a:solidFill>
                <a:srgbClr val="000000"/>
              </a:solidFill>
            </a:endParaRPr>
          </a:p>
          <a:p>
            <a:pPr marL="0" indent="0">
              <a:buNone/>
            </a:pPr>
            <a:endParaRPr lang="en-CA" altLang="en-US" sz="1000" dirty="0">
              <a:solidFill>
                <a:srgbClr val="000000"/>
              </a:solidFill>
            </a:endParaRPr>
          </a:p>
          <a:p>
            <a:r>
              <a:rPr lang="en-CA" dirty="0"/>
              <a:t>The receivables turnover ratio is often converted to a time basis known as the </a:t>
            </a:r>
            <a:r>
              <a:rPr lang="en-CA" i="1" dirty="0"/>
              <a:t>average days to collect receivables</a:t>
            </a:r>
            <a:r>
              <a:rPr lang="en-CA" dirty="0"/>
              <a:t> or </a:t>
            </a:r>
            <a:r>
              <a:rPr lang="en-CA" i="1" dirty="0"/>
              <a:t>average collection period</a:t>
            </a:r>
            <a:r>
              <a:rPr lang="en-CA" dirty="0"/>
              <a:t>.</a:t>
            </a:r>
            <a:endParaRPr lang="en-CA" altLang="en-US" sz="2800" dirty="0">
              <a:solidFill>
                <a:srgbClr val="000000"/>
              </a:solidFill>
            </a:endParaRPr>
          </a:p>
          <a:p>
            <a:endParaRPr lang="en-US" altLang="en-US" dirty="0"/>
          </a:p>
          <a:p>
            <a:pPr marL="0" indent="0">
              <a:buNone/>
            </a:pPr>
            <a:endParaRPr lang="en-US" altLang="en-US" dirty="0"/>
          </a:p>
        </p:txBody>
      </p:sp>
      <p:grpSp>
        <p:nvGrpSpPr>
          <p:cNvPr id="48131" name="Group 19">
            <a:extLst>
              <a:ext uri="{FF2B5EF4-FFF2-40B4-BE49-F238E27FC236}">
                <a16:creationId xmlns:a16="http://schemas.microsoft.com/office/drawing/2014/main" id="{72358FC6-75D0-4BA4-A4BA-E205D2796EC4}"/>
              </a:ext>
            </a:extLst>
          </p:cNvPr>
          <p:cNvGrpSpPr>
            <a:grpSpLocks/>
          </p:cNvGrpSpPr>
          <p:nvPr/>
        </p:nvGrpSpPr>
        <p:grpSpPr bwMode="auto">
          <a:xfrm>
            <a:off x="396875" y="2133600"/>
            <a:ext cx="8366125" cy="982663"/>
            <a:chOff x="306" y="1119"/>
            <a:chExt cx="4974" cy="619"/>
          </a:xfrm>
        </p:grpSpPr>
        <p:sp>
          <p:nvSpPr>
            <p:cNvPr id="48138" name="Rectangle 4">
              <a:extLst>
                <a:ext uri="{FF2B5EF4-FFF2-40B4-BE49-F238E27FC236}">
                  <a16:creationId xmlns:a16="http://schemas.microsoft.com/office/drawing/2014/main" id="{624E049D-A006-4337-8EA3-85B45777460C}"/>
                </a:ext>
              </a:extLst>
            </p:cNvPr>
            <p:cNvSpPr>
              <a:spLocks noChangeArrowheads="1"/>
            </p:cNvSpPr>
            <p:nvPr/>
          </p:nvSpPr>
          <p:spPr bwMode="auto">
            <a:xfrm>
              <a:off x="2118" y="1119"/>
              <a:ext cx="3162" cy="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ClrTx/>
                <a:buSzTx/>
                <a:buFontTx/>
                <a:buNone/>
              </a:pPr>
              <a:r>
                <a:rPr lang="en-CA" altLang="en-US" sz="2400" b="1" dirty="0">
                  <a:latin typeface="Arial" panose="020B0604020202020204" pitchFamily="34" charset="0"/>
                </a:rPr>
                <a:t> Net Credit Sales  </a:t>
              </a:r>
            </a:p>
            <a:p>
              <a:pPr algn="ctr">
                <a:lnSpc>
                  <a:spcPct val="120000"/>
                </a:lnSpc>
                <a:spcBef>
                  <a:spcPct val="0"/>
                </a:spcBef>
                <a:buClrTx/>
                <a:buSzTx/>
                <a:buFontTx/>
                <a:buNone/>
              </a:pPr>
              <a:r>
                <a:rPr lang="en-CA" altLang="en-US" sz="2400" b="1" dirty="0">
                  <a:latin typeface="Arial" panose="020B0604020202020204" pitchFamily="34" charset="0"/>
                </a:rPr>
                <a:t>Average Net Accounts Receivable</a:t>
              </a:r>
            </a:p>
          </p:txBody>
        </p:sp>
        <p:sp>
          <p:nvSpPr>
            <p:cNvPr id="48139" name="Line 5">
              <a:extLst>
                <a:ext uri="{FF2B5EF4-FFF2-40B4-BE49-F238E27FC236}">
                  <a16:creationId xmlns:a16="http://schemas.microsoft.com/office/drawing/2014/main" id="{D324CABB-F5A4-484C-9271-3230BC6FE1FE}"/>
                </a:ext>
              </a:extLst>
            </p:cNvPr>
            <p:cNvSpPr>
              <a:spLocks noChangeShapeType="1"/>
            </p:cNvSpPr>
            <p:nvPr/>
          </p:nvSpPr>
          <p:spPr bwMode="auto">
            <a:xfrm>
              <a:off x="2209" y="1440"/>
              <a:ext cx="29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40" name="Rectangle 6">
              <a:extLst>
                <a:ext uri="{FF2B5EF4-FFF2-40B4-BE49-F238E27FC236}">
                  <a16:creationId xmlns:a16="http://schemas.microsoft.com/office/drawing/2014/main" id="{BAAE9432-BC3A-48D8-A73A-1D3882A3EA4D}"/>
                </a:ext>
              </a:extLst>
            </p:cNvPr>
            <p:cNvSpPr>
              <a:spLocks noChangeArrowheads="1"/>
            </p:cNvSpPr>
            <p:nvPr/>
          </p:nvSpPr>
          <p:spPr bwMode="auto">
            <a:xfrm>
              <a:off x="306" y="1149"/>
              <a:ext cx="1495" cy="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50000"/>
                </a:spcBef>
                <a:buClrTx/>
                <a:buSzTx/>
                <a:buFontTx/>
                <a:buNone/>
              </a:pPr>
              <a:r>
                <a:rPr lang="en-CA" altLang="en-US" sz="2400" b="1">
                  <a:latin typeface="Arial" panose="020B0604020202020204" pitchFamily="34" charset="0"/>
                </a:rPr>
                <a:t>Receivables Turnover Ratio</a:t>
              </a:r>
            </a:p>
          </p:txBody>
        </p:sp>
        <p:sp>
          <p:nvSpPr>
            <p:cNvPr id="48141" name="Rectangle 7">
              <a:extLst>
                <a:ext uri="{FF2B5EF4-FFF2-40B4-BE49-F238E27FC236}">
                  <a16:creationId xmlns:a16="http://schemas.microsoft.com/office/drawing/2014/main" id="{8CCCF741-8DEF-4637-9FDE-E690EC453A72}"/>
                </a:ext>
              </a:extLst>
            </p:cNvPr>
            <p:cNvSpPr>
              <a:spLocks noChangeArrowheads="1"/>
            </p:cNvSpPr>
            <p:nvPr/>
          </p:nvSpPr>
          <p:spPr bwMode="auto">
            <a:xfrm>
              <a:off x="1710" y="1293"/>
              <a:ext cx="48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a:latin typeface="Arial" panose="020B0604020202020204" pitchFamily="34" charset="0"/>
                </a:rPr>
                <a:t>=</a:t>
              </a:r>
            </a:p>
          </p:txBody>
        </p:sp>
      </p:grpSp>
      <p:grpSp>
        <p:nvGrpSpPr>
          <p:cNvPr id="15" name="Group 19">
            <a:extLst>
              <a:ext uri="{FF2B5EF4-FFF2-40B4-BE49-F238E27FC236}">
                <a16:creationId xmlns:a16="http://schemas.microsoft.com/office/drawing/2014/main" id="{BB98723F-3F0B-7E48-8542-DB1808B496CA}"/>
              </a:ext>
            </a:extLst>
          </p:cNvPr>
          <p:cNvGrpSpPr>
            <a:grpSpLocks/>
          </p:cNvGrpSpPr>
          <p:nvPr/>
        </p:nvGrpSpPr>
        <p:grpSpPr bwMode="auto">
          <a:xfrm>
            <a:off x="534137" y="4795836"/>
            <a:ext cx="8381263" cy="1377951"/>
            <a:chOff x="297" y="1006"/>
            <a:chExt cx="4983" cy="868"/>
          </a:xfrm>
        </p:grpSpPr>
        <p:sp>
          <p:nvSpPr>
            <p:cNvPr id="16" name="Rectangle 4">
              <a:extLst>
                <a:ext uri="{FF2B5EF4-FFF2-40B4-BE49-F238E27FC236}">
                  <a16:creationId xmlns:a16="http://schemas.microsoft.com/office/drawing/2014/main" id="{2EBAB779-1E0F-1A4C-87FD-11580D02E349}"/>
                </a:ext>
              </a:extLst>
            </p:cNvPr>
            <p:cNvSpPr>
              <a:spLocks noChangeArrowheads="1"/>
            </p:cNvSpPr>
            <p:nvPr/>
          </p:nvSpPr>
          <p:spPr bwMode="auto">
            <a:xfrm>
              <a:off x="2118" y="1119"/>
              <a:ext cx="3162" cy="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ClrTx/>
                <a:buSzTx/>
                <a:buFontTx/>
                <a:buNone/>
              </a:pPr>
              <a:r>
                <a:rPr lang="en-CA" altLang="en-US" sz="2400" b="1" dirty="0">
                  <a:latin typeface="Arial" panose="020B0604020202020204" pitchFamily="34" charset="0"/>
                </a:rPr>
                <a:t> Days in a year  </a:t>
              </a:r>
            </a:p>
            <a:p>
              <a:pPr algn="ctr">
                <a:lnSpc>
                  <a:spcPct val="120000"/>
                </a:lnSpc>
                <a:spcBef>
                  <a:spcPct val="0"/>
                </a:spcBef>
                <a:buClrTx/>
                <a:buSzTx/>
                <a:buFontTx/>
                <a:buNone/>
              </a:pPr>
              <a:r>
                <a:rPr lang="en-CA" altLang="en-US" sz="2400" b="1" dirty="0">
                  <a:latin typeface="Arial" panose="020B0604020202020204" pitchFamily="34" charset="0"/>
                </a:rPr>
                <a:t>Receivables turnover ratio</a:t>
              </a:r>
            </a:p>
          </p:txBody>
        </p:sp>
        <p:sp>
          <p:nvSpPr>
            <p:cNvPr id="17" name="Line 5">
              <a:extLst>
                <a:ext uri="{FF2B5EF4-FFF2-40B4-BE49-F238E27FC236}">
                  <a16:creationId xmlns:a16="http://schemas.microsoft.com/office/drawing/2014/main" id="{CEE3D9AB-C858-BD41-A637-6F2F1BA0F276}"/>
                </a:ext>
              </a:extLst>
            </p:cNvPr>
            <p:cNvSpPr>
              <a:spLocks noChangeShapeType="1"/>
            </p:cNvSpPr>
            <p:nvPr/>
          </p:nvSpPr>
          <p:spPr bwMode="auto">
            <a:xfrm>
              <a:off x="2209" y="1440"/>
              <a:ext cx="29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Rectangle 6">
              <a:extLst>
                <a:ext uri="{FF2B5EF4-FFF2-40B4-BE49-F238E27FC236}">
                  <a16:creationId xmlns:a16="http://schemas.microsoft.com/office/drawing/2014/main" id="{63818463-B82A-1F4F-B001-B1B945122C8B}"/>
                </a:ext>
              </a:extLst>
            </p:cNvPr>
            <p:cNvSpPr>
              <a:spLocks noChangeArrowheads="1"/>
            </p:cNvSpPr>
            <p:nvPr/>
          </p:nvSpPr>
          <p:spPr bwMode="auto">
            <a:xfrm>
              <a:off x="297" y="1006"/>
              <a:ext cx="1495"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50000"/>
                </a:spcBef>
                <a:buClrTx/>
                <a:buSzTx/>
                <a:buFontTx/>
                <a:buNone/>
              </a:pPr>
              <a:r>
                <a:rPr lang="en-CA" altLang="en-US" sz="2400" b="1" dirty="0">
                  <a:latin typeface="Arial" panose="020B0604020202020204" pitchFamily="34" charset="0"/>
                </a:rPr>
                <a:t>Average days to collect Receivables</a:t>
              </a:r>
            </a:p>
          </p:txBody>
        </p:sp>
        <p:sp>
          <p:nvSpPr>
            <p:cNvPr id="19" name="Rectangle 7">
              <a:extLst>
                <a:ext uri="{FF2B5EF4-FFF2-40B4-BE49-F238E27FC236}">
                  <a16:creationId xmlns:a16="http://schemas.microsoft.com/office/drawing/2014/main" id="{E44B7DFF-5DD7-D548-A5FA-4A4FFE72E161}"/>
                </a:ext>
              </a:extLst>
            </p:cNvPr>
            <p:cNvSpPr>
              <a:spLocks noChangeArrowheads="1"/>
            </p:cNvSpPr>
            <p:nvPr/>
          </p:nvSpPr>
          <p:spPr bwMode="auto">
            <a:xfrm>
              <a:off x="1710" y="1293"/>
              <a:ext cx="48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a:latin typeface="Arial" panose="020B0604020202020204" pitchFamily="34" charset="0"/>
                </a:rPr>
                <a:t>=</a:t>
              </a:r>
            </a:p>
          </p:txBody>
        </p:sp>
      </p:gr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4FF50066-8077-4BA7-8EC3-C6E0BA6FF62A}"/>
              </a:ext>
            </a:extLst>
          </p:cNvPr>
          <p:cNvSpPr>
            <a:spLocks noGrp="1"/>
          </p:cNvSpPr>
          <p:nvPr>
            <p:ph type="title"/>
          </p:nvPr>
        </p:nvSpPr>
        <p:spPr/>
        <p:txBody>
          <a:bodyPr/>
          <a:lstStyle/>
          <a:p>
            <a:r>
              <a:rPr lang="en-US" altLang="en-US" dirty="0"/>
              <a:t>10. Inventory Turnover Ratio</a:t>
            </a:r>
          </a:p>
        </p:txBody>
      </p:sp>
      <p:sp>
        <p:nvSpPr>
          <p:cNvPr id="49154" name="Content Placeholder 2">
            <a:extLst>
              <a:ext uri="{FF2B5EF4-FFF2-40B4-BE49-F238E27FC236}">
                <a16:creationId xmlns:a16="http://schemas.microsoft.com/office/drawing/2014/main" id="{7C4EC9E6-9A83-4FA8-AC31-59A2F69984FC}"/>
              </a:ext>
            </a:extLst>
          </p:cNvPr>
          <p:cNvSpPr>
            <a:spLocks noGrp="1"/>
          </p:cNvSpPr>
          <p:nvPr>
            <p:ph idx="1"/>
          </p:nvPr>
        </p:nvSpPr>
        <p:spPr/>
        <p:txBody>
          <a:bodyPr/>
          <a:lstStyle/>
          <a:p>
            <a:r>
              <a:rPr lang="en-CA" dirty="0"/>
              <a:t>The </a:t>
            </a:r>
            <a:r>
              <a:rPr lang="en-CA" i="1" dirty="0"/>
              <a:t>inventory turnover ratio</a:t>
            </a:r>
            <a:r>
              <a:rPr lang="en-CA" dirty="0"/>
              <a:t> is a measure of operating efficiency. </a:t>
            </a:r>
          </a:p>
          <a:p>
            <a:endParaRPr lang="en-CA" sz="800" dirty="0"/>
          </a:p>
          <a:p>
            <a:r>
              <a:rPr lang="en-CA" dirty="0"/>
              <a:t>It reflects the relationship of inventory to the amount of sales during the period. </a:t>
            </a:r>
          </a:p>
          <a:p>
            <a:endParaRPr lang="en-CA" sz="800" dirty="0"/>
          </a:p>
          <a:p>
            <a:r>
              <a:rPr lang="en-CA" dirty="0"/>
              <a:t>It is computed as follows:</a:t>
            </a:r>
            <a:endParaRPr lang="en-US" altLang="en-US" dirty="0"/>
          </a:p>
        </p:txBody>
      </p:sp>
      <p:grpSp>
        <p:nvGrpSpPr>
          <p:cNvPr id="49155" name="Group 1027">
            <a:extLst>
              <a:ext uri="{FF2B5EF4-FFF2-40B4-BE49-F238E27FC236}">
                <a16:creationId xmlns:a16="http://schemas.microsoft.com/office/drawing/2014/main" id="{87E8D357-6FF1-41F7-A833-0438CF99F328}"/>
              </a:ext>
            </a:extLst>
          </p:cNvPr>
          <p:cNvGrpSpPr>
            <a:grpSpLocks/>
          </p:cNvGrpSpPr>
          <p:nvPr/>
        </p:nvGrpSpPr>
        <p:grpSpPr bwMode="auto">
          <a:xfrm>
            <a:off x="1127125" y="4140200"/>
            <a:ext cx="6645275" cy="965200"/>
            <a:chOff x="-291" y="1053"/>
            <a:chExt cx="4186" cy="608"/>
          </a:xfrm>
        </p:grpSpPr>
        <p:sp>
          <p:nvSpPr>
            <p:cNvPr id="49162" name="Rectangle 1028">
              <a:extLst>
                <a:ext uri="{FF2B5EF4-FFF2-40B4-BE49-F238E27FC236}">
                  <a16:creationId xmlns:a16="http://schemas.microsoft.com/office/drawing/2014/main" id="{5D4687BC-EDE9-40DB-9AD9-81171AB3325E}"/>
                </a:ext>
              </a:extLst>
            </p:cNvPr>
            <p:cNvSpPr>
              <a:spLocks noChangeArrowheads="1"/>
            </p:cNvSpPr>
            <p:nvPr/>
          </p:nvSpPr>
          <p:spPr bwMode="auto">
            <a:xfrm>
              <a:off x="2051" y="1053"/>
              <a:ext cx="1843"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ClrTx/>
                <a:buSzTx/>
                <a:buFontTx/>
                <a:buNone/>
              </a:pPr>
              <a:r>
                <a:rPr lang="en-CA" altLang="en-US" sz="2400" b="1" dirty="0">
                  <a:latin typeface="Arial" panose="020B0604020202020204" pitchFamily="34" charset="0"/>
                </a:rPr>
                <a:t>Cost of Sales</a:t>
              </a:r>
            </a:p>
            <a:p>
              <a:pPr algn="ctr">
                <a:lnSpc>
                  <a:spcPct val="120000"/>
                </a:lnSpc>
                <a:spcBef>
                  <a:spcPct val="0"/>
                </a:spcBef>
                <a:buClrTx/>
                <a:buSzTx/>
                <a:buFontTx/>
                <a:buNone/>
              </a:pPr>
              <a:r>
                <a:rPr lang="en-CA" altLang="en-US" sz="2400" b="1" dirty="0">
                  <a:latin typeface="Arial" panose="020B0604020202020204" pitchFamily="34" charset="0"/>
                </a:rPr>
                <a:t> Average Inventory</a:t>
              </a:r>
            </a:p>
          </p:txBody>
        </p:sp>
        <p:sp>
          <p:nvSpPr>
            <p:cNvPr id="49163" name="Line 1029">
              <a:extLst>
                <a:ext uri="{FF2B5EF4-FFF2-40B4-BE49-F238E27FC236}">
                  <a16:creationId xmlns:a16="http://schemas.microsoft.com/office/drawing/2014/main" id="{96DB57B2-F8F4-4082-84ED-31DAE7D11FC9}"/>
                </a:ext>
              </a:extLst>
            </p:cNvPr>
            <p:cNvSpPr>
              <a:spLocks noChangeShapeType="1"/>
            </p:cNvSpPr>
            <p:nvPr/>
          </p:nvSpPr>
          <p:spPr bwMode="auto">
            <a:xfrm>
              <a:off x="2087" y="1374"/>
              <a:ext cx="1808" cy="0"/>
            </a:xfrm>
            <a:prstGeom prst="line">
              <a:avLst/>
            </a:prstGeom>
            <a:noFill/>
            <a:ln w="25399">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64" name="Rectangle 1030">
              <a:extLst>
                <a:ext uri="{FF2B5EF4-FFF2-40B4-BE49-F238E27FC236}">
                  <a16:creationId xmlns:a16="http://schemas.microsoft.com/office/drawing/2014/main" id="{FF600B3D-472B-4D36-B09A-1583C70FA163}"/>
                </a:ext>
              </a:extLst>
            </p:cNvPr>
            <p:cNvSpPr>
              <a:spLocks noChangeArrowheads="1"/>
            </p:cNvSpPr>
            <p:nvPr/>
          </p:nvSpPr>
          <p:spPr bwMode="auto">
            <a:xfrm>
              <a:off x="-291" y="1053"/>
              <a:ext cx="2214" cy="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50000"/>
                </a:spcBef>
                <a:buClrTx/>
                <a:buSzTx/>
                <a:buFontTx/>
                <a:buNone/>
              </a:pPr>
              <a:r>
                <a:rPr lang="en-CA" altLang="en-US" sz="2400" b="1" dirty="0">
                  <a:latin typeface="Arial" panose="020B0604020202020204" pitchFamily="34" charset="0"/>
                </a:rPr>
                <a:t>Inventory Turnover Ratio</a:t>
              </a:r>
            </a:p>
          </p:txBody>
        </p:sp>
        <p:sp>
          <p:nvSpPr>
            <p:cNvPr id="49165" name="Rectangle 1031">
              <a:extLst>
                <a:ext uri="{FF2B5EF4-FFF2-40B4-BE49-F238E27FC236}">
                  <a16:creationId xmlns:a16="http://schemas.microsoft.com/office/drawing/2014/main" id="{AE5FB9B0-4847-4ED3-9883-2027B47CB448}"/>
                </a:ext>
              </a:extLst>
            </p:cNvPr>
            <p:cNvSpPr>
              <a:spLocks noChangeArrowheads="1"/>
            </p:cNvSpPr>
            <p:nvPr/>
          </p:nvSpPr>
          <p:spPr bwMode="auto">
            <a:xfrm>
              <a:off x="1629" y="1242"/>
              <a:ext cx="48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a:latin typeface="Arial" panose="020B0604020202020204" pitchFamily="34" charset="0"/>
                </a:rPr>
                <a:t>=</a:t>
              </a:r>
            </a:p>
          </p:txBody>
        </p:sp>
      </p:gr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7B6B28AB-4B7F-4A75-8429-264333429DDC}"/>
              </a:ext>
            </a:extLst>
          </p:cNvPr>
          <p:cNvSpPr>
            <a:spLocks noGrp="1"/>
          </p:cNvSpPr>
          <p:nvPr>
            <p:ph type="title"/>
          </p:nvPr>
        </p:nvSpPr>
        <p:spPr>
          <a:xfrm>
            <a:off x="457200" y="152400"/>
            <a:ext cx="8686800" cy="792163"/>
          </a:xfrm>
        </p:spPr>
        <p:txBody>
          <a:bodyPr/>
          <a:lstStyle/>
          <a:p>
            <a:r>
              <a:rPr lang="en-US" altLang="en-US" dirty="0"/>
              <a:t>Using Ratios to Analyze the Operating Cycle Part 1</a:t>
            </a:r>
          </a:p>
        </p:txBody>
      </p:sp>
      <p:sp>
        <p:nvSpPr>
          <p:cNvPr id="50178" name="Content Placeholder 2">
            <a:extLst>
              <a:ext uri="{FF2B5EF4-FFF2-40B4-BE49-F238E27FC236}">
                <a16:creationId xmlns:a16="http://schemas.microsoft.com/office/drawing/2014/main" id="{8FB82BD7-F3CF-4FF9-AEB5-A2F1359B3B76}"/>
              </a:ext>
            </a:extLst>
          </p:cNvPr>
          <p:cNvSpPr>
            <a:spLocks noGrp="1"/>
          </p:cNvSpPr>
          <p:nvPr>
            <p:ph idx="1"/>
          </p:nvPr>
        </p:nvSpPr>
        <p:spPr/>
        <p:txBody>
          <a:bodyPr/>
          <a:lstStyle/>
          <a:p>
            <a:r>
              <a:rPr lang="en-CA" dirty="0"/>
              <a:t>The operating cycle is the time it takes for a company to pay cash to its suppliers, sell goods to its customers, and collect cash from its customers. </a:t>
            </a:r>
          </a:p>
          <a:p>
            <a:endParaRPr lang="en-CA" sz="800" dirty="0"/>
          </a:p>
          <a:p>
            <a:r>
              <a:rPr lang="en-CA" dirty="0"/>
              <a:t>Analysts are interested in the operating cycle because it helps them evaluate a company’s cash needs and is a good indicator of operating efficiency.</a:t>
            </a:r>
          </a:p>
          <a:p>
            <a:endParaRPr lang="en-CA" sz="800" dirty="0"/>
          </a:p>
          <a:p>
            <a:r>
              <a:rPr lang="en-CA" dirty="0"/>
              <a:t>The operating cycle for most companies involves four distinct phases: acquisition of inventory, payment of cash to suppliers, sale of inventory, and collection of cash from customers. </a:t>
            </a:r>
            <a:endParaRPr lang="en-US" altLang="en-US" dirty="0"/>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7B6B28AB-4B7F-4A75-8429-264333429DDC}"/>
              </a:ext>
            </a:extLst>
          </p:cNvPr>
          <p:cNvSpPr>
            <a:spLocks noGrp="1"/>
          </p:cNvSpPr>
          <p:nvPr>
            <p:ph type="title"/>
          </p:nvPr>
        </p:nvSpPr>
        <p:spPr>
          <a:xfrm>
            <a:off x="457200" y="152400"/>
            <a:ext cx="8534400" cy="792163"/>
          </a:xfrm>
        </p:spPr>
        <p:txBody>
          <a:bodyPr/>
          <a:lstStyle/>
          <a:p>
            <a:r>
              <a:rPr lang="en-US" altLang="en-US" dirty="0"/>
              <a:t>Using Ratios to Analyze the Operating Cycle Part 2</a:t>
            </a:r>
          </a:p>
        </p:txBody>
      </p:sp>
      <p:sp>
        <p:nvSpPr>
          <p:cNvPr id="50178" name="Content Placeholder 2">
            <a:extLst>
              <a:ext uri="{FF2B5EF4-FFF2-40B4-BE49-F238E27FC236}">
                <a16:creationId xmlns:a16="http://schemas.microsoft.com/office/drawing/2014/main" id="{8FB82BD7-F3CF-4FF9-AEB5-A2F1359B3B76}"/>
              </a:ext>
            </a:extLst>
          </p:cNvPr>
          <p:cNvSpPr>
            <a:spLocks noGrp="1"/>
          </p:cNvSpPr>
          <p:nvPr>
            <p:ph idx="1"/>
          </p:nvPr>
        </p:nvSpPr>
        <p:spPr/>
        <p:txBody>
          <a:bodyPr/>
          <a:lstStyle/>
          <a:p>
            <a:r>
              <a:rPr lang="en-CA" dirty="0"/>
              <a:t>We have discussed three ratios that are helpful in evaluating a company’s operating cycle. They are the accounts payable turnover ratio, the inventory turnover ratio, and the receivables turnover ratio.</a:t>
            </a:r>
            <a:endParaRPr lang="en-US" altLang="en-US" dirty="0"/>
          </a:p>
        </p:txBody>
      </p:sp>
      <p:graphicFrame>
        <p:nvGraphicFramePr>
          <p:cNvPr id="4" name="Content Placeholder 5">
            <a:extLst>
              <a:ext uri="{FF2B5EF4-FFF2-40B4-BE49-F238E27FC236}">
                <a16:creationId xmlns:a16="http://schemas.microsoft.com/office/drawing/2014/main" id="{3F7E49BB-2396-4223-ACEB-89F8E38749F2}"/>
              </a:ext>
            </a:extLst>
          </p:cNvPr>
          <p:cNvGraphicFramePr>
            <a:graphicFrameLocks/>
          </p:cNvGraphicFramePr>
          <p:nvPr>
            <p:extLst>
              <p:ext uri="{D42A27DB-BD31-4B8C-83A1-F6EECF244321}">
                <p14:modId xmlns:p14="http://schemas.microsoft.com/office/powerpoint/2010/main" val="1712361871"/>
              </p:ext>
            </p:extLst>
          </p:nvPr>
        </p:nvGraphicFramePr>
        <p:xfrm>
          <a:off x="761999" y="3429000"/>
          <a:ext cx="7620001" cy="1684635"/>
        </p:xfrm>
        <a:graphic>
          <a:graphicData uri="http://schemas.openxmlformats.org/drawingml/2006/table">
            <a:tbl>
              <a:tblPr/>
              <a:tblGrid>
                <a:gridCol w="3733801">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398463">
                <a:tc>
                  <a:txBody>
                    <a:bodyPr/>
                    <a:lstStyle/>
                    <a:p>
                      <a:pPr algn="l" fontAlgn="base"/>
                      <a:r>
                        <a:rPr lang="en-CA" sz="1800" b="1" dirty="0">
                          <a:effectLst/>
                          <a:latin typeface="inherit"/>
                        </a:rPr>
                        <a:t>Ratio</a:t>
                      </a:r>
                      <a:endParaRPr lang="en-CA" sz="1800" dirty="0">
                        <a:effectLst/>
                        <a:latin typeface="Times New Roman" panose="02020603050405020304" pitchFamily="18" charset="0"/>
                      </a:endParaRPr>
                    </a:p>
                  </a:txBody>
                  <a:tcPr marL="190500" marR="95250" marT="95326" marB="28598"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fontAlgn="base"/>
                      <a:r>
                        <a:rPr lang="en-CA" sz="1800" b="1" dirty="0">
                          <a:effectLst/>
                          <a:latin typeface="inherit"/>
                        </a:rPr>
                        <a:t>Operating Activity</a:t>
                      </a:r>
                      <a:endParaRPr lang="en-CA" sz="1800" dirty="0">
                        <a:effectLst/>
                        <a:latin typeface="Times New Roman" panose="02020603050405020304" pitchFamily="18" charset="0"/>
                      </a:endParaRPr>
                    </a:p>
                  </a:txBody>
                  <a:tcPr marL="95250" marR="95250" marT="95326" marB="28598" anchor="ctr">
                    <a:lnL>
                      <a:noFill/>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98463">
                <a:tc>
                  <a:txBody>
                    <a:bodyPr/>
                    <a:lstStyle/>
                    <a:p>
                      <a:pPr fontAlgn="base"/>
                      <a:r>
                        <a:rPr lang="en-CA" sz="2000" dirty="0">
                          <a:effectLst/>
                          <a:latin typeface="+mn-lt"/>
                        </a:rPr>
                        <a:t>Accounts payable turnover ratio</a:t>
                      </a:r>
                    </a:p>
                  </a:txBody>
                  <a:tcPr marL="190500" marR="95250" marT="95326" marB="28598" anchor="ctr">
                    <a:lnL w="9525" cap="flat" cmpd="sng" algn="ctr">
                      <a:solidFill>
                        <a:srgbClr val="333333"/>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a:noFill/>
                    </a:lnB>
                    <a:solidFill>
                      <a:srgbClr val="FFFFFF"/>
                    </a:solidFill>
                  </a:tcPr>
                </a:tc>
                <a:tc>
                  <a:txBody>
                    <a:bodyPr/>
                    <a:lstStyle/>
                    <a:p>
                      <a:pPr fontAlgn="base"/>
                      <a:r>
                        <a:rPr lang="en-CA" sz="2000" dirty="0">
                          <a:effectLst/>
                          <a:latin typeface="+mn-lt"/>
                        </a:rPr>
                        <a:t>Purchase of inventory</a:t>
                      </a:r>
                    </a:p>
                  </a:txBody>
                  <a:tcPr marL="95250" marR="95250" marT="95326" marB="28598" anchor="ctr">
                    <a:lnL>
                      <a:noFill/>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1"/>
                  </a:ext>
                </a:extLst>
              </a:tr>
              <a:tr h="398463">
                <a:tc>
                  <a:txBody>
                    <a:bodyPr/>
                    <a:lstStyle/>
                    <a:p>
                      <a:pPr fontAlgn="base"/>
                      <a:r>
                        <a:rPr lang="en-CA" sz="2000" dirty="0">
                          <a:effectLst/>
                          <a:latin typeface="+mn-lt"/>
                        </a:rPr>
                        <a:t>Inventory turnover ratio</a:t>
                      </a:r>
                    </a:p>
                  </a:txBody>
                  <a:tcPr marL="190500" marR="95250" marT="95326" marB="28598" anchor="ctr">
                    <a:lnL w="9525" cap="flat" cmpd="sng" algn="ctr">
                      <a:solidFill>
                        <a:srgbClr val="333333"/>
                      </a:solidFill>
                      <a:prstDash val="solid"/>
                      <a:round/>
                      <a:headEnd type="none" w="med" len="med"/>
                      <a:tailEnd type="none" w="med" len="med"/>
                    </a:lnL>
                    <a:lnR>
                      <a:noFill/>
                    </a:lnR>
                    <a:lnT>
                      <a:noFill/>
                    </a:lnT>
                    <a:lnB>
                      <a:noFill/>
                    </a:lnB>
                    <a:solidFill>
                      <a:srgbClr val="FFFFFF"/>
                    </a:solidFill>
                  </a:tcPr>
                </a:tc>
                <a:tc>
                  <a:txBody>
                    <a:bodyPr/>
                    <a:lstStyle/>
                    <a:p>
                      <a:pPr fontAlgn="base"/>
                      <a:r>
                        <a:rPr lang="en-CA" sz="2000" dirty="0">
                          <a:effectLst/>
                          <a:latin typeface="+mn-lt"/>
                        </a:rPr>
                        <a:t>Sale of inventory</a:t>
                      </a:r>
                    </a:p>
                  </a:txBody>
                  <a:tcPr marL="95250" marR="95250" marT="95326" marB="28598" anchor="ctr">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2"/>
                  </a:ext>
                </a:extLst>
              </a:tr>
              <a:tr h="398463">
                <a:tc>
                  <a:txBody>
                    <a:bodyPr/>
                    <a:lstStyle/>
                    <a:p>
                      <a:pPr fontAlgn="base"/>
                      <a:r>
                        <a:rPr lang="en-CA" sz="2000" dirty="0">
                          <a:effectLst/>
                          <a:latin typeface="+mn-lt"/>
                        </a:rPr>
                        <a:t>Receivables turnover ratio</a:t>
                      </a:r>
                    </a:p>
                  </a:txBody>
                  <a:tcPr marL="190500" marR="95250" marT="95326" marB="28598" anchor="ctr">
                    <a:lnL w="9525" cap="flat" cmpd="sng" algn="ctr">
                      <a:solidFill>
                        <a:srgbClr val="333333"/>
                      </a:solidFill>
                      <a:prstDash val="solid"/>
                      <a:round/>
                      <a:headEnd type="none" w="med" len="med"/>
                      <a:tailEnd type="none" w="med" len="med"/>
                    </a:lnL>
                    <a:lnR>
                      <a:noFill/>
                    </a:lnR>
                    <a:lnT>
                      <a:noFill/>
                    </a:lnT>
                    <a:lnB w="9525" cap="flat" cmpd="sng" algn="ctr">
                      <a:solidFill>
                        <a:srgbClr val="000000"/>
                      </a:solidFill>
                      <a:prstDash val="solid"/>
                      <a:round/>
                      <a:headEnd type="none" w="med" len="med"/>
                      <a:tailEnd type="none" w="med" len="med"/>
                    </a:lnB>
                    <a:solidFill>
                      <a:srgbClr val="FFFFFF"/>
                    </a:solidFill>
                  </a:tcPr>
                </a:tc>
                <a:tc>
                  <a:txBody>
                    <a:bodyPr/>
                    <a:lstStyle/>
                    <a:p>
                      <a:pPr fontAlgn="base"/>
                      <a:r>
                        <a:rPr lang="en-CA" sz="2000" dirty="0">
                          <a:effectLst/>
                          <a:latin typeface="+mn-lt"/>
                        </a:rPr>
                        <a:t>Collection of cash from customers</a:t>
                      </a:r>
                    </a:p>
                  </a:txBody>
                  <a:tcPr marL="95250" marR="95250" marT="95326" marB="28598" anchor="ctr">
                    <a:lnL>
                      <a:noFill/>
                    </a:lnL>
                    <a:lnR w="12700" cap="flat" cmpd="sng" algn="ctr">
                      <a:solidFill>
                        <a:schemeClr val="tx1"/>
                      </a:solidFill>
                      <a:prstDash val="solid"/>
                      <a:round/>
                      <a:headEnd type="none" w="med" len="med"/>
                      <a:tailEnd type="none" w="med" len="med"/>
                    </a:lnR>
                    <a:lnT>
                      <a:noFill/>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8137693"/>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7B6B28AB-4B7F-4A75-8429-264333429DDC}"/>
              </a:ext>
            </a:extLst>
          </p:cNvPr>
          <p:cNvSpPr>
            <a:spLocks noGrp="1"/>
          </p:cNvSpPr>
          <p:nvPr>
            <p:ph type="title"/>
          </p:nvPr>
        </p:nvSpPr>
        <p:spPr>
          <a:xfrm>
            <a:off x="457200" y="152400"/>
            <a:ext cx="8610600" cy="792163"/>
          </a:xfrm>
        </p:spPr>
        <p:txBody>
          <a:bodyPr/>
          <a:lstStyle/>
          <a:p>
            <a:r>
              <a:rPr lang="en-US" altLang="en-US" dirty="0"/>
              <a:t>Using Ratios to Analyze the Operating Cycle Part 3</a:t>
            </a:r>
          </a:p>
        </p:txBody>
      </p:sp>
      <p:pic>
        <p:nvPicPr>
          <p:cNvPr id="3" name="Picture 2">
            <a:extLst>
              <a:ext uri="{FF2B5EF4-FFF2-40B4-BE49-F238E27FC236}">
                <a16:creationId xmlns:a16="http://schemas.microsoft.com/office/drawing/2014/main" id="{D4AD40FE-19B1-684B-BD5A-1B3388D0FADC}"/>
              </a:ext>
            </a:extLst>
          </p:cNvPr>
          <p:cNvPicPr>
            <a:picLocks noChangeAspect="1"/>
          </p:cNvPicPr>
          <p:nvPr/>
        </p:nvPicPr>
        <p:blipFill>
          <a:blip r:embed="rId2"/>
          <a:stretch>
            <a:fillRect/>
          </a:stretch>
        </p:blipFill>
        <p:spPr>
          <a:xfrm>
            <a:off x="914400" y="1371600"/>
            <a:ext cx="7049576" cy="4991100"/>
          </a:xfrm>
          <a:prstGeom prst="rect">
            <a:avLst/>
          </a:prstGeom>
        </p:spPr>
      </p:pic>
    </p:spTree>
    <p:extLst>
      <p:ext uri="{BB962C8B-B14F-4D97-AF65-F5344CB8AC3E}">
        <p14:creationId xmlns:p14="http://schemas.microsoft.com/office/powerpoint/2010/main" val="223864610"/>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8D0AB014-1C36-4095-A671-E85B77C7E8C9}"/>
              </a:ext>
            </a:extLst>
          </p:cNvPr>
          <p:cNvSpPr>
            <a:spLocks noGrp="1"/>
          </p:cNvSpPr>
          <p:nvPr>
            <p:ph type="title"/>
          </p:nvPr>
        </p:nvSpPr>
        <p:spPr>
          <a:xfrm>
            <a:off x="457200" y="198437"/>
            <a:ext cx="8382000" cy="792163"/>
          </a:xfrm>
        </p:spPr>
        <p:txBody>
          <a:bodyPr/>
          <a:lstStyle/>
          <a:p>
            <a:r>
              <a:rPr lang="en-US" altLang="en-US" dirty="0"/>
              <a:t>ROA Profit Driver Analysis and the Dupont Model Part 1</a:t>
            </a:r>
          </a:p>
        </p:txBody>
      </p:sp>
      <p:sp>
        <p:nvSpPr>
          <p:cNvPr id="33794" name="Content Placeholder 2">
            <a:extLst>
              <a:ext uri="{FF2B5EF4-FFF2-40B4-BE49-F238E27FC236}">
                <a16:creationId xmlns:a16="http://schemas.microsoft.com/office/drawing/2014/main" id="{33845F72-A7FA-4F72-A506-5AAA7F90B529}"/>
              </a:ext>
            </a:extLst>
          </p:cNvPr>
          <p:cNvSpPr>
            <a:spLocks noGrp="1"/>
          </p:cNvSpPr>
          <p:nvPr>
            <p:ph idx="1"/>
          </p:nvPr>
        </p:nvSpPr>
        <p:spPr/>
        <p:txBody>
          <a:bodyPr/>
          <a:lstStyle/>
          <a:p>
            <a:r>
              <a:rPr lang="en-CA" dirty="0"/>
              <a:t>The ROA profit driver analysis is a useful framework for evaluating a company’s profit drivers.</a:t>
            </a:r>
          </a:p>
          <a:p>
            <a:endParaRPr lang="en-CA" dirty="0"/>
          </a:p>
          <a:p>
            <a:endParaRPr lang="en-CA" dirty="0"/>
          </a:p>
          <a:p>
            <a:endParaRPr lang="en-CA" dirty="0"/>
          </a:p>
          <a:p>
            <a:endParaRPr lang="en-CA" dirty="0"/>
          </a:p>
          <a:p>
            <a:endParaRPr lang="en-CA" dirty="0"/>
          </a:p>
          <a:p>
            <a:r>
              <a:rPr lang="en-CA" dirty="0"/>
              <a:t>Breaking down ROA into its two components provides a better understanding of what underlies a company’s performance. With this knowledge, one can better assess whether a company is effectively implementing its business strategy. </a:t>
            </a:r>
          </a:p>
        </p:txBody>
      </p:sp>
      <p:pic>
        <p:nvPicPr>
          <p:cNvPr id="4" name="Picture 3">
            <a:extLst>
              <a:ext uri="{FF2B5EF4-FFF2-40B4-BE49-F238E27FC236}">
                <a16:creationId xmlns:a16="http://schemas.microsoft.com/office/drawing/2014/main" id="{09067230-1C57-A448-8DDD-BF5A12215347}"/>
              </a:ext>
            </a:extLst>
          </p:cNvPr>
          <p:cNvPicPr>
            <a:picLocks noChangeAspect="1"/>
          </p:cNvPicPr>
          <p:nvPr/>
        </p:nvPicPr>
        <p:blipFill>
          <a:blip r:embed="rId2"/>
          <a:stretch>
            <a:fillRect/>
          </a:stretch>
        </p:blipFill>
        <p:spPr>
          <a:xfrm>
            <a:off x="2298700" y="2057400"/>
            <a:ext cx="4546600" cy="2364232"/>
          </a:xfrm>
          <a:prstGeom prst="rect">
            <a:avLst/>
          </a:prstGeom>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8D0AB014-1C36-4095-A671-E85B77C7E8C9}"/>
              </a:ext>
            </a:extLst>
          </p:cNvPr>
          <p:cNvSpPr>
            <a:spLocks noGrp="1"/>
          </p:cNvSpPr>
          <p:nvPr>
            <p:ph type="title"/>
          </p:nvPr>
        </p:nvSpPr>
        <p:spPr>
          <a:xfrm>
            <a:off x="457200" y="198437"/>
            <a:ext cx="8382000" cy="792163"/>
          </a:xfrm>
        </p:spPr>
        <p:txBody>
          <a:bodyPr/>
          <a:lstStyle/>
          <a:p>
            <a:r>
              <a:rPr lang="en-US" altLang="en-US" dirty="0"/>
              <a:t>ROA Profit Driver Analysis and the Dupont Model Part 2</a:t>
            </a:r>
          </a:p>
        </p:txBody>
      </p:sp>
      <p:sp>
        <p:nvSpPr>
          <p:cNvPr id="33794" name="Content Placeholder 2">
            <a:extLst>
              <a:ext uri="{FF2B5EF4-FFF2-40B4-BE49-F238E27FC236}">
                <a16:creationId xmlns:a16="http://schemas.microsoft.com/office/drawing/2014/main" id="{33845F72-A7FA-4F72-A506-5AAA7F90B529}"/>
              </a:ext>
            </a:extLst>
          </p:cNvPr>
          <p:cNvSpPr>
            <a:spLocks noGrp="1"/>
          </p:cNvSpPr>
          <p:nvPr>
            <p:ph idx="1"/>
          </p:nvPr>
        </p:nvSpPr>
        <p:spPr/>
        <p:txBody>
          <a:bodyPr/>
          <a:lstStyle/>
          <a:p>
            <a:r>
              <a:rPr lang="en-CA" dirty="0"/>
              <a:t>Some analysts include a third component in their analysis: financial leverage.</a:t>
            </a:r>
          </a:p>
          <a:p>
            <a:endParaRPr lang="en-CA" sz="800" dirty="0"/>
          </a:p>
          <a:p>
            <a:r>
              <a:rPr lang="en-CA" dirty="0"/>
              <a:t>When financial leverage is added to the model, it is commonly referred to as the </a:t>
            </a:r>
            <a:r>
              <a:rPr lang="en-CA" b="1" dirty="0"/>
              <a:t>DuPont model</a:t>
            </a:r>
            <a:r>
              <a:rPr lang="en-CA" dirty="0"/>
              <a:t>.</a:t>
            </a:r>
          </a:p>
        </p:txBody>
      </p:sp>
      <p:pic>
        <p:nvPicPr>
          <p:cNvPr id="2" name="Picture 1">
            <a:extLst>
              <a:ext uri="{FF2B5EF4-FFF2-40B4-BE49-F238E27FC236}">
                <a16:creationId xmlns:a16="http://schemas.microsoft.com/office/drawing/2014/main" id="{9A0DD16C-1B57-794D-88F8-9C696B95803F}"/>
              </a:ext>
            </a:extLst>
          </p:cNvPr>
          <p:cNvPicPr>
            <a:picLocks noChangeAspect="1"/>
          </p:cNvPicPr>
          <p:nvPr/>
        </p:nvPicPr>
        <p:blipFill>
          <a:blip r:embed="rId2"/>
          <a:stretch>
            <a:fillRect/>
          </a:stretch>
        </p:blipFill>
        <p:spPr>
          <a:xfrm>
            <a:off x="693806" y="3429000"/>
            <a:ext cx="7756387" cy="2854350"/>
          </a:xfrm>
          <a:prstGeom prst="rect">
            <a:avLst/>
          </a:prstGeom>
        </p:spPr>
      </p:pic>
    </p:spTree>
    <p:extLst>
      <p:ext uri="{BB962C8B-B14F-4D97-AF65-F5344CB8AC3E}">
        <p14:creationId xmlns:p14="http://schemas.microsoft.com/office/powerpoint/2010/main" val="3123763569"/>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8D0AB014-1C36-4095-A671-E85B77C7E8C9}"/>
              </a:ext>
            </a:extLst>
          </p:cNvPr>
          <p:cNvSpPr>
            <a:spLocks noGrp="1"/>
          </p:cNvSpPr>
          <p:nvPr>
            <p:ph type="title"/>
          </p:nvPr>
        </p:nvSpPr>
        <p:spPr>
          <a:xfrm>
            <a:off x="457200" y="198437"/>
            <a:ext cx="8382000" cy="792163"/>
          </a:xfrm>
        </p:spPr>
        <p:txBody>
          <a:bodyPr/>
          <a:lstStyle/>
          <a:p>
            <a:r>
              <a:rPr lang="en-US" altLang="en-US" dirty="0"/>
              <a:t>ROA Profit Driver Analysis and the Dupont Model Part 3</a:t>
            </a:r>
          </a:p>
        </p:txBody>
      </p:sp>
      <p:sp>
        <p:nvSpPr>
          <p:cNvPr id="33794" name="Content Placeholder 2">
            <a:extLst>
              <a:ext uri="{FF2B5EF4-FFF2-40B4-BE49-F238E27FC236}">
                <a16:creationId xmlns:a16="http://schemas.microsoft.com/office/drawing/2014/main" id="{33845F72-A7FA-4F72-A506-5AAA7F90B529}"/>
              </a:ext>
            </a:extLst>
          </p:cNvPr>
          <p:cNvSpPr>
            <a:spLocks noGrp="1"/>
          </p:cNvSpPr>
          <p:nvPr>
            <p:ph idx="1"/>
          </p:nvPr>
        </p:nvSpPr>
        <p:spPr/>
        <p:txBody>
          <a:bodyPr/>
          <a:lstStyle/>
          <a:p>
            <a:r>
              <a:rPr lang="en-CA" dirty="0"/>
              <a:t>A key insight provided by the DuPont model is that companies can be profitable by achieving high profit margins; by achieving a rapid turnover of assets; by increasing reliance on debt relative to equity in their capital structure; or by some combination of these strategies.</a:t>
            </a:r>
          </a:p>
        </p:txBody>
      </p:sp>
    </p:spTree>
    <p:extLst>
      <p:ext uri="{BB962C8B-B14F-4D97-AF65-F5344CB8AC3E}">
        <p14:creationId xmlns:p14="http://schemas.microsoft.com/office/powerpoint/2010/main" val="2360424153"/>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CBA0239B-5C43-456B-A444-1EC7DEB87475}"/>
              </a:ext>
            </a:extLst>
          </p:cNvPr>
          <p:cNvSpPr>
            <a:spLocks noGrp="1"/>
          </p:cNvSpPr>
          <p:nvPr>
            <p:ph type="title"/>
          </p:nvPr>
        </p:nvSpPr>
        <p:spPr/>
        <p:txBody>
          <a:bodyPr/>
          <a:lstStyle/>
          <a:p>
            <a:r>
              <a:rPr lang="en-US" altLang="en-US"/>
              <a:t>Liquidity Ratios</a:t>
            </a:r>
          </a:p>
        </p:txBody>
      </p:sp>
      <p:sp>
        <p:nvSpPr>
          <p:cNvPr id="3" name="Content Placeholder 2">
            <a:extLst>
              <a:ext uri="{FF2B5EF4-FFF2-40B4-BE49-F238E27FC236}">
                <a16:creationId xmlns:a16="http://schemas.microsoft.com/office/drawing/2014/main" id="{4FFE7714-719C-4BF4-969B-154731880390}"/>
              </a:ext>
            </a:extLst>
          </p:cNvPr>
          <p:cNvSpPr>
            <a:spLocks noGrp="1"/>
          </p:cNvSpPr>
          <p:nvPr>
            <p:ph idx="1"/>
          </p:nvPr>
        </p:nvSpPr>
        <p:spPr/>
        <p:txBody>
          <a:bodyPr/>
          <a:lstStyle/>
          <a:p>
            <a:pPr>
              <a:buFont typeface="Wingdings 3" pitchFamily="2" charset="2"/>
              <a:buChar char=""/>
              <a:defRPr/>
            </a:pPr>
            <a:r>
              <a:rPr lang="en-CA" b="1" dirty="0"/>
              <a:t>Liquidity</a:t>
            </a:r>
            <a:r>
              <a:rPr lang="en-CA" dirty="0"/>
              <a:t> refers to a company’s ability to meet its short-term obligations. </a:t>
            </a:r>
          </a:p>
          <a:p>
            <a:pPr>
              <a:buFont typeface="Wingdings 3" pitchFamily="2" charset="2"/>
              <a:buChar char=""/>
              <a:defRPr/>
            </a:pPr>
            <a:r>
              <a:rPr lang="en-CA" dirty="0"/>
              <a:t>Because most short-term obligations are paid with current assets, </a:t>
            </a:r>
            <a:r>
              <a:rPr lang="en-CA" b="1" dirty="0"/>
              <a:t>liquidity ratios</a:t>
            </a:r>
            <a:r>
              <a:rPr lang="en-CA" dirty="0"/>
              <a:t> focus on the relationship between current assets and current liabilities. </a:t>
            </a:r>
          </a:p>
          <a:p>
            <a:pPr>
              <a:buFont typeface="Wingdings 3" pitchFamily="2" charset="2"/>
              <a:buChar char=""/>
              <a:defRPr/>
            </a:pPr>
            <a:r>
              <a:rPr lang="en-CA" dirty="0"/>
              <a:t>A company’s ability to pay its current liabilities is an important factor in evaluating its short-term financial strength. </a:t>
            </a:r>
          </a:p>
          <a:p>
            <a:pPr>
              <a:buFont typeface="Wingdings 3" pitchFamily="2" charset="2"/>
              <a:buChar char=""/>
              <a:defRPr/>
            </a:pPr>
            <a:r>
              <a:rPr lang="en-CA" dirty="0"/>
              <a:t>Three ratios are used to measure liquidity: </a:t>
            </a:r>
          </a:p>
          <a:p>
            <a:pPr marL="788988" lvl="1" indent="-514350">
              <a:buFont typeface="+mj-lt"/>
              <a:buAutoNum type="arabicPeriod"/>
              <a:defRPr/>
            </a:pPr>
            <a:r>
              <a:rPr lang="en-CA" sz="2600" dirty="0"/>
              <a:t>The current ratio</a:t>
            </a:r>
          </a:p>
          <a:p>
            <a:pPr marL="788988" lvl="1" indent="-514350">
              <a:buFont typeface="+mj-lt"/>
              <a:buAutoNum type="arabicPeriod"/>
              <a:defRPr/>
            </a:pPr>
            <a:r>
              <a:rPr lang="en-CA" sz="2600" dirty="0"/>
              <a:t>The quick ratio</a:t>
            </a:r>
          </a:p>
          <a:p>
            <a:pPr marL="788988" lvl="1" indent="-514350">
              <a:buFont typeface="+mj-lt"/>
              <a:buAutoNum type="arabicPeriod"/>
              <a:defRPr/>
            </a:pPr>
            <a:r>
              <a:rPr lang="en-CA" sz="2600" dirty="0"/>
              <a:t>The cash ratio</a:t>
            </a:r>
            <a:endParaRPr lang="en-US" sz="2600" dirty="0"/>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id="{83347ED0-EB3E-4148-8686-AC475D35D6A0}"/>
              </a:ext>
            </a:extLst>
          </p:cNvPr>
          <p:cNvSpPr>
            <a:spLocks noGrp="1"/>
          </p:cNvSpPr>
          <p:nvPr>
            <p:ph type="title"/>
          </p:nvPr>
        </p:nvSpPr>
        <p:spPr/>
        <p:txBody>
          <a:bodyPr/>
          <a:lstStyle/>
          <a:p>
            <a:r>
              <a:rPr lang="en-US" altLang="en-US" dirty="0"/>
              <a:t>11. Current Ratio</a:t>
            </a:r>
          </a:p>
        </p:txBody>
      </p:sp>
      <p:sp>
        <p:nvSpPr>
          <p:cNvPr id="51202" name="Content Placeholder 2">
            <a:extLst>
              <a:ext uri="{FF2B5EF4-FFF2-40B4-BE49-F238E27FC236}">
                <a16:creationId xmlns:a16="http://schemas.microsoft.com/office/drawing/2014/main" id="{B039F08F-FAB1-4A71-B626-537ABEF445F5}"/>
              </a:ext>
            </a:extLst>
          </p:cNvPr>
          <p:cNvSpPr>
            <a:spLocks noGrp="1"/>
          </p:cNvSpPr>
          <p:nvPr>
            <p:ph idx="1"/>
          </p:nvPr>
        </p:nvSpPr>
        <p:spPr/>
        <p:txBody>
          <a:bodyPr/>
          <a:lstStyle/>
          <a:p>
            <a:r>
              <a:rPr lang="en-CA" altLang="en-US" dirty="0"/>
              <a:t>The </a:t>
            </a:r>
            <a:r>
              <a:rPr lang="en-CA" altLang="en-US" b="1" dirty="0"/>
              <a:t>current ratio </a:t>
            </a:r>
            <a:r>
              <a:rPr lang="en-CA" altLang="en-US" dirty="0"/>
              <a:t>measures the relationship between current assets and current liabilities at a specific date.</a:t>
            </a:r>
          </a:p>
          <a:p>
            <a:pPr marL="0" indent="0">
              <a:buNone/>
            </a:pPr>
            <a:r>
              <a:rPr lang="en-CA" altLang="en-US" sz="800" dirty="0"/>
              <a:t> </a:t>
            </a:r>
          </a:p>
          <a:p>
            <a:r>
              <a:rPr lang="en-US" altLang="en-US" dirty="0">
                <a:solidFill>
                  <a:srgbClr val="000000"/>
                </a:solidFill>
              </a:rPr>
              <a:t>It measures the ability of the company to pay current debts as they become due.</a:t>
            </a:r>
          </a:p>
          <a:p>
            <a:endParaRPr lang="en-US" altLang="en-US" dirty="0"/>
          </a:p>
        </p:txBody>
      </p:sp>
      <p:grpSp>
        <p:nvGrpSpPr>
          <p:cNvPr id="51203" name="Group 1027">
            <a:extLst>
              <a:ext uri="{FF2B5EF4-FFF2-40B4-BE49-F238E27FC236}">
                <a16:creationId xmlns:a16="http://schemas.microsoft.com/office/drawing/2014/main" id="{A785132B-BCCA-49A6-B60D-47CCC8701D5A}"/>
              </a:ext>
            </a:extLst>
          </p:cNvPr>
          <p:cNvGrpSpPr>
            <a:grpSpLocks/>
          </p:cNvGrpSpPr>
          <p:nvPr/>
        </p:nvGrpSpPr>
        <p:grpSpPr bwMode="auto">
          <a:xfrm>
            <a:off x="2133600" y="3581400"/>
            <a:ext cx="5278438" cy="965200"/>
            <a:chOff x="998" y="1105"/>
            <a:chExt cx="3325" cy="608"/>
          </a:xfrm>
        </p:grpSpPr>
        <p:sp>
          <p:nvSpPr>
            <p:cNvPr id="51210" name="Rectangle 1028">
              <a:extLst>
                <a:ext uri="{FF2B5EF4-FFF2-40B4-BE49-F238E27FC236}">
                  <a16:creationId xmlns:a16="http://schemas.microsoft.com/office/drawing/2014/main" id="{54567CA0-C569-4C37-B377-121C4F75AAFB}"/>
                </a:ext>
              </a:extLst>
            </p:cNvPr>
            <p:cNvSpPr>
              <a:spLocks noChangeArrowheads="1"/>
            </p:cNvSpPr>
            <p:nvPr/>
          </p:nvSpPr>
          <p:spPr bwMode="auto">
            <a:xfrm>
              <a:off x="998" y="1105"/>
              <a:ext cx="808"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ClrTx/>
                <a:buSzTx/>
                <a:buFontTx/>
                <a:buNone/>
              </a:pPr>
              <a:r>
                <a:rPr lang="en-CA" altLang="en-US" sz="2400" b="1">
                  <a:latin typeface="Arial" panose="020B0604020202020204" pitchFamily="34" charset="0"/>
                </a:rPr>
                <a:t>Current</a:t>
              </a:r>
            </a:p>
            <a:p>
              <a:pPr algn="ctr">
                <a:lnSpc>
                  <a:spcPct val="120000"/>
                </a:lnSpc>
                <a:spcBef>
                  <a:spcPct val="0"/>
                </a:spcBef>
                <a:buClrTx/>
                <a:buSzTx/>
                <a:buFontTx/>
                <a:buNone/>
              </a:pPr>
              <a:r>
                <a:rPr lang="en-CA" altLang="en-US" sz="2400" b="1">
                  <a:latin typeface="Arial" panose="020B0604020202020204" pitchFamily="34" charset="0"/>
                </a:rPr>
                <a:t>Ratio</a:t>
              </a:r>
            </a:p>
          </p:txBody>
        </p:sp>
        <p:sp>
          <p:nvSpPr>
            <p:cNvPr id="51211" name="Rectangle 1029">
              <a:extLst>
                <a:ext uri="{FF2B5EF4-FFF2-40B4-BE49-F238E27FC236}">
                  <a16:creationId xmlns:a16="http://schemas.microsoft.com/office/drawing/2014/main" id="{CBE0ED40-2ABA-4C54-A340-4D3FD3A67C1B}"/>
                </a:ext>
              </a:extLst>
            </p:cNvPr>
            <p:cNvSpPr>
              <a:spLocks noChangeArrowheads="1"/>
            </p:cNvSpPr>
            <p:nvPr/>
          </p:nvSpPr>
          <p:spPr bwMode="auto">
            <a:xfrm>
              <a:off x="2195" y="1105"/>
              <a:ext cx="2128"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nSpc>
                  <a:spcPct val="120000"/>
                </a:lnSpc>
                <a:spcBef>
                  <a:spcPct val="0"/>
                </a:spcBef>
                <a:buClrTx/>
                <a:buSzTx/>
                <a:buFontTx/>
                <a:buNone/>
              </a:pPr>
              <a:r>
                <a:rPr lang="en-CA" altLang="en-US" sz="2400" b="1" dirty="0">
                  <a:latin typeface="Arial" panose="020B0604020202020204" pitchFamily="34" charset="0"/>
                </a:rPr>
                <a:t>      Current Assets      </a:t>
              </a:r>
            </a:p>
            <a:p>
              <a:pPr>
                <a:lnSpc>
                  <a:spcPct val="120000"/>
                </a:lnSpc>
                <a:spcBef>
                  <a:spcPct val="0"/>
                </a:spcBef>
                <a:buClrTx/>
                <a:buSzTx/>
                <a:buFontTx/>
                <a:buNone/>
              </a:pPr>
              <a:r>
                <a:rPr lang="en-CA" altLang="en-US" sz="2400" b="1" dirty="0">
                  <a:latin typeface="Arial" panose="020B0604020202020204" pitchFamily="34" charset="0"/>
                </a:rPr>
                <a:t>   Current Liabilities</a:t>
              </a:r>
            </a:p>
          </p:txBody>
        </p:sp>
        <p:sp>
          <p:nvSpPr>
            <p:cNvPr id="51212" name="Rectangle 1030">
              <a:extLst>
                <a:ext uri="{FF2B5EF4-FFF2-40B4-BE49-F238E27FC236}">
                  <a16:creationId xmlns:a16="http://schemas.microsoft.com/office/drawing/2014/main" id="{3F2F4B24-2861-4A5F-8406-8D5A6B04E9E0}"/>
                </a:ext>
              </a:extLst>
            </p:cNvPr>
            <p:cNvSpPr>
              <a:spLocks noChangeArrowheads="1"/>
            </p:cNvSpPr>
            <p:nvPr/>
          </p:nvSpPr>
          <p:spPr bwMode="auto">
            <a:xfrm>
              <a:off x="1952" y="1246"/>
              <a:ext cx="226"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nSpc>
                  <a:spcPct val="120000"/>
                </a:lnSpc>
                <a:spcBef>
                  <a:spcPct val="0"/>
                </a:spcBef>
                <a:buClrTx/>
                <a:buSzTx/>
                <a:buFontTx/>
                <a:buNone/>
              </a:pPr>
              <a:r>
                <a:rPr lang="en-CA" altLang="en-US" sz="2400" b="1">
                  <a:latin typeface="Arial" panose="020B0604020202020204" pitchFamily="34" charset="0"/>
                </a:rPr>
                <a:t>=</a:t>
              </a:r>
            </a:p>
          </p:txBody>
        </p:sp>
        <p:sp>
          <p:nvSpPr>
            <p:cNvPr id="51213" name="Line 1031">
              <a:extLst>
                <a:ext uri="{FF2B5EF4-FFF2-40B4-BE49-F238E27FC236}">
                  <a16:creationId xmlns:a16="http://schemas.microsoft.com/office/drawing/2014/main" id="{4E1E4004-57C7-4D40-BD84-8A2C70AC0299}"/>
                </a:ext>
              </a:extLst>
            </p:cNvPr>
            <p:cNvSpPr>
              <a:spLocks noChangeShapeType="1"/>
            </p:cNvSpPr>
            <p:nvPr/>
          </p:nvSpPr>
          <p:spPr bwMode="auto">
            <a:xfrm>
              <a:off x="2400" y="1407"/>
              <a:ext cx="1678" cy="0"/>
            </a:xfrm>
            <a:prstGeom prst="line">
              <a:avLst/>
            </a:prstGeom>
            <a:noFill/>
            <a:ln w="25399">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a:extLst>
              <a:ext uri="{FF2B5EF4-FFF2-40B4-BE49-F238E27FC236}">
                <a16:creationId xmlns:a16="http://schemas.microsoft.com/office/drawing/2014/main" id="{5DD42907-7476-477F-AAA9-9931D67990FD}"/>
              </a:ext>
            </a:extLst>
          </p:cNvPr>
          <p:cNvSpPr>
            <a:spLocks noGrp="1"/>
          </p:cNvSpPr>
          <p:nvPr>
            <p:ph type="title"/>
          </p:nvPr>
        </p:nvSpPr>
        <p:spPr/>
        <p:txBody>
          <a:bodyPr/>
          <a:lstStyle/>
          <a:p>
            <a:r>
              <a:rPr lang="en-US" altLang="en-US" dirty="0"/>
              <a:t>12. Quick Ratio</a:t>
            </a:r>
          </a:p>
        </p:txBody>
      </p:sp>
      <p:sp>
        <p:nvSpPr>
          <p:cNvPr id="52226" name="Content Placeholder 2">
            <a:extLst>
              <a:ext uri="{FF2B5EF4-FFF2-40B4-BE49-F238E27FC236}">
                <a16:creationId xmlns:a16="http://schemas.microsoft.com/office/drawing/2014/main" id="{FEABFF23-865C-45BE-B288-D9A0ADD34F76}"/>
              </a:ext>
            </a:extLst>
          </p:cNvPr>
          <p:cNvSpPr>
            <a:spLocks noGrp="1"/>
          </p:cNvSpPr>
          <p:nvPr>
            <p:ph idx="1"/>
          </p:nvPr>
        </p:nvSpPr>
        <p:spPr/>
        <p:txBody>
          <a:bodyPr/>
          <a:lstStyle/>
          <a:p>
            <a:r>
              <a:rPr lang="en-CA" altLang="en-US" dirty="0"/>
              <a:t>The</a:t>
            </a:r>
            <a:r>
              <a:rPr lang="en-CA" altLang="en-US" b="1" dirty="0"/>
              <a:t> quick ratio</a:t>
            </a:r>
            <a:r>
              <a:rPr lang="en-CA" altLang="en-US" dirty="0"/>
              <a:t>, sometimes referred to as the </a:t>
            </a:r>
            <a:r>
              <a:rPr lang="en-CA" altLang="en-US" i="1" dirty="0"/>
              <a:t>acid test</a:t>
            </a:r>
            <a:r>
              <a:rPr lang="en-CA" altLang="en-US" dirty="0"/>
              <a:t>, is a more stringent test of short-term liquidity than the current ratio. </a:t>
            </a:r>
          </a:p>
          <a:p>
            <a:endParaRPr lang="en-CA" altLang="en-US" sz="800" dirty="0"/>
          </a:p>
          <a:p>
            <a:r>
              <a:rPr lang="en-CA" altLang="en-US" dirty="0"/>
              <a:t>The quick ratio compares quick assets, defined as </a:t>
            </a:r>
            <a:r>
              <a:rPr lang="en-CA" altLang="en-US" i="1" dirty="0"/>
              <a:t>cash and near-cash assets</a:t>
            </a:r>
            <a:r>
              <a:rPr lang="en-CA" altLang="en-US" dirty="0"/>
              <a:t>, to current liabilities.</a:t>
            </a:r>
          </a:p>
          <a:p>
            <a:endParaRPr lang="en-US" altLang="en-US" dirty="0"/>
          </a:p>
        </p:txBody>
      </p:sp>
      <p:grpSp>
        <p:nvGrpSpPr>
          <p:cNvPr id="52227" name="Group 3">
            <a:extLst>
              <a:ext uri="{FF2B5EF4-FFF2-40B4-BE49-F238E27FC236}">
                <a16:creationId xmlns:a16="http://schemas.microsoft.com/office/drawing/2014/main" id="{09394CEE-DF10-4419-A223-6AC6B12786B3}"/>
              </a:ext>
            </a:extLst>
          </p:cNvPr>
          <p:cNvGrpSpPr>
            <a:grpSpLocks/>
          </p:cNvGrpSpPr>
          <p:nvPr/>
        </p:nvGrpSpPr>
        <p:grpSpPr bwMode="auto">
          <a:xfrm>
            <a:off x="1846262" y="3759200"/>
            <a:ext cx="5011738" cy="965200"/>
            <a:chOff x="947" y="1122"/>
            <a:chExt cx="3157" cy="608"/>
          </a:xfrm>
        </p:grpSpPr>
        <p:sp>
          <p:nvSpPr>
            <p:cNvPr id="52234" name="Rectangle 4">
              <a:extLst>
                <a:ext uri="{FF2B5EF4-FFF2-40B4-BE49-F238E27FC236}">
                  <a16:creationId xmlns:a16="http://schemas.microsoft.com/office/drawing/2014/main" id="{4D176923-7AD6-4F7F-B29B-19EA40763D84}"/>
                </a:ext>
              </a:extLst>
            </p:cNvPr>
            <p:cNvSpPr>
              <a:spLocks noChangeArrowheads="1"/>
            </p:cNvSpPr>
            <p:nvPr/>
          </p:nvSpPr>
          <p:spPr bwMode="auto">
            <a:xfrm>
              <a:off x="2243" y="1122"/>
              <a:ext cx="1861"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nSpc>
                  <a:spcPct val="120000"/>
                </a:lnSpc>
                <a:spcBef>
                  <a:spcPct val="0"/>
                </a:spcBef>
                <a:buClrTx/>
                <a:buSzTx/>
                <a:buFontTx/>
                <a:buNone/>
              </a:pPr>
              <a:r>
                <a:rPr lang="en-CA" altLang="en-US" sz="2400" b="1">
                  <a:latin typeface="Arial" panose="020B0604020202020204" pitchFamily="34" charset="0"/>
                </a:rPr>
                <a:t>     Quick Assets     </a:t>
              </a:r>
            </a:p>
            <a:p>
              <a:pPr>
                <a:lnSpc>
                  <a:spcPct val="120000"/>
                </a:lnSpc>
                <a:spcBef>
                  <a:spcPct val="0"/>
                </a:spcBef>
                <a:buClrTx/>
                <a:buSzTx/>
                <a:buFontTx/>
                <a:buNone/>
              </a:pPr>
              <a:r>
                <a:rPr lang="en-CA" altLang="en-US" sz="2400" b="1">
                  <a:latin typeface="Arial" panose="020B0604020202020204" pitchFamily="34" charset="0"/>
                </a:rPr>
                <a:t> Current Liabilities</a:t>
              </a:r>
            </a:p>
          </p:txBody>
        </p:sp>
        <p:sp>
          <p:nvSpPr>
            <p:cNvPr id="52235" name="Rectangle 5">
              <a:extLst>
                <a:ext uri="{FF2B5EF4-FFF2-40B4-BE49-F238E27FC236}">
                  <a16:creationId xmlns:a16="http://schemas.microsoft.com/office/drawing/2014/main" id="{76057980-E3BB-4B2D-ABFB-4B9D34C48F9C}"/>
                </a:ext>
              </a:extLst>
            </p:cNvPr>
            <p:cNvSpPr>
              <a:spLocks noChangeArrowheads="1"/>
            </p:cNvSpPr>
            <p:nvPr/>
          </p:nvSpPr>
          <p:spPr bwMode="auto">
            <a:xfrm>
              <a:off x="1931" y="1261"/>
              <a:ext cx="226"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nSpc>
                  <a:spcPct val="120000"/>
                </a:lnSpc>
                <a:spcBef>
                  <a:spcPct val="0"/>
                </a:spcBef>
                <a:buClrTx/>
                <a:buSzTx/>
                <a:buFontTx/>
                <a:buNone/>
              </a:pPr>
              <a:r>
                <a:rPr lang="en-CA" altLang="en-US" sz="2400" b="1">
                  <a:latin typeface="Arial" panose="020B0604020202020204" pitchFamily="34" charset="0"/>
                </a:rPr>
                <a:t>=</a:t>
              </a:r>
            </a:p>
          </p:txBody>
        </p:sp>
        <p:sp>
          <p:nvSpPr>
            <p:cNvPr id="52236" name="Rectangle 6">
              <a:extLst>
                <a:ext uri="{FF2B5EF4-FFF2-40B4-BE49-F238E27FC236}">
                  <a16:creationId xmlns:a16="http://schemas.microsoft.com/office/drawing/2014/main" id="{A4B84892-EF2E-496B-B205-496E90700FA2}"/>
                </a:ext>
              </a:extLst>
            </p:cNvPr>
            <p:cNvSpPr>
              <a:spLocks noChangeArrowheads="1"/>
            </p:cNvSpPr>
            <p:nvPr/>
          </p:nvSpPr>
          <p:spPr bwMode="auto">
            <a:xfrm>
              <a:off x="947" y="1122"/>
              <a:ext cx="997"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ClrTx/>
                <a:buSzTx/>
                <a:buFontTx/>
                <a:buNone/>
              </a:pPr>
              <a:r>
                <a:rPr lang="en-CA" altLang="en-US" sz="2400" b="1" dirty="0">
                  <a:latin typeface="Arial" panose="020B0604020202020204" pitchFamily="34" charset="0"/>
                </a:rPr>
                <a:t>Quick</a:t>
              </a:r>
            </a:p>
            <a:p>
              <a:pPr algn="ctr">
                <a:lnSpc>
                  <a:spcPct val="120000"/>
                </a:lnSpc>
                <a:spcBef>
                  <a:spcPct val="0"/>
                </a:spcBef>
                <a:buClrTx/>
                <a:buSzTx/>
                <a:buFontTx/>
                <a:buNone/>
              </a:pPr>
              <a:r>
                <a:rPr lang="en-CA" altLang="en-US" sz="2400" b="1" dirty="0">
                  <a:latin typeface="Arial" panose="020B0604020202020204" pitchFamily="34" charset="0"/>
                </a:rPr>
                <a:t>Ratio</a:t>
              </a:r>
            </a:p>
          </p:txBody>
        </p:sp>
        <p:sp>
          <p:nvSpPr>
            <p:cNvPr id="52237" name="Line 7">
              <a:extLst>
                <a:ext uri="{FF2B5EF4-FFF2-40B4-BE49-F238E27FC236}">
                  <a16:creationId xmlns:a16="http://schemas.microsoft.com/office/drawing/2014/main" id="{8436FD2F-E663-4505-B1FA-D7E3DEAFE6C0}"/>
                </a:ext>
              </a:extLst>
            </p:cNvPr>
            <p:cNvSpPr>
              <a:spLocks noChangeShapeType="1"/>
            </p:cNvSpPr>
            <p:nvPr/>
          </p:nvSpPr>
          <p:spPr bwMode="auto">
            <a:xfrm>
              <a:off x="2360" y="1422"/>
              <a:ext cx="1616" cy="0"/>
            </a:xfrm>
            <a:prstGeom prst="line">
              <a:avLst/>
            </a:prstGeom>
            <a:noFill/>
            <a:ln w="25399">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8C320A0D-D2D9-45E7-B20F-863993705487}"/>
              </a:ext>
            </a:extLst>
          </p:cNvPr>
          <p:cNvSpPr>
            <a:spLocks noGrp="1"/>
          </p:cNvSpPr>
          <p:nvPr>
            <p:ph type="title"/>
          </p:nvPr>
        </p:nvSpPr>
        <p:spPr/>
        <p:txBody>
          <a:bodyPr/>
          <a:lstStyle/>
          <a:p>
            <a:r>
              <a:rPr lang="en-US" altLang="en-US" dirty="0"/>
              <a:t>13. Cash Ratio</a:t>
            </a:r>
          </a:p>
        </p:txBody>
      </p:sp>
      <p:sp>
        <p:nvSpPr>
          <p:cNvPr id="53250" name="Content Placeholder 2">
            <a:extLst>
              <a:ext uri="{FF2B5EF4-FFF2-40B4-BE49-F238E27FC236}">
                <a16:creationId xmlns:a16="http://schemas.microsoft.com/office/drawing/2014/main" id="{E7B8B59C-FBE3-41E7-8DDA-39CB6AD57129}"/>
              </a:ext>
            </a:extLst>
          </p:cNvPr>
          <p:cNvSpPr>
            <a:spLocks noGrp="1"/>
          </p:cNvSpPr>
          <p:nvPr>
            <p:ph idx="1"/>
          </p:nvPr>
        </p:nvSpPr>
        <p:spPr/>
        <p:txBody>
          <a:bodyPr/>
          <a:lstStyle/>
          <a:p>
            <a:r>
              <a:rPr lang="en-US" altLang="en-US" sz="2400" dirty="0">
                <a:solidFill>
                  <a:srgbClr val="000000"/>
                </a:solidFill>
              </a:rPr>
              <a:t>This ratio measures the adequacy of available cash.</a:t>
            </a:r>
          </a:p>
          <a:p>
            <a:endParaRPr lang="en-US" altLang="en-US" sz="2400" dirty="0"/>
          </a:p>
          <a:p>
            <a:endParaRPr lang="en-US" altLang="en-US" dirty="0"/>
          </a:p>
        </p:txBody>
      </p:sp>
      <p:grpSp>
        <p:nvGrpSpPr>
          <p:cNvPr id="53251" name="Group 3">
            <a:extLst>
              <a:ext uri="{FF2B5EF4-FFF2-40B4-BE49-F238E27FC236}">
                <a16:creationId xmlns:a16="http://schemas.microsoft.com/office/drawing/2014/main" id="{8E84DF84-ED7F-4695-BEAA-95B2F0786ADA}"/>
              </a:ext>
            </a:extLst>
          </p:cNvPr>
          <p:cNvGrpSpPr>
            <a:grpSpLocks/>
          </p:cNvGrpSpPr>
          <p:nvPr/>
        </p:nvGrpSpPr>
        <p:grpSpPr bwMode="auto">
          <a:xfrm>
            <a:off x="614363" y="2362200"/>
            <a:ext cx="6583363" cy="965200"/>
            <a:chOff x="454" y="1105"/>
            <a:chExt cx="4147" cy="608"/>
          </a:xfrm>
        </p:grpSpPr>
        <p:sp>
          <p:nvSpPr>
            <p:cNvPr id="53258" name="Rectangle 4">
              <a:extLst>
                <a:ext uri="{FF2B5EF4-FFF2-40B4-BE49-F238E27FC236}">
                  <a16:creationId xmlns:a16="http://schemas.microsoft.com/office/drawing/2014/main" id="{7DA1AC01-51E7-42DB-A0B6-7203A7DC69E8}"/>
                </a:ext>
              </a:extLst>
            </p:cNvPr>
            <p:cNvSpPr>
              <a:spLocks noChangeArrowheads="1"/>
            </p:cNvSpPr>
            <p:nvPr/>
          </p:nvSpPr>
          <p:spPr bwMode="auto">
            <a:xfrm>
              <a:off x="454" y="1206"/>
              <a:ext cx="131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squar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ClrTx/>
                <a:buSzTx/>
                <a:buFontTx/>
                <a:buNone/>
              </a:pPr>
              <a:r>
                <a:rPr lang="en-CA" altLang="en-US" sz="2400" b="1" dirty="0">
                  <a:latin typeface="Arial" panose="020B0604020202020204" pitchFamily="34" charset="0"/>
                </a:rPr>
                <a:t>Cash Ratio</a:t>
              </a:r>
            </a:p>
          </p:txBody>
        </p:sp>
        <p:sp>
          <p:nvSpPr>
            <p:cNvPr id="53259" name="Rectangle 5">
              <a:extLst>
                <a:ext uri="{FF2B5EF4-FFF2-40B4-BE49-F238E27FC236}">
                  <a16:creationId xmlns:a16="http://schemas.microsoft.com/office/drawing/2014/main" id="{1ED3FC28-495F-4C7C-A87E-1DFA777FBD13}"/>
                </a:ext>
              </a:extLst>
            </p:cNvPr>
            <p:cNvSpPr>
              <a:spLocks noChangeArrowheads="1"/>
            </p:cNvSpPr>
            <p:nvPr/>
          </p:nvSpPr>
          <p:spPr bwMode="auto">
            <a:xfrm>
              <a:off x="2199" y="1105"/>
              <a:ext cx="2402"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ClrTx/>
                <a:buSzTx/>
                <a:buFontTx/>
                <a:buNone/>
              </a:pPr>
              <a:r>
                <a:rPr lang="en-CA" altLang="en-US" sz="2400" b="1">
                  <a:latin typeface="Arial" panose="020B0604020202020204" pitchFamily="34" charset="0"/>
                </a:rPr>
                <a:t>Cash + Cash Equivalents</a:t>
              </a:r>
            </a:p>
            <a:p>
              <a:pPr algn="ctr">
                <a:lnSpc>
                  <a:spcPct val="120000"/>
                </a:lnSpc>
                <a:spcBef>
                  <a:spcPct val="0"/>
                </a:spcBef>
                <a:buClrTx/>
                <a:buSzTx/>
                <a:buFontTx/>
                <a:buNone/>
              </a:pPr>
              <a:r>
                <a:rPr lang="en-CA" altLang="en-US" sz="2400" b="1">
                  <a:latin typeface="Arial" panose="020B0604020202020204" pitchFamily="34" charset="0"/>
                </a:rPr>
                <a:t>Current Liabilities</a:t>
              </a:r>
            </a:p>
          </p:txBody>
        </p:sp>
        <p:sp>
          <p:nvSpPr>
            <p:cNvPr id="53260" name="Rectangle 6">
              <a:extLst>
                <a:ext uri="{FF2B5EF4-FFF2-40B4-BE49-F238E27FC236}">
                  <a16:creationId xmlns:a16="http://schemas.microsoft.com/office/drawing/2014/main" id="{52993539-79EC-48E4-828E-50751AFA2709}"/>
                </a:ext>
              </a:extLst>
            </p:cNvPr>
            <p:cNvSpPr>
              <a:spLocks noChangeArrowheads="1"/>
            </p:cNvSpPr>
            <p:nvPr/>
          </p:nvSpPr>
          <p:spPr bwMode="auto">
            <a:xfrm>
              <a:off x="1907" y="1283"/>
              <a:ext cx="22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0"/>
                </a:spcBef>
                <a:buClrTx/>
                <a:buSzTx/>
                <a:buFontTx/>
                <a:buNone/>
              </a:pPr>
              <a:r>
                <a:rPr lang="en-CA" altLang="en-US" sz="2400" b="1">
                  <a:latin typeface="Arial" panose="020B0604020202020204" pitchFamily="34" charset="0"/>
                </a:rPr>
                <a:t>=</a:t>
              </a:r>
            </a:p>
          </p:txBody>
        </p:sp>
        <p:sp>
          <p:nvSpPr>
            <p:cNvPr id="53261" name="Line 7">
              <a:extLst>
                <a:ext uri="{FF2B5EF4-FFF2-40B4-BE49-F238E27FC236}">
                  <a16:creationId xmlns:a16="http://schemas.microsoft.com/office/drawing/2014/main" id="{A5616938-28F5-40BF-9A4A-1825FFBD2212}"/>
                </a:ext>
              </a:extLst>
            </p:cNvPr>
            <p:cNvSpPr>
              <a:spLocks noChangeShapeType="1"/>
            </p:cNvSpPr>
            <p:nvPr/>
          </p:nvSpPr>
          <p:spPr bwMode="auto">
            <a:xfrm>
              <a:off x="2264" y="1420"/>
              <a:ext cx="2240" cy="0"/>
            </a:xfrm>
            <a:prstGeom prst="line">
              <a:avLst/>
            </a:prstGeom>
            <a:noFill/>
            <a:ln w="25399">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D7AEF1BB-5079-4A4B-94E6-A903A95CBBA8}"/>
              </a:ext>
            </a:extLst>
          </p:cNvPr>
          <p:cNvSpPr>
            <a:spLocks noGrp="1"/>
          </p:cNvSpPr>
          <p:nvPr>
            <p:ph type="title"/>
          </p:nvPr>
        </p:nvSpPr>
        <p:spPr/>
        <p:txBody>
          <a:bodyPr/>
          <a:lstStyle/>
          <a:p>
            <a:r>
              <a:rPr lang="en-US" altLang="en-US"/>
              <a:t>Solvency Ratios</a:t>
            </a:r>
          </a:p>
        </p:txBody>
      </p:sp>
      <p:sp>
        <p:nvSpPr>
          <p:cNvPr id="72706" name="Content Placeholder 2">
            <a:extLst>
              <a:ext uri="{FF2B5EF4-FFF2-40B4-BE49-F238E27FC236}">
                <a16:creationId xmlns:a16="http://schemas.microsoft.com/office/drawing/2014/main" id="{E25561FF-FC20-451E-9C34-4BC02EAF53CC}"/>
              </a:ext>
            </a:extLst>
          </p:cNvPr>
          <p:cNvSpPr>
            <a:spLocks noGrp="1"/>
          </p:cNvSpPr>
          <p:nvPr>
            <p:ph idx="1"/>
          </p:nvPr>
        </p:nvSpPr>
        <p:spPr/>
        <p:txBody>
          <a:bodyPr/>
          <a:lstStyle/>
          <a:p>
            <a:r>
              <a:rPr lang="en-CA" altLang="en-US" b="1" dirty="0"/>
              <a:t>Solvency </a:t>
            </a:r>
            <a:r>
              <a:rPr lang="en-CA" altLang="en-US" dirty="0"/>
              <a:t>refers to a company’s ability to meet its long-term obligations. </a:t>
            </a:r>
          </a:p>
          <a:p>
            <a:endParaRPr lang="en-CA" altLang="en-US" sz="800" dirty="0"/>
          </a:p>
          <a:p>
            <a:r>
              <a:rPr lang="en-CA" altLang="en-US" b="1" dirty="0"/>
              <a:t>Solvency ratios</a:t>
            </a:r>
            <a:r>
              <a:rPr lang="en-CA" altLang="en-US" dirty="0"/>
              <a:t> measure this ability; examples are:</a:t>
            </a:r>
          </a:p>
          <a:p>
            <a:pPr lvl="1"/>
            <a:r>
              <a:rPr lang="en-CA" altLang="en-US" sz="2600" dirty="0">
                <a:solidFill>
                  <a:schemeClr val="tx1"/>
                </a:solidFill>
              </a:rPr>
              <a:t>Times interest earned</a:t>
            </a:r>
          </a:p>
          <a:p>
            <a:pPr lvl="1"/>
            <a:r>
              <a:rPr lang="en-CA" altLang="en-US" sz="2600" dirty="0"/>
              <a:t>C</a:t>
            </a:r>
            <a:r>
              <a:rPr lang="en-CA" altLang="en-US" sz="2600" dirty="0">
                <a:solidFill>
                  <a:schemeClr val="tx1"/>
                </a:solidFill>
              </a:rPr>
              <a:t>ash coverage</a:t>
            </a:r>
          </a:p>
          <a:p>
            <a:pPr lvl="1"/>
            <a:r>
              <a:rPr lang="en-CA" altLang="en-US" sz="2600" dirty="0"/>
              <a:t>D</a:t>
            </a:r>
            <a:r>
              <a:rPr lang="en-CA" altLang="en-US" sz="2600" dirty="0">
                <a:solidFill>
                  <a:schemeClr val="tx1"/>
                </a:solidFill>
              </a:rPr>
              <a:t>ebt-to-equity ratios</a:t>
            </a:r>
            <a:endParaRPr lang="en-US" altLang="en-US" sz="2600" dirty="0">
              <a:solidFill>
                <a:schemeClr val="tx1"/>
              </a:solidFill>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EDE8F073-6F68-4EFF-A3FE-09B43AC2E46F}"/>
              </a:ext>
            </a:extLst>
          </p:cNvPr>
          <p:cNvSpPr>
            <a:spLocks noGrp="1"/>
          </p:cNvSpPr>
          <p:nvPr>
            <p:ph type="title"/>
          </p:nvPr>
        </p:nvSpPr>
        <p:spPr/>
        <p:txBody>
          <a:bodyPr/>
          <a:lstStyle/>
          <a:p>
            <a:r>
              <a:rPr lang="en-US" altLang="en-US" dirty="0"/>
              <a:t>14. Times Interest Earned</a:t>
            </a:r>
          </a:p>
        </p:txBody>
      </p:sp>
      <p:sp>
        <p:nvSpPr>
          <p:cNvPr id="54274" name="Content Placeholder 2">
            <a:extLst>
              <a:ext uri="{FF2B5EF4-FFF2-40B4-BE49-F238E27FC236}">
                <a16:creationId xmlns:a16="http://schemas.microsoft.com/office/drawing/2014/main" id="{DCB329DD-A168-41C5-A55C-7A3812872D73}"/>
              </a:ext>
            </a:extLst>
          </p:cNvPr>
          <p:cNvSpPr>
            <a:spLocks noGrp="1"/>
          </p:cNvSpPr>
          <p:nvPr>
            <p:ph idx="1"/>
          </p:nvPr>
        </p:nvSpPr>
        <p:spPr/>
        <p:txBody>
          <a:bodyPr/>
          <a:lstStyle/>
          <a:p>
            <a:r>
              <a:rPr lang="en-CA" altLang="en-US" dirty="0"/>
              <a:t>This ratio indicates a margin of protection for creditors. </a:t>
            </a:r>
          </a:p>
          <a:p>
            <a:endParaRPr lang="en-US" altLang="en-US" dirty="0"/>
          </a:p>
        </p:txBody>
      </p:sp>
      <p:grpSp>
        <p:nvGrpSpPr>
          <p:cNvPr id="54275" name="Group 20">
            <a:extLst>
              <a:ext uri="{FF2B5EF4-FFF2-40B4-BE49-F238E27FC236}">
                <a16:creationId xmlns:a16="http://schemas.microsoft.com/office/drawing/2014/main" id="{579BBDB2-BC5F-48EC-8B0F-B75CFE1274DE}"/>
              </a:ext>
            </a:extLst>
          </p:cNvPr>
          <p:cNvGrpSpPr>
            <a:grpSpLocks/>
          </p:cNvGrpSpPr>
          <p:nvPr/>
        </p:nvGrpSpPr>
        <p:grpSpPr bwMode="auto">
          <a:xfrm>
            <a:off x="265873" y="2205792"/>
            <a:ext cx="8397875" cy="1452563"/>
            <a:chOff x="192" y="1660"/>
            <a:chExt cx="5290" cy="915"/>
          </a:xfrm>
        </p:grpSpPr>
        <p:sp>
          <p:nvSpPr>
            <p:cNvPr id="54282" name="Rectangle 1029">
              <a:extLst>
                <a:ext uri="{FF2B5EF4-FFF2-40B4-BE49-F238E27FC236}">
                  <a16:creationId xmlns:a16="http://schemas.microsoft.com/office/drawing/2014/main" id="{E8D79BE5-AAFE-4D2D-8F80-85FBA034EDDF}"/>
                </a:ext>
              </a:extLst>
            </p:cNvPr>
            <p:cNvSpPr>
              <a:spLocks noChangeArrowheads="1"/>
            </p:cNvSpPr>
            <p:nvPr/>
          </p:nvSpPr>
          <p:spPr bwMode="auto">
            <a:xfrm>
              <a:off x="1738" y="1660"/>
              <a:ext cx="3744"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nSpc>
                  <a:spcPct val="120000"/>
                </a:lnSpc>
                <a:spcBef>
                  <a:spcPct val="0"/>
                </a:spcBef>
                <a:buClrTx/>
                <a:buSzTx/>
                <a:buFontTx/>
                <a:buNone/>
              </a:pPr>
              <a:r>
                <a:rPr lang="en-CA" altLang="en-US" sz="2400" b="1" dirty="0">
                  <a:latin typeface="Arial" panose="020B0604020202020204" pitchFamily="34" charset="0"/>
                </a:rPr>
                <a:t>Net Earnings     Interest       Income Tax </a:t>
              </a:r>
              <a:br>
                <a:rPr lang="en-CA" altLang="en-US" sz="2400" b="1" dirty="0">
                  <a:latin typeface="Arial" panose="020B0604020202020204" pitchFamily="34" charset="0"/>
                </a:rPr>
              </a:br>
              <a:r>
                <a:rPr lang="en-CA" altLang="en-US" sz="2400" b="1" dirty="0">
                  <a:latin typeface="Arial" panose="020B0604020202020204" pitchFamily="34" charset="0"/>
                </a:rPr>
                <a:t>                           Expense        </a:t>
              </a:r>
              <a:r>
                <a:rPr lang="en-CA" altLang="en-US" sz="2400" b="1" dirty="0" err="1">
                  <a:latin typeface="Arial" panose="020B0604020202020204" pitchFamily="34" charset="0"/>
                </a:rPr>
                <a:t>Expense</a:t>
              </a:r>
              <a:br>
                <a:rPr lang="en-CA" altLang="en-US" sz="2400" b="1" dirty="0">
                  <a:latin typeface="Arial" panose="020B0604020202020204" pitchFamily="34" charset="0"/>
                </a:rPr>
              </a:br>
              <a:r>
                <a:rPr lang="en-CA" altLang="en-US" sz="2400" b="1" dirty="0">
                  <a:latin typeface="Arial" panose="020B0604020202020204" pitchFamily="34" charset="0"/>
                </a:rPr>
                <a:t>                   Interest Expense</a:t>
              </a:r>
            </a:p>
          </p:txBody>
        </p:sp>
        <p:sp>
          <p:nvSpPr>
            <p:cNvPr id="54283" name="Line 1030">
              <a:extLst>
                <a:ext uri="{FF2B5EF4-FFF2-40B4-BE49-F238E27FC236}">
                  <a16:creationId xmlns:a16="http://schemas.microsoft.com/office/drawing/2014/main" id="{02B1816F-D955-464F-A65C-BC1C5658504E}"/>
                </a:ext>
              </a:extLst>
            </p:cNvPr>
            <p:cNvSpPr>
              <a:spLocks noChangeShapeType="1"/>
            </p:cNvSpPr>
            <p:nvPr/>
          </p:nvSpPr>
          <p:spPr bwMode="auto">
            <a:xfrm>
              <a:off x="2016" y="2254"/>
              <a:ext cx="3311" cy="0"/>
            </a:xfrm>
            <a:prstGeom prst="line">
              <a:avLst/>
            </a:prstGeom>
            <a:noFill/>
            <a:ln w="25399">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284" name="Rectangle 1031">
              <a:extLst>
                <a:ext uri="{FF2B5EF4-FFF2-40B4-BE49-F238E27FC236}">
                  <a16:creationId xmlns:a16="http://schemas.microsoft.com/office/drawing/2014/main" id="{CDBF1A22-8533-4064-A023-F0DBF631E857}"/>
                </a:ext>
              </a:extLst>
            </p:cNvPr>
            <p:cNvSpPr>
              <a:spLocks noChangeArrowheads="1"/>
            </p:cNvSpPr>
            <p:nvPr/>
          </p:nvSpPr>
          <p:spPr bwMode="auto">
            <a:xfrm>
              <a:off x="192" y="1707"/>
              <a:ext cx="1306"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squar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50000"/>
                </a:spcBef>
                <a:buClrTx/>
                <a:buSzTx/>
                <a:buFontTx/>
                <a:buNone/>
              </a:pPr>
              <a:r>
                <a:rPr lang="en-CA" altLang="en-US" sz="2400" b="1" dirty="0">
                  <a:latin typeface="Arial" panose="020B0604020202020204" pitchFamily="34" charset="0"/>
                </a:rPr>
                <a:t>Times Interest Earned Ratio</a:t>
              </a:r>
            </a:p>
          </p:txBody>
        </p:sp>
        <p:sp>
          <p:nvSpPr>
            <p:cNvPr id="54285" name="Rectangle 1032">
              <a:extLst>
                <a:ext uri="{FF2B5EF4-FFF2-40B4-BE49-F238E27FC236}">
                  <a16:creationId xmlns:a16="http://schemas.microsoft.com/office/drawing/2014/main" id="{429FDE42-BDAF-4DAA-A09A-81724ACC79A2}"/>
                </a:ext>
              </a:extLst>
            </p:cNvPr>
            <p:cNvSpPr>
              <a:spLocks noChangeArrowheads="1"/>
            </p:cNvSpPr>
            <p:nvPr/>
          </p:nvSpPr>
          <p:spPr bwMode="auto">
            <a:xfrm>
              <a:off x="1444" y="2025"/>
              <a:ext cx="294"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a:latin typeface="Arial" panose="020B0604020202020204" pitchFamily="34" charset="0"/>
                </a:rPr>
                <a:t>=</a:t>
              </a:r>
            </a:p>
          </p:txBody>
        </p:sp>
        <p:sp>
          <p:nvSpPr>
            <p:cNvPr id="54286" name="Rectangle 1033">
              <a:extLst>
                <a:ext uri="{FF2B5EF4-FFF2-40B4-BE49-F238E27FC236}">
                  <a16:creationId xmlns:a16="http://schemas.microsoft.com/office/drawing/2014/main" id="{F48B22EE-9655-4954-8889-184F64DBBCAF}"/>
                </a:ext>
              </a:extLst>
            </p:cNvPr>
            <p:cNvSpPr>
              <a:spLocks noChangeArrowheads="1"/>
            </p:cNvSpPr>
            <p:nvPr/>
          </p:nvSpPr>
          <p:spPr bwMode="auto">
            <a:xfrm>
              <a:off x="2990" y="1824"/>
              <a:ext cx="22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0"/>
                </a:spcBef>
                <a:buClrTx/>
                <a:buSzTx/>
                <a:buFontTx/>
                <a:buNone/>
              </a:pPr>
              <a:r>
                <a:rPr lang="en-CA" altLang="en-US" sz="2400" b="1">
                  <a:latin typeface="Arial" panose="020B0604020202020204" pitchFamily="34" charset="0"/>
                </a:rPr>
                <a:t>+</a:t>
              </a:r>
            </a:p>
          </p:txBody>
        </p:sp>
        <p:sp>
          <p:nvSpPr>
            <p:cNvPr id="54287" name="Rectangle 1034">
              <a:extLst>
                <a:ext uri="{FF2B5EF4-FFF2-40B4-BE49-F238E27FC236}">
                  <a16:creationId xmlns:a16="http://schemas.microsoft.com/office/drawing/2014/main" id="{E3015A58-09D6-424B-AD1F-FF0BF2AC37F8}"/>
                </a:ext>
              </a:extLst>
            </p:cNvPr>
            <p:cNvSpPr>
              <a:spLocks noChangeArrowheads="1"/>
            </p:cNvSpPr>
            <p:nvPr/>
          </p:nvSpPr>
          <p:spPr bwMode="auto">
            <a:xfrm>
              <a:off x="4032" y="1826"/>
              <a:ext cx="22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0"/>
                </a:spcBef>
                <a:buClrTx/>
                <a:buSzTx/>
                <a:buFontTx/>
                <a:buNone/>
              </a:pPr>
              <a:r>
                <a:rPr lang="en-CA" altLang="en-US" sz="2400" b="1">
                  <a:latin typeface="Arial" panose="020B0604020202020204" pitchFamily="34" charset="0"/>
                </a:rPr>
                <a:t>+</a:t>
              </a:r>
            </a:p>
          </p:txBody>
        </p:sp>
      </p:gr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94143FE1-8BB6-479A-999B-ADE37193BC38}"/>
              </a:ext>
            </a:extLst>
          </p:cNvPr>
          <p:cNvSpPr>
            <a:spLocks noGrp="1"/>
          </p:cNvSpPr>
          <p:nvPr>
            <p:ph type="title"/>
          </p:nvPr>
        </p:nvSpPr>
        <p:spPr/>
        <p:txBody>
          <a:bodyPr/>
          <a:lstStyle/>
          <a:p>
            <a:r>
              <a:rPr lang="en-US" altLang="en-US" dirty="0"/>
              <a:t>15. Cash Coverage Ratio</a:t>
            </a:r>
          </a:p>
        </p:txBody>
      </p:sp>
      <p:sp>
        <p:nvSpPr>
          <p:cNvPr id="55298" name="Content Placeholder 2">
            <a:extLst>
              <a:ext uri="{FF2B5EF4-FFF2-40B4-BE49-F238E27FC236}">
                <a16:creationId xmlns:a16="http://schemas.microsoft.com/office/drawing/2014/main" id="{1C5A3334-92B8-45CF-B51A-78168044F019}"/>
              </a:ext>
            </a:extLst>
          </p:cNvPr>
          <p:cNvSpPr>
            <a:spLocks noGrp="1"/>
          </p:cNvSpPr>
          <p:nvPr>
            <p:ph idx="1"/>
          </p:nvPr>
        </p:nvSpPr>
        <p:spPr/>
        <p:txBody>
          <a:bodyPr/>
          <a:lstStyle/>
          <a:p>
            <a:r>
              <a:rPr lang="en-US" altLang="en-US"/>
              <a:t>This ratio compares the cash generated with the cash obligations of the period.</a:t>
            </a:r>
          </a:p>
          <a:p>
            <a:endParaRPr lang="en-US" altLang="en-US"/>
          </a:p>
        </p:txBody>
      </p:sp>
      <p:grpSp>
        <p:nvGrpSpPr>
          <p:cNvPr id="55299" name="Group 1040">
            <a:extLst>
              <a:ext uri="{FF2B5EF4-FFF2-40B4-BE49-F238E27FC236}">
                <a16:creationId xmlns:a16="http://schemas.microsoft.com/office/drawing/2014/main" id="{D191970B-0AD3-44D7-B532-1CD998D492D8}"/>
              </a:ext>
            </a:extLst>
          </p:cNvPr>
          <p:cNvGrpSpPr>
            <a:grpSpLocks/>
          </p:cNvGrpSpPr>
          <p:nvPr/>
        </p:nvGrpSpPr>
        <p:grpSpPr bwMode="auto">
          <a:xfrm>
            <a:off x="160338" y="2406650"/>
            <a:ext cx="8831262" cy="1485900"/>
            <a:chOff x="-280" y="1105"/>
            <a:chExt cx="5563" cy="936"/>
          </a:xfrm>
        </p:grpSpPr>
        <p:sp>
          <p:nvSpPr>
            <p:cNvPr id="55306" name="Rectangle 1041">
              <a:extLst>
                <a:ext uri="{FF2B5EF4-FFF2-40B4-BE49-F238E27FC236}">
                  <a16:creationId xmlns:a16="http://schemas.microsoft.com/office/drawing/2014/main" id="{C4B39488-30AC-4A66-86F3-38C7D9F960BF}"/>
                </a:ext>
              </a:extLst>
            </p:cNvPr>
            <p:cNvSpPr>
              <a:spLocks noChangeArrowheads="1"/>
            </p:cNvSpPr>
            <p:nvPr/>
          </p:nvSpPr>
          <p:spPr bwMode="auto">
            <a:xfrm>
              <a:off x="-280" y="1173"/>
              <a:ext cx="1192"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ClrTx/>
                <a:buSzTx/>
                <a:buFontTx/>
                <a:buNone/>
              </a:pPr>
              <a:r>
                <a:rPr lang="en-CA" altLang="en-US" sz="2400" b="1">
                  <a:latin typeface="Arial" panose="020B0604020202020204" pitchFamily="34" charset="0"/>
                </a:rPr>
                <a:t>Cash</a:t>
              </a:r>
              <a:br>
                <a:rPr lang="en-CA" altLang="en-US" sz="2400" b="1">
                  <a:latin typeface="Arial" panose="020B0604020202020204" pitchFamily="34" charset="0"/>
                </a:rPr>
              </a:br>
              <a:r>
                <a:rPr lang="en-CA" altLang="en-US" sz="2400" b="1">
                  <a:latin typeface="Arial" panose="020B0604020202020204" pitchFamily="34" charset="0"/>
                </a:rPr>
                <a:t>Coverage </a:t>
              </a:r>
            </a:p>
            <a:p>
              <a:pPr algn="ctr">
                <a:lnSpc>
                  <a:spcPct val="120000"/>
                </a:lnSpc>
                <a:spcBef>
                  <a:spcPct val="0"/>
                </a:spcBef>
                <a:buClrTx/>
                <a:buSzTx/>
                <a:buFontTx/>
                <a:buNone/>
              </a:pPr>
              <a:r>
                <a:rPr lang="en-CA" altLang="en-US" sz="2400" b="1">
                  <a:latin typeface="Arial" panose="020B0604020202020204" pitchFamily="34" charset="0"/>
                </a:rPr>
                <a:t>Ratio</a:t>
              </a:r>
            </a:p>
          </p:txBody>
        </p:sp>
        <p:sp>
          <p:nvSpPr>
            <p:cNvPr id="55307" name="Rectangle 1042">
              <a:extLst>
                <a:ext uri="{FF2B5EF4-FFF2-40B4-BE49-F238E27FC236}">
                  <a16:creationId xmlns:a16="http://schemas.microsoft.com/office/drawing/2014/main" id="{9CE2EDA3-B629-4EF5-BC56-6981FE6F81D5}"/>
                </a:ext>
              </a:extLst>
            </p:cNvPr>
            <p:cNvSpPr>
              <a:spLocks noChangeArrowheads="1"/>
            </p:cNvSpPr>
            <p:nvPr/>
          </p:nvSpPr>
          <p:spPr bwMode="auto">
            <a:xfrm>
              <a:off x="1104" y="1105"/>
              <a:ext cx="4179"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ClrTx/>
                <a:buSzTx/>
                <a:buFontTx/>
                <a:buNone/>
              </a:pPr>
              <a:r>
                <a:rPr lang="en-CA" altLang="en-US" sz="2400" b="1">
                  <a:latin typeface="Arial" panose="020B0604020202020204" pitchFamily="34" charset="0"/>
                </a:rPr>
                <a:t>Cash Flow from Operating Activities</a:t>
              </a:r>
              <a:br>
                <a:rPr lang="en-CA" altLang="en-US" sz="2400" b="1">
                  <a:latin typeface="Arial" panose="020B0604020202020204" pitchFamily="34" charset="0"/>
                </a:rPr>
              </a:br>
              <a:r>
                <a:rPr lang="en-CA" altLang="en-US" sz="2400" b="1">
                  <a:latin typeface="Arial" panose="020B0604020202020204" pitchFamily="34" charset="0"/>
                </a:rPr>
                <a:t>Before Interest and Taxes</a:t>
              </a:r>
              <a:br>
                <a:rPr lang="en-CA" altLang="en-US" sz="2400" b="1">
                  <a:latin typeface="Arial" panose="020B0604020202020204" pitchFamily="34" charset="0"/>
                </a:rPr>
              </a:br>
              <a:r>
                <a:rPr lang="en-CA" altLang="en-US" sz="2400" b="1">
                  <a:latin typeface="Arial" panose="020B0604020202020204" pitchFamily="34" charset="0"/>
                </a:rPr>
                <a:t>Interest Paid (from statement of cash flows)</a:t>
              </a:r>
            </a:p>
          </p:txBody>
        </p:sp>
        <p:sp>
          <p:nvSpPr>
            <p:cNvPr id="55308" name="Rectangle 1043">
              <a:extLst>
                <a:ext uri="{FF2B5EF4-FFF2-40B4-BE49-F238E27FC236}">
                  <a16:creationId xmlns:a16="http://schemas.microsoft.com/office/drawing/2014/main" id="{363E2AAC-7233-44FE-B2F8-063FB5B01FDC}"/>
                </a:ext>
              </a:extLst>
            </p:cNvPr>
            <p:cNvSpPr>
              <a:spLocks noChangeArrowheads="1"/>
            </p:cNvSpPr>
            <p:nvPr/>
          </p:nvSpPr>
          <p:spPr bwMode="auto">
            <a:xfrm>
              <a:off x="833" y="1511"/>
              <a:ext cx="22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0"/>
                </a:spcBef>
                <a:buClrTx/>
                <a:buSzTx/>
                <a:buFontTx/>
                <a:buNone/>
              </a:pPr>
              <a:r>
                <a:rPr lang="en-CA" altLang="en-US" sz="2400" b="1">
                  <a:latin typeface="Arial" panose="020B0604020202020204" pitchFamily="34" charset="0"/>
                </a:rPr>
                <a:t>=</a:t>
              </a:r>
            </a:p>
          </p:txBody>
        </p:sp>
        <p:sp>
          <p:nvSpPr>
            <p:cNvPr id="55309" name="Line 1044">
              <a:extLst>
                <a:ext uri="{FF2B5EF4-FFF2-40B4-BE49-F238E27FC236}">
                  <a16:creationId xmlns:a16="http://schemas.microsoft.com/office/drawing/2014/main" id="{D6127F52-B5E0-4C3A-8C20-80939CC8C04F}"/>
                </a:ext>
              </a:extLst>
            </p:cNvPr>
            <p:cNvSpPr>
              <a:spLocks noChangeShapeType="1"/>
            </p:cNvSpPr>
            <p:nvPr/>
          </p:nvSpPr>
          <p:spPr bwMode="auto">
            <a:xfrm>
              <a:off x="1514" y="1714"/>
              <a:ext cx="3422" cy="0"/>
            </a:xfrm>
            <a:prstGeom prst="line">
              <a:avLst/>
            </a:prstGeom>
            <a:noFill/>
            <a:ln w="25399">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B08659DA-D774-4356-897F-5BA2C9DCE422}"/>
              </a:ext>
            </a:extLst>
          </p:cNvPr>
          <p:cNvSpPr>
            <a:spLocks noGrp="1"/>
          </p:cNvSpPr>
          <p:nvPr>
            <p:ph type="title"/>
          </p:nvPr>
        </p:nvSpPr>
        <p:spPr/>
        <p:txBody>
          <a:bodyPr/>
          <a:lstStyle/>
          <a:p>
            <a:r>
              <a:rPr lang="en-US" altLang="en-US" dirty="0"/>
              <a:t>16. Debt-to-Equity Ratio</a:t>
            </a:r>
          </a:p>
        </p:txBody>
      </p:sp>
      <p:sp>
        <p:nvSpPr>
          <p:cNvPr id="56322" name="Content Placeholder 2">
            <a:extLst>
              <a:ext uri="{FF2B5EF4-FFF2-40B4-BE49-F238E27FC236}">
                <a16:creationId xmlns:a16="http://schemas.microsoft.com/office/drawing/2014/main" id="{3625F240-9F5E-4744-9ED6-405709DC8E36}"/>
              </a:ext>
            </a:extLst>
          </p:cNvPr>
          <p:cNvSpPr>
            <a:spLocks noGrp="1"/>
          </p:cNvSpPr>
          <p:nvPr>
            <p:ph idx="1"/>
          </p:nvPr>
        </p:nvSpPr>
        <p:spPr/>
        <p:txBody>
          <a:bodyPr/>
          <a:lstStyle/>
          <a:p>
            <a:r>
              <a:rPr lang="en-US" altLang="en-US" dirty="0">
                <a:solidFill>
                  <a:srgbClr val="000000"/>
                </a:solidFill>
              </a:rPr>
              <a:t>This ratio </a:t>
            </a:r>
            <a:r>
              <a:rPr lang="en-CA" dirty="0"/>
              <a:t>expresses a company’s debt as a proportion of its shareholders’ equity. </a:t>
            </a:r>
          </a:p>
          <a:p>
            <a:endParaRPr lang="en-CA" sz="800" dirty="0"/>
          </a:p>
          <a:p>
            <a:r>
              <a:rPr lang="en-CA" dirty="0"/>
              <a:t>It is computed as follows:</a:t>
            </a:r>
            <a:endParaRPr lang="en-US" altLang="en-US" dirty="0"/>
          </a:p>
        </p:txBody>
      </p:sp>
      <p:grpSp>
        <p:nvGrpSpPr>
          <p:cNvPr id="56323" name="Group 18">
            <a:extLst>
              <a:ext uri="{FF2B5EF4-FFF2-40B4-BE49-F238E27FC236}">
                <a16:creationId xmlns:a16="http://schemas.microsoft.com/office/drawing/2014/main" id="{14181D25-848C-49DB-AD09-C8324D8526C9}"/>
              </a:ext>
            </a:extLst>
          </p:cNvPr>
          <p:cNvGrpSpPr>
            <a:grpSpLocks/>
          </p:cNvGrpSpPr>
          <p:nvPr/>
        </p:nvGrpSpPr>
        <p:grpSpPr bwMode="auto">
          <a:xfrm>
            <a:off x="1143000" y="3225800"/>
            <a:ext cx="6567488" cy="965200"/>
            <a:chOff x="1066800" y="1747839"/>
            <a:chExt cx="6567489" cy="965200"/>
          </a:xfrm>
        </p:grpSpPr>
        <p:grpSp>
          <p:nvGrpSpPr>
            <p:cNvPr id="56330" name="Group 19">
              <a:extLst>
                <a:ext uri="{FF2B5EF4-FFF2-40B4-BE49-F238E27FC236}">
                  <a16:creationId xmlns:a16="http://schemas.microsoft.com/office/drawing/2014/main" id="{88E78979-AF3C-427B-ADC4-3B57E72778FD}"/>
                </a:ext>
              </a:extLst>
            </p:cNvPr>
            <p:cNvGrpSpPr>
              <a:grpSpLocks/>
            </p:cNvGrpSpPr>
            <p:nvPr/>
          </p:nvGrpSpPr>
          <p:grpSpPr bwMode="auto">
            <a:xfrm>
              <a:off x="1066800" y="1747839"/>
              <a:ext cx="6567489" cy="965200"/>
              <a:chOff x="672" y="1101"/>
              <a:chExt cx="4137" cy="608"/>
            </a:xfrm>
          </p:grpSpPr>
          <p:sp>
            <p:nvSpPr>
              <p:cNvPr id="56332" name="Rectangle 4">
                <a:extLst>
                  <a:ext uri="{FF2B5EF4-FFF2-40B4-BE49-F238E27FC236}">
                    <a16:creationId xmlns:a16="http://schemas.microsoft.com/office/drawing/2014/main" id="{E6D94679-1121-480F-99CF-18021F2B522D}"/>
                  </a:ext>
                </a:extLst>
              </p:cNvPr>
              <p:cNvSpPr>
                <a:spLocks noChangeArrowheads="1"/>
              </p:cNvSpPr>
              <p:nvPr/>
            </p:nvSpPr>
            <p:spPr bwMode="auto">
              <a:xfrm>
                <a:off x="2776" y="1101"/>
                <a:ext cx="2033"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ClrTx/>
                  <a:buSzTx/>
                  <a:buFontTx/>
                  <a:buNone/>
                </a:pPr>
                <a:r>
                  <a:rPr lang="en-CA" altLang="en-US" sz="2400" b="1">
                    <a:latin typeface="Arial" panose="020B0604020202020204" pitchFamily="34" charset="0"/>
                  </a:rPr>
                  <a:t>Total Liabilities</a:t>
                </a:r>
              </a:p>
              <a:p>
                <a:pPr algn="ctr">
                  <a:lnSpc>
                    <a:spcPct val="120000"/>
                  </a:lnSpc>
                  <a:spcBef>
                    <a:spcPct val="0"/>
                  </a:spcBef>
                  <a:buClrTx/>
                  <a:buSzTx/>
                  <a:buFontTx/>
                  <a:buNone/>
                </a:pPr>
                <a:r>
                  <a:rPr lang="en-CA" altLang="en-US" sz="2400" b="1">
                    <a:latin typeface="Arial" panose="020B0604020202020204" pitchFamily="34" charset="0"/>
                  </a:rPr>
                  <a:t>Shareholders’ Equity</a:t>
                </a:r>
              </a:p>
            </p:txBody>
          </p:sp>
          <p:sp>
            <p:nvSpPr>
              <p:cNvPr id="56333" name="Rectangle 6">
                <a:extLst>
                  <a:ext uri="{FF2B5EF4-FFF2-40B4-BE49-F238E27FC236}">
                    <a16:creationId xmlns:a16="http://schemas.microsoft.com/office/drawing/2014/main" id="{FAB007D7-86DD-482C-A5A9-1589B6C3672A}"/>
                  </a:ext>
                </a:extLst>
              </p:cNvPr>
              <p:cNvSpPr>
                <a:spLocks noChangeArrowheads="1"/>
              </p:cNvSpPr>
              <p:nvPr/>
            </p:nvSpPr>
            <p:spPr bwMode="auto">
              <a:xfrm>
                <a:off x="672" y="1101"/>
                <a:ext cx="1491"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50000"/>
                  </a:spcBef>
                  <a:buClrTx/>
                  <a:buSzTx/>
                  <a:buFontTx/>
                  <a:buNone/>
                </a:pPr>
                <a:r>
                  <a:rPr lang="en-CA" altLang="en-US" sz="2400" b="1" dirty="0">
                    <a:latin typeface="Arial" panose="020B0604020202020204" pitchFamily="34" charset="0"/>
                  </a:rPr>
                  <a:t>Debt-to-Equity Ratio</a:t>
                </a:r>
              </a:p>
            </p:txBody>
          </p:sp>
          <p:sp>
            <p:nvSpPr>
              <p:cNvPr id="56334" name="Rectangle 7">
                <a:extLst>
                  <a:ext uri="{FF2B5EF4-FFF2-40B4-BE49-F238E27FC236}">
                    <a16:creationId xmlns:a16="http://schemas.microsoft.com/office/drawing/2014/main" id="{3A0C030A-35E4-4117-8C42-4CAFF8EC35F6}"/>
                  </a:ext>
                </a:extLst>
              </p:cNvPr>
              <p:cNvSpPr>
                <a:spLocks noChangeArrowheads="1"/>
              </p:cNvSpPr>
              <p:nvPr/>
            </p:nvSpPr>
            <p:spPr bwMode="auto">
              <a:xfrm>
                <a:off x="2253" y="1262"/>
                <a:ext cx="294"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dirty="0">
                    <a:latin typeface="Arial" panose="020B0604020202020204" pitchFamily="34" charset="0"/>
                  </a:rPr>
                  <a:t>=</a:t>
                </a:r>
              </a:p>
            </p:txBody>
          </p:sp>
        </p:grpSp>
        <p:cxnSp>
          <p:nvCxnSpPr>
            <p:cNvPr id="6" name="Straight Connector 5">
              <a:extLst>
                <a:ext uri="{FF2B5EF4-FFF2-40B4-BE49-F238E27FC236}">
                  <a16:creationId xmlns:a16="http://schemas.microsoft.com/office/drawing/2014/main" id="{839D46C2-C06F-4943-B31A-A0A28987466F}"/>
                </a:ext>
              </a:extLst>
            </p:cNvPr>
            <p:cNvCxnSpPr>
              <a:stCxn id="56332" idx="1"/>
              <a:endCxn id="56332" idx="3"/>
            </p:cNvCxnSpPr>
            <p:nvPr/>
          </p:nvCxnSpPr>
          <p:spPr>
            <a:xfrm rot="10800000" flipH="1">
              <a:off x="4406901" y="2235202"/>
              <a:ext cx="3224213"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a:extLst>
              <a:ext uri="{FF2B5EF4-FFF2-40B4-BE49-F238E27FC236}">
                <a16:creationId xmlns:a16="http://schemas.microsoft.com/office/drawing/2014/main" id="{D97314A0-D186-4BD4-8A9B-75AA5C394BD8}"/>
              </a:ext>
            </a:extLst>
          </p:cNvPr>
          <p:cNvSpPr>
            <a:spLocks noGrp="1"/>
          </p:cNvSpPr>
          <p:nvPr>
            <p:ph type="title"/>
          </p:nvPr>
        </p:nvSpPr>
        <p:spPr/>
        <p:txBody>
          <a:bodyPr/>
          <a:lstStyle/>
          <a:p>
            <a:r>
              <a:rPr lang="en-US" altLang="en-US"/>
              <a:t>Market Ratios</a:t>
            </a:r>
          </a:p>
        </p:txBody>
      </p:sp>
      <p:sp>
        <p:nvSpPr>
          <p:cNvPr id="73730" name="Content Placeholder 2">
            <a:extLst>
              <a:ext uri="{FF2B5EF4-FFF2-40B4-BE49-F238E27FC236}">
                <a16:creationId xmlns:a16="http://schemas.microsoft.com/office/drawing/2014/main" id="{72C7526C-6EC2-4359-9C08-8919CFF2DBDC}"/>
              </a:ext>
            </a:extLst>
          </p:cNvPr>
          <p:cNvSpPr>
            <a:spLocks noGrp="1"/>
          </p:cNvSpPr>
          <p:nvPr>
            <p:ph idx="1"/>
          </p:nvPr>
        </p:nvSpPr>
        <p:spPr/>
        <p:txBody>
          <a:bodyPr/>
          <a:lstStyle/>
          <a:p>
            <a:r>
              <a:rPr lang="en-CA" altLang="en-US" dirty="0"/>
              <a:t>Some ratios, often called </a:t>
            </a:r>
            <a:r>
              <a:rPr lang="en-CA" altLang="en-US" b="1" dirty="0"/>
              <a:t>market ratios</a:t>
            </a:r>
            <a:r>
              <a:rPr lang="en-CA" altLang="en-US" dirty="0"/>
              <a:t>, relate the current market price per share to the return that accrues to shareholders. </a:t>
            </a:r>
          </a:p>
          <a:p>
            <a:endParaRPr lang="en-CA" altLang="en-US" sz="800" dirty="0"/>
          </a:p>
          <a:p>
            <a:r>
              <a:rPr lang="en-CA" altLang="en-US" dirty="0"/>
              <a:t>Many analysts prefer these ratios because they are based on the current value of an owner’s investment in a company.</a:t>
            </a:r>
            <a:endParaRPr lang="en-US" altLang="en-US" dirty="0"/>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25A2C7AD-69DD-4FC4-9DAC-DF87CA05D182}"/>
              </a:ext>
            </a:extLst>
          </p:cNvPr>
          <p:cNvSpPr>
            <a:spLocks noGrp="1"/>
          </p:cNvSpPr>
          <p:nvPr>
            <p:ph type="title"/>
          </p:nvPr>
        </p:nvSpPr>
        <p:spPr/>
        <p:txBody>
          <a:bodyPr/>
          <a:lstStyle/>
          <a:p>
            <a:r>
              <a:rPr lang="en-US" altLang="en-US" dirty="0"/>
              <a:t>17. Price/Earnings (P/E) Ratio</a:t>
            </a:r>
          </a:p>
        </p:txBody>
      </p:sp>
      <p:sp>
        <p:nvSpPr>
          <p:cNvPr id="57346" name="Content Placeholder 2">
            <a:extLst>
              <a:ext uri="{FF2B5EF4-FFF2-40B4-BE49-F238E27FC236}">
                <a16:creationId xmlns:a16="http://schemas.microsoft.com/office/drawing/2014/main" id="{7598CBC1-297B-4543-B438-023578F77917}"/>
              </a:ext>
            </a:extLst>
          </p:cNvPr>
          <p:cNvSpPr>
            <a:spLocks noGrp="1"/>
          </p:cNvSpPr>
          <p:nvPr>
            <p:ph idx="1"/>
          </p:nvPr>
        </p:nvSpPr>
        <p:spPr/>
        <p:txBody>
          <a:bodyPr/>
          <a:lstStyle/>
          <a:p>
            <a:r>
              <a:rPr lang="en-CA" altLang="en-US" dirty="0">
                <a:solidFill>
                  <a:srgbClr val="000000"/>
                </a:solidFill>
              </a:rPr>
              <a:t>This ratio measures the relationship between the current market price of the share and its earnings per share.</a:t>
            </a:r>
          </a:p>
          <a:p>
            <a:endParaRPr lang="en-CA" altLang="en-US" sz="2800" dirty="0">
              <a:latin typeface="Arial" panose="020B0604020202020204" pitchFamily="34" charset="0"/>
            </a:endParaRPr>
          </a:p>
          <a:p>
            <a:endParaRPr lang="en-US" altLang="en-US" dirty="0"/>
          </a:p>
        </p:txBody>
      </p:sp>
      <p:grpSp>
        <p:nvGrpSpPr>
          <p:cNvPr id="57347" name="Group 3">
            <a:extLst>
              <a:ext uri="{FF2B5EF4-FFF2-40B4-BE49-F238E27FC236}">
                <a16:creationId xmlns:a16="http://schemas.microsoft.com/office/drawing/2014/main" id="{6CCFA63B-4F2C-47F3-839B-7BC88751381A}"/>
              </a:ext>
            </a:extLst>
          </p:cNvPr>
          <p:cNvGrpSpPr>
            <a:grpSpLocks/>
          </p:cNvGrpSpPr>
          <p:nvPr/>
        </p:nvGrpSpPr>
        <p:grpSpPr bwMode="auto">
          <a:xfrm>
            <a:off x="787400" y="2616200"/>
            <a:ext cx="7594600" cy="965200"/>
            <a:chOff x="599" y="928"/>
            <a:chExt cx="4784" cy="608"/>
          </a:xfrm>
        </p:grpSpPr>
        <p:sp>
          <p:nvSpPr>
            <p:cNvPr id="57353" name="Rectangle 4">
              <a:extLst>
                <a:ext uri="{FF2B5EF4-FFF2-40B4-BE49-F238E27FC236}">
                  <a16:creationId xmlns:a16="http://schemas.microsoft.com/office/drawing/2014/main" id="{21E4DF37-0356-463B-8F3F-64DD8B211A38}"/>
                </a:ext>
              </a:extLst>
            </p:cNvPr>
            <p:cNvSpPr>
              <a:spLocks noChangeArrowheads="1"/>
            </p:cNvSpPr>
            <p:nvPr/>
          </p:nvSpPr>
          <p:spPr bwMode="auto">
            <a:xfrm>
              <a:off x="599" y="987"/>
              <a:ext cx="1526"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0"/>
                </a:spcBef>
                <a:buClrTx/>
                <a:buSzTx/>
                <a:buFontTx/>
                <a:buNone/>
              </a:pPr>
              <a:r>
                <a:rPr lang="en-CA" altLang="en-US" sz="2400" b="1" dirty="0">
                  <a:latin typeface="Arial" panose="020B0604020202020204" pitchFamily="34" charset="0"/>
                </a:rPr>
                <a:t>Price/Earnings </a:t>
              </a:r>
            </a:p>
            <a:p>
              <a:pPr algn="ctr">
                <a:spcBef>
                  <a:spcPct val="0"/>
                </a:spcBef>
                <a:buClrTx/>
                <a:buSzTx/>
                <a:buFontTx/>
                <a:buNone/>
              </a:pPr>
              <a:r>
                <a:rPr lang="en-CA" altLang="en-US" sz="2400" b="1" dirty="0">
                  <a:latin typeface="Arial" panose="020B0604020202020204" pitchFamily="34" charset="0"/>
                </a:rPr>
                <a:t>Ratio</a:t>
              </a:r>
            </a:p>
          </p:txBody>
        </p:sp>
        <p:sp>
          <p:nvSpPr>
            <p:cNvPr id="57354" name="Rectangle 5">
              <a:extLst>
                <a:ext uri="{FF2B5EF4-FFF2-40B4-BE49-F238E27FC236}">
                  <a16:creationId xmlns:a16="http://schemas.microsoft.com/office/drawing/2014/main" id="{5E8D2C80-6772-49E6-BCBA-5DA371C72973}"/>
                </a:ext>
              </a:extLst>
            </p:cNvPr>
            <p:cNvSpPr>
              <a:spLocks noChangeArrowheads="1"/>
            </p:cNvSpPr>
            <p:nvPr/>
          </p:nvSpPr>
          <p:spPr bwMode="auto">
            <a:xfrm>
              <a:off x="2429" y="928"/>
              <a:ext cx="2954"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ClrTx/>
                <a:buSzTx/>
                <a:buFontTx/>
                <a:buNone/>
              </a:pPr>
              <a:r>
                <a:rPr lang="en-CA" altLang="en-US" sz="2400" b="1" dirty="0">
                  <a:latin typeface="Arial" panose="020B0604020202020204" pitchFamily="34" charset="0"/>
                </a:rPr>
                <a:t>Current Market Price Per Share</a:t>
              </a:r>
              <a:br>
                <a:rPr lang="en-CA" altLang="en-US" sz="2400" b="1" dirty="0">
                  <a:latin typeface="Arial" panose="020B0604020202020204" pitchFamily="34" charset="0"/>
                </a:rPr>
              </a:br>
              <a:r>
                <a:rPr lang="en-CA" altLang="en-US" sz="2400" b="1" dirty="0">
                  <a:latin typeface="Arial" panose="020B0604020202020204" pitchFamily="34" charset="0"/>
                </a:rPr>
                <a:t>Earnings Per Share</a:t>
              </a:r>
            </a:p>
          </p:txBody>
        </p:sp>
        <p:sp>
          <p:nvSpPr>
            <p:cNvPr id="57355" name="Line 6">
              <a:extLst>
                <a:ext uri="{FF2B5EF4-FFF2-40B4-BE49-F238E27FC236}">
                  <a16:creationId xmlns:a16="http://schemas.microsoft.com/office/drawing/2014/main" id="{B74B1504-0212-45C5-9E8E-B0B39604DF0D}"/>
                </a:ext>
              </a:extLst>
            </p:cNvPr>
            <p:cNvSpPr>
              <a:spLocks noChangeShapeType="1"/>
            </p:cNvSpPr>
            <p:nvPr/>
          </p:nvSpPr>
          <p:spPr bwMode="auto">
            <a:xfrm>
              <a:off x="2503" y="1248"/>
              <a:ext cx="2867" cy="0"/>
            </a:xfrm>
            <a:prstGeom prst="line">
              <a:avLst/>
            </a:prstGeom>
            <a:noFill/>
            <a:ln w="25399">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4" name="Rectangle 7">
            <a:extLst>
              <a:ext uri="{FF2B5EF4-FFF2-40B4-BE49-F238E27FC236}">
                <a16:creationId xmlns:a16="http://schemas.microsoft.com/office/drawing/2014/main" id="{EFF97546-A83C-234C-ABC7-46402607321A}"/>
              </a:ext>
            </a:extLst>
          </p:cNvPr>
          <p:cNvSpPr>
            <a:spLocks noChangeArrowheads="1"/>
          </p:cNvSpPr>
          <p:nvPr/>
        </p:nvSpPr>
        <p:spPr bwMode="auto">
          <a:xfrm>
            <a:off x="3190875" y="2898775"/>
            <a:ext cx="4667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dirty="0">
                <a:latin typeface="Arial" panose="020B0604020202020204" pitchFamily="34" charset="0"/>
              </a:rPr>
              <a:t>=</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24BDBFC7-667D-4552-B2C2-C38CBE103DE3}"/>
              </a:ext>
            </a:extLst>
          </p:cNvPr>
          <p:cNvSpPr>
            <a:spLocks noGrp="1"/>
          </p:cNvSpPr>
          <p:nvPr>
            <p:ph type="title"/>
          </p:nvPr>
        </p:nvSpPr>
        <p:spPr/>
        <p:txBody>
          <a:bodyPr/>
          <a:lstStyle/>
          <a:p>
            <a:r>
              <a:rPr lang="en-US" altLang="en-US" dirty="0"/>
              <a:t>18. Dividend Yield Ratio</a:t>
            </a:r>
          </a:p>
        </p:txBody>
      </p:sp>
      <p:sp>
        <p:nvSpPr>
          <p:cNvPr id="3" name="Content Placeholder 2">
            <a:extLst>
              <a:ext uri="{FF2B5EF4-FFF2-40B4-BE49-F238E27FC236}">
                <a16:creationId xmlns:a16="http://schemas.microsoft.com/office/drawing/2014/main" id="{38C21071-130B-479D-B6D8-6292EF1E81EE}"/>
              </a:ext>
            </a:extLst>
          </p:cNvPr>
          <p:cNvSpPr>
            <a:spLocks noGrp="1"/>
          </p:cNvSpPr>
          <p:nvPr>
            <p:ph idx="1"/>
          </p:nvPr>
        </p:nvSpPr>
        <p:spPr/>
        <p:txBody>
          <a:bodyPr/>
          <a:lstStyle/>
          <a:p>
            <a:pPr>
              <a:buFont typeface="Wingdings 3" pitchFamily="2" charset="2"/>
              <a:buChar char=""/>
              <a:defRPr/>
            </a:pPr>
            <a:r>
              <a:rPr lang="en-CA" dirty="0"/>
              <a:t>When investors buy shares, they expect returns from two sources: dividend income and price appreciation. </a:t>
            </a:r>
          </a:p>
          <a:p>
            <a:pPr>
              <a:buFont typeface="Wingdings 3" pitchFamily="2" charset="2"/>
              <a:buChar char=""/>
              <a:defRPr/>
            </a:pPr>
            <a:endParaRPr lang="en-CA" sz="800" dirty="0"/>
          </a:p>
          <a:p>
            <a:pPr>
              <a:buFont typeface="Wingdings 3" pitchFamily="2" charset="2"/>
              <a:buChar char=""/>
              <a:defRPr/>
            </a:pPr>
            <a:r>
              <a:rPr lang="en-CA" dirty="0"/>
              <a:t>The </a:t>
            </a:r>
            <a:r>
              <a:rPr lang="en-CA" i="1" dirty="0"/>
              <a:t>dividend yield ratio</a:t>
            </a:r>
            <a:r>
              <a:rPr lang="en-CA" dirty="0"/>
              <a:t> measures the relationship between the dividend per share paid to shareholders and the current market price per share. </a:t>
            </a:r>
            <a:endParaRPr lang="en-US" dirty="0"/>
          </a:p>
        </p:txBody>
      </p:sp>
      <p:grpSp>
        <p:nvGrpSpPr>
          <p:cNvPr id="58371" name="Group 3">
            <a:extLst>
              <a:ext uri="{FF2B5EF4-FFF2-40B4-BE49-F238E27FC236}">
                <a16:creationId xmlns:a16="http://schemas.microsoft.com/office/drawing/2014/main" id="{37FA8113-C196-4F63-9BB2-BCCA612BFCEC}"/>
              </a:ext>
            </a:extLst>
          </p:cNvPr>
          <p:cNvGrpSpPr>
            <a:grpSpLocks/>
          </p:cNvGrpSpPr>
          <p:nvPr/>
        </p:nvGrpSpPr>
        <p:grpSpPr bwMode="auto">
          <a:xfrm>
            <a:off x="995363" y="3886200"/>
            <a:ext cx="6827837" cy="965200"/>
            <a:chOff x="746" y="1057"/>
            <a:chExt cx="4301" cy="608"/>
          </a:xfrm>
        </p:grpSpPr>
        <p:sp>
          <p:nvSpPr>
            <p:cNvPr id="58377" name="Rectangle 4">
              <a:extLst>
                <a:ext uri="{FF2B5EF4-FFF2-40B4-BE49-F238E27FC236}">
                  <a16:creationId xmlns:a16="http://schemas.microsoft.com/office/drawing/2014/main" id="{88FEDBEA-2098-433A-A095-6D99D395C895}"/>
                </a:ext>
              </a:extLst>
            </p:cNvPr>
            <p:cNvSpPr>
              <a:spLocks noChangeArrowheads="1"/>
            </p:cNvSpPr>
            <p:nvPr/>
          </p:nvSpPr>
          <p:spPr bwMode="auto">
            <a:xfrm>
              <a:off x="746" y="1057"/>
              <a:ext cx="1109" cy="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lnSpc>
                  <a:spcPct val="120000"/>
                </a:lnSpc>
                <a:spcBef>
                  <a:spcPct val="0"/>
                </a:spcBef>
                <a:buClrTx/>
                <a:buSzTx/>
                <a:buFontTx/>
                <a:buNone/>
              </a:pPr>
              <a:r>
                <a:rPr lang="en-CA" altLang="en-US" sz="2400" b="1" dirty="0">
                  <a:latin typeface="Arial" panose="020B0604020202020204" pitchFamily="34" charset="0"/>
                </a:rPr>
                <a:t>Dividend</a:t>
              </a:r>
            </a:p>
            <a:p>
              <a:pPr algn="ctr">
                <a:lnSpc>
                  <a:spcPct val="120000"/>
                </a:lnSpc>
                <a:spcBef>
                  <a:spcPct val="0"/>
                </a:spcBef>
                <a:buClrTx/>
                <a:buSzTx/>
                <a:buFontTx/>
                <a:buNone/>
              </a:pPr>
              <a:r>
                <a:rPr lang="en-CA" altLang="en-US" sz="2400" b="1" dirty="0">
                  <a:latin typeface="Arial" panose="020B0604020202020204" pitchFamily="34" charset="0"/>
                </a:rPr>
                <a:t>Yield Ratio</a:t>
              </a:r>
            </a:p>
          </p:txBody>
        </p:sp>
        <p:sp>
          <p:nvSpPr>
            <p:cNvPr id="58378" name="Rectangle 5">
              <a:extLst>
                <a:ext uri="{FF2B5EF4-FFF2-40B4-BE49-F238E27FC236}">
                  <a16:creationId xmlns:a16="http://schemas.microsoft.com/office/drawing/2014/main" id="{A2C45A16-34DD-4C8D-882A-FA608A313168}"/>
                </a:ext>
              </a:extLst>
            </p:cNvPr>
            <p:cNvSpPr>
              <a:spLocks noChangeArrowheads="1"/>
            </p:cNvSpPr>
            <p:nvPr/>
          </p:nvSpPr>
          <p:spPr bwMode="auto">
            <a:xfrm>
              <a:off x="2483" y="1057"/>
              <a:ext cx="2564"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nSpc>
                  <a:spcPct val="120000"/>
                </a:lnSpc>
                <a:spcBef>
                  <a:spcPct val="0"/>
                </a:spcBef>
                <a:buClrTx/>
                <a:buSzTx/>
                <a:buFontTx/>
                <a:buNone/>
              </a:pPr>
              <a:r>
                <a:rPr lang="en-CA" altLang="en-US" sz="2400" b="1" dirty="0">
                  <a:latin typeface="Arial" panose="020B0604020202020204" pitchFamily="34" charset="0"/>
                </a:rPr>
                <a:t>      Dividends Per Share     </a:t>
              </a:r>
            </a:p>
            <a:p>
              <a:pPr>
                <a:lnSpc>
                  <a:spcPct val="120000"/>
                </a:lnSpc>
                <a:spcBef>
                  <a:spcPct val="0"/>
                </a:spcBef>
                <a:buClrTx/>
                <a:buSzTx/>
                <a:buFontTx/>
                <a:buNone/>
              </a:pPr>
              <a:r>
                <a:rPr lang="en-CA" altLang="en-US" sz="2400" b="1" dirty="0">
                  <a:latin typeface="Arial" panose="020B0604020202020204" pitchFamily="34" charset="0"/>
                </a:rPr>
                <a:t>    Market Price Per Share</a:t>
              </a:r>
            </a:p>
          </p:txBody>
        </p:sp>
        <p:sp>
          <p:nvSpPr>
            <p:cNvPr id="58379" name="Rectangle 6">
              <a:extLst>
                <a:ext uri="{FF2B5EF4-FFF2-40B4-BE49-F238E27FC236}">
                  <a16:creationId xmlns:a16="http://schemas.microsoft.com/office/drawing/2014/main" id="{513E3194-DB49-42E8-9BC7-04A86E7054F7}"/>
                </a:ext>
              </a:extLst>
            </p:cNvPr>
            <p:cNvSpPr>
              <a:spLocks noChangeArrowheads="1"/>
            </p:cNvSpPr>
            <p:nvPr/>
          </p:nvSpPr>
          <p:spPr bwMode="auto">
            <a:xfrm>
              <a:off x="2147" y="1218"/>
              <a:ext cx="22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0"/>
                </a:spcBef>
                <a:buClrTx/>
                <a:buSzTx/>
                <a:buFontTx/>
                <a:buNone/>
              </a:pPr>
              <a:r>
                <a:rPr lang="en-CA" altLang="en-US" sz="2400" b="1">
                  <a:latin typeface="Arial" panose="020B0604020202020204" pitchFamily="34" charset="0"/>
                </a:rPr>
                <a:t>=</a:t>
              </a:r>
            </a:p>
          </p:txBody>
        </p:sp>
        <p:sp>
          <p:nvSpPr>
            <p:cNvPr id="58380" name="Line 7">
              <a:extLst>
                <a:ext uri="{FF2B5EF4-FFF2-40B4-BE49-F238E27FC236}">
                  <a16:creationId xmlns:a16="http://schemas.microsoft.com/office/drawing/2014/main" id="{FEA2849D-2BA9-45D5-8DA1-6515E1C4D769}"/>
                </a:ext>
              </a:extLst>
            </p:cNvPr>
            <p:cNvSpPr>
              <a:spLocks noChangeShapeType="1"/>
            </p:cNvSpPr>
            <p:nvPr/>
          </p:nvSpPr>
          <p:spPr bwMode="auto">
            <a:xfrm>
              <a:off x="2744" y="1359"/>
              <a:ext cx="2096" cy="0"/>
            </a:xfrm>
            <a:prstGeom prst="line">
              <a:avLst/>
            </a:prstGeom>
            <a:noFill/>
            <a:ln w="25399">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60B3EED5-1A70-479C-BC03-07F8B33A4B2B}"/>
              </a:ext>
            </a:extLst>
          </p:cNvPr>
          <p:cNvSpPr>
            <a:spLocks noGrp="1"/>
          </p:cNvSpPr>
          <p:nvPr>
            <p:ph type="title"/>
          </p:nvPr>
        </p:nvSpPr>
        <p:spPr>
          <a:xfrm>
            <a:off x="457200" y="274637"/>
            <a:ext cx="8229600" cy="792163"/>
          </a:xfrm>
        </p:spPr>
        <p:txBody>
          <a:bodyPr/>
          <a:lstStyle/>
          <a:p>
            <a:r>
              <a:rPr lang="en-US" altLang="en-US" dirty="0"/>
              <a:t>Interpreting Ratios and Other Analytical Considerations</a:t>
            </a:r>
          </a:p>
        </p:txBody>
      </p:sp>
      <p:sp>
        <p:nvSpPr>
          <p:cNvPr id="75778" name="Content Placeholder 2">
            <a:extLst>
              <a:ext uri="{FF2B5EF4-FFF2-40B4-BE49-F238E27FC236}">
                <a16:creationId xmlns:a16="http://schemas.microsoft.com/office/drawing/2014/main" id="{CEF578FD-F3CA-4A1E-8E9C-32E587FCF661}"/>
              </a:ext>
            </a:extLst>
          </p:cNvPr>
          <p:cNvSpPr>
            <a:spLocks noGrp="1"/>
          </p:cNvSpPr>
          <p:nvPr>
            <p:ph idx="1"/>
          </p:nvPr>
        </p:nvSpPr>
        <p:spPr/>
        <p:txBody>
          <a:bodyPr/>
          <a:lstStyle/>
          <a:p>
            <a:r>
              <a:rPr lang="en-US" altLang="en-US" dirty="0"/>
              <a:t>Ratios </a:t>
            </a:r>
            <a:r>
              <a:rPr lang="en-CA" altLang="en-US" dirty="0"/>
              <a:t>may be interpreted by comparison with ratios of other companies or with industry average ratios.</a:t>
            </a:r>
          </a:p>
          <a:p>
            <a:endParaRPr lang="en-CA" altLang="en-US" sz="800" dirty="0"/>
          </a:p>
          <a:p>
            <a:r>
              <a:rPr lang="en-CA" altLang="en-US" dirty="0"/>
              <a:t>Ratios may vary because of the company’s industry characteristics, nature of operations, size, and accounting policies.  </a:t>
            </a:r>
          </a:p>
          <a:p>
            <a:endParaRPr lang="en-US" altLang="en-US" dirty="0"/>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
            <a:extLst>
              <a:ext uri="{FF2B5EF4-FFF2-40B4-BE49-F238E27FC236}">
                <a16:creationId xmlns:a16="http://schemas.microsoft.com/office/drawing/2014/main" id="{A83F6527-90F9-41DA-B16D-6D6BCE02456D}"/>
              </a:ext>
            </a:extLst>
          </p:cNvPr>
          <p:cNvSpPr>
            <a:spLocks noGrp="1"/>
          </p:cNvSpPr>
          <p:nvPr>
            <p:ph type="title"/>
          </p:nvPr>
        </p:nvSpPr>
        <p:spPr/>
        <p:txBody>
          <a:bodyPr/>
          <a:lstStyle/>
          <a:p>
            <a:r>
              <a:rPr lang="en-US" altLang="en-US"/>
              <a:t>Other Financial Information</a:t>
            </a:r>
          </a:p>
        </p:txBody>
      </p:sp>
      <p:sp>
        <p:nvSpPr>
          <p:cNvPr id="3" name="Content Placeholder 2">
            <a:extLst>
              <a:ext uri="{FF2B5EF4-FFF2-40B4-BE49-F238E27FC236}">
                <a16:creationId xmlns:a16="http://schemas.microsoft.com/office/drawing/2014/main" id="{B0F5075E-92E5-4C17-81B4-E5EF6B5A5312}"/>
              </a:ext>
            </a:extLst>
          </p:cNvPr>
          <p:cNvSpPr>
            <a:spLocks noGrp="1"/>
          </p:cNvSpPr>
          <p:nvPr>
            <p:ph idx="1"/>
          </p:nvPr>
        </p:nvSpPr>
        <p:spPr/>
        <p:txBody>
          <a:bodyPr/>
          <a:lstStyle/>
          <a:p>
            <a:pPr>
              <a:buFont typeface="Wingdings 3" pitchFamily="2" charset="2"/>
              <a:buChar char=""/>
              <a:defRPr/>
            </a:pPr>
            <a:r>
              <a:rPr lang="en-US" dirty="0"/>
              <a:t>In addition to financial ratios, special factors might affect company analysis:</a:t>
            </a:r>
          </a:p>
          <a:p>
            <a:pPr lvl="1">
              <a:buFont typeface="Wingdings 3" pitchFamily="2" charset="2"/>
              <a:buChar char=""/>
              <a:defRPr/>
            </a:pPr>
            <a:r>
              <a:rPr lang="en-US" sz="2600" dirty="0">
                <a:solidFill>
                  <a:schemeClr val="tx1"/>
                </a:solidFill>
              </a:rPr>
              <a:t>Rapid growth.</a:t>
            </a:r>
          </a:p>
          <a:p>
            <a:pPr lvl="1">
              <a:buFont typeface="Wingdings 3" pitchFamily="2" charset="2"/>
              <a:buChar char=""/>
              <a:defRPr/>
            </a:pPr>
            <a:r>
              <a:rPr lang="en-US" sz="2600" dirty="0">
                <a:solidFill>
                  <a:schemeClr val="tx1"/>
                </a:solidFill>
              </a:rPr>
              <a:t>Uneconomical expansion.</a:t>
            </a:r>
          </a:p>
          <a:p>
            <a:pPr lvl="1">
              <a:buFont typeface="Wingdings 3" pitchFamily="2" charset="2"/>
              <a:buChar char=""/>
              <a:defRPr/>
            </a:pPr>
            <a:r>
              <a:rPr lang="en-US" sz="2600" dirty="0"/>
              <a:t>Non-financial information.</a:t>
            </a:r>
            <a:endParaRPr lang="en-US" sz="2600" dirty="0">
              <a:solidFill>
                <a:schemeClr val="tx1"/>
              </a:solidFill>
            </a:endParaRPr>
          </a:p>
          <a:p>
            <a:pPr marL="274638" lvl="1" indent="0">
              <a:buFont typeface="Wingdings 3" pitchFamily="2" charset="2"/>
              <a:buNone/>
              <a:defRPr/>
            </a:pPr>
            <a:endParaRPr lang="en-US" sz="800" dirty="0">
              <a:solidFill>
                <a:schemeClr val="tx1"/>
              </a:solidFill>
            </a:endParaRPr>
          </a:p>
          <a:p>
            <a:pPr>
              <a:buFont typeface="Wingdings 3" pitchFamily="2" charset="2"/>
              <a:buChar char=""/>
              <a:defRPr/>
            </a:pPr>
            <a:r>
              <a:rPr lang="en-CA" dirty="0"/>
              <a:t>No single approach can be used to analyze all companies.</a:t>
            </a:r>
          </a:p>
          <a:p>
            <a:pPr>
              <a:buFont typeface="Wingdings 3" pitchFamily="2" charset="2"/>
              <a:buChar char=""/>
              <a:defRPr/>
            </a:pPr>
            <a:endParaRPr lang="en-CA" sz="800" dirty="0"/>
          </a:p>
          <a:p>
            <a:pPr>
              <a:buFont typeface="Wingdings 3" pitchFamily="2" charset="2"/>
              <a:buChar char=""/>
              <a:defRPr/>
            </a:pPr>
            <a:r>
              <a:rPr lang="en-CA" dirty="0"/>
              <a:t>An effective analyst will look beyond the information contained in an annual report.</a:t>
            </a:r>
            <a:endParaRPr lang="en-US" dirty="0"/>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2DBCC6C5-74C5-411B-8611-77A4B64448B6}"/>
              </a:ext>
            </a:extLst>
          </p:cNvPr>
          <p:cNvSpPr>
            <a:spLocks noGrp="1"/>
          </p:cNvSpPr>
          <p:nvPr>
            <p:ph type="title"/>
          </p:nvPr>
        </p:nvSpPr>
        <p:spPr/>
        <p:txBody>
          <a:bodyPr/>
          <a:lstStyle/>
          <a:p>
            <a:r>
              <a:rPr lang="en-US" altLang="en-US"/>
              <a:t>End of Chapter Summary Part 1</a:t>
            </a:r>
          </a:p>
        </p:txBody>
      </p:sp>
      <p:sp>
        <p:nvSpPr>
          <p:cNvPr id="59394" name="Content Placeholder 2">
            <a:extLst>
              <a:ext uri="{FF2B5EF4-FFF2-40B4-BE49-F238E27FC236}">
                <a16:creationId xmlns:a16="http://schemas.microsoft.com/office/drawing/2014/main" id="{38A68FAD-A9A2-4BB6-8AB7-B638D1281FCA}"/>
              </a:ext>
            </a:extLst>
          </p:cNvPr>
          <p:cNvSpPr>
            <a:spLocks noGrp="1"/>
          </p:cNvSpPr>
          <p:nvPr>
            <p:ph idx="1"/>
          </p:nvPr>
        </p:nvSpPr>
        <p:spPr/>
        <p:txBody>
          <a:bodyPr/>
          <a:lstStyle/>
          <a:p>
            <a:r>
              <a:rPr lang="en-CA" altLang="en-US"/>
              <a:t>Management of the reporting company must decide on the appropriate format (categories) and level of detail to present in its financial reports. </a:t>
            </a:r>
          </a:p>
          <a:p>
            <a:r>
              <a:rPr lang="en-CA" altLang="en-US"/>
              <a:t>Independent audits increase the credibility of the information.</a:t>
            </a:r>
          </a:p>
          <a:p>
            <a:r>
              <a:rPr lang="en-CA" altLang="en-US"/>
              <a:t>Earnings are first made public in press releases. </a:t>
            </a:r>
          </a:p>
          <a:p>
            <a:r>
              <a:rPr lang="en-CA" altLang="en-US"/>
              <a:t>Analysts use financial statements to understand present conditions and past performance, as well as to predict future performance.</a:t>
            </a:r>
          </a:p>
          <a:p>
            <a:r>
              <a:rPr lang="en-CA" altLang="en-US"/>
              <a:t>To calculate component percentages for the statement of earnings, the base amount is net sales. Each expense is expressed as a percentage of net sales. </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4470ECAD-A294-40D2-96B1-DA22C2F3FDBF}"/>
              </a:ext>
            </a:extLst>
          </p:cNvPr>
          <p:cNvSpPr>
            <a:spLocks noGrp="1"/>
          </p:cNvSpPr>
          <p:nvPr>
            <p:ph type="title"/>
          </p:nvPr>
        </p:nvSpPr>
        <p:spPr/>
        <p:txBody>
          <a:bodyPr/>
          <a:lstStyle/>
          <a:p>
            <a:r>
              <a:rPr lang="en-US" altLang="en-US"/>
              <a:t>End of Chapter Summary Part 2</a:t>
            </a:r>
          </a:p>
        </p:txBody>
      </p:sp>
      <p:sp>
        <p:nvSpPr>
          <p:cNvPr id="60418" name="Content Placeholder 2">
            <a:extLst>
              <a:ext uri="{FF2B5EF4-FFF2-40B4-BE49-F238E27FC236}">
                <a16:creationId xmlns:a16="http://schemas.microsoft.com/office/drawing/2014/main" id="{17E8AC91-134E-4543-9D5D-7E0D21C24062}"/>
              </a:ext>
            </a:extLst>
          </p:cNvPr>
          <p:cNvSpPr>
            <a:spLocks noGrp="1"/>
          </p:cNvSpPr>
          <p:nvPr>
            <p:ph idx="1"/>
          </p:nvPr>
        </p:nvSpPr>
        <p:spPr/>
        <p:txBody>
          <a:bodyPr/>
          <a:lstStyle/>
          <a:p>
            <a:r>
              <a:rPr lang="en-CA" altLang="en-US" dirty="0"/>
              <a:t>On the statement of financial position, the base amount is total assets; the balance of each account is divided by total assets. </a:t>
            </a:r>
          </a:p>
          <a:p>
            <a:endParaRPr lang="en-CA" altLang="en-US" sz="800" dirty="0"/>
          </a:p>
          <a:p>
            <a:r>
              <a:rPr lang="en-CA" altLang="en-US" dirty="0"/>
              <a:t>Component percentages are evaluated by comparing them over time for a single company or by comparing them with percentages for similar companies.</a:t>
            </a:r>
          </a:p>
          <a:p>
            <a:endParaRPr lang="en-CA" altLang="en-US" sz="800" dirty="0"/>
          </a:p>
          <a:p>
            <a:r>
              <a:rPr lang="en-CA" altLang="en-US" dirty="0"/>
              <a:t>Several profitability ratios focus on measuring the adequacy of net earnings by comparing it to other items reported on the financial statements.</a:t>
            </a:r>
          </a:p>
          <a:p>
            <a:endParaRPr lang="en-CA" altLang="en-US" sz="800" dirty="0"/>
          </a:p>
          <a:p>
            <a:r>
              <a:rPr lang="en-CA" altLang="en-US" dirty="0"/>
              <a:t>Asset turnover ratios focus on capturing how effectively a company uses its assets.</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a:extLst>
              <a:ext uri="{FF2B5EF4-FFF2-40B4-BE49-F238E27FC236}">
                <a16:creationId xmlns:a16="http://schemas.microsoft.com/office/drawing/2014/main" id="{4D443880-B0B8-4D33-BB15-B6B46B21859D}"/>
              </a:ext>
            </a:extLst>
          </p:cNvPr>
          <p:cNvSpPr>
            <a:spLocks noGrp="1"/>
          </p:cNvSpPr>
          <p:nvPr>
            <p:ph type="title"/>
          </p:nvPr>
        </p:nvSpPr>
        <p:spPr/>
        <p:txBody>
          <a:bodyPr/>
          <a:lstStyle/>
          <a:p>
            <a:r>
              <a:rPr lang="en-US" altLang="en-US"/>
              <a:t>End of Chapter Summary Part 3</a:t>
            </a:r>
          </a:p>
        </p:txBody>
      </p:sp>
      <p:sp>
        <p:nvSpPr>
          <p:cNvPr id="61442" name="Content Placeholder 2">
            <a:extLst>
              <a:ext uri="{FF2B5EF4-FFF2-40B4-BE49-F238E27FC236}">
                <a16:creationId xmlns:a16="http://schemas.microsoft.com/office/drawing/2014/main" id="{886250B8-9F3E-465B-B5CF-99D344959E82}"/>
              </a:ext>
            </a:extLst>
          </p:cNvPr>
          <p:cNvSpPr>
            <a:spLocks noGrp="1"/>
          </p:cNvSpPr>
          <p:nvPr>
            <p:ph idx="1"/>
          </p:nvPr>
        </p:nvSpPr>
        <p:spPr/>
        <p:txBody>
          <a:bodyPr/>
          <a:lstStyle/>
          <a:p>
            <a:r>
              <a:rPr lang="en-CA" altLang="en-US" dirty="0"/>
              <a:t>Liquidity ratios measure a company’s ability to meet its short-term obligations.</a:t>
            </a:r>
          </a:p>
          <a:p>
            <a:endParaRPr lang="en-CA" altLang="en-US" sz="800" dirty="0"/>
          </a:p>
          <a:p>
            <a:r>
              <a:rPr lang="en-CA" altLang="en-US" dirty="0"/>
              <a:t>Solvency ratios measure a company’s ability to meet its long-term obligations. </a:t>
            </a:r>
          </a:p>
          <a:p>
            <a:endParaRPr lang="en-CA" altLang="en-US" sz="800" dirty="0"/>
          </a:p>
          <a:p>
            <a:r>
              <a:rPr lang="en-CA" altLang="en-US" dirty="0"/>
              <a:t>Market ratios relate the current price per share to the return that accrues to investors. </a:t>
            </a:r>
          </a:p>
        </p:txBody>
      </p:sp>
    </p:spTree>
  </p:cSld>
  <p:clrMapOvr>
    <a:masterClrMapping/>
  </p:clrMapOvr>
  <p:transition/>
</p:sld>
</file>

<file path=ppt/theme/theme1.xml><?xml version="1.0" encoding="utf-8"?>
<a:theme xmlns:a="http://schemas.openxmlformats.org/drawingml/2006/main" name="1_Origin">
  <a:themeElements>
    <a:clrScheme name="1_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rigin">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rigin">
  <a:themeElements>
    <a:clrScheme name="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rigin">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c565d9a4-9658-4688-95dd-39b4aa857904" xsi:nil="true"/>
    <lcf76f155ced4ddcb4097134ff3c332f xmlns="ae52743f-d902-49b8-9d67-4e33f635a22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AF903EFA6F1304185B8B76D382796C3" ma:contentTypeVersion="12" ma:contentTypeDescription="Create a new document." ma:contentTypeScope="" ma:versionID="8327e696ad964eaa8757dd69c911c21b">
  <xsd:schema xmlns:xsd="http://www.w3.org/2001/XMLSchema" xmlns:xs="http://www.w3.org/2001/XMLSchema" xmlns:p="http://schemas.microsoft.com/office/2006/metadata/properties" xmlns:ns2="ae52743f-d902-49b8-9d67-4e33f635a226" xmlns:ns3="c565d9a4-9658-4688-95dd-39b4aa857904" targetNamespace="http://schemas.microsoft.com/office/2006/metadata/properties" ma:root="true" ma:fieldsID="9bdd7b4fa1f3b16ad4a21c7811265856" ns2:_="" ns3:_="">
    <xsd:import namespace="ae52743f-d902-49b8-9d67-4e33f635a226"/>
    <xsd:import namespace="c565d9a4-9658-4688-95dd-39b4aa857904"/>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52743f-d902-49b8-9d67-4e33f635a2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db8617a1-beef-4e24-867f-51551f54cfe0"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565d9a4-9658-4688-95dd-39b4aa857904"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147f1666-22d5-4ad8-96bb-8851b0759287}" ma:internalName="TaxCatchAll" ma:showField="CatchAllData" ma:web="c565d9a4-9658-4688-95dd-39b4aa857904">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49A2E71-1722-4232-9D75-D0CBBE794652}">
  <ds:schemaRefs>
    <ds:schemaRef ds:uri="http://schemas.microsoft.com/sharepoint/v3/contenttype/forms"/>
  </ds:schemaRefs>
</ds:datastoreItem>
</file>

<file path=customXml/itemProps2.xml><?xml version="1.0" encoding="utf-8"?>
<ds:datastoreItem xmlns:ds="http://schemas.openxmlformats.org/officeDocument/2006/customXml" ds:itemID="{5C4D7BC2-2447-45C7-8C8D-F4B386A82956}">
  <ds:schemaRefs>
    <ds:schemaRef ds:uri="http://schemas.microsoft.com/office/2006/metadata/properties"/>
    <ds:schemaRef ds:uri="http://schemas.microsoft.com/office/infopath/2007/PartnerControls"/>
    <ds:schemaRef ds:uri="c565d9a4-9658-4688-95dd-39b4aa857904"/>
    <ds:schemaRef ds:uri="ae52743f-d902-49b8-9d67-4e33f635a226"/>
  </ds:schemaRefs>
</ds:datastoreItem>
</file>

<file path=customXml/itemProps3.xml><?xml version="1.0" encoding="utf-8"?>
<ds:datastoreItem xmlns:ds="http://schemas.openxmlformats.org/officeDocument/2006/customXml" ds:itemID="{5EE88991-7769-431D-A59F-9A3B44DA0A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52743f-d902-49b8-9d67-4e33f635a226"/>
    <ds:schemaRef ds:uri="c565d9a4-9658-4688-95dd-39b4aa8579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5769</TotalTime>
  <Words>5403</Words>
  <Application>Microsoft Office PowerPoint</Application>
  <PresentationFormat>On-screen Show (4:3)</PresentationFormat>
  <Paragraphs>560</Paragraphs>
  <Slides>79</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79</vt:i4>
      </vt:variant>
    </vt:vector>
  </HeadingPairs>
  <TitlesOfParts>
    <vt:vector size="87" baseType="lpstr">
      <vt:lpstr>Arial</vt:lpstr>
      <vt:lpstr>Calibri</vt:lpstr>
      <vt:lpstr>inherit</vt:lpstr>
      <vt:lpstr>Times New Roman</vt:lpstr>
      <vt:lpstr>Wingdings</vt:lpstr>
      <vt:lpstr>Wingdings 3</vt:lpstr>
      <vt:lpstr>1_Origin</vt:lpstr>
      <vt:lpstr>Origin</vt:lpstr>
      <vt:lpstr>PowerPoint Presentation</vt:lpstr>
      <vt:lpstr>Learning Objectives</vt:lpstr>
      <vt:lpstr>Learning Objectives Continued</vt:lpstr>
      <vt:lpstr>Ensuring the Integrity of Financial Information</vt:lpstr>
      <vt:lpstr>Regulators Part 1</vt:lpstr>
      <vt:lpstr>Regulators Part 2</vt:lpstr>
      <vt:lpstr>Regulators Part 3</vt:lpstr>
      <vt:lpstr>Managers Part 1</vt:lpstr>
      <vt:lpstr>Managers Part 2</vt:lpstr>
      <vt:lpstr>Board of Directors (Audit Committee) Part 1</vt:lpstr>
      <vt:lpstr>Board of Directors (Audit Committee) Part 2</vt:lpstr>
      <vt:lpstr>Board of Directors (Audit Committee) Part 3</vt:lpstr>
      <vt:lpstr>Auditors Part 1</vt:lpstr>
      <vt:lpstr>Auditors Part 2</vt:lpstr>
      <vt:lpstr>How Data Analytics is Affecting What Auditors Do Part 1</vt:lpstr>
      <vt:lpstr>How Data Analytics is Affecting What Auditors Do Part 2</vt:lpstr>
      <vt:lpstr>Information Intermediaries: Analysts and Information Services</vt:lpstr>
      <vt:lpstr>Financial Analysts Part 1</vt:lpstr>
      <vt:lpstr>Financial Analysts Part 2</vt:lpstr>
      <vt:lpstr>Information Services</vt:lpstr>
      <vt:lpstr>Users: Institutional and Private Investors, Creditors, and Other</vt:lpstr>
      <vt:lpstr>ESG – Investor Demand for Relevant Information</vt:lpstr>
      <vt:lpstr>The Disclosure Process – Press Releases</vt:lpstr>
      <vt:lpstr>Annual Reports Part 1</vt:lpstr>
      <vt:lpstr>Annual Reports Part 2</vt:lpstr>
      <vt:lpstr>Annual Reports Part 3</vt:lpstr>
      <vt:lpstr>Annual Reports Part 4</vt:lpstr>
      <vt:lpstr>Quarterly Reports</vt:lpstr>
      <vt:lpstr>Reports to Securities Commissions</vt:lpstr>
      <vt:lpstr>The Investment Decision Part 1</vt:lpstr>
      <vt:lpstr>The Investment Decision Part 2</vt:lpstr>
      <vt:lpstr>Understanding A Company’s Strategy Part 1</vt:lpstr>
      <vt:lpstr>Understanding A Company’s Strategy Part 2</vt:lpstr>
      <vt:lpstr>Financial Statement Analysis Part 1</vt:lpstr>
      <vt:lpstr>Financial Statement Analysis Part 2</vt:lpstr>
      <vt:lpstr>Component Percentages, Trend Analysis, and Ratio Analysis</vt:lpstr>
      <vt:lpstr>Component Percentages</vt:lpstr>
      <vt:lpstr>Trend Analysis and Ratio Analysis</vt:lpstr>
      <vt:lpstr>Trend Analysis</vt:lpstr>
      <vt:lpstr>Ratio Analysis Part 1</vt:lpstr>
      <vt:lpstr>Ratio Analysis Part 2</vt:lpstr>
      <vt:lpstr>Widely Used Accounting Ratios Part 1</vt:lpstr>
      <vt:lpstr>Widely Used Accounting Ratios Part 2</vt:lpstr>
      <vt:lpstr>Widely Used Accounting Ratios Part 3</vt:lpstr>
      <vt:lpstr>Widely Used Accounting Ratios Part 4</vt:lpstr>
      <vt:lpstr>Profitability Ratios</vt:lpstr>
      <vt:lpstr>1. Return on Equity (ROE)</vt:lpstr>
      <vt:lpstr>2. Return on Assets (ROA)</vt:lpstr>
      <vt:lpstr>3. Gross Profit Margin Ratio</vt:lpstr>
      <vt:lpstr>4. Net Profit Margin Ratio</vt:lpstr>
      <vt:lpstr>5. Earnings per Share (EPS)</vt:lpstr>
      <vt:lpstr>6. Quality of Earnings Ratio</vt:lpstr>
      <vt:lpstr>Asset Turnover Ratios</vt:lpstr>
      <vt:lpstr>7. Total Asset Turnover Ratio</vt:lpstr>
      <vt:lpstr>8. Fixed Asset Turnover Ratio</vt:lpstr>
      <vt:lpstr>9. Receivables Turnover Ratio</vt:lpstr>
      <vt:lpstr>10. Inventory Turnover Ratio</vt:lpstr>
      <vt:lpstr>Using Ratios to Analyze the Operating Cycle Part 1</vt:lpstr>
      <vt:lpstr>Using Ratios to Analyze the Operating Cycle Part 2</vt:lpstr>
      <vt:lpstr>Using Ratios to Analyze the Operating Cycle Part 3</vt:lpstr>
      <vt:lpstr>ROA Profit Driver Analysis and the Dupont Model Part 1</vt:lpstr>
      <vt:lpstr>ROA Profit Driver Analysis and the Dupont Model Part 2</vt:lpstr>
      <vt:lpstr>ROA Profit Driver Analysis and the Dupont Model Part 3</vt:lpstr>
      <vt:lpstr>Liquidity Ratios</vt:lpstr>
      <vt:lpstr>11. Current Ratio</vt:lpstr>
      <vt:lpstr>12. Quick Ratio</vt:lpstr>
      <vt:lpstr>13. Cash Ratio</vt:lpstr>
      <vt:lpstr>Solvency Ratios</vt:lpstr>
      <vt:lpstr>14. Times Interest Earned</vt:lpstr>
      <vt:lpstr>15. Cash Coverage Ratio</vt:lpstr>
      <vt:lpstr>16. Debt-to-Equity Ratio</vt:lpstr>
      <vt:lpstr>Market Ratios</vt:lpstr>
      <vt:lpstr>17. Price/Earnings (P/E) Ratio</vt:lpstr>
      <vt:lpstr>18. Dividend Yield Ratio</vt:lpstr>
      <vt:lpstr>Interpreting Ratios and Other Analytical Considerations</vt:lpstr>
      <vt:lpstr>Other Financial Information</vt:lpstr>
      <vt:lpstr>End of Chapter Summary Part 1</vt:lpstr>
      <vt:lpstr>End of Chapter Summary Part 2</vt:lpstr>
      <vt:lpstr>End of Chapter Summary Part 3</vt:lpstr>
    </vt:vector>
  </TitlesOfParts>
  <Company>Robert G. Ducharme, MAcc, CPA, CA - University of Waterloo, School of Accounting and Finance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Accounting, Sixth Canadian Edition (Libby, Libby, Short, Kanaan, Sterling)</dc:title>
  <dc:subject>Chapter 12: Communicating Accounting Information and Analyzing Financial Statements</dc:subject>
  <dc:creator>Robert G. Ducharme, MAcc, CPA, CA - University of Waterloo, School of Accounting and Finance</dc:creator>
  <cp:lastModifiedBy>Schwartz, Stephanie</cp:lastModifiedBy>
  <cp:revision>82</cp:revision>
  <dcterms:created xsi:type="dcterms:W3CDTF">2010-03-30T15:03:05Z</dcterms:created>
  <dcterms:modified xsi:type="dcterms:W3CDTF">2023-01-12T15:34:29Z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TC103853781033</vt:lpwstr>
  </property>
  <property fmtid="{D5CDD505-2E9C-101B-9397-08002B2CF9AE}" pid="3" name="ContentTypeId">
    <vt:lpwstr>0x0101004AF903EFA6F1304185B8B76D382796C3</vt:lpwstr>
  </property>
  <property fmtid="{D5CDD505-2E9C-101B-9397-08002B2CF9AE}" pid="4" name="MediaServiceImageTags">
    <vt:lpwstr/>
  </property>
</Properties>
</file>
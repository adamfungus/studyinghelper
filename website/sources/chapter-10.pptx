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4"/>
    <p:sldMasterId id="2147483798" r:id="rId5"/>
  </p:sldMasterIdLst>
  <p:notesMasterIdLst>
    <p:notesMasterId r:id="rId61"/>
  </p:notesMasterIdLst>
  <p:handoutMasterIdLst>
    <p:handoutMasterId r:id="rId62"/>
  </p:handoutMasterIdLst>
  <p:sldIdLst>
    <p:sldId id="385" r:id="rId6"/>
    <p:sldId id="446" r:id="rId7"/>
    <p:sldId id="448" r:id="rId8"/>
    <p:sldId id="451" r:id="rId9"/>
    <p:sldId id="533" r:id="rId10"/>
    <p:sldId id="449" r:id="rId11"/>
    <p:sldId id="534" r:id="rId12"/>
    <p:sldId id="535" r:id="rId13"/>
    <p:sldId id="450" r:id="rId14"/>
    <p:sldId id="536" r:id="rId15"/>
    <p:sldId id="491" r:id="rId16"/>
    <p:sldId id="492" r:id="rId17"/>
    <p:sldId id="493" r:id="rId18"/>
    <p:sldId id="494" r:id="rId19"/>
    <p:sldId id="495" r:id="rId20"/>
    <p:sldId id="496" r:id="rId21"/>
    <p:sldId id="497" r:id="rId22"/>
    <p:sldId id="498" r:id="rId23"/>
    <p:sldId id="499" r:id="rId24"/>
    <p:sldId id="500" r:id="rId25"/>
    <p:sldId id="501" r:id="rId26"/>
    <p:sldId id="504" r:id="rId27"/>
    <p:sldId id="505" r:id="rId28"/>
    <p:sldId id="506" r:id="rId29"/>
    <p:sldId id="537" r:id="rId30"/>
    <p:sldId id="507" r:id="rId31"/>
    <p:sldId id="508" r:id="rId32"/>
    <p:sldId id="510" r:id="rId33"/>
    <p:sldId id="511" r:id="rId34"/>
    <p:sldId id="512" r:id="rId35"/>
    <p:sldId id="513" r:id="rId36"/>
    <p:sldId id="514" r:id="rId37"/>
    <p:sldId id="515" r:id="rId38"/>
    <p:sldId id="516" r:id="rId39"/>
    <p:sldId id="517" r:id="rId40"/>
    <p:sldId id="518" r:id="rId41"/>
    <p:sldId id="519" r:id="rId42"/>
    <p:sldId id="520" r:id="rId43"/>
    <p:sldId id="521" r:id="rId44"/>
    <p:sldId id="538" r:id="rId45"/>
    <p:sldId id="540" r:id="rId46"/>
    <p:sldId id="541" r:id="rId47"/>
    <p:sldId id="525" r:id="rId48"/>
    <p:sldId id="447" r:id="rId49"/>
    <p:sldId id="543" r:id="rId50"/>
    <p:sldId id="544" r:id="rId51"/>
    <p:sldId id="545" r:id="rId52"/>
    <p:sldId id="546" r:id="rId53"/>
    <p:sldId id="547" r:id="rId54"/>
    <p:sldId id="548" r:id="rId55"/>
    <p:sldId id="549" r:id="rId56"/>
    <p:sldId id="550" r:id="rId57"/>
    <p:sldId id="542" r:id="rId58"/>
    <p:sldId id="531" r:id="rId59"/>
    <p:sldId id="532" r:id="rId6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08">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78875-17FF-47AC-AC19-EF25274B9AA7}" v="3" dt="2023-01-12T15:26:29.1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03" autoAdjust="0"/>
    <p:restoredTop sz="85043" autoAdjust="0"/>
  </p:normalViewPr>
  <p:slideViewPr>
    <p:cSldViewPr>
      <p:cViewPr varScale="1">
        <p:scale>
          <a:sx n="97" d="100"/>
          <a:sy n="97" d="100"/>
        </p:scale>
        <p:origin x="1872" y="78"/>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5923"/>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60378875-17FF-47AC-AC19-EF25274B9AA7}"/>
    <pc:docChg chg="modMainMaster">
      <pc:chgData name="Schwartz, Stephanie" userId="aa8fa799-5957-4a86-b1b1-233f34a2fe0c" providerId="ADAL" clId="{60378875-17FF-47AC-AC19-EF25274B9AA7}" dt="2023-01-12T15:26:47.346" v="3" actId="20577"/>
      <pc:docMkLst>
        <pc:docMk/>
      </pc:docMkLst>
      <pc:sldMasterChg chg="modSp mod">
        <pc:chgData name="Schwartz, Stephanie" userId="aa8fa799-5957-4a86-b1b1-233f34a2fe0c" providerId="ADAL" clId="{60378875-17FF-47AC-AC19-EF25274B9AA7}" dt="2023-01-12T15:26:40.916" v="1" actId="20577"/>
        <pc:sldMasterMkLst>
          <pc:docMk/>
          <pc:sldMasterMk cId="0" sldId="2147483797"/>
        </pc:sldMasterMkLst>
        <pc:spChg chg="mod">
          <ac:chgData name="Schwartz, Stephanie" userId="aa8fa799-5957-4a86-b1b1-233f34a2fe0c" providerId="ADAL" clId="{60378875-17FF-47AC-AC19-EF25274B9AA7}" dt="2023-01-12T15:26:40.916" v="1" actId="20577"/>
          <ac:spMkLst>
            <pc:docMk/>
            <pc:sldMasterMk cId="0" sldId="2147483797"/>
            <ac:spMk id="14" creationId="{22197369-95F3-44A9-AA26-0121ED1E0AE8}"/>
          </ac:spMkLst>
        </pc:spChg>
      </pc:sldMasterChg>
      <pc:sldMasterChg chg="modSp mod">
        <pc:chgData name="Schwartz, Stephanie" userId="aa8fa799-5957-4a86-b1b1-233f34a2fe0c" providerId="ADAL" clId="{60378875-17FF-47AC-AC19-EF25274B9AA7}" dt="2023-01-12T15:26:47.346" v="3" actId="20577"/>
        <pc:sldMasterMkLst>
          <pc:docMk/>
          <pc:sldMasterMk cId="0" sldId="2147483798"/>
        </pc:sldMasterMkLst>
        <pc:spChg chg="mod">
          <ac:chgData name="Schwartz, Stephanie" userId="aa8fa799-5957-4a86-b1b1-233f34a2fe0c" providerId="ADAL" clId="{60378875-17FF-47AC-AC19-EF25274B9AA7}" dt="2023-01-12T15:26:47.346" v="3" actId="20577"/>
          <ac:spMkLst>
            <pc:docMk/>
            <pc:sldMasterMk cId="0" sldId="2147483798"/>
            <ac:spMk id="8" creationId="{30908929-B2FF-4808-B3BF-C0FF4964F6A8}"/>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7818470-C495-4FFB-9D82-BEFA5C4018CD}"/>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11-</a:t>
            </a:r>
            <a:fld id="{23469020-3F86-4787-A9FC-F697F9EE67A3}"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E616ED1-A289-466F-B496-CDF955A05B9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3504E136-864A-4173-868E-D6B612BB7741}"/>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31198202-A6BC-44F7-B7A8-AF2A95625B85}"/>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11-</a:t>
            </a:r>
            <a:fld id="{01BCA502-A763-4C88-A717-578C9FFA9A2C}"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597456A0-A53A-4D9B-9218-E3E2AE7032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509E30AA-57B5-48DB-BABB-B8BF18B9D2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Chapter 11: Reporting and Interpreting Shareholders’ Equity. </a:t>
            </a:r>
          </a:p>
        </p:txBody>
      </p:sp>
      <p:sp>
        <p:nvSpPr>
          <p:cNvPr id="6147" name="Slide Number Placeholder 3">
            <a:extLst>
              <a:ext uri="{FF2B5EF4-FFF2-40B4-BE49-F238E27FC236}">
                <a16:creationId xmlns:a16="http://schemas.microsoft.com/office/drawing/2014/main" id="{F91453A7-2B2E-45D4-83C3-13850713B8A0}"/>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E3E4F4C8-CA7F-4199-85A2-F59121D75EAE}" type="slidenum">
              <a:rPr lang="en-US" altLang="en-US"/>
              <a:pPr algn="r" eaLnBrk="1" hangingPunct="1">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11-</a:t>
            </a:r>
            <a:fld id="{01BCA502-A763-4C88-A717-578C9FFA9A2C}" type="slidenum">
              <a:rPr lang="en-US" altLang="en-US" smtClean="0"/>
              <a:pPr>
                <a:defRPr/>
              </a:pPr>
              <a:t>13</a:t>
            </a:fld>
            <a:endParaRPr lang="en-US" altLang="en-US"/>
          </a:p>
        </p:txBody>
      </p:sp>
    </p:spTree>
    <p:extLst>
      <p:ext uri="{BB962C8B-B14F-4D97-AF65-F5344CB8AC3E}">
        <p14:creationId xmlns:p14="http://schemas.microsoft.com/office/powerpoint/2010/main" val="4041536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22590501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84907345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554344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5997453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709525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Tree>
    <p:extLst>
      <p:ext uri="{BB962C8B-B14F-4D97-AF65-F5344CB8AC3E}">
        <p14:creationId xmlns:p14="http://schemas.microsoft.com/office/powerpoint/2010/main" val="92287255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59848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2211036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7316313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0463687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0619648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397008889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4428688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5597953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5348893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3399209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175574855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36673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1343524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2231260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44232755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66284390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E9A0EF4A-EDB2-4617-BD94-B2A5F4D0F29A}"/>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C09DA04D-55F5-4C30-9587-091C1A066978}"/>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29A15E82-BF26-402B-A3DE-7C8E59B0FDB3}"/>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8">
            <a:extLst>
              <a:ext uri="{FF2B5EF4-FFF2-40B4-BE49-F238E27FC236}">
                <a16:creationId xmlns:a16="http://schemas.microsoft.com/office/drawing/2014/main" id="{07F76DE9-9A95-47B5-859E-DA16AFC54141}"/>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90AC56AF-BFDD-4DA2-B368-947D788E3397}"/>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C7ADF308-6C25-4D74-8560-6896F9F0FB8A}"/>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3B5741E3-4625-4899-9951-0F4BF8334ECF}"/>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22197369-95F3-44A9-AA26-0121ED1E0AE8}"/>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91200242-0CF8-4D0D-B13D-9659D04B8061}"/>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rgbClr val="003366"/>
                </a:solidFill>
                <a:latin typeface="Calibri" panose="020F0502020204030204" pitchFamily="34" charset="0"/>
              </a:rPr>
              <a:t>Eighth Canadian Edition</a:t>
            </a:r>
            <a:br>
              <a:rPr lang="en-US" altLang="en-US" dirty="0">
                <a:solidFill>
                  <a:srgbClr val="003366"/>
                </a:solidFill>
                <a:latin typeface="Calibri" panose="020F0502020204030204" pitchFamily="34" charset="0"/>
              </a:rPr>
            </a:br>
            <a:br>
              <a:rPr lang="en-US" altLang="en-US" dirty="0">
                <a:solidFill>
                  <a:srgbClr val="003366"/>
                </a:solidFill>
                <a:latin typeface="Calibri" panose="020F0502020204030204" pitchFamily="34" charset="0"/>
              </a:rPr>
            </a:br>
            <a:r>
              <a:rPr lang="en-US" altLang="en-US" b="1" dirty="0">
                <a:solidFill>
                  <a:srgbClr val="003366"/>
                </a:solidFill>
                <a:latin typeface="Calibri" panose="020F0502020204030204" pitchFamily="34" charset="0"/>
              </a:rPr>
              <a:t>LIBBY, LIBBY, HODGE, KANAAN, STERLING</a:t>
            </a:r>
            <a:r>
              <a:rPr lang="en-US" altLang="en-US" dirty="0">
                <a:solidFill>
                  <a:srgbClr val="003366"/>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BFD84BC7-94B2-F047-92F8-31D65D0F895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179F7C4D-B437-B146-B00E-C237962D7415}"/>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AD694DCF-06D9-43D9-A2F1-61F4311970D4}"/>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a:t>Click to edit Master title style</a:t>
            </a:r>
          </a:p>
        </p:txBody>
      </p:sp>
      <p:sp>
        <p:nvSpPr>
          <p:cNvPr id="2051" name="Text Placeholder 12">
            <a:extLst>
              <a:ext uri="{FF2B5EF4-FFF2-40B4-BE49-F238E27FC236}">
                <a16:creationId xmlns:a16="http://schemas.microsoft.com/office/drawing/2014/main" id="{DCCA7A5A-7118-4E9F-99FC-2ABF994794C4}"/>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dirty="0"/>
              <a:t>Click to edit Master text styles</a:t>
            </a:r>
          </a:p>
          <a:p>
            <a:pPr lvl="1"/>
            <a:r>
              <a:rPr lang="en-CA" altLang="en-US" dirty="0"/>
              <a:t>Second level</a:t>
            </a:r>
          </a:p>
          <a:p>
            <a:pPr lvl="2"/>
            <a:r>
              <a:rPr lang="en-CA" altLang="en-US" dirty="0"/>
              <a:t>Third level</a:t>
            </a:r>
          </a:p>
          <a:p>
            <a:pPr lvl="3"/>
            <a:r>
              <a:rPr lang="en-CA" altLang="en-US" dirty="0"/>
              <a:t>Fourth level</a:t>
            </a:r>
          </a:p>
          <a:p>
            <a:pPr lvl="4"/>
            <a:r>
              <a:rPr lang="en-CA" altLang="en-US" dirty="0"/>
              <a:t>Fifth level</a:t>
            </a:r>
          </a:p>
        </p:txBody>
      </p:sp>
      <p:sp>
        <p:nvSpPr>
          <p:cNvPr id="2052" name="Straight Connector 28">
            <a:extLst>
              <a:ext uri="{FF2B5EF4-FFF2-40B4-BE49-F238E27FC236}">
                <a16:creationId xmlns:a16="http://schemas.microsoft.com/office/drawing/2014/main" id="{F00CC18D-17BA-4E54-8F3C-7E5D1912D4CE}"/>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0D572C40-39A4-41B4-B72F-4B03F77177E7}"/>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0A460AE4-1AAB-41F7-A1C5-879024441B34}"/>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10-</a:t>
            </a:r>
            <a:fld id="{4FD61D32-0959-4E1A-BFA8-C2A4F1B6C5C1}"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30908929-B2FF-4808-B3BF-C0FF4964F6A8}"/>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9079E399-BF0F-4790-8913-CCE057ADC2EB}"/>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Reporting and Interpreting</a:t>
            </a:r>
            <a:br>
              <a:rPr lang="en-CA" altLang="en-US" sz="2800" b="1" dirty="0">
                <a:solidFill>
                  <a:srgbClr val="005654"/>
                </a:solidFill>
                <a:latin typeface="Calibri" panose="020F0502020204030204" pitchFamily="34" charset="0"/>
              </a:rPr>
            </a:br>
            <a:r>
              <a:rPr lang="en-CA" altLang="en-US" sz="2800" b="1" dirty="0">
                <a:solidFill>
                  <a:srgbClr val="005654"/>
                </a:solidFill>
                <a:latin typeface="Calibri" panose="020F0502020204030204" pitchFamily="34" charset="0"/>
              </a:rPr>
              <a:t> Shareholders’ Equity</a:t>
            </a:r>
          </a:p>
        </p:txBody>
      </p:sp>
      <p:sp>
        <p:nvSpPr>
          <p:cNvPr id="5122" name="Subtitle 4">
            <a:extLst>
              <a:ext uri="{FF2B5EF4-FFF2-40B4-BE49-F238E27FC236}">
                <a16:creationId xmlns:a16="http://schemas.microsoft.com/office/drawing/2014/main" id="{B6BD9FED-E439-49C5-9705-F9FDE90D5BE4}"/>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10</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CFE76CC-DA78-4738-AF1A-CCD9A203E8B0}"/>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004EFF36-6D07-4956-B562-EFFDBCDCABB9}"/>
              </a:ext>
            </a:extLst>
          </p:cNvPr>
          <p:cNvSpPr>
            <a:spLocks noGrp="1"/>
          </p:cNvSpPr>
          <p:nvPr>
            <p:ph idx="1"/>
          </p:nvPr>
        </p:nvSpPr>
        <p:spPr/>
        <p:txBody>
          <a:bodyPr/>
          <a:lstStyle/>
          <a:p>
            <a:r>
              <a:rPr lang="en-CA" altLang="en-US" b="1" dirty="0"/>
              <a:t>LO10-1 </a:t>
            </a:r>
            <a:r>
              <a:rPr lang="en-CA" altLang="en-US" dirty="0"/>
              <a:t>Explain the role of share capital in the capital structure of a corporation.</a:t>
            </a:r>
          </a:p>
          <a:p>
            <a:r>
              <a:rPr lang="en-CA" altLang="en-US" b="1" dirty="0"/>
              <a:t>LO10-2 </a:t>
            </a:r>
            <a:r>
              <a:rPr lang="en-CA" dirty="0"/>
              <a:t>Compute and analyze the earnings per share ratio.</a:t>
            </a:r>
          </a:p>
          <a:p>
            <a:r>
              <a:rPr lang="en-CA" altLang="en-US" b="1" dirty="0"/>
              <a:t>LO10-3 </a:t>
            </a:r>
            <a:r>
              <a:rPr lang="en-CA" altLang="en-US" dirty="0"/>
              <a:t>Describe the characteristics of common shares, and analyze transactions affecting common shares.</a:t>
            </a:r>
          </a:p>
          <a:p>
            <a:r>
              <a:rPr lang="en-CA" altLang="en-US" b="1" dirty="0"/>
              <a:t>LO10-4 </a:t>
            </a:r>
            <a:r>
              <a:rPr lang="en-CA" altLang="en-US" dirty="0"/>
              <a:t>Discuss dividends, and analyze related transactions.</a:t>
            </a:r>
          </a:p>
          <a:p>
            <a:r>
              <a:rPr lang="en-CA" altLang="en-US" b="1" dirty="0"/>
              <a:t>LO10-5 </a:t>
            </a:r>
            <a:r>
              <a:rPr lang="en-CA" altLang="en-US" dirty="0"/>
              <a:t>Compute and analyze the dividend yield ratio.</a:t>
            </a:r>
          </a:p>
          <a:p>
            <a:r>
              <a:rPr lang="en-CA" altLang="en-US" b="1" dirty="0"/>
              <a:t>LO10-6 </a:t>
            </a:r>
            <a:r>
              <a:rPr lang="en-CA" altLang="en-US" dirty="0"/>
              <a:t>Discuss the purpose of stock dividends and stock splits, and report transactions.</a:t>
            </a:r>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F7055F34-9FCA-462A-970F-F5498D3219CF}"/>
              </a:ext>
            </a:extLst>
          </p:cNvPr>
          <p:cNvSpPr>
            <a:spLocks noGrp="1"/>
          </p:cNvSpPr>
          <p:nvPr>
            <p:ph type="title"/>
          </p:nvPr>
        </p:nvSpPr>
        <p:spPr/>
        <p:txBody>
          <a:bodyPr/>
          <a:lstStyle/>
          <a:p>
            <a:r>
              <a:rPr lang="en-US" altLang="en-US"/>
              <a:t>Learning Objectives Continued</a:t>
            </a:r>
          </a:p>
        </p:txBody>
      </p:sp>
      <p:sp>
        <p:nvSpPr>
          <p:cNvPr id="7170" name="Content Placeholder 2">
            <a:extLst>
              <a:ext uri="{FF2B5EF4-FFF2-40B4-BE49-F238E27FC236}">
                <a16:creationId xmlns:a16="http://schemas.microsoft.com/office/drawing/2014/main" id="{0518BF34-7812-4185-84D6-345285274E3F}"/>
              </a:ext>
            </a:extLst>
          </p:cNvPr>
          <p:cNvSpPr>
            <a:spLocks noGrp="1"/>
          </p:cNvSpPr>
          <p:nvPr>
            <p:ph idx="1"/>
          </p:nvPr>
        </p:nvSpPr>
        <p:spPr/>
        <p:txBody>
          <a:bodyPr/>
          <a:lstStyle/>
          <a:p>
            <a:pPr>
              <a:buFont typeface="Wingdings 3" pitchFamily="2" charset="2"/>
              <a:buChar char=""/>
              <a:defRPr/>
            </a:pPr>
            <a:r>
              <a:rPr lang="en-CA" altLang="en-US" b="1" dirty="0"/>
              <a:t>LO10-7 </a:t>
            </a:r>
            <a:r>
              <a:rPr lang="en-CA" dirty="0"/>
              <a:t>Describe the characteristics of preferred shares, and analyze transactions affecting preferred shares.</a:t>
            </a:r>
          </a:p>
          <a:p>
            <a:pPr>
              <a:buFont typeface="Wingdings 3" pitchFamily="2" charset="2"/>
              <a:buChar char=""/>
              <a:defRPr/>
            </a:pPr>
            <a:r>
              <a:rPr lang="en-CA" altLang="en-US" b="1" dirty="0"/>
              <a:t>LO10-8 </a:t>
            </a:r>
            <a:r>
              <a:rPr lang="en-CA" dirty="0"/>
              <a:t>Describe the changes in shareholders’ equity.</a:t>
            </a:r>
          </a:p>
          <a:p>
            <a:pPr>
              <a:buFont typeface="Wingdings 3" pitchFamily="2" charset="2"/>
              <a:buChar char=""/>
              <a:defRPr/>
            </a:pPr>
            <a:r>
              <a:rPr lang="en-CA" altLang="en-US" b="1" dirty="0"/>
              <a:t>LO10-9 </a:t>
            </a:r>
            <a:r>
              <a:rPr lang="en-CA" dirty="0"/>
              <a:t>Discuss the impact of share capital transactions on cash flows.</a:t>
            </a:r>
          </a:p>
          <a:p>
            <a:pPr>
              <a:buFont typeface="Wingdings 3" pitchFamily="2" charset="2"/>
              <a:buChar char=""/>
              <a:defRPr/>
            </a:pPr>
            <a:endParaRPr lang="en-CA" sz="1200" dirty="0"/>
          </a:p>
          <a:p>
            <a:pPr marL="0" indent="0">
              <a:buFont typeface="Wingdings 3" pitchFamily="2" charset="2"/>
              <a:buNone/>
              <a:defRPr/>
            </a:pPr>
            <a:r>
              <a:rPr lang="en-CA" b="1" cap="all" dirty="0"/>
              <a:t>SUPPLEMENTARY MATERIAL</a:t>
            </a:r>
          </a:p>
          <a:p>
            <a:pPr>
              <a:buFont typeface="Wingdings 3" pitchFamily="2" charset="2"/>
              <a:buChar char=""/>
              <a:defRPr/>
            </a:pPr>
            <a:r>
              <a:rPr lang="en-CA" b="1" dirty="0"/>
              <a:t>LO10-S1 </a:t>
            </a:r>
            <a:r>
              <a:rPr lang="en-CA" dirty="0"/>
              <a:t>Report owners’ equity for sole proprietorships and partnerships.</a:t>
            </a:r>
          </a:p>
          <a:p>
            <a:pPr>
              <a:buFont typeface="Wingdings 3" pitchFamily="2" charset="2"/>
              <a:buChar char=""/>
              <a:defRPr/>
            </a:pPr>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8BBE7C75-88B8-4016-AC74-99663BFBED1D}"/>
              </a:ext>
            </a:extLst>
          </p:cNvPr>
          <p:cNvSpPr>
            <a:spLocks noGrp="1"/>
          </p:cNvSpPr>
          <p:nvPr>
            <p:ph type="title"/>
          </p:nvPr>
        </p:nvSpPr>
        <p:spPr/>
        <p:txBody>
          <a:bodyPr/>
          <a:lstStyle/>
          <a:p>
            <a:r>
              <a:rPr lang="en-CA" altLang="en-US" dirty="0"/>
              <a:t> Understanding The Business Part 1</a:t>
            </a:r>
            <a:endParaRPr lang="en-US" altLang="en-US" dirty="0"/>
          </a:p>
        </p:txBody>
      </p:sp>
      <p:sp>
        <p:nvSpPr>
          <p:cNvPr id="26626" name="Content Placeholder 2">
            <a:extLst>
              <a:ext uri="{FF2B5EF4-FFF2-40B4-BE49-F238E27FC236}">
                <a16:creationId xmlns:a16="http://schemas.microsoft.com/office/drawing/2014/main" id="{1BC5CDFF-1A20-4DD6-8F69-179E255D38AD}"/>
              </a:ext>
            </a:extLst>
          </p:cNvPr>
          <p:cNvSpPr>
            <a:spLocks noGrp="1"/>
          </p:cNvSpPr>
          <p:nvPr>
            <p:ph idx="1"/>
          </p:nvPr>
        </p:nvSpPr>
        <p:spPr/>
        <p:txBody>
          <a:bodyPr/>
          <a:lstStyle/>
          <a:p>
            <a:r>
              <a:rPr lang="en-CA" dirty="0"/>
              <a:t>A critical advantage that corporations have over sole proprietorships and partnerships is that they can raise large amounts of capital because both large and small investors can easily participate, not in management but in their ownership. </a:t>
            </a:r>
          </a:p>
          <a:p>
            <a:r>
              <a:rPr lang="en-CA" dirty="0"/>
              <a:t>This ease is related to three important factors:</a:t>
            </a:r>
          </a:p>
          <a:p>
            <a:pPr lvl="1"/>
            <a:r>
              <a:rPr lang="en-CA" dirty="0"/>
              <a:t>Shares can be purchased in small amounts. </a:t>
            </a:r>
          </a:p>
          <a:p>
            <a:pPr lvl="1"/>
            <a:r>
              <a:rPr lang="en-CA" sz="2600" dirty="0"/>
              <a:t>Ownership interest can easily be transferred through the sale of shares on established markets, such as the Toronto Stock Exchange (TSX). </a:t>
            </a:r>
          </a:p>
          <a:p>
            <a:pPr lvl="1"/>
            <a:r>
              <a:rPr lang="en-CA" sz="2600" dirty="0"/>
              <a:t>Stock ownership provides investors with limited liability.</a:t>
            </a:r>
          </a:p>
          <a:p>
            <a:endParaRPr lang="en-US" altLang="en-US" sz="2600" dirty="0">
              <a:solidFill>
                <a:schemeClr val="tx1"/>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8BBE7C75-88B8-4016-AC74-99663BFBED1D}"/>
              </a:ext>
            </a:extLst>
          </p:cNvPr>
          <p:cNvSpPr>
            <a:spLocks noGrp="1"/>
          </p:cNvSpPr>
          <p:nvPr>
            <p:ph type="title"/>
          </p:nvPr>
        </p:nvSpPr>
        <p:spPr/>
        <p:txBody>
          <a:bodyPr/>
          <a:lstStyle/>
          <a:p>
            <a:r>
              <a:rPr lang="en-CA" altLang="en-US" dirty="0"/>
              <a:t> Understanding The Business Part 2</a:t>
            </a:r>
            <a:endParaRPr lang="en-US" altLang="en-US" dirty="0"/>
          </a:p>
        </p:txBody>
      </p:sp>
      <p:sp>
        <p:nvSpPr>
          <p:cNvPr id="26626" name="Content Placeholder 2">
            <a:extLst>
              <a:ext uri="{FF2B5EF4-FFF2-40B4-BE49-F238E27FC236}">
                <a16:creationId xmlns:a16="http://schemas.microsoft.com/office/drawing/2014/main" id="{1BC5CDFF-1A20-4DD6-8F69-179E255D38AD}"/>
              </a:ext>
            </a:extLst>
          </p:cNvPr>
          <p:cNvSpPr>
            <a:spLocks noGrp="1"/>
          </p:cNvSpPr>
          <p:nvPr>
            <p:ph idx="1"/>
          </p:nvPr>
        </p:nvSpPr>
        <p:spPr/>
        <p:txBody>
          <a:bodyPr/>
          <a:lstStyle/>
          <a:p>
            <a:r>
              <a:rPr lang="en-CA" dirty="0"/>
              <a:t>Many Canadians own shares, either directly or indirectly through a mutual fund or pension program. </a:t>
            </a:r>
          </a:p>
          <a:p>
            <a:r>
              <a:rPr lang="en-CA" dirty="0"/>
              <a:t>Owning shares offers the opportunity to earn higher returns than those possible on deposits to bank accounts or investments in corporate bonds. </a:t>
            </a:r>
          </a:p>
          <a:p>
            <a:r>
              <a:rPr lang="en-CA" dirty="0"/>
              <a:t>Share ownership also involves a higher risk of loss of the investment in shares because the company has no obligation either to repay investors the purchase price of the shares or pay dividends on common shares. </a:t>
            </a:r>
          </a:p>
          <a:p>
            <a:r>
              <a:rPr lang="en-CA" dirty="0"/>
              <a:t>The proper balance between risk and the expected return on an investment depends on individual investors’ preferences.</a:t>
            </a:r>
            <a:endParaRPr lang="en-US" altLang="en-US" sz="2600" dirty="0">
              <a:solidFill>
                <a:schemeClr val="tx1"/>
              </a:solidFill>
            </a:endParaRPr>
          </a:p>
        </p:txBody>
      </p:sp>
    </p:spTree>
    <p:extLst>
      <p:ext uri="{BB962C8B-B14F-4D97-AF65-F5344CB8AC3E}">
        <p14:creationId xmlns:p14="http://schemas.microsoft.com/office/powerpoint/2010/main" val="97341552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E7AA9A24-0274-4544-9F88-91A7D02FFF96}"/>
              </a:ext>
            </a:extLst>
          </p:cNvPr>
          <p:cNvSpPr>
            <a:spLocks noGrp="1"/>
          </p:cNvSpPr>
          <p:nvPr>
            <p:ph type="title"/>
          </p:nvPr>
        </p:nvSpPr>
        <p:spPr/>
        <p:txBody>
          <a:bodyPr/>
          <a:lstStyle/>
          <a:p>
            <a:r>
              <a:rPr lang="en-CA" altLang="en-US" dirty="0"/>
              <a:t>Shareholders’ Equity</a:t>
            </a:r>
            <a:endParaRPr lang="en-US" altLang="en-US" dirty="0"/>
          </a:p>
        </p:txBody>
      </p:sp>
      <p:sp>
        <p:nvSpPr>
          <p:cNvPr id="27650" name="Content Placeholder 2">
            <a:extLst>
              <a:ext uri="{FF2B5EF4-FFF2-40B4-BE49-F238E27FC236}">
                <a16:creationId xmlns:a16="http://schemas.microsoft.com/office/drawing/2014/main" id="{E7E12E0E-6D9E-4096-A083-57F66551DBB7}"/>
              </a:ext>
            </a:extLst>
          </p:cNvPr>
          <p:cNvSpPr>
            <a:spLocks noGrp="1"/>
          </p:cNvSpPr>
          <p:nvPr>
            <p:ph idx="1"/>
          </p:nvPr>
        </p:nvSpPr>
        <p:spPr/>
        <p:txBody>
          <a:bodyPr/>
          <a:lstStyle/>
          <a:p>
            <a:r>
              <a:rPr lang="en-CA" dirty="0"/>
              <a:t>For most corporations, shareholders’ equity includes two primary sources of equity capital:</a:t>
            </a:r>
          </a:p>
          <a:p>
            <a:pPr lvl="1">
              <a:buFont typeface="+mj-lt"/>
              <a:buAutoNum type="arabicPeriod"/>
            </a:pPr>
            <a:r>
              <a:rPr lang="en-CA" sz="2400" i="1" dirty="0"/>
              <a:t>Contributed capital</a:t>
            </a:r>
            <a:r>
              <a:rPr lang="en-CA" sz="2400" dirty="0"/>
              <a:t> states the amount invested by shareholders, and two distinct components: </a:t>
            </a:r>
          </a:p>
          <a:p>
            <a:pPr lvl="2">
              <a:buFont typeface="+mj-lt"/>
              <a:buAutoNum type="arabicPeriod"/>
            </a:pPr>
            <a:r>
              <a:rPr lang="en-CA" sz="2400" dirty="0"/>
              <a:t>Amounts initially received from the sale of shares and </a:t>
            </a:r>
          </a:p>
          <a:p>
            <a:pPr lvl="2">
              <a:buFont typeface="+mj-lt"/>
              <a:buAutoNum type="arabicPeriod"/>
            </a:pPr>
            <a:r>
              <a:rPr lang="en-CA" sz="2400" dirty="0"/>
              <a:t>Contributed surplus that reflects contributions made by shareholders in excess of the amounts credited to share capital accounts. </a:t>
            </a:r>
          </a:p>
          <a:p>
            <a:pPr lvl="1">
              <a:buFont typeface="+mj-lt"/>
              <a:buAutoNum type="arabicPeriod"/>
            </a:pPr>
            <a:r>
              <a:rPr lang="en-CA" sz="2400" i="1" dirty="0"/>
              <a:t>Retained earnings</a:t>
            </a:r>
            <a:r>
              <a:rPr lang="en-CA" sz="2400" dirty="0"/>
              <a:t> are generated by the profit-making activities of the company. This is the cumulative amount of net earnings since the corporation’s inception, less the cumulative amount of dividends declared by the corporation since its formation as a corporation.</a:t>
            </a:r>
          </a:p>
          <a:p>
            <a:endParaRPr lang="en-US"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E7AA9A24-0274-4544-9F88-91A7D02FFF96}"/>
              </a:ext>
            </a:extLst>
          </p:cNvPr>
          <p:cNvSpPr>
            <a:spLocks noGrp="1"/>
          </p:cNvSpPr>
          <p:nvPr>
            <p:ph type="title"/>
          </p:nvPr>
        </p:nvSpPr>
        <p:spPr/>
        <p:txBody>
          <a:bodyPr/>
          <a:lstStyle/>
          <a:p>
            <a:r>
              <a:rPr lang="en-CA" altLang="en-US"/>
              <a:t>Ownership of a Corporation</a:t>
            </a:r>
            <a:endParaRPr lang="en-US" altLang="en-US"/>
          </a:p>
        </p:txBody>
      </p:sp>
      <p:sp>
        <p:nvSpPr>
          <p:cNvPr id="27650" name="Content Placeholder 2">
            <a:extLst>
              <a:ext uri="{FF2B5EF4-FFF2-40B4-BE49-F238E27FC236}">
                <a16:creationId xmlns:a16="http://schemas.microsoft.com/office/drawing/2014/main" id="{E7E12E0E-6D9E-4096-A083-57F66551DBB7}"/>
              </a:ext>
            </a:extLst>
          </p:cNvPr>
          <p:cNvSpPr>
            <a:spLocks noGrp="1"/>
          </p:cNvSpPr>
          <p:nvPr>
            <p:ph idx="1"/>
          </p:nvPr>
        </p:nvSpPr>
        <p:spPr/>
        <p:txBody>
          <a:bodyPr/>
          <a:lstStyle/>
          <a:p>
            <a:r>
              <a:rPr lang="en-CA" dirty="0"/>
              <a:t>The corporation is the only business form that the law recognizes as a separate entity. </a:t>
            </a:r>
          </a:p>
          <a:p>
            <a:endParaRPr lang="en-CA" sz="800" dirty="0"/>
          </a:p>
          <a:p>
            <a:r>
              <a:rPr lang="en-CA" dirty="0"/>
              <a:t>The entity itself may own assets, incur liabilities, expand and contract in size, sue others, be sued, and managers may enter into contracts on behalf of the corporation, independent of the equity owners. </a:t>
            </a:r>
          </a:p>
          <a:p>
            <a:endParaRPr lang="en-CA" sz="800" dirty="0"/>
          </a:p>
          <a:p>
            <a:r>
              <a:rPr lang="en-CA" dirty="0"/>
              <a:t>The law establishes the corporation as a distinct entity, existing separately from its equity owners and its managers. </a:t>
            </a:r>
            <a:endParaRPr lang="en-US" altLang="en-US" dirty="0"/>
          </a:p>
        </p:txBody>
      </p:sp>
    </p:spTree>
    <p:extLst>
      <p:ext uri="{BB962C8B-B14F-4D97-AF65-F5344CB8AC3E}">
        <p14:creationId xmlns:p14="http://schemas.microsoft.com/office/powerpoint/2010/main" val="366574789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E7AA9A24-0274-4544-9F88-91A7D02FFF96}"/>
              </a:ext>
            </a:extLst>
          </p:cNvPr>
          <p:cNvSpPr>
            <a:spLocks noGrp="1"/>
          </p:cNvSpPr>
          <p:nvPr>
            <p:ph type="title"/>
          </p:nvPr>
        </p:nvSpPr>
        <p:spPr/>
        <p:txBody>
          <a:bodyPr/>
          <a:lstStyle/>
          <a:p>
            <a:r>
              <a:rPr lang="en-CA" altLang="en-US" dirty="0"/>
              <a:t>Benefits of Share Ownership</a:t>
            </a:r>
            <a:endParaRPr lang="en-US" altLang="en-US" dirty="0"/>
          </a:p>
        </p:txBody>
      </p:sp>
      <p:sp>
        <p:nvSpPr>
          <p:cNvPr id="27650" name="Content Placeholder 2">
            <a:extLst>
              <a:ext uri="{FF2B5EF4-FFF2-40B4-BE49-F238E27FC236}">
                <a16:creationId xmlns:a16="http://schemas.microsoft.com/office/drawing/2014/main" id="{E7E12E0E-6D9E-4096-A083-57F66551DBB7}"/>
              </a:ext>
            </a:extLst>
          </p:cNvPr>
          <p:cNvSpPr>
            <a:spLocks noGrp="1"/>
          </p:cNvSpPr>
          <p:nvPr>
            <p:ph idx="1"/>
          </p:nvPr>
        </p:nvSpPr>
        <p:spPr/>
        <p:txBody>
          <a:bodyPr/>
          <a:lstStyle/>
          <a:p>
            <a:r>
              <a:rPr lang="en-CA" altLang="en-US" dirty="0"/>
              <a:t>Owners of common shares receive the following benefits:</a:t>
            </a:r>
          </a:p>
          <a:p>
            <a:endParaRPr lang="en-CA" altLang="en-US" sz="800" dirty="0"/>
          </a:p>
          <a:p>
            <a:pPr lvl="1"/>
            <a:r>
              <a:rPr lang="en-CA" altLang="en-US" sz="2600" b="1" dirty="0">
                <a:solidFill>
                  <a:schemeClr val="tx1"/>
                </a:solidFill>
              </a:rPr>
              <a:t>A voice in management. </a:t>
            </a:r>
            <a:r>
              <a:rPr lang="en-CA" altLang="en-US" sz="2600" dirty="0">
                <a:solidFill>
                  <a:schemeClr val="tx1"/>
                </a:solidFill>
              </a:rPr>
              <a:t>They may vote at the shareholders’ meeting (or by proxy) on major issues concerning management of the corporation.</a:t>
            </a:r>
          </a:p>
          <a:p>
            <a:pPr lvl="1"/>
            <a:endParaRPr lang="en-CA" altLang="en-US" sz="800" dirty="0">
              <a:solidFill>
                <a:schemeClr val="tx1"/>
              </a:solidFill>
            </a:endParaRPr>
          </a:p>
          <a:p>
            <a:pPr lvl="1"/>
            <a:r>
              <a:rPr lang="en-CA" altLang="en-US" sz="2600" b="1" dirty="0">
                <a:solidFill>
                  <a:schemeClr val="tx1"/>
                </a:solidFill>
              </a:rPr>
              <a:t>Dividends. </a:t>
            </a:r>
            <a:r>
              <a:rPr lang="en-CA" altLang="en-US" sz="2600" dirty="0">
                <a:solidFill>
                  <a:schemeClr val="tx1"/>
                </a:solidFill>
              </a:rPr>
              <a:t>They receive a proportionate share of the distribution of the corporation’s net earnings.</a:t>
            </a:r>
          </a:p>
          <a:p>
            <a:pPr lvl="1"/>
            <a:endParaRPr lang="en-CA" altLang="en-US" sz="800" dirty="0">
              <a:solidFill>
                <a:schemeClr val="tx1"/>
              </a:solidFill>
            </a:endParaRPr>
          </a:p>
          <a:p>
            <a:pPr lvl="1"/>
            <a:r>
              <a:rPr lang="en-CA" altLang="en-US" sz="2600" b="1" dirty="0">
                <a:solidFill>
                  <a:schemeClr val="tx1"/>
                </a:solidFill>
              </a:rPr>
              <a:t>Residual claim. </a:t>
            </a:r>
            <a:r>
              <a:rPr lang="en-CA" altLang="en-US" sz="2600" dirty="0">
                <a:solidFill>
                  <a:schemeClr val="tx1"/>
                </a:solidFill>
              </a:rPr>
              <a:t>They may receive a proportionate share of the distribution of remaining assets upon the liquidation of the company.</a:t>
            </a:r>
          </a:p>
          <a:p>
            <a:endParaRPr lang="en-US" altLang="en-US" dirty="0"/>
          </a:p>
        </p:txBody>
      </p:sp>
    </p:spTree>
    <p:extLst>
      <p:ext uri="{BB962C8B-B14F-4D97-AF65-F5344CB8AC3E}">
        <p14:creationId xmlns:p14="http://schemas.microsoft.com/office/powerpoint/2010/main" val="346702473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B3398EB4-741B-40BC-B0EF-23912720C479}"/>
              </a:ext>
            </a:extLst>
          </p:cNvPr>
          <p:cNvSpPr>
            <a:spLocks noGrp="1"/>
          </p:cNvSpPr>
          <p:nvPr>
            <p:ph type="title"/>
          </p:nvPr>
        </p:nvSpPr>
        <p:spPr>
          <a:xfrm>
            <a:off x="457200" y="152400"/>
            <a:ext cx="8305800" cy="792163"/>
          </a:xfrm>
        </p:spPr>
        <p:txBody>
          <a:bodyPr/>
          <a:lstStyle/>
          <a:p>
            <a:r>
              <a:rPr lang="en-CA" altLang="en-US"/>
              <a:t>Typical Organizational Structure of a Corporation</a:t>
            </a:r>
            <a:endParaRPr lang="en-US" altLang="en-US"/>
          </a:p>
        </p:txBody>
      </p:sp>
      <p:pic>
        <p:nvPicPr>
          <p:cNvPr id="2" name="Picture 1">
            <a:extLst>
              <a:ext uri="{FF2B5EF4-FFF2-40B4-BE49-F238E27FC236}">
                <a16:creationId xmlns:a16="http://schemas.microsoft.com/office/drawing/2014/main" id="{733DCEB5-2E8C-A24F-B2A7-B0AE2815F0C0}"/>
              </a:ext>
            </a:extLst>
          </p:cNvPr>
          <p:cNvPicPr>
            <a:picLocks noChangeAspect="1"/>
          </p:cNvPicPr>
          <p:nvPr/>
        </p:nvPicPr>
        <p:blipFill>
          <a:blip r:embed="rId2"/>
          <a:stretch>
            <a:fillRect/>
          </a:stretch>
        </p:blipFill>
        <p:spPr>
          <a:xfrm>
            <a:off x="1371600" y="1181100"/>
            <a:ext cx="6350000" cy="529590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145AD6DE-8F68-4896-9E55-2814F01664EB}"/>
              </a:ext>
            </a:extLst>
          </p:cNvPr>
          <p:cNvSpPr>
            <a:spLocks noGrp="1"/>
          </p:cNvSpPr>
          <p:nvPr>
            <p:ph type="title"/>
          </p:nvPr>
        </p:nvSpPr>
        <p:spPr/>
        <p:txBody>
          <a:bodyPr/>
          <a:lstStyle/>
          <a:p>
            <a:r>
              <a:rPr lang="en-CA" altLang="en-US"/>
              <a:t>Authorized, Issued, and Outstanding Shares</a:t>
            </a:r>
            <a:endParaRPr lang="en-US" altLang="en-US"/>
          </a:p>
        </p:txBody>
      </p:sp>
      <p:sp>
        <p:nvSpPr>
          <p:cNvPr id="9218" name="Content Placeholder 2">
            <a:extLst>
              <a:ext uri="{FF2B5EF4-FFF2-40B4-BE49-F238E27FC236}">
                <a16:creationId xmlns:a16="http://schemas.microsoft.com/office/drawing/2014/main" id="{92FB3410-368B-4929-A4D6-5356339A13A1}"/>
              </a:ext>
            </a:extLst>
          </p:cNvPr>
          <p:cNvSpPr>
            <a:spLocks noGrp="1"/>
          </p:cNvSpPr>
          <p:nvPr>
            <p:ph idx="1"/>
          </p:nvPr>
        </p:nvSpPr>
        <p:spPr/>
        <p:txBody>
          <a:bodyPr/>
          <a:lstStyle/>
          <a:p>
            <a:endParaRPr lang="en-CA" altLang="en-US" sz="2800" b="1">
              <a:solidFill>
                <a:srgbClr val="00279F"/>
              </a:solidFill>
              <a:latin typeface="Arial" panose="020B0604020202020204" pitchFamily="34" charset="0"/>
            </a:endParaRPr>
          </a:p>
          <a:p>
            <a:endParaRPr lang="en-CA" altLang="en-US" sz="2800" b="1">
              <a:solidFill>
                <a:srgbClr val="00279F"/>
              </a:solidFill>
              <a:latin typeface="Arial" panose="020B0604020202020204" pitchFamily="34" charset="0"/>
            </a:endParaRPr>
          </a:p>
          <a:p>
            <a:endParaRPr lang="en-US" altLang="en-US"/>
          </a:p>
        </p:txBody>
      </p:sp>
      <p:graphicFrame>
        <p:nvGraphicFramePr>
          <p:cNvPr id="4" name="Table 3">
            <a:extLst>
              <a:ext uri="{FF2B5EF4-FFF2-40B4-BE49-F238E27FC236}">
                <a16:creationId xmlns:a16="http://schemas.microsoft.com/office/drawing/2014/main" id="{4F4809C2-D8A1-4D03-B973-3D990D1F6BF4}"/>
              </a:ext>
            </a:extLst>
          </p:cNvPr>
          <p:cNvGraphicFramePr>
            <a:graphicFrameLocks noGrp="1"/>
          </p:cNvGraphicFramePr>
          <p:nvPr>
            <p:extLst>
              <p:ext uri="{D42A27DB-BD31-4B8C-83A1-F6EECF244321}">
                <p14:modId xmlns:p14="http://schemas.microsoft.com/office/powerpoint/2010/main" val="2073678397"/>
              </p:ext>
            </p:extLst>
          </p:nvPr>
        </p:nvGraphicFramePr>
        <p:xfrm>
          <a:off x="381000" y="1739331"/>
          <a:ext cx="8382000" cy="3594669"/>
        </p:xfrm>
        <a:graphic>
          <a:graphicData uri="http://schemas.openxmlformats.org/drawingml/2006/table">
            <a:tbl>
              <a:tblPr/>
              <a:tblGrid>
                <a:gridCol w="5588000">
                  <a:extLst>
                    <a:ext uri="{9D8B030D-6E8A-4147-A177-3AD203B41FA5}">
                      <a16:colId xmlns:a16="http://schemas.microsoft.com/office/drawing/2014/main" val="20000"/>
                    </a:ext>
                  </a:extLst>
                </a:gridCol>
                <a:gridCol w="206116">
                  <a:extLst>
                    <a:ext uri="{9D8B030D-6E8A-4147-A177-3AD203B41FA5}">
                      <a16:colId xmlns:a16="http://schemas.microsoft.com/office/drawing/2014/main" val="20001"/>
                    </a:ext>
                  </a:extLst>
                </a:gridCol>
                <a:gridCol w="1578940">
                  <a:extLst>
                    <a:ext uri="{9D8B030D-6E8A-4147-A177-3AD203B41FA5}">
                      <a16:colId xmlns:a16="http://schemas.microsoft.com/office/drawing/2014/main" val="20002"/>
                    </a:ext>
                  </a:extLst>
                </a:gridCol>
                <a:gridCol w="851359">
                  <a:extLst>
                    <a:ext uri="{9D8B030D-6E8A-4147-A177-3AD203B41FA5}">
                      <a16:colId xmlns:a16="http://schemas.microsoft.com/office/drawing/2014/main" val="20004"/>
                    </a:ext>
                  </a:extLst>
                </a:gridCol>
                <a:gridCol w="157585">
                  <a:extLst>
                    <a:ext uri="{9D8B030D-6E8A-4147-A177-3AD203B41FA5}">
                      <a16:colId xmlns:a16="http://schemas.microsoft.com/office/drawing/2014/main" val="20005"/>
                    </a:ext>
                  </a:extLst>
                </a:gridCol>
              </a:tblGrid>
              <a:tr h="244925">
                <a:tc>
                  <a:txBody>
                    <a:bodyPr/>
                    <a:lstStyle/>
                    <a:p>
                      <a:pPr fontAlgn="base"/>
                      <a:r>
                        <a:rPr lang="en-CA" sz="1200" b="1" dirty="0">
                          <a:solidFill>
                            <a:srgbClr val="333333"/>
                          </a:solidFill>
                          <a:effectLst/>
                          <a:latin typeface="+mn-lt"/>
                        </a:rPr>
                        <a:t>Definitions</a:t>
                      </a:r>
                      <a:endParaRPr lang="en-CA" sz="1200" b="0" dirty="0">
                        <a:solidFill>
                          <a:srgbClr val="333333"/>
                        </a:solidFill>
                        <a:effectLst/>
                        <a:latin typeface="+mn-lt"/>
                      </a:endParaRPr>
                    </a:p>
                  </a:txBody>
                  <a:tcPr marL="86213" marR="43107" marT="43100" marB="12930"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fontAlgn="base"/>
                      <a:r>
                        <a:rPr lang="en-CA" sz="1200" b="0">
                          <a:solidFill>
                            <a:srgbClr val="333333"/>
                          </a:solidFill>
                          <a:effectLst/>
                          <a:latin typeface="+mn-lt"/>
                        </a:rPr>
                        <a:t> </a:t>
                      </a:r>
                    </a:p>
                  </a:txBody>
                  <a:tcPr marL="43107" marR="43107" marT="43100" marB="12930"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gridSpan="2">
                  <a:txBody>
                    <a:bodyPr/>
                    <a:lstStyle/>
                    <a:p>
                      <a:pPr fontAlgn="base"/>
                      <a:r>
                        <a:rPr lang="en-CA" sz="1200" b="1">
                          <a:solidFill>
                            <a:srgbClr val="333333"/>
                          </a:solidFill>
                          <a:effectLst/>
                          <a:latin typeface="+mn-lt"/>
                        </a:rPr>
                        <a:t>Illustrations</a:t>
                      </a:r>
                      <a:endParaRPr lang="en-CA" sz="1200" b="0">
                        <a:solidFill>
                          <a:srgbClr val="333333"/>
                        </a:solidFill>
                        <a:effectLst/>
                        <a:latin typeface="+mn-lt"/>
                      </a:endParaRPr>
                    </a:p>
                  </a:txBody>
                  <a:tcPr marL="43107" marR="43107" marT="43100" marB="12930"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pPr fontAlgn="base"/>
                      <a:endParaRPr lang="en-CA" sz="1200" b="0">
                        <a:solidFill>
                          <a:srgbClr val="333333"/>
                        </a:solidFill>
                        <a:effectLst/>
                        <a:latin typeface="+mn-lt"/>
                      </a:endParaRPr>
                    </a:p>
                  </a:txBody>
                  <a:tcPr marL="43107" marR="86213" marT="43107" marB="12932"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fontAlgn="base"/>
                      <a:r>
                        <a:rPr lang="en-CA" sz="1200" b="0">
                          <a:solidFill>
                            <a:srgbClr val="333333"/>
                          </a:solidFill>
                          <a:effectLst/>
                          <a:latin typeface="+mn-lt"/>
                        </a:rPr>
                        <a:t> </a:t>
                      </a:r>
                    </a:p>
                  </a:txBody>
                  <a:tcPr marL="43107" marR="86213" marT="43100" marB="12930"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extLst>
                  <a:ext uri="{0D108BD9-81ED-4DB2-BD59-A6C34878D82A}">
                    <a16:rowId xmlns:a16="http://schemas.microsoft.com/office/drawing/2014/main" val="10000"/>
                  </a:ext>
                </a:extLst>
              </a:tr>
              <a:tr h="536644">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CA" sz="1200" b="1" dirty="0">
                          <a:solidFill>
                            <a:srgbClr val="333333"/>
                          </a:solidFill>
                          <a:effectLst/>
                          <a:latin typeface="+mn-lt"/>
                        </a:rPr>
                        <a:t>Authorized shares:</a:t>
                      </a:r>
                      <a:endParaRPr lang="en-CA" sz="1200" b="0" dirty="0">
                        <a:solidFill>
                          <a:srgbClr val="333333"/>
                        </a:solidFill>
                        <a:effectLst/>
                        <a:latin typeface="+mn-lt"/>
                      </a:endParaRPr>
                    </a:p>
                    <a:p>
                      <a:pPr fontAlgn="base"/>
                      <a:r>
                        <a:rPr lang="en-CA" sz="1200" b="0" dirty="0">
                          <a:solidFill>
                            <a:srgbClr val="333333"/>
                          </a:solidFill>
                          <a:effectLst/>
                          <a:latin typeface="+mn-lt"/>
                        </a:rPr>
                        <a:t>The maximum number of shares that can be issued, as specified in the charter of the corporation.</a:t>
                      </a:r>
                    </a:p>
                  </a:txBody>
                  <a:tcPr marL="86213" marR="43107" marT="43100" marB="1293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200" b="0">
                          <a:solidFill>
                            <a:srgbClr val="333333"/>
                          </a:solidFill>
                          <a:effectLst/>
                          <a:latin typeface="+mn-lt"/>
                        </a:rPr>
                        <a:t> </a:t>
                      </a:r>
                    </a:p>
                  </a:txBody>
                  <a:tcPr marL="43107" marR="43107" marT="43100" marB="1293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gridSpan="3">
                  <a:txBody>
                    <a:bodyPr/>
                    <a:lstStyle/>
                    <a:p>
                      <a:pPr fontAlgn="base"/>
                      <a:r>
                        <a:rPr lang="en-CA" sz="1200" b="0" dirty="0">
                          <a:solidFill>
                            <a:srgbClr val="333333"/>
                          </a:solidFill>
                          <a:effectLst/>
                          <a:latin typeface="+mn-lt"/>
                        </a:rPr>
                        <a:t>The charter specifies “an unlimited number of common shares.”</a:t>
                      </a:r>
                    </a:p>
                  </a:txBody>
                  <a:tcPr marL="43107" marR="86213" marT="43100" marB="1293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hMerge="1">
                  <a:txBody>
                    <a:bodyPr/>
                    <a:lstStyle/>
                    <a:p>
                      <a:pPr fontAlgn="base"/>
                      <a:endParaRPr lang="en-CA" sz="1200" b="0" dirty="0">
                        <a:solidFill>
                          <a:srgbClr val="333333"/>
                        </a:solidFill>
                        <a:effectLst/>
                        <a:latin typeface="+mn-lt"/>
                      </a:endParaRPr>
                    </a:p>
                  </a:txBody>
                  <a:tcPr marL="43107" marR="86213" marT="43107" marB="12932"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hMerge="1">
                  <a:txBody>
                    <a:bodyPr/>
                    <a:lstStyle/>
                    <a:p>
                      <a:pPr fontAlgn="base"/>
                      <a:endParaRPr lang="en-CA" sz="1200" b="0" dirty="0">
                        <a:solidFill>
                          <a:srgbClr val="333333"/>
                        </a:solidFill>
                        <a:effectLst/>
                        <a:latin typeface="+mn-lt"/>
                      </a:endParaRPr>
                    </a:p>
                  </a:txBody>
                  <a:tcPr marL="43107" marR="86213" marT="43107" marB="12932"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2"/>
                  </a:ext>
                </a:extLst>
              </a:tr>
              <a:tr h="432409">
                <a:tc>
                  <a:txBody>
                    <a:bodyPr/>
                    <a:lstStyle/>
                    <a:p>
                      <a:pPr fontAlgn="base"/>
                      <a:r>
                        <a:rPr lang="en-CA" sz="1200" b="1" dirty="0">
                          <a:solidFill>
                            <a:srgbClr val="333333"/>
                          </a:solidFill>
                          <a:effectLst/>
                          <a:latin typeface="+mn-lt"/>
                        </a:rPr>
                        <a:t>Issued shares:</a:t>
                      </a:r>
                    </a:p>
                    <a:p>
                      <a:pPr fontAlgn="base"/>
                      <a:r>
                        <a:rPr lang="en-CA" sz="1200" b="0" dirty="0">
                          <a:solidFill>
                            <a:srgbClr val="333333"/>
                          </a:solidFill>
                          <a:effectLst/>
                          <a:latin typeface="+mn-lt"/>
                        </a:rPr>
                        <a:t>The total number of shares that the corporation has issued to date.</a:t>
                      </a:r>
                    </a:p>
                  </a:txBody>
                  <a:tcPr marL="86213" marR="43107" marT="43100" marB="12930" anchor="ctr">
                    <a:lnL>
                      <a:noFill/>
                    </a:lnL>
                    <a:lnR>
                      <a:noFill/>
                    </a:lnR>
                    <a:lnT>
                      <a:noFill/>
                    </a:lnT>
                    <a:lnB>
                      <a:noFill/>
                    </a:lnB>
                    <a:solidFill>
                      <a:srgbClr val="E4F2E7"/>
                    </a:solidFill>
                  </a:tcPr>
                </a:tc>
                <a:tc>
                  <a:txBody>
                    <a:bodyPr/>
                    <a:lstStyle/>
                    <a:p>
                      <a:pPr fontAlgn="base"/>
                      <a:r>
                        <a:rPr lang="en-CA" sz="1200" b="0">
                          <a:solidFill>
                            <a:srgbClr val="333333"/>
                          </a:solidFill>
                          <a:effectLst/>
                          <a:latin typeface="+mn-lt"/>
                        </a:rPr>
                        <a:t> </a:t>
                      </a:r>
                    </a:p>
                  </a:txBody>
                  <a:tcPr marL="43107" marR="43107" marT="43100" marB="12930" anchor="ctr">
                    <a:lnL>
                      <a:noFill/>
                    </a:lnL>
                    <a:lnR>
                      <a:noFill/>
                    </a:lnR>
                    <a:lnT>
                      <a:noFill/>
                    </a:lnT>
                    <a:lnB>
                      <a:noFill/>
                    </a:lnB>
                    <a:solidFill>
                      <a:srgbClr val="E4F2E7"/>
                    </a:solidFill>
                  </a:tcPr>
                </a:tc>
                <a:tc gridSpan="3">
                  <a:txBody>
                    <a:bodyPr/>
                    <a:lstStyle/>
                    <a:p>
                      <a:pPr fontAlgn="base"/>
                      <a:r>
                        <a:rPr lang="en-CA" sz="1200" b="0" dirty="0">
                          <a:solidFill>
                            <a:srgbClr val="333333"/>
                          </a:solidFill>
                          <a:effectLst/>
                          <a:latin typeface="+mn-lt"/>
                        </a:rPr>
                        <a:t>To date, XYZ Corporation has sold and issued 30,000 common shares.</a:t>
                      </a:r>
                    </a:p>
                  </a:txBody>
                  <a:tcPr marL="43107" marR="86213" marT="43100" marB="12930" anchor="ctr">
                    <a:lnL>
                      <a:noFill/>
                    </a:lnL>
                    <a:lnR>
                      <a:noFill/>
                    </a:lnR>
                    <a:lnT>
                      <a:noFill/>
                    </a:lnT>
                    <a:lnB>
                      <a:noFill/>
                    </a:lnB>
                    <a:solidFill>
                      <a:srgbClr val="E4F2E7"/>
                    </a:solidFill>
                  </a:tcPr>
                </a:tc>
                <a:tc hMerge="1">
                  <a:txBody>
                    <a:bodyPr/>
                    <a:lstStyle/>
                    <a:p>
                      <a:pPr fontAlgn="base"/>
                      <a:endParaRPr lang="en-CA" sz="1200" b="0">
                        <a:solidFill>
                          <a:srgbClr val="333333"/>
                        </a:solidFill>
                        <a:effectLst/>
                        <a:latin typeface="+mn-lt"/>
                      </a:endParaRPr>
                    </a:p>
                  </a:txBody>
                  <a:tcPr marL="43107" marR="86213" marT="43107" marB="12932" anchor="ctr">
                    <a:lnL>
                      <a:noFill/>
                    </a:lnL>
                    <a:lnR>
                      <a:noFill/>
                    </a:lnR>
                    <a:lnT>
                      <a:noFill/>
                    </a:lnT>
                    <a:lnB>
                      <a:noFill/>
                    </a:lnB>
                    <a:solidFill>
                      <a:srgbClr val="E4F2E7"/>
                    </a:solidFill>
                  </a:tcPr>
                </a:tc>
                <a:tc hMerge="1">
                  <a:txBody>
                    <a:bodyPr/>
                    <a:lstStyle/>
                    <a:p>
                      <a:pPr fontAlgn="base"/>
                      <a:endParaRPr lang="en-CA" sz="1200" b="0">
                        <a:solidFill>
                          <a:srgbClr val="333333"/>
                        </a:solidFill>
                        <a:effectLst/>
                        <a:latin typeface="+mn-lt"/>
                      </a:endParaRPr>
                    </a:p>
                  </a:txBody>
                  <a:tcPr marL="43107" marR="86213" marT="43107" marB="12932" anchor="ctr">
                    <a:lnL>
                      <a:noFill/>
                    </a:lnL>
                    <a:lnR>
                      <a:noFill/>
                    </a:lnR>
                    <a:lnT>
                      <a:noFill/>
                    </a:lnT>
                    <a:lnB>
                      <a:noFill/>
                    </a:lnB>
                    <a:solidFill>
                      <a:srgbClr val="E4F2E7"/>
                    </a:solidFill>
                  </a:tcPr>
                </a:tc>
                <a:extLst>
                  <a:ext uri="{0D108BD9-81ED-4DB2-BD59-A6C34878D82A}">
                    <a16:rowId xmlns:a16="http://schemas.microsoft.com/office/drawing/2014/main" val="10004"/>
                  </a:ext>
                </a:extLst>
              </a:tr>
              <a:tr h="693701">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CA" sz="1200" b="1" dirty="0">
                          <a:solidFill>
                            <a:srgbClr val="333333"/>
                          </a:solidFill>
                          <a:effectLst/>
                          <a:latin typeface="+mn-lt"/>
                        </a:rPr>
                        <a:t>Un-issued shares:</a:t>
                      </a:r>
                      <a:endParaRPr lang="en-CA" sz="1200" b="0" dirty="0">
                        <a:solidFill>
                          <a:srgbClr val="333333"/>
                        </a:solidFill>
                        <a:effectLst/>
                        <a:latin typeface="+mn-lt"/>
                      </a:endParaRPr>
                    </a:p>
                    <a:p>
                      <a:pPr fontAlgn="base">
                        <a:spcBef>
                          <a:spcPts val="0"/>
                        </a:spcBef>
                      </a:pPr>
                      <a:r>
                        <a:rPr lang="en-CA" sz="1200" b="0" dirty="0">
                          <a:solidFill>
                            <a:srgbClr val="333333"/>
                          </a:solidFill>
                          <a:effectLst/>
                          <a:latin typeface="+mn-lt"/>
                        </a:rPr>
                        <a:t>The number of authorized shares that have never been issued to date.</a:t>
                      </a:r>
                    </a:p>
                  </a:txBody>
                  <a:tcPr marL="86213" marR="43107" marT="43100" marB="12930" anchor="ctr">
                    <a:lnL>
                      <a:noFill/>
                    </a:lnL>
                    <a:lnR>
                      <a:noFill/>
                    </a:lnR>
                    <a:lnT>
                      <a:noFill/>
                    </a:lnT>
                    <a:lnB>
                      <a:noFill/>
                    </a:lnB>
                    <a:solidFill>
                      <a:srgbClr val="E4F2E7"/>
                    </a:solidFill>
                  </a:tcPr>
                </a:tc>
                <a:tc>
                  <a:txBody>
                    <a:bodyPr/>
                    <a:lstStyle/>
                    <a:p>
                      <a:pPr fontAlgn="base"/>
                      <a:r>
                        <a:rPr lang="en-CA" sz="1200" b="0">
                          <a:solidFill>
                            <a:srgbClr val="333333"/>
                          </a:solidFill>
                          <a:effectLst/>
                          <a:latin typeface="+mn-lt"/>
                        </a:rPr>
                        <a:t> </a:t>
                      </a:r>
                    </a:p>
                  </a:txBody>
                  <a:tcPr marL="43107" marR="43107" marT="43100" marB="12930" anchor="ctr">
                    <a:lnL>
                      <a:noFill/>
                    </a:lnL>
                    <a:lnR>
                      <a:noFill/>
                    </a:lnR>
                    <a:lnT>
                      <a:noFill/>
                    </a:lnT>
                    <a:lnB>
                      <a:noFill/>
                    </a:lnB>
                    <a:solidFill>
                      <a:srgbClr val="E4F2E7"/>
                    </a:solidFill>
                  </a:tcPr>
                </a:tc>
                <a:tc>
                  <a:txBody>
                    <a:bodyPr/>
                    <a:lstStyle/>
                    <a:p>
                      <a:pPr fontAlgn="base"/>
                      <a:r>
                        <a:rPr lang="en-CA" sz="1200" b="0">
                          <a:solidFill>
                            <a:srgbClr val="333333"/>
                          </a:solidFill>
                          <a:effectLst/>
                          <a:latin typeface="+mn-lt"/>
                        </a:rPr>
                        <a:t>Authorized shares</a:t>
                      </a:r>
                      <a:br>
                        <a:rPr lang="en-CA" sz="1200" b="0">
                          <a:solidFill>
                            <a:srgbClr val="333333"/>
                          </a:solidFill>
                          <a:effectLst/>
                          <a:latin typeface="+mn-lt"/>
                        </a:rPr>
                      </a:br>
                      <a:r>
                        <a:rPr lang="en-CA" sz="1200" b="0">
                          <a:solidFill>
                            <a:srgbClr val="333333"/>
                          </a:solidFill>
                          <a:effectLst/>
                          <a:latin typeface="+mn-lt"/>
                        </a:rPr>
                        <a:t>Issued shares</a:t>
                      </a:r>
                      <a:br>
                        <a:rPr lang="en-CA" sz="1200" b="0">
                          <a:solidFill>
                            <a:srgbClr val="333333"/>
                          </a:solidFill>
                          <a:effectLst/>
                          <a:latin typeface="+mn-lt"/>
                        </a:rPr>
                      </a:br>
                      <a:r>
                        <a:rPr lang="en-CA" sz="1200" b="0">
                          <a:solidFill>
                            <a:srgbClr val="333333"/>
                          </a:solidFill>
                          <a:effectLst/>
                          <a:latin typeface="+mn-lt"/>
                        </a:rPr>
                        <a:t>Un-issued shares</a:t>
                      </a:r>
                    </a:p>
                  </a:txBody>
                  <a:tcPr marL="43107" marR="43107" marT="43100" marB="12930" anchor="ctr">
                    <a:lnL>
                      <a:noFill/>
                    </a:lnL>
                    <a:lnR>
                      <a:noFill/>
                    </a:lnR>
                    <a:lnT>
                      <a:noFill/>
                    </a:lnT>
                    <a:lnB>
                      <a:noFill/>
                    </a:lnB>
                    <a:solidFill>
                      <a:srgbClr val="E4F2E7"/>
                    </a:solidFill>
                  </a:tcPr>
                </a:tc>
                <a:tc gridSpan="2">
                  <a:txBody>
                    <a:bodyPr/>
                    <a:lstStyle/>
                    <a:p>
                      <a:pPr algn="ctr" fontAlgn="base"/>
                      <a:r>
                        <a:rPr lang="en-CA" sz="1200" b="0" dirty="0">
                          <a:solidFill>
                            <a:srgbClr val="333333"/>
                          </a:solidFill>
                          <a:effectLst/>
                          <a:latin typeface="+mn-lt"/>
                        </a:rPr>
                        <a:t>100,000 </a:t>
                      </a:r>
                      <a:br>
                        <a:rPr lang="en-CA" sz="1200" b="0" dirty="0">
                          <a:solidFill>
                            <a:srgbClr val="333333"/>
                          </a:solidFill>
                          <a:effectLst/>
                          <a:latin typeface="+mn-lt"/>
                        </a:rPr>
                      </a:br>
                      <a:r>
                        <a:rPr lang="en-CA" sz="1200" b="0" dirty="0">
                          <a:solidFill>
                            <a:srgbClr val="333333"/>
                          </a:solidFill>
                          <a:effectLst/>
                          <a:latin typeface="+mn-lt"/>
                        </a:rPr>
                        <a:t> </a:t>
                      </a:r>
                      <a:r>
                        <a:rPr lang="en-CA" sz="1200" b="0" u="none" strike="noStrike" dirty="0">
                          <a:solidFill>
                            <a:srgbClr val="333333"/>
                          </a:solidFill>
                          <a:effectLst/>
                          <a:latin typeface="+mn-lt"/>
                        </a:rPr>
                        <a:t>(30,000</a:t>
                      </a:r>
                      <a:r>
                        <a:rPr lang="en-CA" sz="1200" b="0" dirty="0">
                          <a:solidFill>
                            <a:srgbClr val="333333"/>
                          </a:solidFill>
                          <a:effectLst/>
                          <a:latin typeface="+mn-lt"/>
                        </a:rPr>
                        <a:t>)</a:t>
                      </a:r>
                      <a:br>
                        <a:rPr lang="en-CA" sz="1200" b="0" dirty="0">
                          <a:solidFill>
                            <a:srgbClr val="333333"/>
                          </a:solidFill>
                          <a:effectLst/>
                          <a:latin typeface="+mn-lt"/>
                        </a:rPr>
                      </a:br>
                      <a:r>
                        <a:rPr lang="en-CA" sz="1200" b="0" dirty="0">
                          <a:solidFill>
                            <a:srgbClr val="333333"/>
                          </a:solidFill>
                          <a:effectLst/>
                          <a:latin typeface="+mn-lt"/>
                        </a:rPr>
                        <a:t> 70,000</a:t>
                      </a:r>
                    </a:p>
                  </a:txBody>
                  <a:tcPr marL="43107" marR="86213" marT="43100" marB="12930" anchor="ctr">
                    <a:lnL>
                      <a:noFill/>
                    </a:lnL>
                    <a:lnR>
                      <a:noFill/>
                    </a:lnR>
                    <a:lnT>
                      <a:noFill/>
                    </a:lnT>
                    <a:lnB>
                      <a:noFill/>
                    </a:lnB>
                    <a:solidFill>
                      <a:srgbClr val="E4F2E7"/>
                    </a:solidFill>
                  </a:tcPr>
                </a:tc>
                <a:tc hMerge="1">
                  <a:txBody>
                    <a:bodyPr/>
                    <a:lstStyle/>
                    <a:p>
                      <a:pPr algn="ctr" fontAlgn="base"/>
                      <a:endParaRPr lang="en-CA" sz="1200" b="0">
                        <a:solidFill>
                          <a:srgbClr val="333333"/>
                        </a:solidFill>
                        <a:effectLst/>
                        <a:latin typeface="+mn-lt"/>
                      </a:endParaRPr>
                    </a:p>
                  </a:txBody>
                  <a:tcPr marL="43107" marR="86213" marT="43107" marB="12932" anchor="ctr">
                    <a:lnL>
                      <a:noFill/>
                    </a:lnL>
                    <a:lnR>
                      <a:noFill/>
                    </a:lnR>
                    <a:lnT>
                      <a:noFill/>
                    </a:lnT>
                    <a:lnB>
                      <a:noFill/>
                    </a:lnB>
                    <a:solidFill>
                      <a:srgbClr val="E4F2E7"/>
                    </a:solidFill>
                  </a:tcPr>
                </a:tc>
                <a:extLst>
                  <a:ext uri="{0D108BD9-81ED-4DB2-BD59-A6C34878D82A}">
                    <a16:rowId xmlns:a16="http://schemas.microsoft.com/office/drawing/2014/main" val="10006"/>
                  </a:ext>
                </a:extLst>
              </a:tr>
              <a:tr h="619894">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CA" sz="1200" b="1" dirty="0">
                          <a:solidFill>
                            <a:srgbClr val="333333"/>
                          </a:solidFill>
                          <a:effectLst/>
                          <a:latin typeface="+mn-lt"/>
                        </a:rPr>
                        <a:t>Treasury shares:</a:t>
                      </a:r>
                      <a:endParaRPr lang="en-CA" sz="1200" b="0" dirty="0">
                        <a:solidFill>
                          <a:srgbClr val="333333"/>
                        </a:solidFill>
                        <a:effectLst/>
                        <a:latin typeface="+mn-lt"/>
                      </a:endParaRPr>
                    </a:p>
                    <a:p>
                      <a:pPr fontAlgn="base"/>
                      <a:r>
                        <a:rPr lang="en-CA" sz="1200" b="0" dirty="0">
                          <a:solidFill>
                            <a:srgbClr val="333333"/>
                          </a:solidFill>
                          <a:effectLst/>
                          <a:latin typeface="+mn-lt"/>
                        </a:rPr>
                        <a:t>Shares that have been issued to investors and then reacquired by the issuing corporation.</a:t>
                      </a:r>
                    </a:p>
                  </a:txBody>
                  <a:tcPr marL="86213" marR="43107" marT="43100" marB="12930" anchor="ctr">
                    <a:lnL>
                      <a:noFill/>
                    </a:lnL>
                    <a:lnR>
                      <a:noFill/>
                    </a:lnR>
                    <a:lnT>
                      <a:noFill/>
                    </a:lnT>
                    <a:lnB>
                      <a:noFill/>
                    </a:lnB>
                    <a:solidFill>
                      <a:srgbClr val="E4F2E7"/>
                    </a:solidFill>
                  </a:tcPr>
                </a:tc>
                <a:tc>
                  <a:txBody>
                    <a:bodyPr/>
                    <a:lstStyle/>
                    <a:p>
                      <a:pPr fontAlgn="base"/>
                      <a:r>
                        <a:rPr lang="en-CA" sz="1200" b="0">
                          <a:solidFill>
                            <a:srgbClr val="333333"/>
                          </a:solidFill>
                          <a:effectLst/>
                          <a:latin typeface="+mn-lt"/>
                        </a:rPr>
                        <a:t> </a:t>
                      </a:r>
                    </a:p>
                  </a:txBody>
                  <a:tcPr marL="43107" marR="43107" marT="43100" marB="12930" anchor="ctr">
                    <a:lnL>
                      <a:noFill/>
                    </a:lnL>
                    <a:lnR>
                      <a:noFill/>
                    </a:lnR>
                    <a:lnT>
                      <a:noFill/>
                    </a:lnT>
                    <a:lnB>
                      <a:noFill/>
                    </a:lnB>
                    <a:solidFill>
                      <a:srgbClr val="E4F2E7"/>
                    </a:solidFill>
                  </a:tcPr>
                </a:tc>
                <a:tc gridSpan="3">
                  <a:txBody>
                    <a:bodyPr/>
                    <a:lstStyle/>
                    <a:p>
                      <a:pPr fontAlgn="base"/>
                      <a:r>
                        <a:rPr lang="en-CA" sz="1200" b="0" dirty="0">
                          <a:solidFill>
                            <a:srgbClr val="333333"/>
                          </a:solidFill>
                          <a:effectLst/>
                          <a:latin typeface="+mn-lt"/>
                        </a:rPr>
                        <a:t>To date, XYZ Corporation has repurchased 1,000 previously issued shares.</a:t>
                      </a:r>
                    </a:p>
                  </a:txBody>
                  <a:tcPr marL="43107" marR="86213" marT="43100" marB="12930" anchor="ctr">
                    <a:lnL>
                      <a:noFill/>
                    </a:lnL>
                    <a:lnR>
                      <a:noFill/>
                    </a:lnR>
                    <a:lnT>
                      <a:noFill/>
                    </a:lnT>
                    <a:lnB>
                      <a:noFill/>
                    </a:lnB>
                    <a:solidFill>
                      <a:srgbClr val="E4F2E7"/>
                    </a:solidFill>
                  </a:tcPr>
                </a:tc>
                <a:tc hMerge="1">
                  <a:txBody>
                    <a:bodyPr/>
                    <a:lstStyle/>
                    <a:p>
                      <a:pPr fontAlgn="base"/>
                      <a:endParaRPr lang="en-CA" sz="1200" b="0">
                        <a:solidFill>
                          <a:srgbClr val="333333"/>
                        </a:solidFill>
                        <a:effectLst/>
                        <a:latin typeface="+mn-lt"/>
                      </a:endParaRPr>
                    </a:p>
                  </a:txBody>
                  <a:tcPr marL="43107" marR="86213" marT="43107" marB="12932" anchor="ctr">
                    <a:lnL>
                      <a:noFill/>
                    </a:lnL>
                    <a:lnR>
                      <a:noFill/>
                    </a:lnR>
                    <a:lnT>
                      <a:noFill/>
                    </a:lnT>
                    <a:lnB>
                      <a:noFill/>
                    </a:lnB>
                    <a:solidFill>
                      <a:srgbClr val="E4F2E7"/>
                    </a:solidFill>
                  </a:tcPr>
                </a:tc>
                <a:tc hMerge="1">
                  <a:txBody>
                    <a:bodyPr/>
                    <a:lstStyle/>
                    <a:p>
                      <a:pPr fontAlgn="base"/>
                      <a:endParaRPr lang="en-CA" sz="1200" b="0">
                        <a:solidFill>
                          <a:srgbClr val="333333"/>
                        </a:solidFill>
                        <a:effectLst/>
                        <a:latin typeface="+mn-lt"/>
                      </a:endParaRPr>
                    </a:p>
                  </a:txBody>
                  <a:tcPr marL="43107" marR="86213" marT="43107" marB="12932" anchor="ctr">
                    <a:lnL>
                      <a:noFill/>
                    </a:lnL>
                    <a:lnR>
                      <a:noFill/>
                    </a:lnR>
                    <a:lnT>
                      <a:noFill/>
                    </a:lnT>
                    <a:lnB>
                      <a:noFill/>
                    </a:lnB>
                    <a:solidFill>
                      <a:srgbClr val="E4F2E7"/>
                    </a:solidFill>
                  </a:tcPr>
                </a:tc>
                <a:extLst>
                  <a:ext uri="{0D108BD9-81ED-4DB2-BD59-A6C34878D82A}">
                    <a16:rowId xmlns:a16="http://schemas.microsoft.com/office/drawing/2014/main" val="10008"/>
                  </a:ext>
                </a:extLst>
              </a:tr>
              <a:tr h="999070">
                <a:tc>
                  <a:txBody>
                    <a:bodyPr/>
                    <a:lstStyle/>
                    <a:p>
                      <a:pPr fontAlgn="base"/>
                      <a:r>
                        <a:rPr lang="en-CA" sz="1200" b="1" dirty="0">
                          <a:solidFill>
                            <a:srgbClr val="333333"/>
                          </a:solidFill>
                          <a:effectLst/>
                          <a:latin typeface="+mn-lt"/>
                        </a:rPr>
                        <a:t>Outstanding number of shares:</a:t>
                      </a:r>
                    </a:p>
                    <a:p>
                      <a:pPr fontAlgn="base"/>
                      <a:r>
                        <a:rPr lang="en-CA" sz="1200" b="0" dirty="0">
                          <a:solidFill>
                            <a:srgbClr val="333333"/>
                          </a:solidFill>
                          <a:effectLst/>
                          <a:latin typeface="+mn-lt"/>
                        </a:rPr>
                        <a:t>The number of shares currently owned by shareholders—that is, the number of shares authorized, minus the total number of un-issued shares, minus the number of treasury shares.</a:t>
                      </a:r>
                    </a:p>
                  </a:txBody>
                  <a:tcPr marL="86213" marR="43107" marT="43100" marB="12930" anchor="ctr">
                    <a:lnL>
                      <a:noFill/>
                    </a:lnL>
                    <a:lnR>
                      <a:noFill/>
                    </a:lnR>
                    <a:lnT>
                      <a:noFill/>
                    </a:lnT>
                    <a:lnB>
                      <a:noFill/>
                    </a:lnB>
                    <a:solidFill>
                      <a:srgbClr val="E4F2E7"/>
                    </a:solidFill>
                  </a:tcPr>
                </a:tc>
                <a:tc>
                  <a:txBody>
                    <a:bodyPr/>
                    <a:lstStyle/>
                    <a:p>
                      <a:pPr fontAlgn="base"/>
                      <a:r>
                        <a:rPr lang="en-CA" sz="1200" b="0">
                          <a:solidFill>
                            <a:srgbClr val="333333"/>
                          </a:solidFill>
                          <a:effectLst/>
                          <a:latin typeface="+mn-lt"/>
                        </a:rPr>
                        <a:t> </a:t>
                      </a:r>
                    </a:p>
                  </a:txBody>
                  <a:tcPr marL="43107" marR="43107" marT="43100" marB="12930" anchor="ctr">
                    <a:lnL>
                      <a:noFill/>
                    </a:lnL>
                    <a:lnR>
                      <a:noFill/>
                    </a:lnR>
                    <a:lnT>
                      <a:noFill/>
                    </a:lnT>
                    <a:lnB>
                      <a:noFill/>
                    </a:lnB>
                    <a:solidFill>
                      <a:srgbClr val="E4F2E7"/>
                    </a:solidFill>
                  </a:tcPr>
                </a:tc>
                <a:tc>
                  <a:txBody>
                    <a:bodyPr/>
                    <a:lstStyle/>
                    <a:p>
                      <a:pPr fontAlgn="base"/>
                      <a:r>
                        <a:rPr lang="en-CA" sz="1200" b="0" dirty="0">
                          <a:solidFill>
                            <a:srgbClr val="333333"/>
                          </a:solidFill>
                          <a:effectLst/>
                          <a:latin typeface="+mn-lt"/>
                        </a:rPr>
                        <a:t>Authorized shares</a:t>
                      </a:r>
                      <a:br>
                        <a:rPr lang="en-CA" sz="1200" b="0" dirty="0">
                          <a:solidFill>
                            <a:srgbClr val="333333"/>
                          </a:solidFill>
                          <a:effectLst/>
                          <a:latin typeface="+mn-lt"/>
                        </a:rPr>
                      </a:br>
                      <a:r>
                        <a:rPr lang="en-CA" sz="1200" b="0" dirty="0">
                          <a:solidFill>
                            <a:srgbClr val="333333"/>
                          </a:solidFill>
                          <a:effectLst/>
                          <a:latin typeface="+mn-lt"/>
                        </a:rPr>
                        <a:t>Treasury shares</a:t>
                      </a:r>
                      <a:br>
                        <a:rPr lang="en-CA" sz="1200" b="0" dirty="0">
                          <a:solidFill>
                            <a:srgbClr val="333333"/>
                          </a:solidFill>
                          <a:effectLst/>
                          <a:latin typeface="+mn-lt"/>
                        </a:rPr>
                      </a:br>
                      <a:r>
                        <a:rPr lang="en-CA" sz="1200" b="0" dirty="0">
                          <a:solidFill>
                            <a:srgbClr val="333333"/>
                          </a:solidFill>
                          <a:effectLst/>
                          <a:latin typeface="+mn-lt"/>
                        </a:rPr>
                        <a:t>Un-issued shares</a:t>
                      </a:r>
                      <a:br>
                        <a:rPr lang="en-CA" sz="1200" b="0" dirty="0">
                          <a:solidFill>
                            <a:srgbClr val="333333"/>
                          </a:solidFill>
                          <a:effectLst/>
                          <a:latin typeface="+mn-lt"/>
                        </a:rPr>
                      </a:br>
                      <a:r>
                        <a:rPr lang="en-CA" sz="1200" b="0" dirty="0">
                          <a:solidFill>
                            <a:srgbClr val="333333"/>
                          </a:solidFill>
                          <a:effectLst/>
                          <a:latin typeface="+mn-lt"/>
                        </a:rPr>
                        <a:t>Outstanding shares </a:t>
                      </a:r>
                    </a:p>
                  </a:txBody>
                  <a:tcPr marL="43107" marR="43107" marT="43100" marB="12930" anchor="ctr">
                    <a:lnL>
                      <a:noFill/>
                    </a:lnL>
                    <a:lnR>
                      <a:noFill/>
                    </a:lnR>
                    <a:lnT>
                      <a:noFill/>
                    </a:lnT>
                    <a:lnB>
                      <a:noFill/>
                    </a:lnB>
                    <a:solidFill>
                      <a:srgbClr val="E4F2E7"/>
                    </a:solidFill>
                  </a:tcPr>
                </a:tc>
                <a:tc gridSpan="2">
                  <a:txBody>
                    <a:bodyPr/>
                    <a:lstStyle/>
                    <a:p>
                      <a:pPr algn="ctr" fontAlgn="base"/>
                      <a:r>
                        <a:rPr lang="en-CA" sz="1200" b="0" dirty="0">
                          <a:solidFill>
                            <a:srgbClr val="333333"/>
                          </a:solidFill>
                          <a:effectLst/>
                          <a:latin typeface="+mn-lt"/>
                        </a:rPr>
                        <a:t>100,000 </a:t>
                      </a:r>
                      <a:br>
                        <a:rPr lang="en-CA" sz="1200" b="0" dirty="0">
                          <a:solidFill>
                            <a:srgbClr val="333333"/>
                          </a:solidFill>
                          <a:effectLst/>
                          <a:latin typeface="+mn-lt"/>
                        </a:rPr>
                      </a:br>
                      <a:r>
                        <a:rPr lang="en-CA" sz="1200" b="0" dirty="0">
                          <a:solidFill>
                            <a:srgbClr val="333333"/>
                          </a:solidFill>
                          <a:effectLst/>
                          <a:latin typeface="+mn-lt"/>
                        </a:rPr>
                        <a:t>   (1,000)</a:t>
                      </a:r>
                      <a:br>
                        <a:rPr lang="en-CA" sz="1200" b="0" dirty="0">
                          <a:solidFill>
                            <a:srgbClr val="333333"/>
                          </a:solidFill>
                          <a:effectLst/>
                          <a:latin typeface="+mn-lt"/>
                        </a:rPr>
                      </a:br>
                      <a:r>
                        <a:rPr lang="en-CA" sz="1200" b="0" u="sng" dirty="0">
                          <a:solidFill>
                            <a:srgbClr val="333333"/>
                          </a:solidFill>
                          <a:effectLst/>
                          <a:latin typeface="+mn-lt"/>
                        </a:rPr>
                        <a:t> </a:t>
                      </a:r>
                      <a:r>
                        <a:rPr lang="en-CA" sz="1200" b="0" u="sng" strike="noStrike" dirty="0">
                          <a:solidFill>
                            <a:srgbClr val="333333"/>
                          </a:solidFill>
                          <a:effectLst/>
                          <a:latin typeface="+mn-lt"/>
                        </a:rPr>
                        <a:t>(70,000</a:t>
                      </a:r>
                      <a:r>
                        <a:rPr lang="en-CA" sz="1200" b="0" u="sng" dirty="0">
                          <a:solidFill>
                            <a:srgbClr val="333333"/>
                          </a:solidFill>
                          <a:effectLst/>
                          <a:latin typeface="+mn-lt"/>
                        </a:rPr>
                        <a:t>)</a:t>
                      </a:r>
                    </a:p>
                    <a:p>
                      <a:pPr algn="ctr" fontAlgn="base"/>
                      <a:r>
                        <a:rPr lang="en-CA" sz="1200" b="0" dirty="0">
                          <a:solidFill>
                            <a:srgbClr val="333333"/>
                          </a:solidFill>
                          <a:effectLst/>
                          <a:latin typeface="+mn-lt"/>
                        </a:rPr>
                        <a:t>  29,000</a:t>
                      </a:r>
                    </a:p>
                  </a:txBody>
                  <a:tcPr marL="43107" marR="86213" marT="43100" marB="12930" anchor="ctr">
                    <a:lnL>
                      <a:noFill/>
                    </a:lnL>
                    <a:lnR>
                      <a:noFill/>
                    </a:lnR>
                    <a:lnT>
                      <a:noFill/>
                    </a:lnT>
                    <a:lnB>
                      <a:noFill/>
                    </a:lnB>
                    <a:solidFill>
                      <a:srgbClr val="E4F2E7"/>
                    </a:solidFill>
                  </a:tcPr>
                </a:tc>
                <a:tc hMerge="1">
                  <a:txBody>
                    <a:bodyPr/>
                    <a:lstStyle/>
                    <a:p>
                      <a:pPr algn="ctr" fontAlgn="base"/>
                      <a:endParaRPr lang="en-CA" sz="1200" b="0" dirty="0">
                        <a:solidFill>
                          <a:srgbClr val="333333"/>
                        </a:solidFill>
                        <a:effectLst/>
                        <a:latin typeface="+mn-lt"/>
                      </a:endParaRPr>
                    </a:p>
                  </a:txBody>
                  <a:tcPr marL="43107" marR="86213" marT="43107" marB="12932" anchor="ctr">
                    <a:lnL>
                      <a:noFill/>
                    </a:lnL>
                    <a:lnR>
                      <a:noFill/>
                    </a:lnR>
                    <a:lnT>
                      <a:noFill/>
                    </a:lnT>
                    <a:lnB>
                      <a:noFill/>
                    </a:lnB>
                    <a:solidFill>
                      <a:srgbClr val="E4F2E7"/>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14419378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F7F0929A-9D8E-4E05-BB58-E09DD43DE8BD}"/>
              </a:ext>
            </a:extLst>
          </p:cNvPr>
          <p:cNvSpPr>
            <a:spLocks noGrp="1"/>
          </p:cNvSpPr>
          <p:nvPr>
            <p:ph type="title"/>
          </p:nvPr>
        </p:nvSpPr>
        <p:spPr/>
        <p:txBody>
          <a:bodyPr/>
          <a:lstStyle/>
          <a:p>
            <a:r>
              <a:rPr lang="en-US" altLang="en-US"/>
              <a:t>Key Ratio Analysis – Earnings per Share Ratio</a:t>
            </a:r>
          </a:p>
        </p:txBody>
      </p:sp>
      <p:sp>
        <p:nvSpPr>
          <p:cNvPr id="10242" name="Content Placeholder 2">
            <a:extLst>
              <a:ext uri="{FF2B5EF4-FFF2-40B4-BE49-F238E27FC236}">
                <a16:creationId xmlns:a16="http://schemas.microsoft.com/office/drawing/2014/main" id="{F5B69D91-D73F-41C1-9A92-EA9044E59296}"/>
              </a:ext>
            </a:extLst>
          </p:cNvPr>
          <p:cNvSpPr>
            <a:spLocks noGrp="1"/>
          </p:cNvSpPr>
          <p:nvPr>
            <p:ph idx="1"/>
          </p:nvPr>
        </p:nvSpPr>
        <p:spPr/>
        <p:txBody>
          <a:bodyPr/>
          <a:lstStyle/>
          <a:p>
            <a:r>
              <a:rPr lang="en-CA" altLang="en-US" b="1"/>
              <a:t>ANALYTICAL QUESTION</a:t>
            </a:r>
            <a:r>
              <a:rPr lang="en-CA" altLang="en-US"/>
              <a:t> → How profitable is a company?</a:t>
            </a:r>
          </a:p>
          <a:p>
            <a:r>
              <a:rPr lang="en-CA" altLang="en-US" b="1"/>
              <a:t>RATIO AND COMPARISONS</a:t>
            </a:r>
            <a:r>
              <a:rPr lang="en-CA" altLang="en-US"/>
              <a:t> → The </a:t>
            </a:r>
            <a:r>
              <a:rPr lang="en-CA" altLang="en-US" i="1"/>
              <a:t>earnings per share</a:t>
            </a:r>
            <a:r>
              <a:rPr lang="en-CA" altLang="en-US"/>
              <a:t> (EPS) is a measure of the return on investment that is based on the number of shares outstanding instead of the dollar amounts reported on the statement of financial position. In simple situations, it is computed as follows:</a:t>
            </a:r>
          </a:p>
          <a:p>
            <a:endParaRPr lang="en-CA" altLang="en-US"/>
          </a:p>
          <a:p>
            <a:endParaRPr lang="en-CA" altLang="en-US"/>
          </a:p>
          <a:p>
            <a:endParaRPr lang="en-CA" altLang="en-US" sz="500"/>
          </a:p>
          <a:p>
            <a:endParaRPr lang="en-CA" altLang="en-US"/>
          </a:p>
          <a:p>
            <a:r>
              <a:rPr lang="en-CA" altLang="en-US"/>
              <a:t>Earnings per share is probably the single most widely watched financial ratio.</a:t>
            </a:r>
          </a:p>
          <a:p>
            <a:endParaRPr lang="en-US" altLang="en-US"/>
          </a:p>
          <a:p>
            <a:endParaRPr lang="en-US" altLang="en-US"/>
          </a:p>
          <a:p>
            <a:endParaRPr lang="en-US" altLang="en-US"/>
          </a:p>
          <a:p>
            <a:endParaRPr lang="en-US" altLang="en-US"/>
          </a:p>
          <a:p>
            <a:endParaRPr lang="en-US" altLang="en-US"/>
          </a:p>
        </p:txBody>
      </p:sp>
      <p:sp>
        <p:nvSpPr>
          <p:cNvPr id="10243" name="Text Box 1027">
            <a:extLst>
              <a:ext uri="{FF2B5EF4-FFF2-40B4-BE49-F238E27FC236}">
                <a16:creationId xmlns:a16="http://schemas.microsoft.com/office/drawing/2014/main" id="{EC48599B-2BA2-43A6-BE83-C566FA9CFBC5}"/>
              </a:ext>
            </a:extLst>
          </p:cNvPr>
          <p:cNvSpPr txBox="1">
            <a:spLocks noChangeArrowheads="1"/>
          </p:cNvSpPr>
          <p:nvPr/>
        </p:nvSpPr>
        <p:spPr bwMode="auto">
          <a:xfrm>
            <a:off x="838200" y="4191000"/>
            <a:ext cx="2286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Earnings per share</a:t>
            </a:r>
          </a:p>
        </p:txBody>
      </p:sp>
      <p:sp>
        <p:nvSpPr>
          <p:cNvPr id="10244" name="Text Box 1028">
            <a:extLst>
              <a:ext uri="{FF2B5EF4-FFF2-40B4-BE49-F238E27FC236}">
                <a16:creationId xmlns:a16="http://schemas.microsoft.com/office/drawing/2014/main" id="{9AB22ABA-1514-4F70-84DD-C83DCFC44BB3}"/>
              </a:ext>
            </a:extLst>
          </p:cNvPr>
          <p:cNvSpPr txBox="1">
            <a:spLocks noChangeArrowheads="1"/>
          </p:cNvSpPr>
          <p:nvPr/>
        </p:nvSpPr>
        <p:spPr bwMode="auto">
          <a:xfrm>
            <a:off x="2895600" y="4419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a:t>
            </a:r>
          </a:p>
        </p:txBody>
      </p:sp>
      <p:sp>
        <p:nvSpPr>
          <p:cNvPr id="10245" name="Text Box 1029">
            <a:extLst>
              <a:ext uri="{FF2B5EF4-FFF2-40B4-BE49-F238E27FC236}">
                <a16:creationId xmlns:a16="http://schemas.microsoft.com/office/drawing/2014/main" id="{20EB59D3-4691-467F-96C5-459F059C648A}"/>
              </a:ext>
            </a:extLst>
          </p:cNvPr>
          <p:cNvSpPr txBox="1">
            <a:spLocks noChangeArrowheads="1"/>
          </p:cNvSpPr>
          <p:nvPr/>
        </p:nvSpPr>
        <p:spPr bwMode="auto">
          <a:xfrm>
            <a:off x="3657600" y="3886200"/>
            <a:ext cx="4724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Net earnings available to common shareholders</a:t>
            </a:r>
          </a:p>
        </p:txBody>
      </p:sp>
      <p:sp>
        <p:nvSpPr>
          <p:cNvPr id="10246" name="Text Box 1030">
            <a:extLst>
              <a:ext uri="{FF2B5EF4-FFF2-40B4-BE49-F238E27FC236}">
                <a16:creationId xmlns:a16="http://schemas.microsoft.com/office/drawing/2014/main" id="{76E5D0B2-19D2-4DCC-9433-BD4756C3C876}"/>
              </a:ext>
            </a:extLst>
          </p:cNvPr>
          <p:cNvSpPr txBox="1">
            <a:spLocks noChangeArrowheads="1"/>
          </p:cNvSpPr>
          <p:nvPr/>
        </p:nvSpPr>
        <p:spPr bwMode="auto">
          <a:xfrm>
            <a:off x="3733800" y="4648200"/>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Average number of common shares outstanding</a:t>
            </a:r>
          </a:p>
        </p:txBody>
      </p:sp>
      <p:sp>
        <p:nvSpPr>
          <p:cNvPr id="10247" name="Line 1031">
            <a:extLst>
              <a:ext uri="{FF2B5EF4-FFF2-40B4-BE49-F238E27FC236}">
                <a16:creationId xmlns:a16="http://schemas.microsoft.com/office/drawing/2014/main" id="{9C9834F4-151F-499B-ACD2-F13E8E5F5851}"/>
              </a:ext>
            </a:extLst>
          </p:cNvPr>
          <p:cNvSpPr>
            <a:spLocks noChangeShapeType="1"/>
          </p:cNvSpPr>
          <p:nvPr/>
        </p:nvSpPr>
        <p:spPr bwMode="auto">
          <a:xfrm>
            <a:off x="3733800" y="4648200"/>
            <a:ext cx="4572000"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60BD6AA0-EEA0-455F-BC6E-763756FBD13C}"/>
              </a:ext>
            </a:extLst>
          </p:cNvPr>
          <p:cNvSpPr>
            <a:spLocks noGrp="1"/>
          </p:cNvSpPr>
          <p:nvPr>
            <p:ph type="title"/>
          </p:nvPr>
        </p:nvSpPr>
        <p:spPr/>
        <p:txBody>
          <a:bodyPr/>
          <a:lstStyle/>
          <a:p>
            <a:r>
              <a:rPr lang="en-CA" altLang="en-US"/>
              <a:t>Common Share Transactions</a:t>
            </a:r>
            <a:endParaRPr lang="en-US" altLang="en-US"/>
          </a:p>
        </p:txBody>
      </p:sp>
      <p:sp>
        <p:nvSpPr>
          <p:cNvPr id="29698" name="Content Placeholder 2">
            <a:extLst>
              <a:ext uri="{FF2B5EF4-FFF2-40B4-BE49-F238E27FC236}">
                <a16:creationId xmlns:a16="http://schemas.microsoft.com/office/drawing/2014/main" id="{A815ECF3-A986-4439-A78D-04A80343FA82}"/>
              </a:ext>
            </a:extLst>
          </p:cNvPr>
          <p:cNvSpPr>
            <a:spLocks noGrp="1"/>
          </p:cNvSpPr>
          <p:nvPr>
            <p:ph idx="1"/>
          </p:nvPr>
        </p:nvSpPr>
        <p:spPr/>
        <p:txBody>
          <a:bodyPr/>
          <a:lstStyle/>
          <a:p>
            <a:r>
              <a:rPr lang="en-CA" altLang="en-US" dirty="0"/>
              <a:t>Corporations issue two types of shares: common shares and preferred shares. </a:t>
            </a:r>
          </a:p>
          <a:p>
            <a:endParaRPr lang="en-CA" altLang="en-US" sz="800" dirty="0"/>
          </a:p>
          <a:p>
            <a:r>
              <a:rPr lang="en-CA" altLang="en-US" dirty="0"/>
              <a:t>All corporations issue common shares, while only some issue preferred shares, which grant preferences that the common shares do not have. </a:t>
            </a:r>
          </a:p>
          <a:p>
            <a:endParaRPr lang="en-CA" altLang="en-US" sz="800" dirty="0"/>
          </a:p>
          <a:p>
            <a:r>
              <a:rPr lang="en-CA" altLang="en-US" b="1" dirty="0"/>
              <a:t>Common shares</a:t>
            </a:r>
            <a:r>
              <a:rPr lang="en-CA" altLang="en-US" dirty="0"/>
              <a:t> are the basic voting shares issued by a corporation. They are often called the </a:t>
            </a:r>
            <a:r>
              <a:rPr lang="en-CA" altLang="en-US" i="1" dirty="0"/>
              <a:t>residual equity</a:t>
            </a:r>
            <a:r>
              <a:rPr lang="en-CA" altLang="en-US" dirty="0"/>
              <a:t> because they rank after the preferred shares for dividend and asset distribution upon liquidation of the corporation.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126FEA84-508B-4479-8ADB-35F91E9691FF}"/>
              </a:ext>
            </a:extLst>
          </p:cNvPr>
          <p:cNvSpPr>
            <a:spLocks noGrp="1"/>
          </p:cNvSpPr>
          <p:nvPr>
            <p:ph type="title"/>
          </p:nvPr>
        </p:nvSpPr>
        <p:spPr/>
        <p:txBody>
          <a:bodyPr/>
          <a:lstStyle/>
          <a:p>
            <a:r>
              <a:rPr lang="en-US" altLang="en-US"/>
              <a:t>No Par Value and Par Value Shares</a:t>
            </a:r>
          </a:p>
        </p:txBody>
      </p:sp>
      <p:sp>
        <p:nvSpPr>
          <p:cNvPr id="30722" name="Content Placeholder 2">
            <a:extLst>
              <a:ext uri="{FF2B5EF4-FFF2-40B4-BE49-F238E27FC236}">
                <a16:creationId xmlns:a16="http://schemas.microsoft.com/office/drawing/2014/main" id="{0D218DC8-2A6E-4ECB-A4B9-FCBFD21AAB49}"/>
              </a:ext>
            </a:extLst>
          </p:cNvPr>
          <p:cNvSpPr>
            <a:spLocks noGrp="1"/>
          </p:cNvSpPr>
          <p:nvPr>
            <p:ph idx="1"/>
          </p:nvPr>
        </p:nvSpPr>
        <p:spPr>
          <a:xfrm>
            <a:off x="457200" y="1066800"/>
            <a:ext cx="8229600" cy="5334000"/>
          </a:xfrm>
        </p:spPr>
        <p:txBody>
          <a:bodyPr/>
          <a:lstStyle/>
          <a:p>
            <a:r>
              <a:rPr lang="en-CA" altLang="en-US" b="1" dirty="0"/>
              <a:t>Par value</a:t>
            </a:r>
            <a:r>
              <a:rPr lang="en-CA" altLang="en-US" dirty="0"/>
              <a:t> is the nominal value per share established in the charter of a corporation.</a:t>
            </a:r>
            <a:r>
              <a:rPr lang="en-CA" dirty="0"/>
              <a:t> It has no relationship to the price at which shares are actually sold to investors. </a:t>
            </a:r>
            <a:r>
              <a:rPr lang="en-CA" altLang="en-US" dirty="0"/>
              <a:t> </a:t>
            </a:r>
          </a:p>
          <a:p>
            <a:endParaRPr lang="en-CA" altLang="en-US" sz="800" dirty="0"/>
          </a:p>
          <a:p>
            <a:r>
              <a:rPr lang="en-CA" altLang="en-US" dirty="0"/>
              <a:t>The Canada Business Corporations Act and most provincial corporation acts prohibit the issuance of par value shares. The few Canadian companies that still have par value shares outstanding issued them before the CBCA was amended in 1985. </a:t>
            </a:r>
          </a:p>
          <a:p>
            <a:endParaRPr lang="en-CA" altLang="en-US" sz="800" dirty="0"/>
          </a:p>
          <a:p>
            <a:r>
              <a:rPr lang="en-CA" altLang="en-US" dirty="0"/>
              <a:t>The remainder of this chapter focuses on </a:t>
            </a:r>
            <a:r>
              <a:rPr lang="en-CA" altLang="en-US" b="1" dirty="0"/>
              <a:t>no par value shares</a:t>
            </a:r>
            <a:r>
              <a:rPr lang="en-CA" altLang="en-US" dirty="0"/>
              <a:t>, which do not have an amount per share specified in the corporate charter. In contrast, most U.S. corporations issue par value shares.</a:t>
            </a:r>
            <a:endParaRPr lang="en-US"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F9DD4E2E-E5DE-4D32-9D09-6CE1668F263C}"/>
              </a:ext>
            </a:extLst>
          </p:cNvPr>
          <p:cNvSpPr>
            <a:spLocks noGrp="1"/>
          </p:cNvSpPr>
          <p:nvPr>
            <p:ph type="title"/>
          </p:nvPr>
        </p:nvSpPr>
        <p:spPr/>
        <p:txBody>
          <a:bodyPr/>
          <a:lstStyle/>
          <a:p>
            <a:r>
              <a:rPr lang="en-US" altLang="en-US"/>
              <a:t>Initial Sale of Shares</a:t>
            </a:r>
          </a:p>
        </p:txBody>
      </p:sp>
      <p:sp>
        <p:nvSpPr>
          <p:cNvPr id="11266" name="Content Placeholder 2">
            <a:extLst>
              <a:ext uri="{FF2B5EF4-FFF2-40B4-BE49-F238E27FC236}">
                <a16:creationId xmlns:a16="http://schemas.microsoft.com/office/drawing/2014/main" id="{9DAD3997-582D-4C38-8484-F8354519AFA9}"/>
              </a:ext>
            </a:extLst>
          </p:cNvPr>
          <p:cNvSpPr>
            <a:spLocks noGrp="1"/>
          </p:cNvSpPr>
          <p:nvPr>
            <p:ph idx="1"/>
          </p:nvPr>
        </p:nvSpPr>
        <p:spPr>
          <a:xfrm>
            <a:off x="457200" y="1066800"/>
            <a:ext cx="8229600" cy="5334000"/>
          </a:xfrm>
        </p:spPr>
        <p:txBody>
          <a:bodyPr/>
          <a:lstStyle/>
          <a:p>
            <a:r>
              <a:rPr lang="en-CA" altLang="en-US" dirty="0"/>
              <a:t>Two names are applied to transactions involving the initial sale of a company’s shares to the public. An </a:t>
            </a:r>
            <a:r>
              <a:rPr lang="en-CA" altLang="en-US" i="1" dirty="0"/>
              <a:t>initial public offering</a:t>
            </a:r>
            <a:r>
              <a:rPr lang="en-CA" altLang="en-US" dirty="0"/>
              <a:t>, or </a:t>
            </a:r>
            <a:r>
              <a:rPr lang="en-CA" altLang="en-US" i="1" dirty="0"/>
              <a:t>IPO</a:t>
            </a:r>
            <a:r>
              <a:rPr lang="en-CA" altLang="en-US" dirty="0"/>
              <a:t>, involves the very first sale of a company’s shares to the public (i.e., when the company first “goes public”). </a:t>
            </a:r>
          </a:p>
          <a:p>
            <a:r>
              <a:rPr lang="en-CA" altLang="en-US" dirty="0"/>
              <a:t>Most sales of shares to the public are cash transactions.</a:t>
            </a:r>
          </a:p>
          <a:p>
            <a:r>
              <a:rPr lang="en-CA" altLang="en-US" dirty="0"/>
              <a:t>For example; assume that BCE sold 100,000 common shares for $60 per share, as an initial sale of shares. The company records the following journal entry:</a:t>
            </a:r>
          </a:p>
          <a:p>
            <a:endParaRPr lang="en-US" altLang="en-US" dirty="0"/>
          </a:p>
        </p:txBody>
      </p:sp>
      <p:graphicFrame>
        <p:nvGraphicFramePr>
          <p:cNvPr id="4" name="Table 3">
            <a:extLst>
              <a:ext uri="{FF2B5EF4-FFF2-40B4-BE49-F238E27FC236}">
                <a16:creationId xmlns:a16="http://schemas.microsoft.com/office/drawing/2014/main" id="{0100D217-5BBD-4905-BFCF-DAF5CC4D4119}"/>
              </a:ext>
            </a:extLst>
          </p:cNvPr>
          <p:cNvGraphicFramePr>
            <a:graphicFrameLocks noGrp="1"/>
          </p:cNvGraphicFramePr>
          <p:nvPr>
            <p:extLst>
              <p:ext uri="{D42A27DB-BD31-4B8C-83A1-F6EECF244321}">
                <p14:modId xmlns:p14="http://schemas.microsoft.com/office/powerpoint/2010/main" val="2930932675"/>
              </p:ext>
            </p:extLst>
          </p:nvPr>
        </p:nvGraphicFramePr>
        <p:xfrm>
          <a:off x="1143000" y="4876800"/>
          <a:ext cx="6934201" cy="1600200"/>
        </p:xfrm>
        <a:graphic>
          <a:graphicData uri="http://schemas.openxmlformats.org/drawingml/2006/table">
            <a:tbl>
              <a:tblPr/>
              <a:tblGrid>
                <a:gridCol w="652631">
                  <a:extLst>
                    <a:ext uri="{9D8B030D-6E8A-4147-A177-3AD203B41FA5}">
                      <a16:colId xmlns:a16="http://schemas.microsoft.com/office/drawing/2014/main" val="20000"/>
                    </a:ext>
                  </a:extLst>
                </a:gridCol>
                <a:gridCol w="1060524">
                  <a:extLst>
                    <a:ext uri="{9D8B030D-6E8A-4147-A177-3AD203B41FA5}">
                      <a16:colId xmlns:a16="http://schemas.microsoft.com/office/drawing/2014/main" val="20001"/>
                    </a:ext>
                  </a:extLst>
                </a:gridCol>
                <a:gridCol w="407894">
                  <a:extLst>
                    <a:ext uri="{9D8B030D-6E8A-4147-A177-3AD203B41FA5}">
                      <a16:colId xmlns:a16="http://schemas.microsoft.com/office/drawing/2014/main" val="20002"/>
                    </a:ext>
                  </a:extLst>
                </a:gridCol>
                <a:gridCol w="180867">
                  <a:extLst>
                    <a:ext uri="{9D8B030D-6E8A-4147-A177-3AD203B41FA5}">
                      <a16:colId xmlns:a16="http://schemas.microsoft.com/office/drawing/2014/main" val="20003"/>
                    </a:ext>
                  </a:extLst>
                </a:gridCol>
                <a:gridCol w="1369131">
                  <a:extLst>
                    <a:ext uri="{9D8B030D-6E8A-4147-A177-3AD203B41FA5}">
                      <a16:colId xmlns:a16="http://schemas.microsoft.com/office/drawing/2014/main" val="20004"/>
                    </a:ext>
                  </a:extLst>
                </a:gridCol>
                <a:gridCol w="326316">
                  <a:extLst>
                    <a:ext uri="{9D8B030D-6E8A-4147-A177-3AD203B41FA5}">
                      <a16:colId xmlns:a16="http://schemas.microsoft.com/office/drawing/2014/main" val="20005"/>
                    </a:ext>
                  </a:extLst>
                </a:gridCol>
                <a:gridCol w="1305261">
                  <a:extLst>
                    <a:ext uri="{9D8B030D-6E8A-4147-A177-3AD203B41FA5}">
                      <a16:colId xmlns:a16="http://schemas.microsoft.com/office/drawing/2014/main" val="20006"/>
                    </a:ext>
                  </a:extLst>
                </a:gridCol>
                <a:gridCol w="326316">
                  <a:extLst>
                    <a:ext uri="{9D8B030D-6E8A-4147-A177-3AD203B41FA5}">
                      <a16:colId xmlns:a16="http://schemas.microsoft.com/office/drawing/2014/main" val="20007"/>
                    </a:ext>
                  </a:extLst>
                </a:gridCol>
                <a:gridCol w="1305261">
                  <a:extLst>
                    <a:ext uri="{9D8B030D-6E8A-4147-A177-3AD203B41FA5}">
                      <a16:colId xmlns:a16="http://schemas.microsoft.com/office/drawing/2014/main" val="20008"/>
                    </a:ext>
                  </a:extLst>
                </a:gridCol>
              </a:tblGrid>
              <a:tr h="401868">
                <a:tc gridSpan="6">
                  <a:txBody>
                    <a:bodyPr/>
                    <a:lstStyle/>
                    <a:p>
                      <a:pPr fontAlgn="base"/>
                      <a:r>
                        <a:rPr lang="en-CA" sz="1400" dirty="0">
                          <a:effectLst/>
                          <a:latin typeface="Times New Roman" panose="02020603050405020304" pitchFamily="18" charset="0"/>
                        </a:rPr>
                        <a:t>Cash (A) (100,000 × $60)</a:t>
                      </a:r>
                    </a:p>
                  </a:txBody>
                  <a:tcPr marL="143541" marR="71771" marT="71784" marB="21535"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ase"/>
                      <a:r>
                        <a:rPr lang="en-CA" sz="1400" dirty="0">
                          <a:effectLst/>
                          <a:latin typeface="Times New Roman" panose="02020603050405020304" pitchFamily="18" charset="0"/>
                        </a:rPr>
                        <a:t>6,000,000</a:t>
                      </a:r>
                    </a:p>
                  </a:txBody>
                  <a:tcPr marL="71771" marR="71771" marT="71784" marB="21535" anchor="b">
                    <a:lnL>
                      <a:noFill/>
                    </a:lnL>
                    <a:lnR>
                      <a:noFill/>
                    </a:lnR>
                    <a:lnT>
                      <a:noFill/>
                    </a:lnT>
                    <a:lnB>
                      <a:noFill/>
                    </a:lnB>
                    <a:solidFill>
                      <a:srgbClr val="BCDBC4"/>
                    </a:solidFill>
                  </a:tcPr>
                </a:tc>
                <a:tc gridSpan="2">
                  <a:txBody>
                    <a:bodyPr/>
                    <a:lstStyle/>
                    <a:p>
                      <a:r>
                        <a:rPr lang="en-CA" sz="1400">
                          <a:effectLst/>
                          <a:latin typeface="Times New Roman" panose="02020603050405020304" pitchFamily="18" charset="0"/>
                        </a:rPr>
                        <a:t> </a:t>
                      </a:r>
                      <a:endParaRPr lang="en-US" sz="1800"/>
                    </a:p>
                  </a:txBody>
                  <a:tcPr marL="71771" marR="143541" marT="71784" marB="21535" anchor="ctr">
                    <a:lnL>
                      <a:noFill/>
                    </a:lnL>
                    <a:lnR>
                      <a:noFill/>
                    </a:lnR>
                    <a:lnT>
                      <a:noFill/>
                    </a:lnT>
                    <a:lnB>
                      <a:noFill/>
                    </a:lnB>
                    <a:solidFill>
                      <a:srgbClr val="BCDBC4"/>
                    </a:solidFill>
                  </a:tcPr>
                </a:tc>
                <a:tc hMerge="1">
                  <a:txBody>
                    <a:bodyPr/>
                    <a:lstStyle/>
                    <a:p>
                      <a:pPr algn="r" fontAlgn="base"/>
                      <a:endParaRPr lang="en-CA" sz="1400">
                        <a:effectLst/>
                        <a:latin typeface="Times New Roman" panose="02020603050405020304" pitchFamily="18" charset="0"/>
                      </a:endParaRPr>
                    </a:p>
                  </a:txBody>
                  <a:tcPr marL="71771" marR="71771" marT="71771" marB="21531" anchor="b">
                    <a:lnL>
                      <a:noFill/>
                    </a:lnL>
                    <a:lnR>
                      <a:noFill/>
                    </a:lnR>
                    <a:lnT>
                      <a:noFill/>
                    </a:lnT>
                    <a:lnB>
                      <a:noFill/>
                    </a:lnB>
                    <a:solidFill>
                      <a:srgbClr val="BCDBC4"/>
                    </a:solidFill>
                  </a:tcPr>
                </a:tc>
                <a:extLst>
                  <a:ext uri="{0D108BD9-81ED-4DB2-BD59-A6C34878D82A}">
                    <a16:rowId xmlns:a16="http://schemas.microsoft.com/office/drawing/2014/main" val="10000"/>
                  </a:ext>
                </a:extLst>
              </a:tr>
              <a:tr h="399444">
                <a:tc gridSpan="5">
                  <a:txBody>
                    <a:bodyPr/>
                    <a:lstStyle/>
                    <a:p>
                      <a:pPr fontAlgn="base"/>
                      <a:r>
                        <a:rPr lang="en-CA" sz="1400" dirty="0">
                          <a:effectLst/>
                          <a:latin typeface="Times New Roman" panose="02020603050405020304" pitchFamily="18" charset="0"/>
                        </a:rPr>
                        <a:t>     Common shares (SE)</a:t>
                      </a:r>
                    </a:p>
                  </a:txBody>
                  <a:tcPr marL="143541" marR="71771" marT="71784" marB="21535"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fontAlgn="base"/>
                      <a:r>
                        <a:rPr lang="en-CA" sz="1400">
                          <a:effectLst/>
                          <a:latin typeface="Times New Roman" panose="02020603050405020304" pitchFamily="18" charset="0"/>
                        </a:rPr>
                        <a:t> </a:t>
                      </a:r>
                    </a:p>
                  </a:txBody>
                  <a:tcPr marL="71771" marR="71771" marT="71784" marB="21535" anchor="ctr">
                    <a:lnL>
                      <a:noFill/>
                    </a:lnL>
                    <a:lnR>
                      <a:noFill/>
                    </a:lnR>
                    <a:lnT>
                      <a:noFill/>
                    </a:lnT>
                    <a:lnB>
                      <a:noFill/>
                    </a:lnB>
                    <a:solidFill>
                      <a:srgbClr val="BCDBC4"/>
                    </a:solidFill>
                  </a:tcPr>
                </a:tc>
                <a:tc>
                  <a:txBody>
                    <a:bodyPr/>
                    <a:lstStyle/>
                    <a:p>
                      <a:pPr fontAlgn="base"/>
                      <a:r>
                        <a:rPr lang="en-CA" sz="1400">
                          <a:effectLst/>
                          <a:latin typeface="Times New Roman" panose="02020603050405020304" pitchFamily="18" charset="0"/>
                        </a:rPr>
                        <a:t> </a:t>
                      </a:r>
                    </a:p>
                  </a:txBody>
                  <a:tcPr marL="71771" marR="71771" marT="71784" marB="21535" anchor="ctr">
                    <a:lnL>
                      <a:noFill/>
                    </a:lnL>
                    <a:lnR>
                      <a:noFill/>
                    </a:lnR>
                    <a:lnT>
                      <a:noFill/>
                    </a:lnT>
                    <a:lnB>
                      <a:noFill/>
                    </a:lnB>
                    <a:solidFill>
                      <a:srgbClr val="BCDBC4"/>
                    </a:solidFill>
                  </a:tcPr>
                </a:tc>
                <a:tc gridSpan="2">
                  <a:txBody>
                    <a:bodyPr/>
                    <a:lstStyle/>
                    <a:p>
                      <a:pPr algn="r"/>
                      <a:r>
                        <a:rPr lang="en-CA" sz="1400" dirty="0">
                          <a:effectLst/>
                          <a:latin typeface="Times New Roman" panose="02020603050405020304" pitchFamily="18" charset="0"/>
                        </a:rPr>
                        <a:t>6,000,000</a:t>
                      </a:r>
                      <a:endParaRPr lang="en-US" sz="1800" dirty="0"/>
                    </a:p>
                  </a:txBody>
                  <a:tcPr marL="71771" marR="143541" marT="71784" marB="21535" anchor="b">
                    <a:lnL>
                      <a:noFill/>
                    </a:lnL>
                    <a:lnR>
                      <a:noFill/>
                    </a:lnR>
                    <a:lnT>
                      <a:noFill/>
                    </a:lnT>
                    <a:lnB>
                      <a:noFill/>
                    </a:lnB>
                    <a:solidFill>
                      <a:srgbClr val="BCDBC4"/>
                    </a:solidFill>
                  </a:tcPr>
                </a:tc>
                <a:tc hMerge="1">
                  <a:txBody>
                    <a:bodyPr/>
                    <a:lstStyle/>
                    <a:p>
                      <a:pPr fontAlgn="base"/>
                      <a:endParaRPr lang="en-CA" sz="1400">
                        <a:effectLst/>
                        <a:latin typeface="Times New Roman" panose="02020603050405020304" pitchFamily="18" charset="0"/>
                      </a:endParaRPr>
                    </a:p>
                  </a:txBody>
                  <a:tcPr marL="71771" marR="71771" marT="71771" marB="21531" anchor="ctr">
                    <a:lnL>
                      <a:noFill/>
                    </a:lnL>
                    <a:lnR>
                      <a:noFill/>
                    </a:lnR>
                    <a:lnT>
                      <a:noFill/>
                    </a:lnT>
                    <a:lnB>
                      <a:noFill/>
                    </a:lnB>
                    <a:solidFill>
                      <a:srgbClr val="BCDBC4"/>
                    </a:solidFill>
                  </a:tcPr>
                </a:tc>
                <a:extLst>
                  <a:ext uri="{0D108BD9-81ED-4DB2-BD59-A6C34878D82A}">
                    <a16:rowId xmlns:a16="http://schemas.microsoft.com/office/drawing/2014/main" val="10001"/>
                  </a:ext>
                </a:extLst>
              </a:tr>
              <a:tr h="399444">
                <a:tc gridSpan="2">
                  <a:txBody>
                    <a:bodyPr/>
                    <a:lstStyle/>
                    <a:p>
                      <a:pPr algn="ctr" fontAlgn="base"/>
                      <a:r>
                        <a:rPr lang="en-CA" sz="1400" b="1">
                          <a:effectLst/>
                          <a:latin typeface="inherit"/>
                        </a:rPr>
                        <a:t>Assets</a:t>
                      </a:r>
                      <a:endParaRPr lang="en-CA" sz="1400">
                        <a:effectLst/>
                        <a:latin typeface="Times New Roman" panose="02020603050405020304" pitchFamily="18" charset="0"/>
                      </a:endParaRPr>
                    </a:p>
                  </a:txBody>
                  <a:tcPr marL="143541" marR="71771" marT="71784" marB="21535"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400">
                          <a:effectLst/>
                          <a:latin typeface="Times New Roman" panose="02020603050405020304" pitchFamily="18" charset="0"/>
                        </a:rPr>
                        <a:t>=</a:t>
                      </a:r>
                    </a:p>
                  </a:txBody>
                  <a:tcPr marL="71771" marR="71771" marT="71784" marB="21535" anchor="b">
                    <a:lnL>
                      <a:noFill/>
                    </a:lnL>
                    <a:lnR>
                      <a:noFill/>
                    </a:lnR>
                    <a:lnT>
                      <a:noFill/>
                    </a:lnT>
                    <a:lnB>
                      <a:noFill/>
                    </a:lnB>
                    <a:solidFill>
                      <a:srgbClr val="E4F2E7"/>
                    </a:solidFill>
                  </a:tcPr>
                </a:tc>
                <a:tc gridSpan="2">
                  <a:txBody>
                    <a:bodyPr/>
                    <a:lstStyle/>
                    <a:p>
                      <a:pPr algn="ctr" fontAlgn="base"/>
                      <a:r>
                        <a:rPr lang="en-CA" sz="1400" b="1">
                          <a:effectLst/>
                          <a:latin typeface="inherit"/>
                        </a:rPr>
                        <a:t>Liabilities</a:t>
                      </a:r>
                      <a:endParaRPr lang="en-CA" sz="1400">
                        <a:effectLst/>
                        <a:latin typeface="Times New Roman" panose="02020603050405020304" pitchFamily="18" charset="0"/>
                      </a:endParaRPr>
                    </a:p>
                  </a:txBody>
                  <a:tcPr marL="71771" marR="71771" marT="71784" marB="21535"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400">
                          <a:effectLst/>
                          <a:latin typeface="Times New Roman" panose="02020603050405020304" pitchFamily="18" charset="0"/>
                        </a:rPr>
                        <a:t>+</a:t>
                      </a:r>
                    </a:p>
                  </a:txBody>
                  <a:tcPr marL="71771" marR="71771" marT="71784" marB="21535" anchor="b">
                    <a:lnL>
                      <a:noFill/>
                    </a:lnL>
                    <a:lnR>
                      <a:noFill/>
                    </a:lnR>
                    <a:lnT>
                      <a:noFill/>
                    </a:lnT>
                    <a:lnB>
                      <a:noFill/>
                    </a:lnB>
                    <a:solidFill>
                      <a:srgbClr val="E4F2E7"/>
                    </a:solidFill>
                  </a:tcPr>
                </a:tc>
                <a:tc gridSpan="3">
                  <a:txBody>
                    <a:bodyPr/>
                    <a:lstStyle/>
                    <a:p>
                      <a:pPr algn="ctr" fontAlgn="base"/>
                      <a:r>
                        <a:rPr lang="en-CA" sz="1400" b="1">
                          <a:effectLst/>
                          <a:latin typeface="inherit"/>
                        </a:rPr>
                        <a:t>Shareholders’ Equity</a:t>
                      </a:r>
                      <a:endParaRPr lang="en-CA" sz="1400">
                        <a:effectLst/>
                        <a:latin typeface="Times New Roman" panose="02020603050405020304" pitchFamily="18" charset="0"/>
                      </a:endParaRPr>
                    </a:p>
                  </a:txBody>
                  <a:tcPr marL="71771" marR="143541" marT="71784" marB="21535"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99444">
                <a:tc>
                  <a:txBody>
                    <a:bodyPr/>
                    <a:lstStyle/>
                    <a:p>
                      <a:pPr fontAlgn="base"/>
                      <a:r>
                        <a:rPr lang="en-CA" sz="1400">
                          <a:effectLst/>
                          <a:latin typeface="Times New Roman" panose="02020603050405020304" pitchFamily="18" charset="0"/>
                        </a:rPr>
                        <a:t>Cash</a:t>
                      </a:r>
                    </a:p>
                  </a:txBody>
                  <a:tcPr marL="143541" marR="71771" marT="71784" marB="2153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400" dirty="0">
                          <a:effectLst/>
                          <a:latin typeface="Times New Roman" panose="02020603050405020304" pitchFamily="18" charset="0"/>
                        </a:rPr>
                        <a:t>+6,000,000</a:t>
                      </a:r>
                    </a:p>
                  </a:txBody>
                  <a:tcPr marL="71771" marR="71771" marT="71784" marB="2153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400">
                          <a:effectLst/>
                          <a:latin typeface="Times New Roman" panose="02020603050405020304" pitchFamily="18" charset="0"/>
                        </a:rPr>
                        <a:t> </a:t>
                      </a:r>
                    </a:p>
                  </a:txBody>
                  <a:tcPr marL="71771" marR="71771" marT="71784" marB="21535" anchor="ctr">
                    <a:lnL>
                      <a:noFill/>
                    </a:lnL>
                    <a:lnR>
                      <a:noFill/>
                    </a:lnR>
                    <a:lnT>
                      <a:noFill/>
                    </a:lnT>
                    <a:lnB>
                      <a:noFill/>
                    </a:lnB>
                    <a:solidFill>
                      <a:srgbClr val="E4F2E7"/>
                    </a:solidFill>
                  </a:tcPr>
                </a:tc>
                <a:tc>
                  <a:txBody>
                    <a:bodyPr/>
                    <a:lstStyle/>
                    <a:p>
                      <a:pPr fontAlgn="base"/>
                      <a:r>
                        <a:rPr lang="en-CA" sz="1400">
                          <a:effectLst/>
                          <a:latin typeface="Times New Roman" panose="02020603050405020304" pitchFamily="18" charset="0"/>
                        </a:rPr>
                        <a:t> </a:t>
                      </a:r>
                    </a:p>
                  </a:txBody>
                  <a:tcPr marL="71771" marR="71771" marT="71784" marB="2153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400">
                          <a:effectLst/>
                          <a:latin typeface="Times New Roman" panose="02020603050405020304" pitchFamily="18" charset="0"/>
                        </a:rPr>
                        <a:t> </a:t>
                      </a:r>
                    </a:p>
                  </a:txBody>
                  <a:tcPr marL="71771" marR="71771" marT="71784" marB="2153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400">
                          <a:effectLst/>
                          <a:latin typeface="Times New Roman" panose="02020603050405020304" pitchFamily="18" charset="0"/>
                        </a:rPr>
                        <a:t> </a:t>
                      </a:r>
                    </a:p>
                  </a:txBody>
                  <a:tcPr marL="71771" marR="71771" marT="71784" marB="21535" anchor="ctr">
                    <a:lnL>
                      <a:noFill/>
                    </a:lnL>
                    <a:lnR>
                      <a:noFill/>
                    </a:lnR>
                    <a:lnT>
                      <a:noFill/>
                    </a:lnT>
                    <a:lnB>
                      <a:noFill/>
                    </a:lnB>
                    <a:solidFill>
                      <a:srgbClr val="E4F2E7"/>
                    </a:solidFill>
                  </a:tcPr>
                </a:tc>
                <a:tc gridSpan="2">
                  <a:txBody>
                    <a:bodyPr/>
                    <a:lstStyle/>
                    <a:p>
                      <a:pPr fontAlgn="base"/>
                      <a:r>
                        <a:rPr lang="en-CA" sz="1400" dirty="0">
                          <a:effectLst/>
                          <a:latin typeface="Times New Roman" panose="02020603050405020304" pitchFamily="18" charset="0"/>
                        </a:rPr>
                        <a:t>Common shares</a:t>
                      </a:r>
                    </a:p>
                  </a:txBody>
                  <a:tcPr marL="71771" marR="71771" marT="71784" marB="2153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hMerge="1">
                  <a:txBody>
                    <a:bodyPr/>
                    <a:lstStyle/>
                    <a:p>
                      <a:pPr fontAlgn="base"/>
                      <a:endParaRPr lang="en-CA" sz="1400">
                        <a:effectLst/>
                        <a:latin typeface="Times New Roman" panose="02020603050405020304" pitchFamily="18" charset="0"/>
                      </a:endParaRPr>
                    </a:p>
                  </a:txBody>
                  <a:tcPr marL="71771" marR="71771" marT="71771" marB="21531"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400" dirty="0">
                          <a:effectLst/>
                          <a:latin typeface="Times New Roman" panose="02020603050405020304" pitchFamily="18" charset="0"/>
                        </a:rPr>
                        <a:t>+6,000,000</a:t>
                      </a:r>
                    </a:p>
                  </a:txBody>
                  <a:tcPr marL="71771" marR="143541" marT="71784" marB="2153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100462C4-F61F-409B-8DAC-38875D24981C}"/>
              </a:ext>
            </a:extLst>
          </p:cNvPr>
          <p:cNvSpPr>
            <a:spLocks noGrp="1"/>
          </p:cNvSpPr>
          <p:nvPr>
            <p:ph type="title"/>
          </p:nvPr>
        </p:nvSpPr>
        <p:spPr/>
        <p:txBody>
          <a:bodyPr/>
          <a:lstStyle/>
          <a:p>
            <a:r>
              <a:rPr lang="en-US" altLang="en-US"/>
              <a:t>Sale of Shares in Secondary Markets</a:t>
            </a:r>
          </a:p>
        </p:txBody>
      </p:sp>
      <p:sp>
        <p:nvSpPr>
          <p:cNvPr id="31746" name="Content Placeholder 2">
            <a:extLst>
              <a:ext uri="{FF2B5EF4-FFF2-40B4-BE49-F238E27FC236}">
                <a16:creationId xmlns:a16="http://schemas.microsoft.com/office/drawing/2014/main" id="{BA92948C-06D7-4736-8B3A-9B0E55DD38B8}"/>
              </a:ext>
            </a:extLst>
          </p:cNvPr>
          <p:cNvSpPr>
            <a:spLocks noGrp="1"/>
          </p:cNvSpPr>
          <p:nvPr>
            <p:ph idx="1"/>
          </p:nvPr>
        </p:nvSpPr>
        <p:spPr/>
        <p:txBody>
          <a:bodyPr/>
          <a:lstStyle/>
          <a:p>
            <a:r>
              <a:rPr lang="en-CA" altLang="en-US" dirty="0"/>
              <a:t>Subsequent to the initial sale, investors can sell shares to other investors without directly affecting the corporation.</a:t>
            </a:r>
          </a:p>
          <a:p>
            <a:endParaRPr lang="en-CA" altLang="en-US" sz="800" dirty="0"/>
          </a:p>
          <a:p>
            <a:r>
              <a:rPr lang="en-CA" altLang="en-US" dirty="0"/>
              <a:t>For example, if investor Eric </a:t>
            </a:r>
            <a:r>
              <a:rPr lang="en-CA" altLang="en-US" dirty="0" err="1"/>
              <a:t>Mortisson</a:t>
            </a:r>
            <a:r>
              <a:rPr lang="en-CA" altLang="en-US" dirty="0"/>
              <a:t> sold 1,000 of BCE’s common shares to Jennifer Hussein, BCE does not record a journal entry on its books. </a:t>
            </a:r>
          </a:p>
          <a:p>
            <a:endParaRPr lang="en-CA" altLang="en-US" sz="800" dirty="0"/>
          </a:p>
          <a:p>
            <a:r>
              <a:rPr lang="en-CA" altLang="en-US" dirty="0"/>
              <a:t>Eric received cash for the shares he sold, and Jennifer received shares for the cash she paid. </a:t>
            </a:r>
          </a:p>
          <a:p>
            <a:endParaRPr lang="en-CA" altLang="en-US" sz="800" dirty="0"/>
          </a:p>
          <a:p>
            <a:r>
              <a:rPr lang="en-CA" altLang="en-US" dirty="0"/>
              <a:t>BCE itself did not receive or pay anything because of this transaction.</a:t>
            </a:r>
            <a:endParaRPr lang="en-US"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E2FA3795-F457-49FF-8297-B6ECFD64F159}"/>
              </a:ext>
            </a:extLst>
          </p:cNvPr>
          <p:cNvSpPr>
            <a:spLocks noGrp="1"/>
          </p:cNvSpPr>
          <p:nvPr>
            <p:ph type="title"/>
          </p:nvPr>
        </p:nvSpPr>
        <p:spPr/>
        <p:txBody>
          <a:bodyPr/>
          <a:lstStyle/>
          <a:p>
            <a:r>
              <a:rPr lang="en-US" altLang="en-US"/>
              <a:t>Shares Issued for Non-cash Assets or Services</a:t>
            </a:r>
          </a:p>
        </p:txBody>
      </p:sp>
      <p:sp>
        <p:nvSpPr>
          <p:cNvPr id="32770" name="Content Placeholder 2">
            <a:extLst>
              <a:ext uri="{FF2B5EF4-FFF2-40B4-BE49-F238E27FC236}">
                <a16:creationId xmlns:a16="http://schemas.microsoft.com/office/drawing/2014/main" id="{2553ED0B-73EB-43D8-8200-564FA32E941C}"/>
              </a:ext>
            </a:extLst>
          </p:cNvPr>
          <p:cNvSpPr>
            <a:spLocks noGrp="1"/>
          </p:cNvSpPr>
          <p:nvPr>
            <p:ph idx="1"/>
          </p:nvPr>
        </p:nvSpPr>
        <p:spPr>
          <a:xfrm>
            <a:off x="457200" y="1066800"/>
            <a:ext cx="8229600" cy="5334000"/>
          </a:xfrm>
        </p:spPr>
        <p:txBody>
          <a:bodyPr/>
          <a:lstStyle/>
          <a:p>
            <a:r>
              <a:rPr lang="en-CA" altLang="en-US" dirty="0"/>
              <a:t>Many start-up companies have a shortage of cash. These companies often cannot afford to pay cash for needed assets and services, they sometimes issue shares to people who can supply these assets and services. </a:t>
            </a:r>
          </a:p>
          <a:p>
            <a:r>
              <a:rPr lang="en-CA" altLang="en-US" dirty="0"/>
              <a:t>Many executives, for instance, will join start-up companies for very low salaries because they also earn compensation in the form of common shares. </a:t>
            </a:r>
          </a:p>
          <a:p>
            <a:r>
              <a:rPr lang="en-CA" altLang="en-US" dirty="0"/>
              <a:t>When a company issues shares to acquire assets or services, the acquired items are recorded at the </a:t>
            </a:r>
            <a:r>
              <a:rPr lang="en-CA" altLang="en-US" i="1" dirty="0"/>
              <a:t>fair value</a:t>
            </a:r>
            <a:r>
              <a:rPr lang="en-CA" altLang="en-US" dirty="0"/>
              <a:t> of the assets or services received. </a:t>
            </a:r>
          </a:p>
          <a:p>
            <a:r>
              <a:rPr lang="en-CA" altLang="en-US" dirty="0"/>
              <a:t>If the company cannot reliably estimate the fair value of the assets or services received, then the fair value of the shares would be used.</a:t>
            </a:r>
          </a:p>
          <a:p>
            <a:endParaRPr lang="en-US"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23826160-7395-4FDF-A83B-2C168DC0CF79}"/>
              </a:ext>
            </a:extLst>
          </p:cNvPr>
          <p:cNvSpPr>
            <a:spLocks noGrp="1"/>
          </p:cNvSpPr>
          <p:nvPr>
            <p:ph type="title"/>
          </p:nvPr>
        </p:nvSpPr>
        <p:spPr/>
        <p:txBody>
          <a:bodyPr/>
          <a:lstStyle/>
          <a:p>
            <a:r>
              <a:rPr lang="en-US" altLang="en-US"/>
              <a:t>Shares Issued for Employee Compensation</a:t>
            </a:r>
          </a:p>
        </p:txBody>
      </p:sp>
      <p:sp>
        <p:nvSpPr>
          <p:cNvPr id="33794" name="Content Placeholder 2">
            <a:extLst>
              <a:ext uri="{FF2B5EF4-FFF2-40B4-BE49-F238E27FC236}">
                <a16:creationId xmlns:a16="http://schemas.microsoft.com/office/drawing/2014/main" id="{ADD54052-6DDF-47E9-BA53-F24BD62B0889}"/>
              </a:ext>
            </a:extLst>
          </p:cNvPr>
          <p:cNvSpPr>
            <a:spLocks noGrp="1"/>
          </p:cNvSpPr>
          <p:nvPr>
            <p:ph idx="1"/>
          </p:nvPr>
        </p:nvSpPr>
        <p:spPr/>
        <p:txBody>
          <a:bodyPr/>
          <a:lstStyle/>
          <a:p>
            <a:pPr>
              <a:spcBef>
                <a:spcPct val="50000"/>
              </a:spcBef>
            </a:pPr>
            <a:r>
              <a:rPr lang="en-CA" altLang="en-US" b="1"/>
              <a:t>Stock options </a:t>
            </a:r>
            <a:r>
              <a:rPr lang="en-CA" altLang="en-US"/>
              <a:t>allow employees to purchase shares from the corporation at a predetermined, fixed price, which is generally at a fraction of the share price in the secondary market. </a:t>
            </a:r>
          </a:p>
          <a:p>
            <a:pPr>
              <a:spcBef>
                <a:spcPct val="50000"/>
              </a:spcBef>
            </a:pPr>
            <a:r>
              <a:rPr lang="en-CA" altLang="en-US"/>
              <a:t>Executive and employee stock option plans have become an increasingly common form of non-cash compensation that should provide an incentive for executives and employees to act in the best interests of the corporation.</a:t>
            </a:r>
          </a:p>
          <a:p>
            <a:pPr>
              <a:spcBef>
                <a:spcPct val="50000"/>
              </a:spcBef>
            </a:pPr>
            <a:r>
              <a:rPr lang="en-CA" altLang="en-US"/>
              <a:t>Canadian companies must estimate and report compensation expense associated with stock options on the statement of earnings.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7C261B97-D10B-4DEC-B401-44EFC8210752}"/>
              </a:ext>
            </a:extLst>
          </p:cNvPr>
          <p:cNvSpPr>
            <a:spLocks noGrp="1"/>
          </p:cNvSpPr>
          <p:nvPr>
            <p:ph type="title"/>
          </p:nvPr>
        </p:nvSpPr>
        <p:spPr/>
        <p:txBody>
          <a:bodyPr/>
          <a:lstStyle/>
          <a:p>
            <a:r>
              <a:rPr lang="en-US" altLang="en-US"/>
              <a:t>Repurchase of Shares Part 1</a:t>
            </a:r>
          </a:p>
        </p:txBody>
      </p:sp>
      <p:sp>
        <p:nvSpPr>
          <p:cNvPr id="34818" name="Content Placeholder 2">
            <a:extLst>
              <a:ext uri="{FF2B5EF4-FFF2-40B4-BE49-F238E27FC236}">
                <a16:creationId xmlns:a16="http://schemas.microsoft.com/office/drawing/2014/main" id="{EE668756-462E-4244-815B-6F48C0192C12}"/>
              </a:ext>
            </a:extLst>
          </p:cNvPr>
          <p:cNvSpPr>
            <a:spLocks noGrp="1"/>
          </p:cNvSpPr>
          <p:nvPr>
            <p:ph idx="1"/>
          </p:nvPr>
        </p:nvSpPr>
        <p:spPr/>
        <p:txBody>
          <a:bodyPr/>
          <a:lstStyle/>
          <a:p>
            <a:r>
              <a:rPr lang="en-CA" altLang="en-US"/>
              <a:t>Most Canadian companies cancel their shares when they buy them back from shareholders. </a:t>
            </a:r>
          </a:p>
          <a:p>
            <a:r>
              <a:rPr lang="en-CA" altLang="en-US"/>
              <a:t>When shares are cancelled, the appropriate share capital account is reduced by an amount that reflects the average issuance price per share. </a:t>
            </a:r>
          </a:p>
          <a:p>
            <a:r>
              <a:rPr lang="en-CA" altLang="en-US"/>
              <a:t>If the purchase price is less than the average issuance price, the difference is credited to contributed surplus.</a:t>
            </a:r>
          </a:p>
          <a:p>
            <a:r>
              <a:rPr lang="en-CA" altLang="en-US"/>
              <a:t>For example, if BCE purchases 50,000 common shares in the open market at $50 per share and the average price of the previously issued common shares is $54, the journal entry and the transaction effects will be as follows:</a:t>
            </a:r>
            <a:endParaRPr lang="en-US"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B01BC74F-C7A6-45F9-B0BA-30CA6CE31672}"/>
              </a:ext>
            </a:extLst>
          </p:cNvPr>
          <p:cNvSpPr>
            <a:spLocks noGrp="1"/>
          </p:cNvSpPr>
          <p:nvPr>
            <p:ph type="title"/>
          </p:nvPr>
        </p:nvSpPr>
        <p:spPr/>
        <p:txBody>
          <a:bodyPr/>
          <a:lstStyle/>
          <a:p>
            <a:r>
              <a:rPr lang="en-US" altLang="en-US"/>
              <a:t>Repurchase of Shares Part 2</a:t>
            </a:r>
          </a:p>
        </p:txBody>
      </p:sp>
      <p:sp>
        <p:nvSpPr>
          <p:cNvPr id="12290" name="Content Placeholder 2">
            <a:extLst>
              <a:ext uri="{FF2B5EF4-FFF2-40B4-BE49-F238E27FC236}">
                <a16:creationId xmlns:a16="http://schemas.microsoft.com/office/drawing/2014/main" id="{9DCD7DF1-9E5C-4C97-B001-CDC2892BE29E}"/>
              </a:ext>
            </a:extLst>
          </p:cNvPr>
          <p:cNvSpPr>
            <a:spLocks noGrp="1"/>
          </p:cNvSpPr>
          <p:nvPr>
            <p:ph idx="1"/>
          </p:nvPr>
        </p:nvSpPr>
        <p:spPr/>
        <p:txBody>
          <a:bodyPr/>
          <a:lstStyle/>
          <a:p>
            <a:endParaRPr lang="en-CA" altLang="en-US" dirty="0"/>
          </a:p>
          <a:p>
            <a:endParaRPr lang="en-CA" altLang="en-US" dirty="0"/>
          </a:p>
          <a:p>
            <a:endParaRPr lang="en-CA" altLang="en-US" dirty="0"/>
          </a:p>
          <a:p>
            <a:endParaRPr lang="en-CA" altLang="en-US" dirty="0"/>
          </a:p>
          <a:p>
            <a:endParaRPr lang="en-CA" altLang="en-US" dirty="0"/>
          </a:p>
          <a:p>
            <a:endParaRPr lang="en-CA" altLang="en-US" sz="2200" dirty="0"/>
          </a:p>
          <a:p>
            <a:r>
              <a:rPr lang="en-CA" altLang="en-US" dirty="0"/>
              <a:t>Repurchases of shares at prices lower than the average issue price do not result in profit for the issuing company because they are capital transactions, not operating transactions. </a:t>
            </a:r>
          </a:p>
          <a:p>
            <a:r>
              <a:rPr lang="en-CA" altLang="en-US" dirty="0"/>
              <a:t>Companies profit from buying and selling shares issued by other companies, but not their own shares.</a:t>
            </a:r>
            <a:endParaRPr lang="en-US" altLang="en-US" dirty="0"/>
          </a:p>
        </p:txBody>
      </p:sp>
      <p:graphicFrame>
        <p:nvGraphicFramePr>
          <p:cNvPr id="4" name="Table 3">
            <a:extLst>
              <a:ext uri="{FF2B5EF4-FFF2-40B4-BE49-F238E27FC236}">
                <a16:creationId xmlns:a16="http://schemas.microsoft.com/office/drawing/2014/main" id="{7DA98A2F-862C-42D8-B3B9-F3B2EE2162FC}"/>
              </a:ext>
            </a:extLst>
          </p:cNvPr>
          <p:cNvGraphicFramePr>
            <a:graphicFrameLocks noGrp="1"/>
          </p:cNvGraphicFramePr>
          <p:nvPr/>
        </p:nvGraphicFramePr>
        <p:xfrm>
          <a:off x="457200" y="1362075"/>
          <a:ext cx="8229599" cy="2388474"/>
        </p:xfrm>
        <a:graphic>
          <a:graphicData uri="http://schemas.openxmlformats.org/drawingml/2006/table">
            <a:tbl>
              <a:tblPr/>
              <a:tblGrid>
                <a:gridCol w="828259">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2560874">
                  <a:extLst>
                    <a:ext uri="{9D8B030D-6E8A-4147-A177-3AD203B41FA5}">
                      <a16:colId xmlns:a16="http://schemas.microsoft.com/office/drawing/2014/main" val="20006"/>
                    </a:ext>
                  </a:extLst>
                </a:gridCol>
                <a:gridCol w="1335266">
                  <a:extLst>
                    <a:ext uri="{9D8B030D-6E8A-4147-A177-3AD203B41FA5}">
                      <a16:colId xmlns:a16="http://schemas.microsoft.com/office/drawing/2014/main" val="20007"/>
                    </a:ext>
                  </a:extLst>
                </a:gridCol>
              </a:tblGrid>
              <a:tr h="397933">
                <a:tc gridSpan="6">
                  <a:txBody>
                    <a:bodyPr/>
                    <a:lstStyle/>
                    <a:p>
                      <a:pPr fontAlgn="base"/>
                      <a:r>
                        <a:rPr lang="en-CA" sz="1800">
                          <a:effectLst/>
                          <a:latin typeface="Times New Roman" panose="02020603050405020304" pitchFamily="18" charset="0"/>
                        </a:rPr>
                        <a:t>Common shares (SE) (50,000 × $54)</a:t>
                      </a:r>
                    </a:p>
                  </a:txBody>
                  <a:tcPr marL="190500" marR="95250" marT="95199" marB="28560"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ase"/>
                      <a:r>
                        <a:rPr lang="en-CA" sz="1800" dirty="0">
                          <a:effectLst/>
                          <a:latin typeface="Times New Roman" panose="02020603050405020304" pitchFamily="18" charset="0"/>
                        </a:rPr>
                        <a:t>2,700,000</a:t>
                      </a:r>
                    </a:p>
                  </a:txBody>
                  <a:tcPr marL="95250" marR="95250" marT="95199" marB="28560" anchor="b">
                    <a:lnL>
                      <a:noFill/>
                    </a:lnL>
                    <a:lnR>
                      <a:noFill/>
                    </a:lnR>
                    <a:lnT>
                      <a:noFill/>
                    </a:lnT>
                    <a:lnB>
                      <a:noFill/>
                    </a:lnB>
                    <a:solidFill>
                      <a:srgbClr val="BCDBC4"/>
                    </a:solidFill>
                  </a:tcPr>
                </a:tc>
                <a:tc>
                  <a:txBody>
                    <a:bodyPr/>
                    <a:lstStyle/>
                    <a:p>
                      <a:pPr algn="r" fontAlgn="base"/>
                      <a:r>
                        <a:rPr lang="en-CA" sz="1800">
                          <a:effectLst/>
                          <a:latin typeface="Times New Roman" panose="02020603050405020304" pitchFamily="18" charset="0"/>
                        </a:rPr>
                        <a:t> </a:t>
                      </a:r>
                    </a:p>
                  </a:txBody>
                  <a:tcPr marL="95250" marR="190500" marT="95199" marB="28560" anchor="ctr">
                    <a:lnL>
                      <a:noFill/>
                    </a:lnL>
                    <a:lnR>
                      <a:noFill/>
                    </a:lnR>
                    <a:lnT>
                      <a:noFill/>
                    </a:lnT>
                    <a:lnB>
                      <a:noFill/>
                    </a:lnB>
                    <a:solidFill>
                      <a:srgbClr val="BCDBC4"/>
                    </a:solidFill>
                  </a:tcPr>
                </a:tc>
                <a:extLst>
                  <a:ext uri="{0D108BD9-81ED-4DB2-BD59-A6C34878D82A}">
                    <a16:rowId xmlns:a16="http://schemas.microsoft.com/office/drawing/2014/main" val="10000"/>
                  </a:ext>
                </a:extLst>
              </a:tr>
              <a:tr h="397933">
                <a:tc gridSpan="6">
                  <a:txBody>
                    <a:bodyPr/>
                    <a:lstStyle/>
                    <a:p>
                      <a:pPr fontAlgn="base"/>
                      <a:r>
                        <a:rPr lang="en-CA" sz="1800" dirty="0">
                          <a:effectLst/>
                          <a:latin typeface="Times New Roman" panose="02020603050405020304" pitchFamily="18" charset="0"/>
                        </a:rPr>
                        <a:t>     Cash (A)</a:t>
                      </a:r>
                    </a:p>
                  </a:txBody>
                  <a:tcPr marL="190500" marR="95250" marT="95199" marB="28560"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ase"/>
                      <a:r>
                        <a:rPr lang="en-CA" sz="1800" dirty="0">
                          <a:effectLst/>
                          <a:latin typeface="Times New Roman" panose="02020603050405020304" pitchFamily="18" charset="0"/>
                        </a:rPr>
                        <a:t> </a:t>
                      </a:r>
                    </a:p>
                  </a:txBody>
                  <a:tcPr marL="95250" marR="95250" marT="95199" marB="28560" anchor="ctr">
                    <a:lnL>
                      <a:noFill/>
                    </a:lnL>
                    <a:lnR>
                      <a:noFill/>
                    </a:lnR>
                    <a:lnT>
                      <a:noFill/>
                    </a:lnT>
                    <a:lnB>
                      <a:noFill/>
                    </a:lnB>
                    <a:solidFill>
                      <a:srgbClr val="BCDBC4"/>
                    </a:solidFill>
                  </a:tcPr>
                </a:tc>
                <a:tc>
                  <a:txBody>
                    <a:bodyPr/>
                    <a:lstStyle/>
                    <a:p>
                      <a:pPr algn="r" fontAlgn="base"/>
                      <a:r>
                        <a:rPr lang="en-CA" sz="1800" dirty="0">
                          <a:effectLst/>
                          <a:latin typeface="Times New Roman" panose="02020603050405020304" pitchFamily="18" charset="0"/>
                        </a:rPr>
                        <a:t>2,500,000</a:t>
                      </a:r>
                    </a:p>
                  </a:txBody>
                  <a:tcPr marL="95250" marR="190500" marT="95199" marB="28560" anchor="b">
                    <a:lnL>
                      <a:noFill/>
                    </a:lnL>
                    <a:lnR>
                      <a:noFill/>
                    </a:lnR>
                    <a:lnT>
                      <a:noFill/>
                    </a:lnT>
                    <a:lnB>
                      <a:noFill/>
                    </a:lnB>
                    <a:solidFill>
                      <a:srgbClr val="BCDBC4"/>
                    </a:solidFill>
                  </a:tcPr>
                </a:tc>
                <a:extLst>
                  <a:ext uri="{0D108BD9-81ED-4DB2-BD59-A6C34878D82A}">
                    <a16:rowId xmlns:a16="http://schemas.microsoft.com/office/drawing/2014/main" val="10001"/>
                  </a:ext>
                </a:extLst>
              </a:tr>
              <a:tr h="397933">
                <a:tc gridSpan="5">
                  <a:txBody>
                    <a:bodyPr/>
                    <a:lstStyle/>
                    <a:p>
                      <a:pPr fontAlgn="base"/>
                      <a:r>
                        <a:rPr lang="en-CA" sz="1800" dirty="0">
                          <a:effectLst/>
                          <a:latin typeface="Times New Roman" panose="02020603050405020304" pitchFamily="18" charset="0"/>
                        </a:rPr>
                        <a:t>     Contributed surplus (SE)</a:t>
                      </a:r>
                    </a:p>
                  </a:txBody>
                  <a:tcPr marL="190500" marR="95250" marT="95199" marB="28560"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BCDBC4"/>
                    </a:solidFill>
                  </a:tcPr>
                </a:tc>
                <a:tc>
                  <a:txBody>
                    <a:bodyPr/>
                    <a:lstStyle/>
                    <a:p>
                      <a:pPr algn="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BCDBC4"/>
                    </a:solidFill>
                  </a:tcPr>
                </a:tc>
                <a:tc>
                  <a:txBody>
                    <a:bodyPr/>
                    <a:lstStyle/>
                    <a:p>
                      <a:pPr algn="r" fontAlgn="base"/>
                      <a:r>
                        <a:rPr lang="en-CA" sz="1800" dirty="0">
                          <a:effectLst/>
                          <a:latin typeface="Times New Roman" panose="02020603050405020304" pitchFamily="18" charset="0"/>
                        </a:rPr>
                        <a:t>200,000</a:t>
                      </a:r>
                    </a:p>
                  </a:txBody>
                  <a:tcPr marL="95250" marR="190500" marT="95199" marB="28560" anchor="b">
                    <a:lnL>
                      <a:noFill/>
                    </a:lnL>
                    <a:lnR>
                      <a:noFill/>
                    </a:lnR>
                    <a:lnT>
                      <a:noFill/>
                    </a:lnT>
                    <a:lnB>
                      <a:noFill/>
                    </a:lnB>
                    <a:solidFill>
                      <a:srgbClr val="BCDBC4"/>
                    </a:solidFill>
                  </a:tcPr>
                </a:tc>
                <a:extLst>
                  <a:ext uri="{0D108BD9-81ED-4DB2-BD59-A6C34878D82A}">
                    <a16:rowId xmlns:a16="http://schemas.microsoft.com/office/drawing/2014/main" val="10002"/>
                  </a:ext>
                </a:extLst>
              </a:tr>
              <a:tr h="397933">
                <a:tc gridSpan="2">
                  <a:txBody>
                    <a:bodyPr/>
                    <a:lstStyle/>
                    <a:p>
                      <a:pPr algn="ctr" fontAlgn="base"/>
                      <a:r>
                        <a:rPr lang="en-CA" sz="1800" b="1">
                          <a:effectLst/>
                          <a:latin typeface="inherit"/>
                        </a:rPr>
                        <a:t>Assets</a:t>
                      </a:r>
                      <a:endParaRPr lang="en-CA" sz="1800">
                        <a:effectLst/>
                        <a:latin typeface="Times New Roman" panose="02020603050405020304" pitchFamily="18" charset="0"/>
                      </a:endParaRPr>
                    </a:p>
                  </a:txBody>
                  <a:tcPr marL="190500" marR="95250" marT="95199" marB="28560"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dirty="0">
                          <a:effectLst/>
                          <a:latin typeface="Times New Roman" panose="02020603050405020304" pitchFamily="18" charset="0"/>
                        </a:rPr>
                        <a:t>=</a:t>
                      </a:r>
                    </a:p>
                  </a:txBody>
                  <a:tcPr marL="95250" marR="95250" marT="95199" marB="28560" anchor="b">
                    <a:lnL>
                      <a:noFill/>
                    </a:lnL>
                    <a:lnR>
                      <a:noFill/>
                    </a:lnR>
                    <a:lnT>
                      <a:noFill/>
                    </a:lnT>
                    <a:lnB>
                      <a:noFill/>
                    </a:lnB>
                    <a:solidFill>
                      <a:srgbClr val="E4F2E7"/>
                    </a:solidFill>
                  </a:tcPr>
                </a:tc>
                <a:tc gridSpan="2">
                  <a:txBody>
                    <a:bodyPr/>
                    <a:lstStyle/>
                    <a:p>
                      <a:pPr algn="ctr" fontAlgn="base"/>
                      <a:r>
                        <a:rPr lang="en-CA" sz="1800" b="1">
                          <a:effectLst/>
                          <a:latin typeface="inherit"/>
                        </a:rPr>
                        <a:t>Liabilities</a:t>
                      </a:r>
                      <a:endParaRPr lang="en-CA" sz="1800">
                        <a:effectLst/>
                        <a:latin typeface="Times New Roman" panose="02020603050405020304" pitchFamily="18" charset="0"/>
                      </a:endParaRPr>
                    </a:p>
                  </a:txBody>
                  <a:tcPr marL="95250" marR="95250" marT="95199" marB="28560"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199" marB="28560" anchor="b">
                    <a:lnL>
                      <a:noFill/>
                    </a:lnL>
                    <a:lnR>
                      <a:noFill/>
                    </a:lnR>
                    <a:lnT>
                      <a:noFill/>
                    </a:lnT>
                    <a:lnB>
                      <a:noFill/>
                    </a:lnB>
                    <a:solidFill>
                      <a:srgbClr val="E4F2E7"/>
                    </a:solidFill>
                  </a:tcPr>
                </a:tc>
                <a:tc gridSpan="2">
                  <a:txBody>
                    <a:bodyPr/>
                    <a:lstStyle/>
                    <a:p>
                      <a:pPr algn="ctr" fontAlgn="base"/>
                      <a:r>
                        <a:rPr lang="en-CA" sz="1800" b="1" dirty="0">
                          <a:effectLst/>
                          <a:latin typeface="inherit"/>
                        </a:rPr>
                        <a:t>Shareholders’ Equity</a:t>
                      </a:r>
                      <a:endParaRPr lang="en-CA" sz="1800" dirty="0">
                        <a:effectLst/>
                        <a:latin typeface="Times New Roman" panose="02020603050405020304" pitchFamily="18" charset="0"/>
                      </a:endParaRPr>
                    </a:p>
                  </a:txBody>
                  <a:tcPr marL="95250" marR="190500" marT="95199" marB="28560"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extLst>
                  <a:ext uri="{0D108BD9-81ED-4DB2-BD59-A6C34878D82A}">
                    <a16:rowId xmlns:a16="http://schemas.microsoft.com/office/drawing/2014/main" val="10003"/>
                  </a:ext>
                </a:extLst>
              </a:tr>
              <a:tr h="397933">
                <a:tc>
                  <a:txBody>
                    <a:bodyPr/>
                    <a:lstStyle/>
                    <a:p>
                      <a:pPr fontAlgn="base"/>
                      <a:r>
                        <a:rPr lang="en-CA" sz="1800">
                          <a:effectLst/>
                          <a:latin typeface="Times New Roman" panose="02020603050405020304" pitchFamily="18" charset="0"/>
                        </a:rPr>
                        <a:t>Cash</a:t>
                      </a:r>
                    </a:p>
                  </a:txBody>
                  <a:tcPr marL="19050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a:effectLst/>
                          <a:latin typeface="Times New Roman" panose="02020603050405020304" pitchFamily="18" charset="0"/>
                        </a:rPr>
                        <a:t>−2,500,000</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Common shares</a:t>
                      </a:r>
                    </a:p>
                  </a:txBody>
                  <a:tcPr marL="95250" marR="95250" marT="95199" marB="2856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dirty="0">
                          <a:effectLst/>
                          <a:latin typeface="Times New Roman" panose="02020603050405020304" pitchFamily="18" charset="0"/>
                        </a:rPr>
                        <a:t>−2,700,000</a:t>
                      </a:r>
                    </a:p>
                  </a:txBody>
                  <a:tcPr marL="95250" marR="190500" marT="95199" marB="28560"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4"/>
                  </a:ext>
                </a:extLst>
              </a:tr>
              <a:tr h="397933">
                <a:tc>
                  <a:txBody>
                    <a:bodyPr/>
                    <a:lstStyle/>
                    <a:p>
                      <a:pPr fontAlgn="base"/>
                      <a:r>
                        <a:rPr lang="en-CA" sz="1800">
                          <a:effectLst/>
                          <a:latin typeface="Times New Roman" panose="02020603050405020304" pitchFamily="18" charset="0"/>
                        </a:rPr>
                        <a:t> </a:t>
                      </a:r>
                    </a:p>
                  </a:txBody>
                  <a:tcPr marL="190500" marR="95250" marT="95199" marB="28560"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fontAlgn="base"/>
                      <a:r>
                        <a:rPr lang="en-CA" sz="1800" dirty="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algn="l" fontAlgn="base"/>
                      <a:r>
                        <a:rPr lang="en-CA" sz="1800">
                          <a:effectLst/>
                          <a:latin typeface="Times New Roman" panose="02020603050405020304" pitchFamily="18" charset="0"/>
                        </a:rPr>
                        <a:t> </a:t>
                      </a:r>
                    </a:p>
                  </a:txBody>
                  <a:tcPr marL="95250" marR="95250" marT="95199" marB="28560"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Contributed surplus</a:t>
                      </a:r>
                    </a:p>
                  </a:txBody>
                  <a:tcPr marL="95250" marR="95250" marT="95199" marB="28560" anchor="ctr">
                    <a:lnL>
                      <a:noFill/>
                    </a:lnL>
                    <a:lnR>
                      <a:noFill/>
                    </a:lnR>
                    <a:lnT>
                      <a:noFill/>
                    </a:lnT>
                    <a:lnB>
                      <a:noFill/>
                    </a:lnB>
                    <a:solidFill>
                      <a:srgbClr val="E4F2E7"/>
                    </a:solidFill>
                  </a:tcPr>
                </a:tc>
                <a:tc>
                  <a:txBody>
                    <a:bodyPr/>
                    <a:lstStyle/>
                    <a:p>
                      <a:pPr algn="r" fontAlgn="base"/>
                      <a:r>
                        <a:rPr lang="en-CA" sz="1800" dirty="0">
                          <a:effectLst/>
                          <a:latin typeface="Times New Roman" panose="02020603050405020304" pitchFamily="18" charset="0"/>
                        </a:rPr>
                        <a:t>+200,000</a:t>
                      </a:r>
                    </a:p>
                  </a:txBody>
                  <a:tcPr marL="95250" marR="190500" marT="95199" marB="28560" anchor="ctr">
                    <a:lnL>
                      <a:noFill/>
                    </a:lnL>
                    <a:lnR>
                      <a:noFill/>
                    </a:lnR>
                    <a:lnT>
                      <a:noFill/>
                    </a:lnT>
                    <a:lnB>
                      <a:noFill/>
                    </a:lnB>
                    <a:solidFill>
                      <a:srgbClr val="E4F2E7"/>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a:extLst>
              <a:ext uri="{FF2B5EF4-FFF2-40B4-BE49-F238E27FC236}">
                <a16:creationId xmlns:a16="http://schemas.microsoft.com/office/drawing/2014/main" id="{434FB97C-812E-415F-9E75-C1F27C54EE7C}"/>
              </a:ext>
            </a:extLst>
          </p:cNvPr>
          <p:cNvSpPr>
            <a:spLocks noGrp="1"/>
          </p:cNvSpPr>
          <p:nvPr>
            <p:ph type="title"/>
          </p:nvPr>
        </p:nvSpPr>
        <p:spPr/>
        <p:txBody>
          <a:bodyPr/>
          <a:lstStyle/>
          <a:p>
            <a:r>
              <a:rPr lang="en-US" altLang="en-US"/>
              <a:t>Repurchase of Shares Part 3</a:t>
            </a:r>
          </a:p>
        </p:txBody>
      </p:sp>
      <p:sp>
        <p:nvSpPr>
          <p:cNvPr id="13314" name="Content Placeholder 2">
            <a:extLst>
              <a:ext uri="{FF2B5EF4-FFF2-40B4-BE49-F238E27FC236}">
                <a16:creationId xmlns:a16="http://schemas.microsoft.com/office/drawing/2014/main" id="{54A68CDF-DDAC-4B75-8163-C7200A63E913}"/>
              </a:ext>
            </a:extLst>
          </p:cNvPr>
          <p:cNvSpPr>
            <a:spLocks noGrp="1"/>
          </p:cNvSpPr>
          <p:nvPr>
            <p:ph idx="1"/>
          </p:nvPr>
        </p:nvSpPr>
        <p:spPr/>
        <p:txBody>
          <a:bodyPr/>
          <a:lstStyle/>
          <a:p>
            <a:r>
              <a:rPr lang="en-CA" altLang="en-US"/>
              <a:t>Assume, that BCE subsequently purchased 40,000 of its own common shares when the price per share was $60.</a:t>
            </a:r>
          </a:p>
          <a:p>
            <a:r>
              <a:rPr lang="en-CA" altLang="en-US"/>
              <a:t>In this case, the excess of the purchase price over the average issuance price is $6 per share for a total of $240,000. This difference is debited first to contributed surplus to the extent of $200,000 (the account balance), and the remaining amount of $40,000 is debited to retained earnings. </a:t>
            </a:r>
          </a:p>
          <a:p>
            <a:r>
              <a:rPr lang="en-CA" altLang="en-US"/>
              <a:t>The retained earnings account is reduced, because the excess of the purchase price over the contribution made previously by shareholders reflects the company’s profitable operations, which resulted in net earnings and caused an increase in share price. </a:t>
            </a:r>
            <a:endParaRPr lang="en-US"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60BB0170-60AB-4627-B848-0F7DA5A08DC5}"/>
              </a:ext>
            </a:extLst>
          </p:cNvPr>
          <p:cNvSpPr>
            <a:spLocks noGrp="1"/>
          </p:cNvSpPr>
          <p:nvPr>
            <p:ph type="title"/>
          </p:nvPr>
        </p:nvSpPr>
        <p:spPr/>
        <p:txBody>
          <a:bodyPr/>
          <a:lstStyle/>
          <a:p>
            <a:r>
              <a:rPr lang="en-US" altLang="en-US"/>
              <a:t>Repurchase of Shares Part 4</a:t>
            </a:r>
          </a:p>
        </p:txBody>
      </p:sp>
      <p:sp>
        <p:nvSpPr>
          <p:cNvPr id="3" name="Content Placeholder 2">
            <a:extLst>
              <a:ext uri="{FF2B5EF4-FFF2-40B4-BE49-F238E27FC236}">
                <a16:creationId xmlns:a16="http://schemas.microsoft.com/office/drawing/2014/main" id="{B741543A-A886-4BDB-AA4D-81E8D78BE7E8}"/>
              </a:ext>
            </a:extLst>
          </p:cNvPr>
          <p:cNvSpPr>
            <a:spLocks noGrp="1"/>
          </p:cNvSpPr>
          <p:nvPr>
            <p:ph idx="1"/>
          </p:nvPr>
        </p:nvSpPr>
        <p:spPr/>
        <p:txBody>
          <a:bodyPr/>
          <a:lstStyle/>
          <a:p>
            <a:pPr>
              <a:buFont typeface="Wingdings 3" pitchFamily="2" charset="2"/>
              <a:buChar char=""/>
              <a:defRPr/>
            </a:pPr>
            <a:r>
              <a:rPr lang="en-CA" dirty="0"/>
              <a:t>Therefor, the $40,000 is viewed as a distribution of accumulated net earnings, or retained earnings, to shareholders who sold their shares to the company. The journal entry and the transaction effects follow: </a:t>
            </a:r>
          </a:p>
          <a:p>
            <a:pPr marL="0" indent="0">
              <a:buFont typeface="Wingdings 3" pitchFamily="2" charset="2"/>
              <a:buNone/>
              <a:defRPr/>
            </a:pPr>
            <a:endParaRPr lang="en-CA" dirty="0"/>
          </a:p>
          <a:p>
            <a:pPr>
              <a:buFont typeface="Wingdings 3" pitchFamily="2" charset="2"/>
              <a:buChar char=""/>
              <a:defRPr/>
            </a:pPr>
            <a:endParaRPr lang="en-US" dirty="0"/>
          </a:p>
        </p:txBody>
      </p:sp>
      <p:graphicFrame>
        <p:nvGraphicFramePr>
          <p:cNvPr id="4" name="Table 3">
            <a:extLst>
              <a:ext uri="{FF2B5EF4-FFF2-40B4-BE49-F238E27FC236}">
                <a16:creationId xmlns:a16="http://schemas.microsoft.com/office/drawing/2014/main" id="{1B814B0A-FC02-4558-84FD-0AAAB5C7A95F}"/>
              </a:ext>
            </a:extLst>
          </p:cNvPr>
          <p:cNvGraphicFramePr>
            <a:graphicFrameLocks noGrp="1"/>
          </p:cNvGraphicFramePr>
          <p:nvPr/>
        </p:nvGraphicFramePr>
        <p:xfrm>
          <a:off x="457200" y="3013075"/>
          <a:ext cx="8229600" cy="1593852"/>
        </p:xfrm>
        <a:graphic>
          <a:graphicData uri="http://schemas.openxmlformats.org/drawingml/2006/table">
            <a:tbl>
              <a:tblPr/>
              <a:tblGrid>
                <a:gridCol w="4953001">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752599">
                  <a:extLst>
                    <a:ext uri="{9D8B030D-6E8A-4147-A177-3AD203B41FA5}">
                      <a16:colId xmlns:a16="http://schemas.microsoft.com/office/drawing/2014/main" val="20002"/>
                    </a:ext>
                  </a:extLst>
                </a:gridCol>
              </a:tblGrid>
              <a:tr h="398463">
                <a:tc>
                  <a:txBody>
                    <a:bodyPr/>
                    <a:lstStyle/>
                    <a:p>
                      <a:pPr fontAlgn="base"/>
                      <a:r>
                        <a:rPr lang="en-CA" sz="1800">
                          <a:effectLst/>
                          <a:latin typeface="Times New Roman" panose="02020603050405020304" pitchFamily="18" charset="0"/>
                        </a:rPr>
                        <a:t>Common shares (SE) (40,000 × $54)</a:t>
                      </a:r>
                    </a:p>
                  </a:txBody>
                  <a:tcPr marL="190500" marR="95250" marT="95326" marB="28598" anchor="ctr">
                    <a:lnL>
                      <a:noFill/>
                    </a:lnL>
                    <a:lnR>
                      <a:noFill/>
                    </a:lnR>
                    <a:lnT>
                      <a:noFill/>
                    </a:lnT>
                    <a:lnB>
                      <a:noFill/>
                    </a:lnB>
                    <a:solidFill>
                      <a:srgbClr val="BCDBC4"/>
                    </a:solidFill>
                  </a:tcPr>
                </a:tc>
                <a:tc>
                  <a:txBody>
                    <a:bodyPr/>
                    <a:lstStyle/>
                    <a:p>
                      <a:pPr algn="r" fontAlgn="base"/>
                      <a:r>
                        <a:rPr lang="en-CA" sz="1800">
                          <a:effectLst/>
                          <a:latin typeface="Times New Roman" panose="02020603050405020304" pitchFamily="18" charset="0"/>
                        </a:rPr>
                        <a:t>2,160,000</a:t>
                      </a:r>
                    </a:p>
                  </a:txBody>
                  <a:tcPr marL="95250" marR="95250" marT="95326" marB="28598" anchor="b">
                    <a:lnL>
                      <a:noFill/>
                    </a:lnL>
                    <a:lnR>
                      <a:noFill/>
                    </a:lnR>
                    <a:lnT>
                      <a:noFill/>
                    </a:lnT>
                    <a:lnB>
                      <a:noFill/>
                    </a:lnB>
                    <a:solidFill>
                      <a:srgbClr val="BCDBC4"/>
                    </a:solidFill>
                  </a:tcPr>
                </a:tc>
                <a:tc>
                  <a:txBody>
                    <a:bodyPr/>
                    <a:lstStyle/>
                    <a:p>
                      <a:pPr fontAlgn="base"/>
                      <a:r>
                        <a:rPr lang="en-CA" sz="1800">
                          <a:effectLst/>
                          <a:latin typeface="Times New Roman" panose="02020603050405020304" pitchFamily="18" charset="0"/>
                        </a:rPr>
                        <a:t> </a:t>
                      </a:r>
                    </a:p>
                  </a:txBody>
                  <a:tcPr marL="95250" marR="190500" marT="95326" marB="28598" anchor="ctr">
                    <a:lnL>
                      <a:noFill/>
                    </a:lnL>
                    <a:lnR>
                      <a:noFill/>
                    </a:lnR>
                    <a:lnT>
                      <a:noFill/>
                    </a:lnT>
                    <a:lnB>
                      <a:noFill/>
                    </a:lnB>
                    <a:solidFill>
                      <a:srgbClr val="BCDBC4"/>
                    </a:solidFill>
                  </a:tcPr>
                </a:tc>
                <a:extLst>
                  <a:ext uri="{0D108BD9-81ED-4DB2-BD59-A6C34878D82A}">
                    <a16:rowId xmlns:a16="http://schemas.microsoft.com/office/drawing/2014/main" val="10000"/>
                  </a:ext>
                </a:extLst>
              </a:tr>
              <a:tr h="398463">
                <a:tc>
                  <a:txBody>
                    <a:bodyPr/>
                    <a:lstStyle/>
                    <a:p>
                      <a:pPr fontAlgn="base"/>
                      <a:r>
                        <a:rPr lang="en-CA" sz="1800">
                          <a:effectLst/>
                          <a:latin typeface="Times New Roman" panose="02020603050405020304" pitchFamily="18" charset="0"/>
                        </a:rPr>
                        <a:t>Contributed surplus (SE)</a:t>
                      </a:r>
                    </a:p>
                  </a:txBody>
                  <a:tcPr marL="190500" marR="95250" marT="95326" marB="28598" anchor="ctr">
                    <a:lnL>
                      <a:noFill/>
                    </a:lnL>
                    <a:lnR>
                      <a:noFill/>
                    </a:lnR>
                    <a:lnT>
                      <a:noFill/>
                    </a:lnT>
                    <a:lnB>
                      <a:noFill/>
                    </a:lnB>
                    <a:solidFill>
                      <a:srgbClr val="BCDBC4"/>
                    </a:solidFill>
                  </a:tcPr>
                </a:tc>
                <a:tc>
                  <a:txBody>
                    <a:bodyPr/>
                    <a:lstStyle/>
                    <a:p>
                      <a:pPr algn="r" fontAlgn="base"/>
                      <a:r>
                        <a:rPr lang="en-CA" sz="1800">
                          <a:effectLst/>
                          <a:latin typeface="Times New Roman" panose="02020603050405020304" pitchFamily="18" charset="0"/>
                        </a:rPr>
                        <a:t>200,000</a:t>
                      </a:r>
                    </a:p>
                  </a:txBody>
                  <a:tcPr marL="95250" marR="95250" marT="95326" marB="28598" anchor="b">
                    <a:lnL>
                      <a:noFill/>
                    </a:lnL>
                    <a:lnR>
                      <a:noFill/>
                    </a:lnR>
                    <a:lnT>
                      <a:noFill/>
                    </a:lnT>
                    <a:lnB>
                      <a:noFill/>
                    </a:lnB>
                    <a:solidFill>
                      <a:srgbClr val="BCDBC4"/>
                    </a:solidFill>
                  </a:tcPr>
                </a:tc>
                <a:tc>
                  <a:txBody>
                    <a:bodyPr/>
                    <a:lstStyle/>
                    <a:p>
                      <a:pPr fontAlgn="base"/>
                      <a:r>
                        <a:rPr lang="en-CA" sz="1800">
                          <a:effectLst/>
                          <a:latin typeface="Times New Roman" panose="02020603050405020304" pitchFamily="18" charset="0"/>
                        </a:rPr>
                        <a:t> </a:t>
                      </a:r>
                    </a:p>
                  </a:txBody>
                  <a:tcPr marL="95250" marR="190500" marT="95326" marB="28598" anchor="ctr">
                    <a:lnL>
                      <a:noFill/>
                    </a:lnL>
                    <a:lnR>
                      <a:noFill/>
                    </a:lnR>
                    <a:lnT>
                      <a:noFill/>
                    </a:lnT>
                    <a:lnB>
                      <a:noFill/>
                    </a:lnB>
                    <a:solidFill>
                      <a:srgbClr val="BCDBC4"/>
                    </a:solidFill>
                  </a:tcPr>
                </a:tc>
                <a:extLst>
                  <a:ext uri="{0D108BD9-81ED-4DB2-BD59-A6C34878D82A}">
                    <a16:rowId xmlns:a16="http://schemas.microsoft.com/office/drawing/2014/main" val="10001"/>
                  </a:ext>
                </a:extLst>
              </a:tr>
              <a:tr h="398463">
                <a:tc>
                  <a:txBody>
                    <a:bodyPr/>
                    <a:lstStyle/>
                    <a:p>
                      <a:pPr fontAlgn="base"/>
                      <a:r>
                        <a:rPr lang="en-CA" sz="1800">
                          <a:effectLst/>
                          <a:latin typeface="Times New Roman" panose="02020603050405020304" pitchFamily="18" charset="0"/>
                        </a:rPr>
                        <a:t>Retained earnings (SE)</a:t>
                      </a:r>
                    </a:p>
                  </a:txBody>
                  <a:tcPr marL="190500" marR="95250" marT="95326" marB="28598" anchor="ctr">
                    <a:lnL>
                      <a:noFill/>
                    </a:lnL>
                    <a:lnR>
                      <a:noFill/>
                    </a:lnR>
                    <a:lnT>
                      <a:noFill/>
                    </a:lnT>
                    <a:lnB>
                      <a:noFill/>
                    </a:lnB>
                    <a:solidFill>
                      <a:srgbClr val="BCDBC4"/>
                    </a:solidFill>
                  </a:tcPr>
                </a:tc>
                <a:tc>
                  <a:txBody>
                    <a:bodyPr/>
                    <a:lstStyle/>
                    <a:p>
                      <a:pPr algn="r" fontAlgn="base"/>
                      <a:r>
                        <a:rPr lang="en-CA" sz="1800">
                          <a:effectLst/>
                          <a:latin typeface="Times New Roman" panose="02020603050405020304" pitchFamily="18" charset="0"/>
                        </a:rPr>
                        <a:t>40,000</a:t>
                      </a:r>
                    </a:p>
                  </a:txBody>
                  <a:tcPr marL="95250" marR="95250" marT="95326" marB="28598" anchor="b">
                    <a:lnL>
                      <a:noFill/>
                    </a:lnL>
                    <a:lnR>
                      <a:noFill/>
                    </a:lnR>
                    <a:lnT>
                      <a:noFill/>
                    </a:lnT>
                    <a:lnB>
                      <a:noFill/>
                    </a:lnB>
                    <a:solidFill>
                      <a:srgbClr val="BCDBC4"/>
                    </a:solidFill>
                  </a:tcPr>
                </a:tc>
                <a:tc>
                  <a:txBody>
                    <a:bodyPr/>
                    <a:lstStyle/>
                    <a:p>
                      <a:pPr fontAlgn="base"/>
                      <a:r>
                        <a:rPr lang="en-CA" sz="1800">
                          <a:effectLst/>
                          <a:latin typeface="Times New Roman" panose="02020603050405020304" pitchFamily="18" charset="0"/>
                        </a:rPr>
                        <a:t> </a:t>
                      </a:r>
                    </a:p>
                  </a:txBody>
                  <a:tcPr marL="95250" marR="190500" marT="95326" marB="28598" anchor="ctr">
                    <a:lnL>
                      <a:noFill/>
                    </a:lnL>
                    <a:lnR>
                      <a:noFill/>
                    </a:lnR>
                    <a:lnT>
                      <a:noFill/>
                    </a:lnT>
                    <a:lnB>
                      <a:noFill/>
                    </a:lnB>
                    <a:solidFill>
                      <a:srgbClr val="BCDBC4"/>
                    </a:solidFill>
                  </a:tcPr>
                </a:tc>
                <a:extLst>
                  <a:ext uri="{0D108BD9-81ED-4DB2-BD59-A6C34878D82A}">
                    <a16:rowId xmlns:a16="http://schemas.microsoft.com/office/drawing/2014/main" val="10002"/>
                  </a:ext>
                </a:extLst>
              </a:tr>
              <a:tr h="398463">
                <a:tc>
                  <a:txBody>
                    <a:bodyPr/>
                    <a:lstStyle/>
                    <a:p>
                      <a:pPr fontAlgn="base"/>
                      <a:r>
                        <a:rPr lang="en-CA" sz="1800" dirty="0">
                          <a:effectLst/>
                          <a:latin typeface="Times New Roman" panose="02020603050405020304" pitchFamily="18" charset="0"/>
                        </a:rPr>
                        <a:t>     Cash (A)</a:t>
                      </a:r>
                    </a:p>
                  </a:txBody>
                  <a:tcPr marL="190500" marR="95250" marT="95326" marB="28598" anchor="ctr">
                    <a:lnL>
                      <a:noFill/>
                    </a:lnL>
                    <a:lnR>
                      <a:noFill/>
                    </a:lnR>
                    <a:lnT>
                      <a:noFill/>
                    </a:lnT>
                    <a:lnB>
                      <a:noFill/>
                    </a:lnB>
                    <a:solidFill>
                      <a:srgbClr val="BCDBC4"/>
                    </a:solidFill>
                  </a:tcPr>
                </a:tc>
                <a:tc>
                  <a:txBody>
                    <a:bodyPr/>
                    <a:lstStyle/>
                    <a:p>
                      <a:pPr fontAlgn="base"/>
                      <a:r>
                        <a:rPr lang="en-CA" sz="1800">
                          <a:effectLst/>
                          <a:latin typeface="Times New Roman" panose="02020603050405020304" pitchFamily="18" charset="0"/>
                        </a:rPr>
                        <a:t> </a:t>
                      </a:r>
                    </a:p>
                  </a:txBody>
                  <a:tcPr marL="95250" marR="95250" marT="95326" marB="28598" anchor="ctr">
                    <a:lnL>
                      <a:noFill/>
                    </a:lnL>
                    <a:lnR>
                      <a:noFill/>
                    </a:lnR>
                    <a:lnT>
                      <a:noFill/>
                    </a:lnT>
                    <a:lnB>
                      <a:noFill/>
                    </a:lnB>
                    <a:solidFill>
                      <a:srgbClr val="BCDBC4"/>
                    </a:solidFill>
                  </a:tcPr>
                </a:tc>
                <a:tc>
                  <a:txBody>
                    <a:bodyPr/>
                    <a:lstStyle/>
                    <a:p>
                      <a:pPr algn="r" fontAlgn="base"/>
                      <a:r>
                        <a:rPr lang="en-CA" sz="1800" dirty="0">
                          <a:effectLst/>
                          <a:latin typeface="Times New Roman" panose="02020603050405020304" pitchFamily="18" charset="0"/>
                        </a:rPr>
                        <a:t>2,400,000</a:t>
                      </a:r>
                    </a:p>
                  </a:txBody>
                  <a:tcPr marL="95250" marR="190500" marT="95326" marB="28598" anchor="b">
                    <a:lnL>
                      <a:noFill/>
                    </a:lnL>
                    <a:lnR>
                      <a:noFill/>
                    </a:lnR>
                    <a:lnT>
                      <a:noFill/>
                    </a:lnT>
                    <a:lnB>
                      <a:noFill/>
                    </a:lnB>
                    <a:solidFill>
                      <a:srgbClr val="BCDBC4"/>
                    </a:solidFill>
                  </a:tcPr>
                </a:tc>
                <a:extLst>
                  <a:ext uri="{0D108BD9-81ED-4DB2-BD59-A6C34878D82A}">
                    <a16:rowId xmlns:a16="http://schemas.microsoft.com/office/drawing/2014/main" val="10003"/>
                  </a:ext>
                </a:extLst>
              </a:tr>
            </a:tbl>
          </a:graphicData>
        </a:graphic>
      </p:graphicFrame>
      <p:graphicFrame>
        <p:nvGraphicFramePr>
          <p:cNvPr id="5" name="Table 4">
            <a:extLst>
              <a:ext uri="{FF2B5EF4-FFF2-40B4-BE49-F238E27FC236}">
                <a16:creationId xmlns:a16="http://schemas.microsoft.com/office/drawing/2014/main" id="{B4C8B2C0-C57B-418D-BC20-3A87424F5D9E}"/>
              </a:ext>
            </a:extLst>
          </p:cNvPr>
          <p:cNvGraphicFramePr>
            <a:graphicFrameLocks noGrp="1"/>
          </p:cNvGraphicFramePr>
          <p:nvPr/>
        </p:nvGraphicFramePr>
        <p:xfrm>
          <a:off x="457200" y="4606925"/>
          <a:ext cx="8229599" cy="1592480"/>
        </p:xfrm>
        <a:graphic>
          <a:graphicData uri="http://schemas.openxmlformats.org/drawingml/2006/table">
            <a:tbl>
              <a:tblPr/>
              <a:tblGrid>
                <a:gridCol w="762000">
                  <a:extLst>
                    <a:ext uri="{9D8B030D-6E8A-4147-A177-3AD203B41FA5}">
                      <a16:colId xmlns:a16="http://schemas.microsoft.com/office/drawing/2014/main" val="20000"/>
                    </a:ext>
                  </a:extLst>
                </a:gridCol>
                <a:gridCol w="1499777">
                  <a:extLst>
                    <a:ext uri="{9D8B030D-6E8A-4147-A177-3AD203B41FA5}">
                      <a16:colId xmlns:a16="http://schemas.microsoft.com/office/drawing/2014/main" val="20001"/>
                    </a:ext>
                  </a:extLst>
                </a:gridCol>
                <a:gridCol w="329023">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04800">
                  <a:extLst>
                    <a:ext uri="{9D8B030D-6E8A-4147-A177-3AD203B41FA5}">
                      <a16:colId xmlns:a16="http://schemas.microsoft.com/office/drawing/2014/main" val="20005"/>
                    </a:ext>
                  </a:extLst>
                </a:gridCol>
                <a:gridCol w="2627133">
                  <a:extLst>
                    <a:ext uri="{9D8B030D-6E8A-4147-A177-3AD203B41FA5}">
                      <a16:colId xmlns:a16="http://schemas.microsoft.com/office/drawing/2014/main" val="20006"/>
                    </a:ext>
                  </a:extLst>
                </a:gridCol>
                <a:gridCol w="1335266">
                  <a:extLst>
                    <a:ext uri="{9D8B030D-6E8A-4147-A177-3AD203B41FA5}">
                      <a16:colId xmlns:a16="http://schemas.microsoft.com/office/drawing/2014/main" val="20007"/>
                    </a:ext>
                  </a:extLst>
                </a:gridCol>
              </a:tblGrid>
              <a:tr h="398066">
                <a:tc gridSpan="2">
                  <a:txBody>
                    <a:bodyPr/>
                    <a:lstStyle/>
                    <a:p>
                      <a:pPr algn="ctr" fontAlgn="base"/>
                      <a:r>
                        <a:rPr lang="en-CA" sz="1800" b="1">
                          <a:effectLst/>
                          <a:latin typeface="inherit"/>
                        </a:rPr>
                        <a:t>Assets</a:t>
                      </a:r>
                      <a:endParaRPr lang="en-CA" sz="1800">
                        <a:effectLst/>
                        <a:latin typeface="Times New Roman" panose="02020603050405020304" pitchFamily="18" charset="0"/>
                      </a:endParaRPr>
                    </a:p>
                  </a:txBody>
                  <a:tcPr marL="190500" marR="95250" marT="95231" marB="28569"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231" marB="28569" anchor="b">
                    <a:lnL>
                      <a:noFill/>
                    </a:lnL>
                    <a:lnR>
                      <a:noFill/>
                    </a:lnR>
                    <a:lnT>
                      <a:noFill/>
                    </a:lnT>
                    <a:lnB>
                      <a:noFill/>
                    </a:lnB>
                    <a:solidFill>
                      <a:srgbClr val="E4F2E7"/>
                    </a:solidFill>
                  </a:tcPr>
                </a:tc>
                <a:tc gridSpan="2">
                  <a:txBody>
                    <a:bodyPr/>
                    <a:lstStyle/>
                    <a:p>
                      <a:pPr algn="ctr" fontAlgn="base"/>
                      <a:r>
                        <a:rPr lang="en-CA" sz="1800" b="1" dirty="0">
                          <a:effectLst/>
                          <a:latin typeface="inherit"/>
                        </a:rPr>
                        <a:t>Liabilities</a:t>
                      </a:r>
                      <a:endParaRPr lang="en-CA" sz="1800" dirty="0">
                        <a:effectLst/>
                        <a:latin typeface="Times New Roman" panose="02020603050405020304" pitchFamily="18" charset="0"/>
                      </a:endParaRPr>
                    </a:p>
                  </a:txBody>
                  <a:tcPr marL="95250" marR="95250" marT="95231" marB="28569"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231" marB="28569" anchor="b">
                    <a:lnL>
                      <a:noFill/>
                    </a:lnL>
                    <a:lnR>
                      <a:noFill/>
                    </a:lnR>
                    <a:lnT>
                      <a:noFill/>
                    </a:lnT>
                    <a:lnB>
                      <a:noFill/>
                    </a:lnB>
                    <a:solidFill>
                      <a:srgbClr val="E4F2E7"/>
                    </a:solidFill>
                  </a:tcPr>
                </a:tc>
                <a:tc gridSpan="2">
                  <a:txBody>
                    <a:bodyPr/>
                    <a:lstStyle/>
                    <a:p>
                      <a:pPr algn="ctr" fontAlgn="base"/>
                      <a:r>
                        <a:rPr lang="en-CA" sz="1800" b="1">
                          <a:effectLst/>
                          <a:latin typeface="inherit"/>
                        </a:rPr>
                        <a:t>Shareholders’ Equity</a:t>
                      </a:r>
                      <a:endParaRPr lang="en-CA" sz="1800">
                        <a:effectLst/>
                        <a:latin typeface="Times New Roman" panose="02020603050405020304" pitchFamily="18" charset="0"/>
                      </a:endParaRPr>
                    </a:p>
                  </a:txBody>
                  <a:tcPr marL="95250" marR="190500" marT="95231" marB="28569"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extLst>
                  <a:ext uri="{0D108BD9-81ED-4DB2-BD59-A6C34878D82A}">
                    <a16:rowId xmlns:a16="http://schemas.microsoft.com/office/drawing/2014/main" val="10000"/>
                  </a:ext>
                </a:extLst>
              </a:tr>
              <a:tr h="398066">
                <a:tc>
                  <a:txBody>
                    <a:bodyPr/>
                    <a:lstStyle/>
                    <a:p>
                      <a:pPr fontAlgn="base"/>
                      <a:r>
                        <a:rPr lang="en-CA" sz="1800">
                          <a:effectLst/>
                          <a:latin typeface="Times New Roman" panose="02020603050405020304" pitchFamily="18" charset="0"/>
                        </a:rPr>
                        <a:t>Cash</a:t>
                      </a:r>
                    </a:p>
                  </a:txBody>
                  <a:tcPr marL="19050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a:effectLst/>
                          <a:latin typeface="Times New Roman" panose="02020603050405020304" pitchFamily="18" charset="0"/>
                        </a:rPr>
                        <a:t>−2,400,000</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Common shares</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a:effectLst/>
                          <a:latin typeface="Times New Roman" panose="02020603050405020304" pitchFamily="18" charset="0"/>
                        </a:rPr>
                        <a:t>−2,160,000</a:t>
                      </a:r>
                    </a:p>
                  </a:txBody>
                  <a:tcPr marL="95250" marR="19050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1"/>
                  </a:ext>
                </a:extLst>
              </a:tr>
              <a:tr h="398066">
                <a:tc>
                  <a:txBody>
                    <a:bodyPr/>
                    <a:lstStyle/>
                    <a:p>
                      <a:pPr fontAlgn="base"/>
                      <a:r>
                        <a:rPr lang="en-CA" sz="1800">
                          <a:effectLst/>
                          <a:latin typeface="Times New Roman" panose="02020603050405020304" pitchFamily="18" charset="0"/>
                        </a:rPr>
                        <a:t> </a:t>
                      </a:r>
                    </a:p>
                  </a:txBody>
                  <a:tcPr marL="19050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algn="l"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algn="l"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Contributed surplus</a:t>
                      </a:r>
                    </a:p>
                  </a:txBody>
                  <a:tcPr marL="95250" marR="95250" marT="95231" marB="28569" anchor="ctr">
                    <a:lnL>
                      <a:noFill/>
                    </a:lnL>
                    <a:lnR>
                      <a:noFill/>
                    </a:lnR>
                    <a:lnT>
                      <a:noFill/>
                    </a:lnT>
                    <a:lnB>
                      <a:noFill/>
                    </a:lnB>
                    <a:solidFill>
                      <a:srgbClr val="E4F2E7"/>
                    </a:solidFill>
                  </a:tcPr>
                </a:tc>
                <a:tc>
                  <a:txBody>
                    <a:bodyPr/>
                    <a:lstStyle/>
                    <a:p>
                      <a:pPr algn="r" fontAlgn="base"/>
                      <a:r>
                        <a:rPr lang="en-CA" sz="1800">
                          <a:effectLst/>
                          <a:latin typeface="Times New Roman" panose="02020603050405020304" pitchFamily="18" charset="0"/>
                        </a:rPr>
                        <a:t>−200,000</a:t>
                      </a:r>
                    </a:p>
                  </a:txBody>
                  <a:tcPr marL="95250" marR="190500" marT="95231" marB="28569" anchor="ctr">
                    <a:lnL>
                      <a:noFill/>
                    </a:lnL>
                    <a:lnR>
                      <a:noFill/>
                    </a:lnR>
                    <a:lnT>
                      <a:noFill/>
                    </a:lnT>
                    <a:lnB>
                      <a:noFill/>
                    </a:lnB>
                    <a:solidFill>
                      <a:srgbClr val="E4F2E7"/>
                    </a:solidFill>
                  </a:tcPr>
                </a:tc>
                <a:extLst>
                  <a:ext uri="{0D108BD9-81ED-4DB2-BD59-A6C34878D82A}">
                    <a16:rowId xmlns:a16="http://schemas.microsoft.com/office/drawing/2014/main" val="10002"/>
                  </a:ext>
                </a:extLst>
              </a:tr>
              <a:tr h="398066">
                <a:tc>
                  <a:txBody>
                    <a:bodyPr/>
                    <a:lstStyle/>
                    <a:p>
                      <a:pPr fontAlgn="base"/>
                      <a:r>
                        <a:rPr lang="en-CA" sz="1800">
                          <a:effectLst/>
                          <a:latin typeface="Times New Roman" panose="02020603050405020304" pitchFamily="18" charset="0"/>
                        </a:rPr>
                        <a:t> </a:t>
                      </a:r>
                    </a:p>
                  </a:txBody>
                  <a:tcPr marL="19050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algn="l"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algn="l"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Retained earnings</a:t>
                      </a:r>
                    </a:p>
                  </a:txBody>
                  <a:tcPr marL="95250" marR="95250" marT="95231" marB="28569" anchor="ctr">
                    <a:lnL>
                      <a:noFill/>
                    </a:lnL>
                    <a:lnR>
                      <a:noFill/>
                    </a:lnR>
                    <a:lnT>
                      <a:noFill/>
                    </a:lnT>
                    <a:lnB>
                      <a:noFill/>
                    </a:lnB>
                    <a:solidFill>
                      <a:srgbClr val="E4F2E7"/>
                    </a:solidFill>
                  </a:tcPr>
                </a:tc>
                <a:tc>
                  <a:txBody>
                    <a:bodyPr/>
                    <a:lstStyle/>
                    <a:p>
                      <a:pPr algn="r" fontAlgn="base"/>
                      <a:r>
                        <a:rPr lang="en-CA" sz="1800" dirty="0">
                          <a:effectLst/>
                          <a:latin typeface="Times New Roman" panose="02020603050405020304" pitchFamily="18" charset="0"/>
                        </a:rPr>
                        <a:t>−40,000</a:t>
                      </a:r>
                    </a:p>
                  </a:txBody>
                  <a:tcPr marL="95250" marR="190500" marT="95231" marB="28569" anchor="ctr">
                    <a:lnL>
                      <a:noFill/>
                    </a:lnL>
                    <a:lnR>
                      <a:noFill/>
                    </a:lnR>
                    <a:lnT>
                      <a:noFill/>
                    </a:lnT>
                    <a:lnB>
                      <a:noFill/>
                    </a:lnB>
                    <a:solidFill>
                      <a:srgbClr val="E4F2E7"/>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86730142-BD10-47FF-BBA5-E9D7F318B261}"/>
              </a:ext>
            </a:extLst>
          </p:cNvPr>
          <p:cNvSpPr>
            <a:spLocks noGrp="1"/>
          </p:cNvSpPr>
          <p:nvPr>
            <p:ph type="title"/>
          </p:nvPr>
        </p:nvSpPr>
        <p:spPr/>
        <p:txBody>
          <a:bodyPr/>
          <a:lstStyle/>
          <a:p>
            <a:r>
              <a:rPr lang="en-CA" altLang="en-US" dirty="0"/>
              <a:t>Dividends on Common Shares </a:t>
            </a:r>
            <a:r>
              <a:rPr lang="en-US" altLang="en-US" dirty="0"/>
              <a:t>Part 1</a:t>
            </a:r>
          </a:p>
        </p:txBody>
      </p:sp>
      <p:sp>
        <p:nvSpPr>
          <p:cNvPr id="3" name="Content Placeholder 2">
            <a:extLst>
              <a:ext uri="{FF2B5EF4-FFF2-40B4-BE49-F238E27FC236}">
                <a16:creationId xmlns:a16="http://schemas.microsoft.com/office/drawing/2014/main" id="{4098D8BA-6573-4977-8F1E-E1231F1A6BBB}"/>
              </a:ext>
            </a:extLst>
          </p:cNvPr>
          <p:cNvSpPr>
            <a:spLocks noGrp="1"/>
          </p:cNvSpPr>
          <p:nvPr>
            <p:ph idx="1"/>
          </p:nvPr>
        </p:nvSpPr>
        <p:spPr>
          <a:xfrm>
            <a:off x="457200" y="1143000"/>
            <a:ext cx="8382000" cy="5334000"/>
          </a:xfrm>
        </p:spPr>
        <p:txBody>
          <a:bodyPr/>
          <a:lstStyle/>
          <a:p>
            <a:pPr>
              <a:buFont typeface="Wingdings 3" pitchFamily="2" charset="2"/>
              <a:buChar char=""/>
              <a:defRPr/>
            </a:pPr>
            <a:r>
              <a:rPr lang="en-CA" dirty="0"/>
              <a:t>The declaration and payment of dividends involves three key dates:</a:t>
            </a:r>
          </a:p>
          <a:p>
            <a:pPr marL="514350" indent="-514350">
              <a:buFont typeface="+mj-lt"/>
              <a:buAutoNum type="arabicPeriod"/>
              <a:defRPr/>
            </a:pPr>
            <a:r>
              <a:rPr lang="en-CA" dirty="0"/>
              <a:t>The </a:t>
            </a:r>
            <a:r>
              <a:rPr lang="en-CA" b="1" dirty="0"/>
              <a:t>declaration date: </a:t>
            </a:r>
            <a:r>
              <a:rPr lang="en-CA" dirty="0"/>
              <a:t>is the date on which the board of directors officially approved the dividend. As soon as it makes the declaration, it creates a dividend liability.</a:t>
            </a:r>
          </a:p>
          <a:p>
            <a:pPr marL="514350" indent="-514350">
              <a:buFont typeface="+mj-lt"/>
              <a:buAutoNum type="arabicPeriod"/>
              <a:defRPr/>
            </a:pPr>
            <a:r>
              <a:rPr lang="en-CA" dirty="0"/>
              <a:t>The </a:t>
            </a:r>
            <a:r>
              <a:rPr lang="en-CA" b="1" dirty="0"/>
              <a:t>date of record: </a:t>
            </a:r>
            <a:r>
              <a:rPr lang="en-CA" dirty="0"/>
              <a:t>is the date on which the corporation prepares the list of current shareholders, based on its shareholder records. The dividend is payable only to those names listed on the record date. No journal entry is made on this date.</a:t>
            </a:r>
          </a:p>
          <a:p>
            <a:pPr marL="514350" indent="-514350">
              <a:buFont typeface="+mj-lt"/>
              <a:buAutoNum type="arabicPeriod"/>
              <a:defRPr/>
            </a:pPr>
            <a:r>
              <a:rPr lang="en-CA" dirty="0"/>
              <a:t>The </a:t>
            </a:r>
            <a:r>
              <a:rPr lang="en-CA" b="1" dirty="0"/>
              <a:t>payment date:</a:t>
            </a:r>
            <a:r>
              <a:rPr lang="en-CA" dirty="0"/>
              <a:t> is the date on which the cash is disbursed to pay the dividend liability. </a:t>
            </a:r>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76A82570-8AA5-41EA-807F-55F9AD1E91B6}"/>
              </a:ext>
            </a:extLst>
          </p:cNvPr>
          <p:cNvSpPr>
            <a:spLocks noGrp="1"/>
          </p:cNvSpPr>
          <p:nvPr>
            <p:ph type="title"/>
          </p:nvPr>
        </p:nvSpPr>
        <p:spPr/>
        <p:txBody>
          <a:bodyPr/>
          <a:lstStyle/>
          <a:p>
            <a:r>
              <a:rPr lang="en-CA" altLang="en-US" dirty="0"/>
              <a:t>Dividends on Common Shares </a:t>
            </a:r>
            <a:r>
              <a:rPr lang="en-US" altLang="en-US" dirty="0"/>
              <a:t>Part 2</a:t>
            </a:r>
          </a:p>
        </p:txBody>
      </p:sp>
      <p:pic>
        <p:nvPicPr>
          <p:cNvPr id="6" name="Picture 5">
            <a:extLst>
              <a:ext uri="{FF2B5EF4-FFF2-40B4-BE49-F238E27FC236}">
                <a16:creationId xmlns:a16="http://schemas.microsoft.com/office/drawing/2014/main" id="{DFDCC7ED-A5D7-764D-B952-EAD816149F3D}"/>
              </a:ext>
            </a:extLst>
          </p:cNvPr>
          <p:cNvPicPr>
            <a:picLocks noChangeAspect="1"/>
          </p:cNvPicPr>
          <p:nvPr/>
        </p:nvPicPr>
        <p:blipFill>
          <a:blip r:embed="rId2"/>
          <a:stretch>
            <a:fillRect/>
          </a:stretch>
        </p:blipFill>
        <p:spPr>
          <a:xfrm>
            <a:off x="495555" y="2133600"/>
            <a:ext cx="8152889" cy="324485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82E7473E-3BF6-4378-A0EC-21279E48268D}"/>
              </a:ext>
            </a:extLst>
          </p:cNvPr>
          <p:cNvSpPr>
            <a:spLocks noGrp="1"/>
          </p:cNvSpPr>
          <p:nvPr>
            <p:ph type="title"/>
          </p:nvPr>
        </p:nvSpPr>
        <p:spPr/>
        <p:txBody>
          <a:bodyPr/>
          <a:lstStyle/>
          <a:p>
            <a:r>
              <a:rPr lang="en-CA" altLang="en-US" dirty="0"/>
              <a:t>Dividends on Common Shares </a:t>
            </a:r>
            <a:r>
              <a:rPr lang="en-US" altLang="en-US" dirty="0"/>
              <a:t>Part 3</a:t>
            </a:r>
          </a:p>
        </p:txBody>
      </p:sp>
      <p:sp>
        <p:nvSpPr>
          <p:cNvPr id="3" name="Content Placeholder 2">
            <a:extLst>
              <a:ext uri="{FF2B5EF4-FFF2-40B4-BE49-F238E27FC236}">
                <a16:creationId xmlns:a16="http://schemas.microsoft.com/office/drawing/2014/main" id="{F129BB35-73ED-4D3C-99D6-DC216E63C67C}"/>
              </a:ext>
            </a:extLst>
          </p:cNvPr>
          <p:cNvSpPr>
            <a:spLocks noGrp="1"/>
          </p:cNvSpPr>
          <p:nvPr>
            <p:ph idx="1"/>
          </p:nvPr>
        </p:nvSpPr>
        <p:spPr>
          <a:xfrm>
            <a:off x="457200" y="1295400"/>
            <a:ext cx="8229600" cy="5334000"/>
          </a:xfrm>
        </p:spPr>
        <p:txBody>
          <a:bodyPr/>
          <a:lstStyle/>
          <a:p>
            <a:pPr>
              <a:buFont typeface="Wingdings 3" pitchFamily="2" charset="2"/>
              <a:buChar char=""/>
              <a:defRPr/>
            </a:pPr>
            <a:r>
              <a:rPr lang="en-CA" dirty="0"/>
              <a:t>There are two fundamental requirements for the payment of a cash dividend:</a:t>
            </a:r>
          </a:p>
          <a:p>
            <a:pPr marL="514350" indent="-514350">
              <a:buFont typeface="+mj-lt"/>
              <a:buAutoNum type="arabicPeriod"/>
              <a:defRPr/>
            </a:pPr>
            <a:r>
              <a:rPr lang="en-CA" i="1" dirty="0"/>
              <a:t>Sufficient retained earnings.</a:t>
            </a:r>
            <a:r>
              <a:rPr lang="en-CA" dirty="0"/>
              <a:t> </a:t>
            </a:r>
          </a:p>
          <a:p>
            <a:pPr marL="514350" indent="-514350">
              <a:buFont typeface="+mj-lt"/>
              <a:buAutoNum type="arabicPeriod"/>
              <a:defRPr/>
            </a:pPr>
            <a:r>
              <a:rPr lang="en-CA" i="1" dirty="0"/>
              <a:t>Sufficient cash.</a:t>
            </a:r>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82E7473E-3BF6-4378-A0EC-21279E48268D}"/>
              </a:ext>
            </a:extLst>
          </p:cNvPr>
          <p:cNvSpPr>
            <a:spLocks noGrp="1"/>
          </p:cNvSpPr>
          <p:nvPr>
            <p:ph type="title"/>
          </p:nvPr>
        </p:nvSpPr>
        <p:spPr/>
        <p:txBody>
          <a:bodyPr/>
          <a:lstStyle/>
          <a:p>
            <a:r>
              <a:rPr lang="en-CA" altLang="en-US"/>
              <a:t>Dividends on Common Shares </a:t>
            </a:r>
            <a:r>
              <a:rPr lang="en-US" altLang="en-US"/>
              <a:t>Part 4</a:t>
            </a:r>
          </a:p>
        </p:txBody>
      </p:sp>
      <p:sp>
        <p:nvSpPr>
          <p:cNvPr id="3" name="Content Placeholder 2">
            <a:extLst>
              <a:ext uri="{FF2B5EF4-FFF2-40B4-BE49-F238E27FC236}">
                <a16:creationId xmlns:a16="http://schemas.microsoft.com/office/drawing/2014/main" id="{F129BB35-73ED-4D3C-99D6-DC216E63C67C}"/>
              </a:ext>
            </a:extLst>
          </p:cNvPr>
          <p:cNvSpPr>
            <a:spLocks noGrp="1"/>
          </p:cNvSpPr>
          <p:nvPr>
            <p:ph idx="1"/>
          </p:nvPr>
        </p:nvSpPr>
        <p:spPr/>
        <p:txBody>
          <a:bodyPr/>
          <a:lstStyle/>
          <a:p>
            <a:pPr>
              <a:buFont typeface="Wingdings 3" pitchFamily="2" charset="2"/>
              <a:buChar char=""/>
              <a:defRPr/>
            </a:pPr>
            <a:r>
              <a:rPr lang="en-CA" dirty="0"/>
              <a:t>In Canada, regardless of how profitable a company is, there is no legal obligation for companies to declare dividends.</a:t>
            </a:r>
          </a:p>
          <a:p>
            <a:pPr>
              <a:buFont typeface="Wingdings 3" pitchFamily="2" charset="2"/>
              <a:buChar char=""/>
              <a:defRPr/>
            </a:pPr>
            <a:endParaRPr lang="en-CA" sz="800" dirty="0"/>
          </a:p>
          <a:p>
            <a:pPr>
              <a:buFont typeface="Wingdings 3" pitchFamily="2" charset="2"/>
              <a:buChar char=""/>
              <a:defRPr/>
            </a:pPr>
            <a:r>
              <a:rPr lang="en-CA" dirty="0"/>
              <a:t>While Canadian companies are not legally obligated to declare dividends, once the board of directors declares a dividend (i.e., creates a dividend payable), there is a legal obligation to pay that dividend.</a:t>
            </a:r>
            <a:endParaRPr lang="en-US" dirty="0"/>
          </a:p>
        </p:txBody>
      </p:sp>
    </p:spTree>
    <p:extLst>
      <p:ext uri="{BB962C8B-B14F-4D97-AF65-F5344CB8AC3E}">
        <p14:creationId xmlns:p14="http://schemas.microsoft.com/office/powerpoint/2010/main" val="6332529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8215A4E6-F3B8-4516-8DEB-E0A62DB735DE}"/>
              </a:ext>
            </a:extLst>
          </p:cNvPr>
          <p:cNvSpPr>
            <a:spLocks noGrp="1"/>
          </p:cNvSpPr>
          <p:nvPr>
            <p:ph type="title"/>
          </p:nvPr>
        </p:nvSpPr>
        <p:spPr/>
        <p:txBody>
          <a:bodyPr/>
          <a:lstStyle/>
          <a:p>
            <a:r>
              <a:rPr lang="en-US" altLang="en-US" dirty="0"/>
              <a:t>Key Ratio Analysis – </a:t>
            </a:r>
            <a:r>
              <a:rPr lang="en-US" altLang="en-US"/>
              <a:t>Dividend Yield Ratio</a:t>
            </a:r>
            <a:endParaRPr lang="en-US" altLang="en-US" dirty="0"/>
          </a:p>
        </p:txBody>
      </p:sp>
      <p:sp>
        <p:nvSpPr>
          <p:cNvPr id="16386" name="Content Placeholder 2">
            <a:extLst>
              <a:ext uri="{FF2B5EF4-FFF2-40B4-BE49-F238E27FC236}">
                <a16:creationId xmlns:a16="http://schemas.microsoft.com/office/drawing/2014/main" id="{5A5CBA7F-43ED-411E-937A-FD2633AB6C51}"/>
              </a:ext>
            </a:extLst>
          </p:cNvPr>
          <p:cNvSpPr>
            <a:spLocks noGrp="1"/>
          </p:cNvSpPr>
          <p:nvPr>
            <p:ph idx="1"/>
          </p:nvPr>
        </p:nvSpPr>
        <p:spPr/>
        <p:txBody>
          <a:bodyPr/>
          <a:lstStyle/>
          <a:p>
            <a:r>
              <a:rPr lang="en-CA" altLang="en-US" b="1" dirty="0"/>
              <a:t>ANALYTICAL QUESTION</a:t>
            </a:r>
            <a:r>
              <a:rPr lang="en-CA" altLang="en-US" dirty="0"/>
              <a:t> → Investors in common shares expect to earn a return on their investment. A portion of this return comes in the form of dividends. How much do investors earn on their investment based on dividends?</a:t>
            </a:r>
          </a:p>
          <a:p>
            <a:r>
              <a:rPr lang="en-CA" altLang="en-US" b="1" dirty="0"/>
              <a:t>RATIO AND COMPARISONS</a:t>
            </a:r>
            <a:r>
              <a:rPr lang="en-CA" altLang="en-US" dirty="0"/>
              <a:t> → The </a:t>
            </a:r>
            <a:r>
              <a:rPr lang="en-CA" altLang="en-US" i="1" dirty="0"/>
              <a:t>dividend yield ratio</a:t>
            </a:r>
            <a:r>
              <a:rPr lang="en-CA" altLang="en-US" dirty="0"/>
              <a:t> is a measure of the percentage return that shareholders earn from the dividends they receive. Potential investors often use this ratio to help select among alternative investment opportunities.</a:t>
            </a:r>
          </a:p>
          <a:p>
            <a:endParaRPr lang="en-CA" altLang="en-US" dirty="0"/>
          </a:p>
          <a:p>
            <a:endParaRPr lang="en-CA" altLang="en-US" dirty="0"/>
          </a:p>
          <a:p>
            <a:endParaRPr lang="en-CA" altLang="en-US" dirty="0"/>
          </a:p>
          <a:p>
            <a:endParaRPr lang="en-CA" altLang="en-US" dirty="0"/>
          </a:p>
          <a:p>
            <a:endParaRPr lang="en-CA" altLang="en-US" dirty="0"/>
          </a:p>
          <a:p>
            <a:endParaRPr lang="en-CA" altLang="en-US" dirty="0"/>
          </a:p>
          <a:p>
            <a:endParaRPr lang="en-CA" altLang="en-US" sz="500" dirty="0"/>
          </a:p>
          <a:p>
            <a:r>
              <a:rPr lang="en-CA" altLang="en-US" dirty="0"/>
              <a:t>The</a:t>
            </a:r>
            <a:endParaRPr lang="en-US" altLang="en-US" dirty="0"/>
          </a:p>
          <a:p>
            <a:endParaRPr lang="en-US" altLang="en-US" dirty="0"/>
          </a:p>
          <a:p>
            <a:endParaRPr lang="en-US" altLang="en-US" dirty="0"/>
          </a:p>
          <a:p>
            <a:endParaRPr lang="en-US" altLang="en-US" dirty="0"/>
          </a:p>
          <a:p>
            <a:endParaRPr lang="en-US" altLang="en-US" dirty="0"/>
          </a:p>
        </p:txBody>
      </p:sp>
      <p:sp>
        <p:nvSpPr>
          <p:cNvPr id="16387" name="Text Box 1027">
            <a:extLst>
              <a:ext uri="{FF2B5EF4-FFF2-40B4-BE49-F238E27FC236}">
                <a16:creationId xmlns:a16="http://schemas.microsoft.com/office/drawing/2014/main" id="{9ACA4A48-77AB-4CCB-811B-3507889E198A}"/>
              </a:ext>
            </a:extLst>
          </p:cNvPr>
          <p:cNvSpPr txBox="1">
            <a:spLocks noChangeArrowheads="1"/>
          </p:cNvSpPr>
          <p:nvPr/>
        </p:nvSpPr>
        <p:spPr bwMode="auto">
          <a:xfrm>
            <a:off x="1447800" y="5186363"/>
            <a:ext cx="2362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Dividend Yield Ratio</a:t>
            </a:r>
          </a:p>
        </p:txBody>
      </p:sp>
      <p:sp>
        <p:nvSpPr>
          <p:cNvPr id="16388" name="Text Box 1028">
            <a:extLst>
              <a:ext uri="{FF2B5EF4-FFF2-40B4-BE49-F238E27FC236}">
                <a16:creationId xmlns:a16="http://schemas.microsoft.com/office/drawing/2014/main" id="{EC240682-7559-45F2-9435-83C722692324}"/>
              </a:ext>
            </a:extLst>
          </p:cNvPr>
          <p:cNvSpPr txBox="1">
            <a:spLocks noChangeArrowheads="1"/>
          </p:cNvSpPr>
          <p:nvPr/>
        </p:nvSpPr>
        <p:spPr bwMode="auto">
          <a:xfrm>
            <a:off x="3505200" y="5414963"/>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a:t>
            </a:r>
          </a:p>
        </p:txBody>
      </p:sp>
      <p:sp>
        <p:nvSpPr>
          <p:cNvPr id="16389" name="Text Box 1029">
            <a:extLst>
              <a:ext uri="{FF2B5EF4-FFF2-40B4-BE49-F238E27FC236}">
                <a16:creationId xmlns:a16="http://schemas.microsoft.com/office/drawing/2014/main" id="{A7A5E656-4F38-442C-8647-972329235DB9}"/>
              </a:ext>
            </a:extLst>
          </p:cNvPr>
          <p:cNvSpPr txBox="1">
            <a:spLocks noChangeArrowheads="1"/>
          </p:cNvSpPr>
          <p:nvPr/>
        </p:nvSpPr>
        <p:spPr bwMode="auto">
          <a:xfrm>
            <a:off x="4343400" y="5181600"/>
            <a:ext cx="3124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Dividends per share</a:t>
            </a:r>
          </a:p>
        </p:txBody>
      </p:sp>
      <p:sp>
        <p:nvSpPr>
          <p:cNvPr id="16390" name="Text Box 1030">
            <a:extLst>
              <a:ext uri="{FF2B5EF4-FFF2-40B4-BE49-F238E27FC236}">
                <a16:creationId xmlns:a16="http://schemas.microsoft.com/office/drawing/2014/main" id="{37AA0D6A-9B22-454F-9CA0-23F6C02895F5}"/>
              </a:ext>
            </a:extLst>
          </p:cNvPr>
          <p:cNvSpPr txBox="1">
            <a:spLocks noChangeArrowheads="1"/>
          </p:cNvSpPr>
          <p:nvPr/>
        </p:nvSpPr>
        <p:spPr bwMode="auto">
          <a:xfrm>
            <a:off x="4191000" y="5643563"/>
            <a:ext cx="3581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2400" b="1">
                <a:solidFill>
                  <a:srgbClr val="000000"/>
                </a:solidFill>
                <a:latin typeface="Arial" panose="020B0604020202020204" pitchFamily="34" charset="0"/>
              </a:rPr>
              <a:t>Market price per share</a:t>
            </a:r>
          </a:p>
        </p:txBody>
      </p:sp>
      <p:sp>
        <p:nvSpPr>
          <p:cNvPr id="16391" name="Line 1031">
            <a:extLst>
              <a:ext uri="{FF2B5EF4-FFF2-40B4-BE49-F238E27FC236}">
                <a16:creationId xmlns:a16="http://schemas.microsoft.com/office/drawing/2014/main" id="{989AED19-2703-4731-AAF4-1D7398FAD901}"/>
              </a:ext>
            </a:extLst>
          </p:cNvPr>
          <p:cNvSpPr>
            <a:spLocks noChangeShapeType="1"/>
          </p:cNvSpPr>
          <p:nvPr/>
        </p:nvSpPr>
        <p:spPr bwMode="auto">
          <a:xfrm>
            <a:off x="4191000" y="5643563"/>
            <a:ext cx="3429000"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DF0A6FC1-9133-4BAA-9FCD-CDE424DC117F}"/>
              </a:ext>
            </a:extLst>
          </p:cNvPr>
          <p:cNvSpPr>
            <a:spLocks noGrp="1"/>
          </p:cNvSpPr>
          <p:nvPr>
            <p:ph type="title"/>
          </p:nvPr>
        </p:nvSpPr>
        <p:spPr/>
        <p:txBody>
          <a:bodyPr/>
          <a:lstStyle/>
          <a:p>
            <a:r>
              <a:rPr lang="en-US" altLang="en-US" dirty="0"/>
              <a:t>Stock Dividends Part 1</a:t>
            </a:r>
          </a:p>
        </p:txBody>
      </p:sp>
      <p:sp>
        <p:nvSpPr>
          <p:cNvPr id="38914" name="Content Placeholder 2">
            <a:extLst>
              <a:ext uri="{FF2B5EF4-FFF2-40B4-BE49-F238E27FC236}">
                <a16:creationId xmlns:a16="http://schemas.microsoft.com/office/drawing/2014/main" id="{0435CEF7-0252-4CC4-999A-348BA26AFA3A}"/>
              </a:ext>
            </a:extLst>
          </p:cNvPr>
          <p:cNvSpPr>
            <a:spLocks noGrp="1"/>
          </p:cNvSpPr>
          <p:nvPr>
            <p:ph idx="1"/>
          </p:nvPr>
        </p:nvSpPr>
        <p:spPr/>
        <p:txBody>
          <a:bodyPr/>
          <a:lstStyle/>
          <a:p>
            <a:r>
              <a:rPr lang="en-CA" altLang="en-US" dirty="0"/>
              <a:t>A </a:t>
            </a:r>
            <a:r>
              <a:rPr lang="en-CA" altLang="en-US" b="1" dirty="0"/>
              <a:t>stock dividend</a:t>
            </a:r>
            <a:r>
              <a:rPr lang="en-CA" altLang="en-US" dirty="0"/>
              <a:t> is a distribution of additional shares of a corporation’s own share capital to its shareholders on a pro rata basis, at no cost to the shareholder. </a:t>
            </a:r>
          </a:p>
          <a:p>
            <a:endParaRPr lang="en-CA" altLang="en-US" sz="800" dirty="0"/>
          </a:p>
          <a:p>
            <a:r>
              <a:rPr lang="en-CA" altLang="en-US" dirty="0"/>
              <a:t>The term “pro rata basis” means that each shareholder receives additional shares equal to the percentage of shares already held. </a:t>
            </a:r>
          </a:p>
          <a:p>
            <a:endParaRPr lang="en-CA" altLang="en-US" sz="800" dirty="0"/>
          </a:p>
          <a:p>
            <a:r>
              <a:rPr lang="en-CA" altLang="en-US" dirty="0"/>
              <a:t>Stock dividends usually consist of additional common shares issued to the holders of common shares. </a:t>
            </a:r>
          </a:p>
          <a:p>
            <a:endParaRPr lang="en-CA" altLang="en-US" sz="800" dirty="0"/>
          </a:p>
          <a:p>
            <a:r>
              <a:rPr lang="en-CA" altLang="en-US" dirty="0"/>
              <a:t>An investor owning 10 percent of the outstanding shares receives 10 percent of any additional shares issued as a stock dividend.</a:t>
            </a:r>
            <a:endParaRPr lang="en-US"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E193E43B-9E5D-4BD6-8B5E-5C291397CBDF}"/>
              </a:ext>
            </a:extLst>
          </p:cNvPr>
          <p:cNvSpPr>
            <a:spLocks noGrp="1"/>
          </p:cNvSpPr>
          <p:nvPr>
            <p:ph type="title"/>
          </p:nvPr>
        </p:nvSpPr>
        <p:spPr/>
        <p:txBody>
          <a:bodyPr/>
          <a:lstStyle/>
          <a:p>
            <a:r>
              <a:rPr lang="en-US" altLang="en-US" dirty="0"/>
              <a:t>Stock Dividends Part 2</a:t>
            </a:r>
          </a:p>
        </p:txBody>
      </p:sp>
      <p:sp>
        <p:nvSpPr>
          <p:cNvPr id="17410" name="Content Placeholder 2">
            <a:extLst>
              <a:ext uri="{FF2B5EF4-FFF2-40B4-BE49-F238E27FC236}">
                <a16:creationId xmlns:a16="http://schemas.microsoft.com/office/drawing/2014/main" id="{6F1E2E85-F2B1-49F1-9D42-8007F704A80C}"/>
              </a:ext>
            </a:extLst>
          </p:cNvPr>
          <p:cNvSpPr>
            <a:spLocks noGrp="1"/>
          </p:cNvSpPr>
          <p:nvPr>
            <p:ph idx="1"/>
          </p:nvPr>
        </p:nvSpPr>
        <p:spPr/>
        <p:txBody>
          <a:bodyPr/>
          <a:lstStyle/>
          <a:p>
            <a:r>
              <a:rPr lang="en-CA" altLang="en-US" dirty="0"/>
              <a:t>If a company declared on July 25, 2023 a 10 percent stock dividend on common shares to be issued on August 25, 2023 to shareholders of record on August 10, 2023. The company had 100,000 shares outstanding, and the market price per share was $20 on the date of declaration. </a:t>
            </a:r>
          </a:p>
          <a:p>
            <a:r>
              <a:rPr lang="en-CA" altLang="en-US" dirty="0"/>
              <a:t>The value of the stock dividend is $200,000 (100,000 x 10% x $20) and the declaration of the stock dividend requires the following journal entry on July 25, 2023:</a:t>
            </a:r>
            <a:endParaRPr lang="en-US" altLang="en-US" dirty="0"/>
          </a:p>
        </p:txBody>
      </p:sp>
      <p:pic>
        <p:nvPicPr>
          <p:cNvPr id="5" name="Picture 4" descr="Graphical user interface, text, application&#10;&#10;Description automatically generated">
            <a:extLst>
              <a:ext uri="{FF2B5EF4-FFF2-40B4-BE49-F238E27FC236}">
                <a16:creationId xmlns:a16="http://schemas.microsoft.com/office/drawing/2014/main" id="{6F40598F-4494-974E-8BBC-D52535F3B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700" y="4832350"/>
            <a:ext cx="6324600" cy="176530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97234280-6688-495B-ABB3-033C87652775}"/>
              </a:ext>
            </a:extLst>
          </p:cNvPr>
          <p:cNvSpPr>
            <a:spLocks noGrp="1"/>
          </p:cNvSpPr>
          <p:nvPr>
            <p:ph type="title"/>
          </p:nvPr>
        </p:nvSpPr>
        <p:spPr/>
        <p:txBody>
          <a:bodyPr/>
          <a:lstStyle/>
          <a:p>
            <a:r>
              <a:rPr lang="en-US" altLang="en-US" dirty="0"/>
              <a:t>Stock Dividends Part 3</a:t>
            </a:r>
          </a:p>
        </p:txBody>
      </p:sp>
      <p:sp>
        <p:nvSpPr>
          <p:cNvPr id="18434" name="Content Placeholder 2">
            <a:extLst>
              <a:ext uri="{FF2B5EF4-FFF2-40B4-BE49-F238E27FC236}">
                <a16:creationId xmlns:a16="http://schemas.microsoft.com/office/drawing/2014/main" id="{38CE5F25-9CC2-4543-9818-681D01704D7F}"/>
              </a:ext>
            </a:extLst>
          </p:cNvPr>
          <p:cNvSpPr>
            <a:spLocks noGrp="1"/>
          </p:cNvSpPr>
          <p:nvPr>
            <p:ph idx="1"/>
          </p:nvPr>
        </p:nvSpPr>
        <p:spPr/>
        <p:txBody>
          <a:bodyPr/>
          <a:lstStyle/>
          <a:p>
            <a:r>
              <a:rPr lang="en-CA" altLang="en-US" dirty="0"/>
              <a:t>The equity account “Stock dividend to be issued” is credited, instead of the “Common shares” account, until the shares are issued. The issuance and distribution of the additional shares on August 25, 2023, is recorded as follows:</a:t>
            </a:r>
          </a:p>
          <a:p>
            <a:endParaRPr lang="en-US" altLang="en-US" dirty="0"/>
          </a:p>
        </p:txBody>
      </p:sp>
      <p:pic>
        <p:nvPicPr>
          <p:cNvPr id="3" name="Picture 2" descr="Graphical user interface, text, application&#10;&#10;Description automatically generated">
            <a:extLst>
              <a:ext uri="{FF2B5EF4-FFF2-40B4-BE49-F238E27FC236}">
                <a16:creationId xmlns:a16="http://schemas.microsoft.com/office/drawing/2014/main" id="{74409B6B-950A-5E49-A627-B8C952CC7E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293" y="3581400"/>
            <a:ext cx="7557414" cy="225425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3F7E4DA3-6E06-44EF-97D8-D5DEC1C9BD90}"/>
              </a:ext>
            </a:extLst>
          </p:cNvPr>
          <p:cNvSpPr>
            <a:spLocks noGrp="1"/>
          </p:cNvSpPr>
          <p:nvPr>
            <p:ph type="title"/>
          </p:nvPr>
        </p:nvSpPr>
        <p:spPr/>
        <p:txBody>
          <a:bodyPr/>
          <a:lstStyle/>
          <a:p>
            <a:r>
              <a:rPr lang="en-US" altLang="en-US" dirty="0"/>
              <a:t>Stock Splits Part 1</a:t>
            </a:r>
          </a:p>
        </p:txBody>
      </p:sp>
      <p:sp>
        <p:nvSpPr>
          <p:cNvPr id="40962" name="Content Placeholder 2">
            <a:extLst>
              <a:ext uri="{FF2B5EF4-FFF2-40B4-BE49-F238E27FC236}">
                <a16:creationId xmlns:a16="http://schemas.microsoft.com/office/drawing/2014/main" id="{E6C2FA33-38E2-4C79-9E14-62C013007C2C}"/>
              </a:ext>
            </a:extLst>
          </p:cNvPr>
          <p:cNvSpPr>
            <a:spLocks noGrp="1"/>
          </p:cNvSpPr>
          <p:nvPr>
            <p:ph idx="1"/>
          </p:nvPr>
        </p:nvSpPr>
        <p:spPr/>
        <p:txBody>
          <a:bodyPr/>
          <a:lstStyle/>
          <a:p>
            <a:r>
              <a:rPr lang="en-CA" altLang="en-US" b="1"/>
              <a:t>Stock splits </a:t>
            </a:r>
            <a:r>
              <a:rPr lang="en-CA" altLang="en-US"/>
              <a:t>are </a:t>
            </a:r>
            <a:r>
              <a:rPr lang="en-CA" altLang="en-US" i="1"/>
              <a:t>not</a:t>
            </a:r>
            <a:r>
              <a:rPr lang="en-CA" altLang="en-US"/>
              <a:t> dividends. They are similar to a stock dividend but are quite different in terms of their impact on the shareholders’ equity accounts. </a:t>
            </a:r>
          </a:p>
          <a:p>
            <a:r>
              <a:rPr lang="en-CA" altLang="en-US"/>
              <a:t>In a </a:t>
            </a:r>
            <a:r>
              <a:rPr lang="en-CA" altLang="en-US" b="1"/>
              <a:t>stock split</a:t>
            </a:r>
            <a:r>
              <a:rPr lang="en-CA" altLang="en-US"/>
              <a:t>, the </a:t>
            </a:r>
            <a:r>
              <a:rPr lang="en-CA" altLang="en-US" i="1"/>
              <a:t>total</a:t>
            </a:r>
            <a:r>
              <a:rPr lang="en-CA" altLang="en-US"/>
              <a:t> number of authorized, issued, and outstanding shares is increased by a specified number, such as a two-for-one split. </a:t>
            </a:r>
          </a:p>
          <a:p>
            <a:r>
              <a:rPr lang="en-CA" altLang="en-US"/>
              <a:t>In both a stock dividend and a stock split, the shareholder receives more shares but does not pay to acquire the additional shares. </a:t>
            </a:r>
          </a:p>
          <a:p>
            <a:r>
              <a:rPr lang="en-CA" altLang="en-US"/>
              <a:t>A stock dividend requires a journal entry; a stock split does not require one but is disclosed in the notes to the financial statements. </a:t>
            </a:r>
            <a:endParaRPr lang="en-US"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10420B29-8BE2-4252-A830-89DF9772777C}"/>
              </a:ext>
            </a:extLst>
          </p:cNvPr>
          <p:cNvSpPr>
            <a:spLocks noGrp="1"/>
          </p:cNvSpPr>
          <p:nvPr>
            <p:ph type="title"/>
          </p:nvPr>
        </p:nvSpPr>
        <p:spPr/>
        <p:txBody>
          <a:bodyPr/>
          <a:lstStyle/>
          <a:p>
            <a:r>
              <a:rPr lang="en-US" altLang="en-US" dirty="0"/>
              <a:t>Stock Splits Part 2</a:t>
            </a:r>
          </a:p>
        </p:txBody>
      </p:sp>
      <p:sp>
        <p:nvSpPr>
          <p:cNvPr id="19458" name="Content Placeholder 2">
            <a:extLst>
              <a:ext uri="{FF2B5EF4-FFF2-40B4-BE49-F238E27FC236}">
                <a16:creationId xmlns:a16="http://schemas.microsoft.com/office/drawing/2014/main" id="{E2F5B896-A25F-4D2D-98A7-A9CA4B91975E}"/>
              </a:ext>
            </a:extLst>
          </p:cNvPr>
          <p:cNvSpPr>
            <a:spLocks noGrp="1"/>
          </p:cNvSpPr>
          <p:nvPr>
            <p:ph idx="1"/>
          </p:nvPr>
        </p:nvSpPr>
        <p:spPr/>
        <p:txBody>
          <a:bodyPr/>
          <a:lstStyle/>
          <a:p>
            <a:r>
              <a:rPr lang="en-CA" altLang="en-US" dirty="0"/>
              <a:t>The </a:t>
            </a:r>
            <a:r>
              <a:rPr lang="en-CA" dirty="0"/>
              <a:t>effects of a 2-for-1 stock split may be summarized as follows</a:t>
            </a:r>
            <a:r>
              <a:rPr lang="en-CA" altLang="en-US" dirty="0"/>
              <a:t>:</a:t>
            </a:r>
          </a:p>
          <a:p>
            <a:endParaRPr lang="en-US" altLang="en-US" dirty="0"/>
          </a:p>
        </p:txBody>
      </p:sp>
      <p:graphicFrame>
        <p:nvGraphicFramePr>
          <p:cNvPr id="2" name="Table 1">
            <a:extLst>
              <a:ext uri="{FF2B5EF4-FFF2-40B4-BE49-F238E27FC236}">
                <a16:creationId xmlns:a16="http://schemas.microsoft.com/office/drawing/2014/main" id="{E4D8A384-8E92-9740-A785-2F22DD2519DC}"/>
              </a:ext>
            </a:extLst>
          </p:cNvPr>
          <p:cNvGraphicFramePr>
            <a:graphicFrameLocks noGrp="1"/>
          </p:cNvGraphicFramePr>
          <p:nvPr>
            <p:extLst>
              <p:ext uri="{D42A27DB-BD31-4B8C-83A1-F6EECF244321}">
                <p14:modId xmlns:p14="http://schemas.microsoft.com/office/powerpoint/2010/main" val="3242153010"/>
              </p:ext>
            </p:extLst>
          </p:nvPr>
        </p:nvGraphicFramePr>
        <p:xfrm>
          <a:off x="609600" y="2468880"/>
          <a:ext cx="8001000" cy="2560320"/>
        </p:xfrm>
        <a:graphic>
          <a:graphicData uri="http://schemas.openxmlformats.org/drawingml/2006/table">
            <a:tbl>
              <a:tblPr/>
              <a:tblGrid>
                <a:gridCol w="3429000">
                  <a:extLst>
                    <a:ext uri="{9D8B030D-6E8A-4147-A177-3AD203B41FA5}">
                      <a16:colId xmlns:a16="http://schemas.microsoft.com/office/drawing/2014/main" val="1579518263"/>
                    </a:ext>
                  </a:extLst>
                </a:gridCol>
                <a:gridCol w="2286000">
                  <a:extLst>
                    <a:ext uri="{9D8B030D-6E8A-4147-A177-3AD203B41FA5}">
                      <a16:colId xmlns:a16="http://schemas.microsoft.com/office/drawing/2014/main" val="814061708"/>
                    </a:ext>
                  </a:extLst>
                </a:gridCol>
                <a:gridCol w="2286000">
                  <a:extLst>
                    <a:ext uri="{9D8B030D-6E8A-4147-A177-3AD203B41FA5}">
                      <a16:colId xmlns:a16="http://schemas.microsoft.com/office/drawing/2014/main" val="286113589"/>
                    </a:ext>
                  </a:extLst>
                </a:gridCol>
              </a:tblGrid>
              <a:tr h="0">
                <a:tc>
                  <a:txBody>
                    <a:bodyPr/>
                    <a:lstStyle/>
                    <a:p>
                      <a:r>
                        <a:rPr lang="en-CA" b="1" u="sng" dirty="0"/>
                        <a:t>Shareholders’ Equity</a:t>
                      </a:r>
                    </a:p>
                  </a:txBody>
                  <a:tcPr anchor="ctr">
                    <a:lnL>
                      <a:noFill/>
                    </a:lnL>
                    <a:lnR>
                      <a:noFill/>
                    </a:lnR>
                    <a:lnT>
                      <a:noFill/>
                    </a:lnT>
                    <a:lnB>
                      <a:noFill/>
                    </a:lnB>
                  </a:tcPr>
                </a:tc>
                <a:tc>
                  <a:txBody>
                    <a:bodyPr/>
                    <a:lstStyle/>
                    <a:p>
                      <a:pPr algn="ctr"/>
                      <a:r>
                        <a:rPr lang="en-CA" b="1" u="sng" dirty="0"/>
                        <a:t>Before the Stock Split</a:t>
                      </a:r>
                    </a:p>
                  </a:txBody>
                  <a:tcPr anchor="ctr">
                    <a:lnL>
                      <a:noFill/>
                    </a:lnL>
                    <a:lnR>
                      <a:noFill/>
                    </a:lnR>
                    <a:lnT>
                      <a:noFill/>
                    </a:lnT>
                    <a:lnB>
                      <a:noFill/>
                    </a:lnB>
                  </a:tcPr>
                </a:tc>
                <a:tc>
                  <a:txBody>
                    <a:bodyPr/>
                    <a:lstStyle/>
                    <a:p>
                      <a:pPr algn="ctr"/>
                      <a:r>
                        <a:rPr lang="en-CA" b="1" u="sng" dirty="0"/>
                        <a:t>After the Stock Split</a:t>
                      </a:r>
                    </a:p>
                  </a:txBody>
                  <a:tcPr anchor="ctr">
                    <a:lnL>
                      <a:noFill/>
                    </a:lnL>
                    <a:lnR>
                      <a:noFill/>
                    </a:lnR>
                    <a:lnT>
                      <a:noFill/>
                    </a:lnT>
                    <a:lnB>
                      <a:noFill/>
                    </a:lnB>
                  </a:tcPr>
                </a:tc>
                <a:extLst>
                  <a:ext uri="{0D108BD9-81ED-4DB2-BD59-A6C34878D82A}">
                    <a16:rowId xmlns:a16="http://schemas.microsoft.com/office/drawing/2014/main" val="2882098037"/>
                  </a:ext>
                </a:extLst>
              </a:tr>
              <a:tr h="0">
                <a:tc>
                  <a:txBody>
                    <a:bodyPr/>
                    <a:lstStyle/>
                    <a:p>
                      <a:r>
                        <a:rPr lang="en-CA"/>
                        <a:t>Contributed capital</a:t>
                      </a:r>
                    </a:p>
                  </a:txBody>
                  <a:tcPr anchor="ctr">
                    <a:lnL>
                      <a:noFill/>
                    </a:lnL>
                    <a:lnR>
                      <a:noFill/>
                    </a:lnR>
                    <a:lnT>
                      <a:noFill/>
                    </a:lnT>
                    <a:lnB>
                      <a:noFill/>
                    </a:lnB>
                  </a:tcPr>
                </a:tc>
                <a:tc>
                  <a:txBody>
                    <a:bodyPr/>
                    <a:lstStyle/>
                    <a:p>
                      <a:endParaRPr lang="en-CA"/>
                    </a:p>
                  </a:txBody>
                  <a:tcPr anchor="ctr">
                    <a:lnL>
                      <a:noFill/>
                    </a:lnL>
                    <a:lnR>
                      <a:noFill/>
                    </a:lnR>
                    <a:lnT>
                      <a:noFill/>
                    </a:lnT>
                    <a:lnB>
                      <a:noFill/>
                    </a:lnB>
                  </a:tcPr>
                </a:tc>
                <a:tc>
                  <a:txBody>
                    <a:bodyPr/>
                    <a:lstStyle/>
                    <a:p>
                      <a:endParaRPr lang="en-CA" dirty="0"/>
                    </a:p>
                  </a:txBody>
                  <a:tcPr anchor="ctr">
                    <a:lnL>
                      <a:noFill/>
                    </a:lnL>
                    <a:lnR>
                      <a:noFill/>
                    </a:lnR>
                    <a:lnT>
                      <a:noFill/>
                    </a:lnT>
                    <a:lnB>
                      <a:noFill/>
                    </a:lnB>
                  </a:tcPr>
                </a:tc>
                <a:extLst>
                  <a:ext uri="{0D108BD9-81ED-4DB2-BD59-A6C34878D82A}">
                    <a16:rowId xmlns:a16="http://schemas.microsoft.com/office/drawing/2014/main" val="1116762250"/>
                  </a:ext>
                </a:extLst>
              </a:tr>
              <a:tr h="0">
                <a:tc>
                  <a:txBody>
                    <a:bodyPr/>
                    <a:lstStyle/>
                    <a:p>
                      <a:r>
                        <a:rPr lang="en-CA" dirty="0"/>
                        <a:t>     Number of shares outstanding</a:t>
                      </a:r>
                    </a:p>
                  </a:txBody>
                  <a:tcPr anchor="ctr">
                    <a:lnL>
                      <a:noFill/>
                    </a:lnL>
                    <a:lnR>
                      <a:noFill/>
                    </a:lnR>
                    <a:lnT>
                      <a:noFill/>
                    </a:lnT>
                    <a:lnB>
                      <a:noFill/>
                    </a:lnB>
                  </a:tcPr>
                </a:tc>
                <a:tc>
                  <a:txBody>
                    <a:bodyPr/>
                    <a:lstStyle/>
                    <a:p>
                      <a:pPr algn="r"/>
                      <a:r>
                        <a:rPr lang="en-CA" dirty="0"/>
                        <a:t>30,000</a:t>
                      </a:r>
                    </a:p>
                  </a:txBody>
                  <a:tcPr anchor="ctr">
                    <a:lnL>
                      <a:noFill/>
                    </a:lnL>
                    <a:lnR>
                      <a:noFill/>
                    </a:lnR>
                    <a:lnT>
                      <a:noFill/>
                    </a:lnT>
                    <a:lnB>
                      <a:noFill/>
                    </a:lnB>
                  </a:tcPr>
                </a:tc>
                <a:tc>
                  <a:txBody>
                    <a:bodyPr/>
                    <a:lstStyle/>
                    <a:p>
                      <a:pPr algn="r"/>
                      <a:r>
                        <a:rPr lang="en-CA"/>
                        <a:t>60,000</a:t>
                      </a:r>
                    </a:p>
                  </a:txBody>
                  <a:tcPr anchor="ctr">
                    <a:lnL>
                      <a:noFill/>
                    </a:lnL>
                    <a:lnR>
                      <a:noFill/>
                    </a:lnR>
                    <a:lnT>
                      <a:noFill/>
                    </a:lnT>
                    <a:lnB>
                      <a:noFill/>
                    </a:lnB>
                  </a:tcPr>
                </a:tc>
                <a:extLst>
                  <a:ext uri="{0D108BD9-81ED-4DB2-BD59-A6C34878D82A}">
                    <a16:rowId xmlns:a16="http://schemas.microsoft.com/office/drawing/2014/main" val="2719943175"/>
                  </a:ext>
                </a:extLst>
              </a:tr>
              <a:tr h="0">
                <a:tc>
                  <a:txBody>
                    <a:bodyPr/>
                    <a:lstStyle/>
                    <a:p>
                      <a:r>
                        <a:rPr lang="en-CA" dirty="0"/>
                        <a:t>     Average issue price per share</a:t>
                      </a:r>
                    </a:p>
                  </a:txBody>
                  <a:tcPr anchor="ctr">
                    <a:lnL>
                      <a:noFill/>
                    </a:lnL>
                    <a:lnR>
                      <a:noFill/>
                    </a:lnR>
                    <a:lnT>
                      <a:noFill/>
                    </a:lnT>
                    <a:lnB>
                      <a:noFill/>
                    </a:lnB>
                  </a:tcPr>
                </a:tc>
                <a:tc>
                  <a:txBody>
                    <a:bodyPr/>
                    <a:lstStyle/>
                    <a:p>
                      <a:pPr algn="r"/>
                      <a:r>
                        <a:rPr lang="en-CA" u="sng" dirty="0"/>
                        <a:t>$10</a:t>
                      </a:r>
                    </a:p>
                  </a:txBody>
                  <a:tcPr anchor="ctr">
                    <a:lnL>
                      <a:noFill/>
                    </a:lnL>
                    <a:lnR>
                      <a:noFill/>
                    </a:lnR>
                    <a:lnT>
                      <a:noFill/>
                    </a:lnT>
                    <a:lnB>
                      <a:noFill/>
                    </a:lnB>
                  </a:tcPr>
                </a:tc>
                <a:tc>
                  <a:txBody>
                    <a:bodyPr/>
                    <a:lstStyle/>
                    <a:p>
                      <a:pPr algn="r"/>
                      <a:r>
                        <a:rPr lang="en-CA" u="sng" dirty="0"/>
                        <a:t>$5</a:t>
                      </a:r>
                    </a:p>
                  </a:txBody>
                  <a:tcPr anchor="ctr">
                    <a:lnL>
                      <a:noFill/>
                    </a:lnL>
                    <a:lnR>
                      <a:noFill/>
                    </a:lnR>
                    <a:lnT>
                      <a:noFill/>
                    </a:lnT>
                    <a:lnB>
                      <a:noFill/>
                    </a:lnB>
                  </a:tcPr>
                </a:tc>
                <a:extLst>
                  <a:ext uri="{0D108BD9-81ED-4DB2-BD59-A6C34878D82A}">
                    <a16:rowId xmlns:a16="http://schemas.microsoft.com/office/drawing/2014/main" val="3679776829"/>
                  </a:ext>
                </a:extLst>
              </a:tr>
              <a:tr h="0">
                <a:tc>
                  <a:txBody>
                    <a:bodyPr/>
                    <a:lstStyle/>
                    <a:p>
                      <a:r>
                        <a:rPr lang="en-CA" dirty="0"/>
                        <a:t>     Common shares</a:t>
                      </a:r>
                    </a:p>
                  </a:txBody>
                  <a:tcPr anchor="ctr">
                    <a:lnL>
                      <a:noFill/>
                    </a:lnL>
                    <a:lnR>
                      <a:noFill/>
                    </a:lnR>
                    <a:lnT>
                      <a:noFill/>
                    </a:lnT>
                    <a:lnB>
                      <a:noFill/>
                    </a:lnB>
                  </a:tcPr>
                </a:tc>
                <a:tc>
                  <a:txBody>
                    <a:bodyPr/>
                    <a:lstStyle/>
                    <a:p>
                      <a:pPr algn="r"/>
                      <a:r>
                        <a:rPr lang="en-CA"/>
                        <a:t>300,000</a:t>
                      </a:r>
                    </a:p>
                  </a:txBody>
                  <a:tcPr anchor="ctr">
                    <a:lnL>
                      <a:noFill/>
                    </a:lnL>
                    <a:lnR>
                      <a:noFill/>
                    </a:lnR>
                    <a:lnT>
                      <a:noFill/>
                    </a:lnT>
                    <a:lnB>
                      <a:noFill/>
                    </a:lnB>
                  </a:tcPr>
                </a:tc>
                <a:tc>
                  <a:txBody>
                    <a:bodyPr/>
                    <a:lstStyle/>
                    <a:p>
                      <a:pPr algn="r"/>
                      <a:r>
                        <a:rPr lang="en-CA" dirty="0"/>
                        <a:t>300,000</a:t>
                      </a:r>
                    </a:p>
                  </a:txBody>
                  <a:tcPr anchor="ctr">
                    <a:lnL>
                      <a:noFill/>
                    </a:lnL>
                    <a:lnR>
                      <a:noFill/>
                    </a:lnR>
                    <a:lnT>
                      <a:noFill/>
                    </a:lnT>
                    <a:lnB>
                      <a:noFill/>
                    </a:lnB>
                  </a:tcPr>
                </a:tc>
                <a:extLst>
                  <a:ext uri="{0D108BD9-81ED-4DB2-BD59-A6C34878D82A}">
                    <a16:rowId xmlns:a16="http://schemas.microsoft.com/office/drawing/2014/main" val="3407743620"/>
                  </a:ext>
                </a:extLst>
              </a:tr>
              <a:tr h="0">
                <a:tc>
                  <a:txBody>
                    <a:bodyPr/>
                    <a:lstStyle/>
                    <a:p>
                      <a:r>
                        <a:rPr lang="en-CA"/>
                        <a:t>Retained earnings</a:t>
                      </a:r>
                    </a:p>
                  </a:txBody>
                  <a:tcPr anchor="ctr">
                    <a:lnL>
                      <a:noFill/>
                    </a:lnL>
                    <a:lnR>
                      <a:noFill/>
                    </a:lnR>
                    <a:lnT>
                      <a:noFill/>
                    </a:lnT>
                    <a:lnB>
                      <a:noFill/>
                    </a:lnB>
                  </a:tcPr>
                </a:tc>
                <a:tc>
                  <a:txBody>
                    <a:bodyPr/>
                    <a:lstStyle/>
                    <a:p>
                      <a:pPr algn="r"/>
                      <a:r>
                        <a:rPr lang="en-CA" u="sng" dirty="0"/>
                        <a:t>650,000</a:t>
                      </a:r>
                    </a:p>
                  </a:txBody>
                  <a:tcPr anchor="ctr">
                    <a:lnL>
                      <a:noFill/>
                    </a:lnL>
                    <a:lnR>
                      <a:noFill/>
                    </a:lnR>
                    <a:lnT>
                      <a:noFill/>
                    </a:lnT>
                    <a:lnB>
                      <a:noFill/>
                    </a:lnB>
                  </a:tcPr>
                </a:tc>
                <a:tc>
                  <a:txBody>
                    <a:bodyPr/>
                    <a:lstStyle/>
                    <a:p>
                      <a:pPr algn="r"/>
                      <a:r>
                        <a:rPr lang="en-CA" u="sng" dirty="0"/>
                        <a:t>650,000</a:t>
                      </a:r>
                    </a:p>
                  </a:txBody>
                  <a:tcPr anchor="ctr">
                    <a:lnL>
                      <a:noFill/>
                    </a:lnL>
                    <a:lnR>
                      <a:noFill/>
                    </a:lnR>
                    <a:lnT>
                      <a:noFill/>
                    </a:lnT>
                    <a:lnB>
                      <a:noFill/>
                    </a:lnB>
                  </a:tcPr>
                </a:tc>
                <a:extLst>
                  <a:ext uri="{0D108BD9-81ED-4DB2-BD59-A6C34878D82A}">
                    <a16:rowId xmlns:a16="http://schemas.microsoft.com/office/drawing/2014/main" val="4200808219"/>
                  </a:ext>
                </a:extLst>
              </a:tr>
              <a:tr h="0">
                <a:tc>
                  <a:txBody>
                    <a:bodyPr/>
                    <a:lstStyle/>
                    <a:p>
                      <a:r>
                        <a:rPr lang="en-CA"/>
                        <a:t>Total shareholders’ equity</a:t>
                      </a:r>
                    </a:p>
                  </a:txBody>
                  <a:tcPr anchor="ctr">
                    <a:lnL>
                      <a:noFill/>
                    </a:lnL>
                    <a:lnR>
                      <a:noFill/>
                    </a:lnR>
                    <a:lnT>
                      <a:noFill/>
                    </a:lnT>
                    <a:lnB>
                      <a:noFill/>
                    </a:lnB>
                  </a:tcPr>
                </a:tc>
                <a:tc>
                  <a:txBody>
                    <a:bodyPr/>
                    <a:lstStyle/>
                    <a:p>
                      <a:pPr algn="r"/>
                      <a:r>
                        <a:rPr lang="en-CA" dirty="0"/>
                        <a:t>$950,000</a:t>
                      </a:r>
                    </a:p>
                  </a:txBody>
                  <a:tcPr anchor="ctr">
                    <a:lnL>
                      <a:noFill/>
                    </a:lnL>
                    <a:lnR>
                      <a:noFill/>
                    </a:lnR>
                    <a:lnT>
                      <a:noFill/>
                    </a:lnT>
                    <a:lnB>
                      <a:noFill/>
                    </a:lnB>
                  </a:tcPr>
                </a:tc>
                <a:tc>
                  <a:txBody>
                    <a:bodyPr/>
                    <a:lstStyle/>
                    <a:p>
                      <a:pPr algn="r"/>
                      <a:r>
                        <a:rPr lang="en-CA" dirty="0"/>
                        <a:t>$950,000</a:t>
                      </a:r>
                    </a:p>
                  </a:txBody>
                  <a:tcPr anchor="ctr">
                    <a:lnL>
                      <a:noFill/>
                    </a:lnL>
                    <a:lnR>
                      <a:noFill/>
                    </a:lnR>
                    <a:lnT>
                      <a:noFill/>
                    </a:lnT>
                    <a:lnB>
                      <a:noFill/>
                    </a:lnB>
                  </a:tcPr>
                </a:tc>
                <a:extLst>
                  <a:ext uri="{0D108BD9-81ED-4DB2-BD59-A6C34878D82A}">
                    <a16:rowId xmlns:a16="http://schemas.microsoft.com/office/drawing/2014/main" val="1976323100"/>
                  </a:ext>
                </a:extLst>
              </a:tr>
            </a:tbl>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51DE5079-70DA-47D6-A14E-26D465F96238}"/>
              </a:ext>
            </a:extLst>
          </p:cNvPr>
          <p:cNvSpPr>
            <a:spLocks noGrp="1"/>
          </p:cNvSpPr>
          <p:nvPr>
            <p:ph type="title"/>
          </p:nvPr>
        </p:nvSpPr>
        <p:spPr/>
        <p:txBody>
          <a:bodyPr/>
          <a:lstStyle/>
          <a:p>
            <a:r>
              <a:rPr lang="en-US" altLang="en-US"/>
              <a:t>Preferred Shares</a:t>
            </a:r>
          </a:p>
        </p:txBody>
      </p:sp>
      <p:sp>
        <p:nvSpPr>
          <p:cNvPr id="41986" name="Content Placeholder 2">
            <a:extLst>
              <a:ext uri="{FF2B5EF4-FFF2-40B4-BE49-F238E27FC236}">
                <a16:creationId xmlns:a16="http://schemas.microsoft.com/office/drawing/2014/main" id="{97196FB3-A1FC-4A3C-8BAA-113AE338C27B}"/>
              </a:ext>
            </a:extLst>
          </p:cNvPr>
          <p:cNvSpPr>
            <a:spLocks noGrp="1"/>
          </p:cNvSpPr>
          <p:nvPr>
            <p:ph idx="1"/>
          </p:nvPr>
        </p:nvSpPr>
        <p:spPr/>
        <p:txBody>
          <a:bodyPr/>
          <a:lstStyle/>
          <a:p>
            <a:r>
              <a:rPr lang="en-CA" dirty="0"/>
              <a:t>In addition to common shares, some corporations issue </a:t>
            </a:r>
            <a:r>
              <a:rPr lang="en-CA" i="1" dirty="0"/>
              <a:t>preferred shares</a:t>
            </a:r>
            <a:r>
              <a:rPr lang="en-CA" dirty="0"/>
              <a:t>. </a:t>
            </a:r>
          </a:p>
          <a:p>
            <a:endParaRPr lang="en-CA" sz="800" dirty="0"/>
          </a:p>
          <a:p>
            <a:r>
              <a:rPr lang="en-CA" b="1" dirty="0"/>
              <a:t>Preferred shares </a:t>
            </a:r>
            <a:r>
              <a:rPr lang="en-CA" dirty="0"/>
              <a:t>differ from common shares in a number of ways. The most significant differences are:</a:t>
            </a:r>
            <a:endParaRPr lang="en-CA" altLang="en-US" dirty="0"/>
          </a:p>
          <a:p>
            <a:pPr lvl="1"/>
            <a:r>
              <a:rPr lang="en-CA" altLang="en-US" sz="2600" dirty="0">
                <a:solidFill>
                  <a:schemeClr val="tx1"/>
                </a:solidFill>
              </a:rPr>
              <a:t>Preferred shares typically do not grant voting rights. </a:t>
            </a:r>
          </a:p>
          <a:p>
            <a:pPr lvl="1"/>
            <a:r>
              <a:rPr lang="en-CA" altLang="en-US" sz="2600" dirty="0">
                <a:solidFill>
                  <a:schemeClr val="tx1"/>
                </a:solidFill>
              </a:rPr>
              <a:t>Preferred shares typically have a fixed dividend rate. </a:t>
            </a:r>
          </a:p>
          <a:p>
            <a:pPr lvl="1"/>
            <a:r>
              <a:rPr lang="en-CA" altLang="en-US" sz="2600" dirty="0">
                <a:solidFill>
                  <a:schemeClr val="tx1"/>
                </a:solidFill>
              </a:rPr>
              <a:t>Preferred shares are less risky than common shares. </a:t>
            </a:r>
          </a:p>
          <a:p>
            <a:pPr lvl="1"/>
            <a:endParaRPr lang="en-US" altLang="en-US" sz="2600" dirty="0">
              <a:solidFill>
                <a:schemeClr val="tx1"/>
              </a:solidFill>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B7445727-D63A-4F3E-AF92-A5280D549949}"/>
              </a:ext>
            </a:extLst>
          </p:cNvPr>
          <p:cNvSpPr>
            <a:spLocks noGrp="1"/>
          </p:cNvSpPr>
          <p:nvPr>
            <p:ph type="title"/>
          </p:nvPr>
        </p:nvSpPr>
        <p:spPr/>
        <p:txBody>
          <a:bodyPr/>
          <a:lstStyle/>
          <a:p>
            <a:r>
              <a:rPr lang="en-US" altLang="en-US" dirty="0"/>
              <a:t>Special Features of Preferred Shares</a:t>
            </a:r>
          </a:p>
        </p:txBody>
      </p:sp>
      <p:sp>
        <p:nvSpPr>
          <p:cNvPr id="43010" name="Content Placeholder 2">
            <a:extLst>
              <a:ext uri="{FF2B5EF4-FFF2-40B4-BE49-F238E27FC236}">
                <a16:creationId xmlns:a16="http://schemas.microsoft.com/office/drawing/2014/main" id="{E820DBDD-D6A4-4F8F-9F22-BA11D337EFB7}"/>
              </a:ext>
            </a:extLst>
          </p:cNvPr>
          <p:cNvSpPr>
            <a:spLocks noGrp="1"/>
          </p:cNvSpPr>
          <p:nvPr>
            <p:ph idx="1"/>
          </p:nvPr>
        </p:nvSpPr>
        <p:spPr/>
        <p:txBody>
          <a:bodyPr/>
          <a:lstStyle/>
          <a:p>
            <a:r>
              <a:rPr lang="en-CA" altLang="en-US" b="1" dirty="0"/>
              <a:t>Convertible preferred shares </a:t>
            </a:r>
            <a:r>
              <a:rPr lang="en-CA" altLang="en-US" dirty="0"/>
              <a:t>may be exchanged for a different series of preferred shares or for common shares of the corporation.</a:t>
            </a:r>
          </a:p>
          <a:p>
            <a:endParaRPr lang="en-CA" altLang="en-US" sz="1200" dirty="0"/>
          </a:p>
          <a:p>
            <a:r>
              <a:rPr lang="en-CA" altLang="en-US" b="1" dirty="0"/>
              <a:t>Redeemable or Callable preferred shares</a:t>
            </a:r>
            <a:r>
              <a:rPr lang="en-CA" altLang="en-US" dirty="0"/>
              <a:t> may be repurchased by the corporation at a predetermined price.</a:t>
            </a:r>
          </a:p>
          <a:p>
            <a:endParaRPr lang="en-CA" altLang="en-US" sz="1200" dirty="0"/>
          </a:p>
          <a:p>
            <a:r>
              <a:rPr lang="en-CA" altLang="en-US" b="1" dirty="0"/>
              <a:t>Retractable preferred shares </a:t>
            </a:r>
            <a:r>
              <a:rPr lang="en-CA" altLang="en-US" dirty="0"/>
              <a:t>may be redeemed at the option of the shareholder for the redemption price.</a:t>
            </a:r>
          </a:p>
          <a:p>
            <a:endParaRPr lang="en-CA" altLang="en-US" sz="2800" dirty="0">
              <a:solidFill>
                <a:srgbClr val="000000"/>
              </a:solidFill>
              <a:latin typeface="Arial" panose="020B0604020202020204" pitchFamily="34" charset="0"/>
            </a:endParaRPr>
          </a:p>
          <a:p>
            <a:endParaRPr lang="en-CA" altLang="en-US" sz="2800" dirty="0">
              <a:solidFill>
                <a:srgbClr val="000000"/>
              </a:solidFill>
              <a:latin typeface="Arial" panose="020B0604020202020204" pitchFamily="34" charset="0"/>
            </a:endParaRPr>
          </a:p>
          <a:p>
            <a:endParaRPr lang="en-US" altLang="en-US" dirty="0"/>
          </a:p>
          <a:p>
            <a:endParaRPr lang="en-US" alt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E9708631-70AE-4DA5-A729-C8040DF8B521}"/>
              </a:ext>
            </a:extLst>
          </p:cNvPr>
          <p:cNvSpPr>
            <a:spLocks noGrp="1"/>
          </p:cNvSpPr>
          <p:nvPr>
            <p:ph type="title"/>
          </p:nvPr>
        </p:nvSpPr>
        <p:spPr/>
        <p:txBody>
          <a:bodyPr/>
          <a:lstStyle/>
          <a:p>
            <a:r>
              <a:rPr lang="en-CA" altLang="en-US"/>
              <a:t>Dividends on Preferred Shares</a:t>
            </a:r>
            <a:endParaRPr lang="en-US" altLang="en-US"/>
          </a:p>
        </p:txBody>
      </p:sp>
      <p:sp>
        <p:nvSpPr>
          <p:cNvPr id="3" name="Content Placeholder 2">
            <a:extLst>
              <a:ext uri="{FF2B5EF4-FFF2-40B4-BE49-F238E27FC236}">
                <a16:creationId xmlns:a16="http://schemas.microsoft.com/office/drawing/2014/main" id="{192F5B27-F8D8-49AC-ACB8-58BAE203B104}"/>
              </a:ext>
            </a:extLst>
          </p:cNvPr>
          <p:cNvSpPr>
            <a:spLocks noGrp="1"/>
          </p:cNvSpPr>
          <p:nvPr>
            <p:ph idx="1"/>
          </p:nvPr>
        </p:nvSpPr>
        <p:spPr>
          <a:xfrm>
            <a:off x="457200" y="990600"/>
            <a:ext cx="8382000" cy="5334000"/>
          </a:xfrm>
        </p:spPr>
        <p:txBody>
          <a:bodyPr/>
          <a:lstStyle/>
          <a:p>
            <a:pPr>
              <a:buFont typeface="Wingdings 3" pitchFamily="2" charset="2"/>
              <a:buChar char=""/>
              <a:defRPr/>
            </a:pPr>
            <a:r>
              <a:rPr lang="en-CA" dirty="0"/>
              <a:t>Generally, preferred shareholders do not have the right to vote, nor do they share in increased earnings if the company becomes more profitable. </a:t>
            </a:r>
          </a:p>
          <a:p>
            <a:pPr>
              <a:buFont typeface="Wingdings 3" pitchFamily="2" charset="2"/>
              <a:buChar char=""/>
              <a:defRPr/>
            </a:pPr>
            <a:r>
              <a:rPr lang="en-CA" dirty="0"/>
              <a:t>To compensate these investors, preferred shares offer a dividend preference. The two most common dividend preferences are:</a:t>
            </a:r>
          </a:p>
          <a:p>
            <a:pPr marL="731838" lvl="1" indent="-457200">
              <a:buFont typeface="+mj-lt"/>
              <a:buAutoNum type="arabicPeriod"/>
              <a:defRPr/>
            </a:pPr>
            <a:r>
              <a:rPr lang="en-CA" altLang="en-US" b="1" dirty="0"/>
              <a:t>Current Dividend Preference:  </a:t>
            </a:r>
            <a:r>
              <a:rPr lang="en-CA" altLang="en-US" dirty="0"/>
              <a:t>The current preferred dividends must be paid before paying any dividends to common shares.</a:t>
            </a:r>
          </a:p>
          <a:p>
            <a:pPr marL="731838" lvl="1" indent="-457200">
              <a:buFont typeface="+mj-lt"/>
              <a:buAutoNum type="arabicPeriod"/>
              <a:defRPr/>
            </a:pPr>
            <a:r>
              <a:rPr lang="en-CA" altLang="en-US" b="1" dirty="0"/>
              <a:t>Cumulative Dividend Preference:  </a:t>
            </a:r>
            <a:r>
              <a:rPr lang="en-CA" altLang="en-US" dirty="0"/>
              <a:t>Any unpaid dividends from previous years (dividends in arrears) must be paid before common dividends are paid.</a:t>
            </a:r>
            <a:endParaRPr lang="en-CA" altLang="en-US" sz="1200" dirty="0"/>
          </a:p>
          <a:p>
            <a:pPr>
              <a:buFont typeface="Wingdings 3" pitchFamily="2" charset="2"/>
              <a:buChar char=""/>
              <a:defRPr/>
            </a:pPr>
            <a:r>
              <a:rPr lang="en-CA" dirty="0"/>
              <a:t>If the preferred shares are non-cumulative, any dividends not declared in previous years are lost permanently.  </a:t>
            </a:r>
          </a:p>
          <a:p>
            <a:pPr>
              <a:buFont typeface="Wingdings 3" pitchFamily="2" charset="2"/>
              <a:buChar char=""/>
              <a:defRPr/>
            </a:pPr>
            <a:endParaRPr lang="en-CA" altLang="en-US" sz="2400" dirty="0">
              <a:latin typeface="Arial" panose="020B0604020202020204" pitchFamily="34" charset="0"/>
            </a:endParaRPr>
          </a:p>
          <a:p>
            <a:pPr>
              <a:buFont typeface="Wingdings 3" pitchFamily="2" charset="2"/>
              <a:buChar char=""/>
              <a:defRPr/>
            </a:pPr>
            <a:endParaRPr 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11C14531-453E-408B-9E12-D1E6D0D46AD2}"/>
              </a:ext>
            </a:extLst>
          </p:cNvPr>
          <p:cNvSpPr>
            <a:spLocks noGrp="1"/>
          </p:cNvSpPr>
          <p:nvPr>
            <p:ph type="title"/>
          </p:nvPr>
        </p:nvSpPr>
        <p:spPr>
          <a:xfrm>
            <a:off x="457200" y="198437"/>
            <a:ext cx="8229600" cy="792163"/>
          </a:xfrm>
        </p:spPr>
        <p:txBody>
          <a:bodyPr/>
          <a:lstStyle/>
          <a:p>
            <a:r>
              <a:rPr lang="en-CA" altLang="en-US"/>
              <a:t>Dividends on Preferred Shares: Current Dividend Preference Only</a:t>
            </a:r>
            <a:endParaRPr lang="en-US" altLang="en-US"/>
          </a:p>
        </p:txBody>
      </p:sp>
      <p:sp>
        <p:nvSpPr>
          <p:cNvPr id="20482" name="Content Placeholder 2">
            <a:extLst>
              <a:ext uri="{FF2B5EF4-FFF2-40B4-BE49-F238E27FC236}">
                <a16:creationId xmlns:a16="http://schemas.microsoft.com/office/drawing/2014/main" id="{DD4F38B9-B36B-4D94-90FB-15720EFA23C6}"/>
              </a:ext>
            </a:extLst>
          </p:cNvPr>
          <p:cNvSpPr>
            <a:spLocks noGrp="1"/>
          </p:cNvSpPr>
          <p:nvPr>
            <p:ph idx="1"/>
          </p:nvPr>
        </p:nvSpPr>
        <p:spPr/>
        <p:txBody>
          <a:bodyPr/>
          <a:lstStyle/>
          <a:p>
            <a:endParaRPr lang="en-CA" altLang="en-US" sz="2400">
              <a:latin typeface="Arial" panose="020B0604020202020204" pitchFamily="34" charset="0"/>
            </a:endParaRPr>
          </a:p>
          <a:p>
            <a:endParaRPr lang="en-US" altLang="en-US"/>
          </a:p>
        </p:txBody>
      </p:sp>
      <p:graphicFrame>
        <p:nvGraphicFramePr>
          <p:cNvPr id="4" name="Table 3">
            <a:extLst>
              <a:ext uri="{FF2B5EF4-FFF2-40B4-BE49-F238E27FC236}">
                <a16:creationId xmlns:a16="http://schemas.microsoft.com/office/drawing/2014/main" id="{61DFBE77-626C-4B60-96FF-C2E8617FED99}"/>
              </a:ext>
            </a:extLst>
          </p:cNvPr>
          <p:cNvGraphicFramePr>
            <a:graphicFrameLocks noGrp="1"/>
          </p:cNvGraphicFramePr>
          <p:nvPr>
            <p:extLst>
              <p:ext uri="{D42A27DB-BD31-4B8C-83A1-F6EECF244321}">
                <p14:modId xmlns:p14="http://schemas.microsoft.com/office/powerpoint/2010/main" val="587694128"/>
              </p:ext>
            </p:extLst>
          </p:nvPr>
        </p:nvGraphicFramePr>
        <p:xfrm>
          <a:off x="457200" y="1624013"/>
          <a:ext cx="8229600" cy="3609975"/>
        </p:xfrm>
        <a:graphic>
          <a:graphicData uri="http://schemas.openxmlformats.org/drawingml/2006/table">
            <a:tbl>
              <a:tblPr/>
              <a:tblGrid>
                <a:gridCol w="2429219">
                  <a:extLst>
                    <a:ext uri="{9D8B030D-6E8A-4147-A177-3AD203B41FA5}">
                      <a16:colId xmlns:a16="http://schemas.microsoft.com/office/drawing/2014/main" val="20000"/>
                    </a:ext>
                  </a:extLst>
                </a:gridCol>
                <a:gridCol w="1685581">
                  <a:extLst>
                    <a:ext uri="{9D8B030D-6E8A-4147-A177-3AD203B41FA5}">
                      <a16:colId xmlns:a16="http://schemas.microsoft.com/office/drawing/2014/main" val="20001"/>
                    </a:ext>
                  </a:extLst>
                </a:gridCol>
                <a:gridCol w="1685581">
                  <a:extLst>
                    <a:ext uri="{9D8B030D-6E8A-4147-A177-3AD203B41FA5}">
                      <a16:colId xmlns:a16="http://schemas.microsoft.com/office/drawing/2014/main" val="20002"/>
                    </a:ext>
                  </a:extLst>
                </a:gridCol>
                <a:gridCol w="2429219">
                  <a:extLst>
                    <a:ext uri="{9D8B030D-6E8A-4147-A177-3AD203B41FA5}">
                      <a16:colId xmlns:a16="http://schemas.microsoft.com/office/drawing/2014/main" val="20003"/>
                    </a:ext>
                  </a:extLst>
                </a:gridCol>
              </a:tblGrid>
              <a:tr h="0">
                <a:tc gridSpan="4">
                  <a:txBody>
                    <a:bodyPr/>
                    <a:lstStyle/>
                    <a:p>
                      <a:pPr fontAlgn="base"/>
                      <a:r>
                        <a:rPr lang="en-CA" b="0">
                          <a:solidFill>
                            <a:srgbClr val="333333"/>
                          </a:solidFill>
                          <a:effectLst/>
                          <a:latin typeface="Times New Roman" panose="02020603050405020304" pitchFamily="18" charset="0"/>
                        </a:rPr>
                        <a:t>Preferred shares outstanding, $1.20; 2,000 shares.</a:t>
                      </a:r>
                    </a:p>
                  </a:txBody>
                  <a:tcPr marL="190500" marR="190500" marT="95250" marB="28575"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4">
                  <a:txBody>
                    <a:bodyPr/>
                    <a:lstStyle/>
                    <a:p>
                      <a:pPr fontAlgn="base"/>
                      <a:r>
                        <a:rPr lang="en-CA" b="0">
                          <a:solidFill>
                            <a:srgbClr val="333333"/>
                          </a:solidFill>
                          <a:effectLst/>
                          <a:latin typeface="Times New Roman" panose="02020603050405020304" pitchFamily="18" charset="0"/>
                        </a:rPr>
                        <a:t>Common shares outstanding; 5,000 shares.</a:t>
                      </a:r>
                    </a:p>
                  </a:txBody>
                  <a:tcPr marL="190500" marR="190500" marT="95250" marB="28575"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0">
                <a:tc gridSpan="4">
                  <a:txBody>
                    <a:bodyPr/>
                    <a:lstStyle/>
                    <a:p>
                      <a:pPr fontAlgn="base"/>
                      <a:r>
                        <a:rPr lang="en-CA" b="0">
                          <a:solidFill>
                            <a:srgbClr val="333333"/>
                          </a:solidFill>
                          <a:effectLst/>
                          <a:latin typeface="Times New Roman" panose="02020603050405020304" pitchFamily="18" charset="0"/>
                        </a:rPr>
                        <a:t>Allocation of dividends between preferred and common shares assuming current dividend preference only:</a:t>
                      </a:r>
                    </a:p>
                  </a:txBody>
                  <a:tcPr marL="190500" marR="190500" marT="95250" marB="28575"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0">
                <a:tc>
                  <a:txBody>
                    <a:bodyPr/>
                    <a:lstStyle/>
                    <a:p>
                      <a:pPr fontAlgn="base"/>
                      <a:r>
                        <a:rPr lang="en-CA" b="1">
                          <a:solidFill>
                            <a:srgbClr val="333333"/>
                          </a:solidFill>
                          <a:effectLst/>
                          <a:latin typeface="inherit"/>
                        </a:rPr>
                        <a:t>Assumptions</a:t>
                      </a:r>
                      <a:endParaRPr lang="en-CA" b="0">
                        <a:solidFill>
                          <a:srgbClr val="333333"/>
                        </a:solidFill>
                        <a:effectLst/>
                        <a:latin typeface="Times New Roman" panose="02020603050405020304" pitchFamily="18" charset="0"/>
                      </a:endParaRPr>
                    </a:p>
                  </a:txBody>
                  <a:tcPr marL="190500" marR="95250" marT="95250" marB="28575"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b="1">
                          <a:solidFill>
                            <a:srgbClr val="333333"/>
                          </a:solidFill>
                          <a:effectLst/>
                          <a:latin typeface="inherit"/>
                        </a:rPr>
                        <a:t>Total Dividends Paid</a:t>
                      </a:r>
                      <a:endParaRPr lang="en-CA" b="0">
                        <a:solidFill>
                          <a:srgbClr val="333333"/>
                        </a:solidFill>
                        <a:effectLst/>
                        <a:latin typeface="Times New Roman" panose="02020603050405020304" pitchFamily="18" charset="0"/>
                      </a:endParaRPr>
                    </a:p>
                  </a:txBody>
                  <a:tcPr marL="95250" marR="95250" marT="95250" marB="28575"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b="1" dirty="0">
                          <a:solidFill>
                            <a:srgbClr val="333333"/>
                          </a:solidFill>
                          <a:effectLst/>
                          <a:latin typeface="inherit"/>
                        </a:rPr>
                        <a:t>$1.20 Preferred Shares</a:t>
                      </a:r>
                      <a:br>
                        <a:rPr lang="en-CA" b="1" dirty="0">
                          <a:solidFill>
                            <a:srgbClr val="333333"/>
                          </a:solidFill>
                          <a:effectLst/>
                          <a:latin typeface="inherit"/>
                        </a:rPr>
                      </a:br>
                      <a:r>
                        <a:rPr lang="en-CA" b="1" dirty="0">
                          <a:solidFill>
                            <a:srgbClr val="333333"/>
                          </a:solidFill>
                          <a:effectLst/>
                          <a:latin typeface="inherit"/>
                        </a:rPr>
                        <a:t>(2,000 shares)</a:t>
                      </a:r>
                      <a:endParaRPr lang="en-CA" b="0" dirty="0">
                        <a:solidFill>
                          <a:srgbClr val="333333"/>
                        </a:solidFill>
                        <a:effectLst/>
                        <a:latin typeface="Times New Roman" panose="02020603050405020304" pitchFamily="18" charset="0"/>
                      </a:endParaRPr>
                    </a:p>
                  </a:txBody>
                  <a:tcPr marL="95250" marR="95250" marT="95250" marB="28575"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b="1">
                          <a:solidFill>
                            <a:srgbClr val="333333"/>
                          </a:solidFill>
                          <a:effectLst/>
                          <a:latin typeface="inherit"/>
                        </a:rPr>
                        <a:t>Common Shares</a:t>
                      </a:r>
                      <a:br>
                        <a:rPr lang="en-CA" b="1">
                          <a:solidFill>
                            <a:srgbClr val="333333"/>
                          </a:solidFill>
                          <a:effectLst/>
                          <a:latin typeface="inherit"/>
                        </a:rPr>
                      </a:br>
                      <a:r>
                        <a:rPr lang="en-CA" b="1">
                          <a:solidFill>
                            <a:srgbClr val="333333"/>
                          </a:solidFill>
                          <a:effectLst/>
                          <a:latin typeface="inherit"/>
                        </a:rPr>
                        <a:t>(5,000 shares)</a:t>
                      </a:r>
                      <a:endParaRPr lang="en-CA" b="0">
                        <a:solidFill>
                          <a:srgbClr val="333333"/>
                        </a:solidFill>
                        <a:effectLst/>
                        <a:latin typeface="Times New Roman" panose="02020603050405020304" pitchFamily="18" charset="0"/>
                      </a:endParaRPr>
                    </a:p>
                  </a:txBody>
                  <a:tcPr marL="95250" marR="190500" marT="95250" marB="28575"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extLst>
                  <a:ext uri="{0D108BD9-81ED-4DB2-BD59-A6C34878D82A}">
                    <a16:rowId xmlns:a16="http://schemas.microsoft.com/office/drawing/2014/main" val="10003"/>
                  </a:ext>
                </a:extLst>
              </a:tr>
              <a:tr h="0">
                <a:tc>
                  <a:txBody>
                    <a:bodyPr/>
                    <a:lstStyle/>
                    <a:p>
                      <a:pPr fontAlgn="base"/>
                      <a:r>
                        <a:rPr lang="en-CA" b="0">
                          <a:solidFill>
                            <a:srgbClr val="333333"/>
                          </a:solidFill>
                          <a:effectLst/>
                          <a:latin typeface="Times New Roman" panose="02020603050405020304" pitchFamily="18" charset="0"/>
                        </a:rPr>
                        <a:t>No. 1</a:t>
                      </a:r>
                    </a:p>
                  </a:txBody>
                  <a:tcPr marL="190500" marR="95250" marT="95250" marB="2857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ctr" fontAlgn="base"/>
                      <a:r>
                        <a:rPr lang="en-CA" b="0" dirty="0">
                          <a:solidFill>
                            <a:srgbClr val="333333"/>
                          </a:solidFill>
                          <a:effectLst/>
                          <a:latin typeface="Times New Roman" panose="02020603050405020304" pitchFamily="18" charset="0"/>
                        </a:rPr>
                        <a:t>$  2,400</a:t>
                      </a:r>
                    </a:p>
                  </a:txBody>
                  <a:tcPr marL="95250" marR="95250" marT="95250" marB="2857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ctr" fontAlgn="base"/>
                      <a:r>
                        <a:rPr lang="en-CA" b="0" dirty="0">
                          <a:solidFill>
                            <a:srgbClr val="333333"/>
                          </a:solidFill>
                          <a:effectLst/>
                          <a:latin typeface="Times New Roman" panose="02020603050405020304" pitchFamily="18" charset="0"/>
                        </a:rPr>
                        <a:t>  $2,400  </a:t>
                      </a:r>
                    </a:p>
                  </a:txBody>
                  <a:tcPr marL="95250" marR="95250" marT="95250" marB="2857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ctr" fontAlgn="base"/>
                      <a:r>
                        <a:rPr lang="en-CA" b="0">
                          <a:solidFill>
                            <a:srgbClr val="333333"/>
                          </a:solidFill>
                          <a:effectLst/>
                          <a:latin typeface="Times New Roman" panose="02020603050405020304" pitchFamily="18" charset="0"/>
                        </a:rPr>
                        <a:t>        0</a:t>
                      </a:r>
                    </a:p>
                  </a:txBody>
                  <a:tcPr marL="95250" marR="190500" marT="95250" marB="2857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4"/>
                  </a:ext>
                </a:extLst>
              </a:tr>
              <a:tr h="0">
                <a:tc>
                  <a:txBody>
                    <a:bodyPr/>
                    <a:lstStyle/>
                    <a:p>
                      <a:pPr fontAlgn="base"/>
                      <a:r>
                        <a:rPr lang="en-CA" b="0">
                          <a:solidFill>
                            <a:srgbClr val="333333"/>
                          </a:solidFill>
                          <a:effectLst/>
                          <a:latin typeface="Times New Roman" panose="02020603050405020304" pitchFamily="18" charset="0"/>
                        </a:rPr>
                        <a:t>No. 2</a:t>
                      </a:r>
                    </a:p>
                  </a:txBody>
                  <a:tcPr marL="190500" marR="95250" marT="95250" marB="28575" anchor="ctr">
                    <a:lnL>
                      <a:noFill/>
                    </a:lnL>
                    <a:lnR>
                      <a:noFill/>
                    </a:lnR>
                    <a:lnT>
                      <a:noFill/>
                    </a:lnT>
                    <a:lnB>
                      <a:noFill/>
                    </a:lnB>
                    <a:solidFill>
                      <a:srgbClr val="E4F2E7"/>
                    </a:solidFill>
                  </a:tcPr>
                </a:tc>
                <a:tc>
                  <a:txBody>
                    <a:bodyPr/>
                    <a:lstStyle/>
                    <a:p>
                      <a:pPr algn="ctr" fontAlgn="base"/>
                      <a:r>
                        <a:rPr lang="en-CA" b="0">
                          <a:solidFill>
                            <a:srgbClr val="333333"/>
                          </a:solidFill>
                          <a:effectLst/>
                          <a:latin typeface="Times New Roman" panose="02020603050405020304" pitchFamily="18" charset="0"/>
                        </a:rPr>
                        <a:t>    3,000</a:t>
                      </a:r>
                    </a:p>
                  </a:txBody>
                  <a:tcPr marL="95250" marR="95250" marT="95250" marB="28575" anchor="ctr">
                    <a:lnL>
                      <a:noFill/>
                    </a:lnL>
                    <a:lnR>
                      <a:noFill/>
                    </a:lnR>
                    <a:lnT>
                      <a:noFill/>
                    </a:lnT>
                    <a:lnB>
                      <a:noFill/>
                    </a:lnB>
                    <a:solidFill>
                      <a:srgbClr val="E4F2E7"/>
                    </a:solidFill>
                  </a:tcPr>
                </a:tc>
                <a:tc>
                  <a:txBody>
                    <a:bodyPr/>
                    <a:lstStyle/>
                    <a:p>
                      <a:pPr algn="ctr" fontAlgn="base"/>
                      <a:r>
                        <a:rPr lang="en-CA" b="0">
                          <a:solidFill>
                            <a:srgbClr val="333333"/>
                          </a:solidFill>
                          <a:effectLst/>
                          <a:latin typeface="Times New Roman" panose="02020603050405020304" pitchFamily="18" charset="0"/>
                        </a:rPr>
                        <a:t>  2,400</a:t>
                      </a:r>
                    </a:p>
                  </a:txBody>
                  <a:tcPr marL="95250" marR="95250" marT="95250" marB="28575" anchor="ctr">
                    <a:lnL>
                      <a:noFill/>
                    </a:lnL>
                    <a:lnR>
                      <a:noFill/>
                    </a:lnR>
                    <a:lnT>
                      <a:noFill/>
                    </a:lnT>
                    <a:lnB>
                      <a:noFill/>
                    </a:lnB>
                    <a:solidFill>
                      <a:srgbClr val="E4F2E7"/>
                    </a:solidFill>
                  </a:tcPr>
                </a:tc>
                <a:tc>
                  <a:txBody>
                    <a:bodyPr/>
                    <a:lstStyle/>
                    <a:p>
                      <a:pPr algn="ctr" fontAlgn="base"/>
                      <a:r>
                        <a:rPr lang="en-CA" b="0">
                          <a:solidFill>
                            <a:srgbClr val="333333"/>
                          </a:solidFill>
                          <a:effectLst/>
                          <a:latin typeface="Times New Roman" panose="02020603050405020304" pitchFamily="18" charset="0"/>
                        </a:rPr>
                        <a:t>$     600   </a:t>
                      </a:r>
                    </a:p>
                  </a:txBody>
                  <a:tcPr marL="95250" marR="190500" marT="95250" marB="28575" anchor="ctr">
                    <a:lnL>
                      <a:noFill/>
                    </a:lnL>
                    <a:lnR>
                      <a:noFill/>
                    </a:lnR>
                    <a:lnT>
                      <a:noFill/>
                    </a:lnT>
                    <a:lnB>
                      <a:noFill/>
                    </a:lnB>
                    <a:solidFill>
                      <a:srgbClr val="E4F2E7"/>
                    </a:solidFill>
                  </a:tcPr>
                </a:tc>
                <a:extLst>
                  <a:ext uri="{0D108BD9-81ED-4DB2-BD59-A6C34878D82A}">
                    <a16:rowId xmlns:a16="http://schemas.microsoft.com/office/drawing/2014/main" val="10005"/>
                  </a:ext>
                </a:extLst>
              </a:tr>
              <a:tr h="0">
                <a:tc>
                  <a:txBody>
                    <a:bodyPr/>
                    <a:lstStyle/>
                    <a:p>
                      <a:pPr fontAlgn="base"/>
                      <a:r>
                        <a:rPr lang="en-CA" b="0">
                          <a:solidFill>
                            <a:srgbClr val="333333"/>
                          </a:solidFill>
                          <a:effectLst/>
                          <a:latin typeface="Times New Roman" panose="02020603050405020304" pitchFamily="18" charset="0"/>
                        </a:rPr>
                        <a:t>No. 3</a:t>
                      </a:r>
                    </a:p>
                  </a:txBody>
                  <a:tcPr marL="190500" marR="95250" marT="95250" marB="28575"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b="0">
                          <a:solidFill>
                            <a:srgbClr val="333333"/>
                          </a:solidFill>
                          <a:effectLst/>
                          <a:latin typeface="Times New Roman" panose="02020603050405020304" pitchFamily="18" charset="0"/>
                        </a:rPr>
                        <a:t>  18,000</a:t>
                      </a:r>
                    </a:p>
                  </a:txBody>
                  <a:tcPr marL="95250" marR="95250" marT="95250" marB="28575"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b="0">
                          <a:solidFill>
                            <a:srgbClr val="333333"/>
                          </a:solidFill>
                          <a:effectLst/>
                          <a:latin typeface="Times New Roman" panose="02020603050405020304" pitchFamily="18" charset="0"/>
                        </a:rPr>
                        <a:t>  2,400</a:t>
                      </a:r>
                    </a:p>
                  </a:txBody>
                  <a:tcPr marL="95250" marR="95250" marT="95250" marB="28575"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b="0" dirty="0">
                          <a:solidFill>
                            <a:srgbClr val="333333"/>
                          </a:solidFill>
                          <a:effectLst/>
                          <a:latin typeface="Times New Roman" panose="02020603050405020304" pitchFamily="18" charset="0"/>
                        </a:rPr>
                        <a:t>15,600 </a:t>
                      </a:r>
                    </a:p>
                  </a:txBody>
                  <a:tcPr marL="95250" marR="190500" marT="95250" marB="28575"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35336566-1824-4073-B8B2-FEAC9E3A1B42}"/>
              </a:ext>
            </a:extLst>
          </p:cNvPr>
          <p:cNvSpPr>
            <a:spLocks noGrp="1"/>
          </p:cNvSpPr>
          <p:nvPr>
            <p:ph type="title"/>
          </p:nvPr>
        </p:nvSpPr>
        <p:spPr>
          <a:xfrm>
            <a:off x="457200" y="198437"/>
            <a:ext cx="8229600" cy="792163"/>
          </a:xfrm>
        </p:spPr>
        <p:txBody>
          <a:bodyPr/>
          <a:lstStyle/>
          <a:p>
            <a:r>
              <a:rPr lang="en-CA" altLang="en-US" dirty="0"/>
              <a:t>Dividends on Preferred Shares: Cumulative Dividend Preference</a:t>
            </a:r>
            <a:endParaRPr lang="en-US" altLang="en-US" dirty="0"/>
          </a:p>
        </p:txBody>
      </p:sp>
      <p:sp>
        <p:nvSpPr>
          <p:cNvPr id="21506" name="Content Placeholder 2">
            <a:extLst>
              <a:ext uri="{FF2B5EF4-FFF2-40B4-BE49-F238E27FC236}">
                <a16:creationId xmlns:a16="http://schemas.microsoft.com/office/drawing/2014/main" id="{BF2A524F-8787-48E4-B2AF-ADFE76AA0401}"/>
              </a:ext>
            </a:extLst>
          </p:cNvPr>
          <p:cNvSpPr>
            <a:spLocks noGrp="1"/>
          </p:cNvSpPr>
          <p:nvPr>
            <p:ph idx="1"/>
          </p:nvPr>
        </p:nvSpPr>
        <p:spPr/>
        <p:txBody>
          <a:bodyPr/>
          <a:lstStyle/>
          <a:p>
            <a:endParaRPr lang="en-CA" altLang="en-US" sz="2400">
              <a:latin typeface="Arial" panose="020B0604020202020204" pitchFamily="34" charset="0"/>
            </a:endParaRPr>
          </a:p>
          <a:p>
            <a:endParaRPr lang="en-US" altLang="en-US"/>
          </a:p>
        </p:txBody>
      </p:sp>
      <p:graphicFrame>
        <p:nvGraphicFramePr>
          <p:cNvPr id="5" name="Table 4">
            <a:extLst>
              <a:ext uri="{FF2B5EF4-FFF2-40B4-BE49-F238E27FC236}">
                <a16:creationId xmlns:a16="http://schemas.microsoft.com/office/drawing/2014/main" id="{6842CD7D-D66E-4A68-ADB9-D3540E3F1880}"/>
              </a:ext>
            </a:extLst>
          </p:cNvPr>
          <p:cNvGraphicFramePr>
            <a:graphicFrameLocks noGrp="1"/>
          </p:cNvGraphicFramePr>
          <p:nvPr/>
        </p:nvGraphicFramePr>
        <p:xfrm>
          <a:off x="471488" y="1325563"/>
          <a:ext cx="8201024" cy="4875221"/>
        </p:xfrm>
        <a:graphic>
          <a:graphicData uri="http://schemas.openxmlformats.org/drawingml/2006/table">
            <a:tbl>
              <a:tblPr/>
              <a:tblGrid>
                <a:gridCol w="2420784">
                  <a:extLst>
                    <a:ext uri="{9D8B030D-6E8A-4147-A177-3AD203B41FA5}">
                      <a16:colId xmlns:a16="http://schemas.microsoft.com/office/drawing/2014/main" val="20000"/>
                    </a:ext>
                  </a:extLst>
                </a:gridCol>
                <a:gridCol w="1679728">
                  <a:extLst>
                    <a:ext uri="{9D8B030D-6E8A-4147-A177-3AD203B41FA5}">
                      <a16:colId xmlns:a16="http://schemas.microsoft.com/office/drawing/2014/main" val="20001"/>
                    </a:ext>
                  </a:extLst>
                </a:gridCol>
                <a:gridCol w="1679728">
                  <a:extLst>
                    <a:ext uri="{9D8B030D-6E8A-4147-A177-3AD203B41FA5}">
                      <a16:colId xmlns:a16="http://schemas.microsoft.com/office/drawing/2014/main" val="20002"/>
                    </a:ext>
                  </a:extLst>
                </a:gridCol>
                <a:gridCol w="2420784">
                  <a:extLst>
                    <a:ext uri="{9D8B030D-6E8A-4147-A177-3AD203B41FA5}">
                      <a16:colId xmlns:a16="http://schemas.microsoft.com/office/drawing/2014/main" val="20003"/>
                    </a:ext>
                  </a:extLst>
                </a:gridCol>
              </a:tblGrid>
              <a:tr h="397703">
                <a:tc gridSpan="4">
                  <a:txBody>
                    <a:bodyPr/>
                    <a:lstStyle/>
                    <a:p>
                      <a:pPr fontAlgn="base"/>
                      <a:r>
                        <a:rPr lang="en-CA" sz="1800" b="0">
                          <a:solidFill>
                            <a:srgbClr val="333333"/>
                          </a:solidFill>
                          <a:effectLst/>
                          <a:latin typeface="Times New Roman" panose="02020603050405020304" pitchFamily="18" charset="0"/>
                        </a:rPr>
                        <a:t>Preferred shares outstanding, $1.20; 2,000 shares.</a:t>
                      </a:r>
                    </a:p>
                  </a:txBody>
                  <a:tcPr marL="189839" marR="189839" marT="94911" marB="28473"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7703">
                <a:tc gridSpan="4">
                  <a:txBody>
                    <a:bodyPr/>
                    <a:lstStyle/>
                    <a:p>
                      <a:pPr fontAlgn="base"/>
                      <a:r>
                        <a:rPr lang="en-CA" sz="1800" b="0">
                          <a:solidFill>
                            <a:srgbClr val="333333"/>
                          </a:solidFill>
                          <a:effectLst/>
                          <a:latin typeface="Times New Roman" panose="02020603050405020304" pitchFamily="18" charset="0"/>
                        </a:rPr>
                        <a:t>Common shares outstanding; 5,000 shares.</a:t>
                      </a:r>
                    </a:p>
                  </a:txBody>
                  <a:tcPr marL="189839" marR="189839" marT="94911" marB="28473"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7703">
                <a:tc gridSpan="4">
                  <a:txBody>
                    <a:bodyPr/>
                    <a:lstStyle/>
                    <a:p>
                      <a:pPr fontAlgn="base"/>
                      <a:r>
                        <a:rPr lang="en-CA" sz="1800" b="0">
                          <a:solidFill>
                            <a:srgbClr val="333333"/>
                          </a:solidFill>
                          <a:effectLst/>
                          <a:latin typeface="Times New Roman" panose="02020603050405020304" pitchFamily="18" charset="0"/>
                        </a:rPr>
                        <a:t>Dividends are in arrears for the two preceding years.</a:t>
                      </a:r>
                    </a:p>
                  </a:txBody>
                  <a:tcPr marL="189839" marR="189839" marT="94911" marB="28473"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747245">
                <a:tc gridSpan="4">
                  <a:txBody>
                    <a:bodyPr/>
                    <a:lstStyle/>
                    <a:p>
                      <a:pPr fontAlgn="base"/>
                      <a:r>
                        <a:rPr lang="en-CA" sz="1800" b="0" dirty="0">
                          <a:solidFill>
                            <a:srgbClr val="333333"/>
                          </a:solidFill>
                          <a:effectLst/>
                          <a:latin typeface="Times New Roman" panose="02020603050405020304" pitchFamily="18" charset="0"/>
                        </a:rPr>
                        <a:t>Allocation of dividends between preferred and common shares, assuming cumulative preference:</a:t>
                      </a:r>
                    </a:p>
                  </a:txBody>
                  <a:tcPr marL="189839" marR="189839" marT="94911" marB="28473" anchor="ctr">
                    <a:lnL>
                      <a:noFill/>
                    </a:lnL>
                    <a:lnR>
                      <a:noFill/>
                    </a:lnR>
                    <a:lnT>
                      <a:noFill/>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946342">
                <a:tc>
                  <a:txBody>
                    <a:bodyPr/>
                    <a:lstStyle/>
                    <a:p>
                      <a:pPr algn="l" fontAlgn="base"/>
                      <a:r>
                        <a:rPr lang="en-CA" sz="1800" b="1">
                          <a:solidFill>
                            <a:srgbClr val="333333"/>
                          </a:solidFill>
                          <a:effectLst/>
                          <a:latin typeface="inherit"/>
                        </a:rPr>
                        <a:t>Assumptions</a:t>
                      </a:r>
                      <a:br>
                        <a:rPr lang="en-CA" sz="1800" b="1">
                          <a:solidFill>
                            <a:srgbClr val="333333"/>
                          </a:solidFill>
                          <a:effectLst/>
                          <a:latin typeface="inherit"/>
                        </a:rPr>
                      </a:br>
                      <a:r>
                        <a:rPr lang="en-CA" sz="1800" b="1">
                          <a:solidFill>
                            <a:srgbClr val="333333"/>
                          </a:solidFill>
                          <a:effectLst/>
                          <a:latin typeface="inherit"/>
                        </a:rPr>
                        <a:t>(dividends in</a:t>
                      </a:r>
                      <a:br>
                        <a:rPr lang="en-CA" sz="1800" b="1">
                          <a:solidFill>
                            <a:srgbClr val="333333"/>
                          </a:solidFill>
                          <a:effectLst/>
                          <a:latin typeface="inherit"/>
                        </a:rPr>
                      </a:br>
                      <a:r>
                        <a:rPr lang="en-CA" sz="1800" b="1">
                          <a:solidFill>
                            <a:srgbClr val="333333"/>
                          </a:solidFill>
                          <a:effectLst/>
                          <a:latin typeface="inherit"/>
                        </a:rPr>
                        <a:t>arrears, 2 years)</a:t>
                      </a:r>
                      <a:endParaRPr lang="en-CA" sz="1800" b="0">
                        <a:solidFill>
                          <a:srgbClr val="333333"/>
                        </a:solidFill>
                        <a:effectLst/>
                        <a:latin typeface="Times New Roman" panose="02020603050405020304" pitchFamily="18" charset="0"/>
                      </a:endParaRPr>
                    </a:p>
                  </a:txBody>
                  <a:tcPr marL="189839" marR="94919" marT="94911" marB="28473"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sz="1800" b="1">
                          <a:solidFill>
                            <a:srgbClr val="333333"/>
                          </a:solidFill>
                          <a:effectLst/>
                          <a:latin typeface="inherit"/>
                        </a:rPr>
                        <a:t>Total Dividends</a:t>
                      </a:r>
                      <a:br>
                        <a:rPr lang="en-CA" sz="1800" b="1">
                          <a:solidFill>
                            <a:srgbClr val="333333"/>
                          </a:solidFill>
                          <a:effectLst/>
                          <a:latin typeface="inherit"/>
                        </a:rPr>
                      </a:br>
                      <a:r>
                        <a:rPr lang="en-CA" sz="1800" b="1">
                          <a:solidFill>
                            <a:srgbClr val="333333"/>
                          </a:solidFill>
                          <a:effectLst/>
                          <a:latin typeface="inherit"/>
                        </a:rPr>
                        <a:t>Paid</a:t>
                      </a:r>
                      <a:endParaRPr lang="en-CA" sz="1800" b="0">
                        <a:solidFill>
                          <a:srgbClr val="333333"/>
                        </a:solidFill>
                        <a:effectLst/>
                        <a:latin typeface="Times New Roman" panose="02020603050405020304" pitchFamily="18" charset="0"/>
                      </a:endParaRPr>
                    </a:p>
                  </a:txBody>
                  <a:tcPr marL="94919" marR="94919" marT="94911" marB="28473"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sz="1800" b="1" dirty="0">
                          <a:solidFill>
                            <a:srgbClr val="333333"/>
                          </a:solidFill>
                          <a:effectLst/>
                          <a:latin typeface="inherit"/>
                        </a:rPr>
                        <a:t>$1.20 Preferred Shares</a:t>
                      </a:r>
                      <a:br>
                        <a:rPr lang="en-CA" sz="1800" b="1" dirty="0">
                          <a:solidFill>
                            <a:srgbClr val="333333"/>
                          </a:solidFill>
                          <a:effectLst/>
                          <a:latin typeface="inherit"/>
                        </a:rPr>
                      </a:br>
                      <a:r>
                        <a:rPr lang="en-CA" sz="1800" b="1" dirty="0">
                          <a:solidFill>
                            <a:srgbClr val="333333"/>
                          </a:solidFill>
                          <a:effectLst/>
                          <a:latin typeface="inherit"/>
                        </a:rPr>
                        <a:t>(2,000 shares)</a:t>
                      </a:r>
                      <a:endParaRPr lang="en-CA" sz="1800" b="0" dirty="0">
                        <a:solidFill>
                          <a:srgbClr val="333333"/>
                        </a:solidFill>
                        <a:effectLst/>
                        <a:latin typeface="Times New Roman" panose="02020603050405020304" pitchFamily="18" charset="0"/>
                      </a:endParaRPr>
                    </a:p>
                  </a:txBody>
                  <a:tcPr marL="94919" marR="94919" marT="94911" marB="28473"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sz="1800" b="1">
                          <a:solidFill>
                            <a:srgbClr val="333333"/>
                          </a:solidFill>
                          <a:effectLst/>
                          <a:latin typeface="inherit"/>
                        </a:rPr>
                        <a:t>Common Shares</a:t>
                      </a:r>
                      <a:br>
                        <a:rPr lang="en-CA" sz="1800" b="1">
                          <a:solidFill>
                            <a:srgbClr val="333333"/>
                          </a:solidFill>
                          <a:effectLst/>
                          <a:latin typeface="inherit"/>
                        </a:rPr>
                      </a:br>
                      <a:r>
                        <a:rPr lang="en-CA" sz="1800" b="1">
                          <a:solidFill>
                            <a:srgbClr val="333333"/>
                          </a:solidFill>
                          <a:effectLst/>
                          <a:latin typeface="inherit"/>
                        </a:rPr>
                        <a:t>(5,000 shares)</a:t>
                      </a:r>
                      <a:endParaRPr lang="en-CA" sz="1800" b="0">
                        <a:solidFill>
                          <a:srgbClr val="333333"/>
                        </a:solidFill>
                        <a:effectLst/>
                        <a:latin typeface="Times New Roman" panose="02020603050405020304" pitchFamily="18" charset="0"/>
                      </a:endParaRPr>
                    </a:p>
                  </a:txBody>
                  <a:tcPr marL="94919" marR="189839" marT="94911" marB="28473"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extLst>
                  <a:ext uri="{0D108BD9-81ED-4DB2-BD59-A6C34878D82A}">
                    <a16:rowId xmlns:a16="http://schemas.microsoft.com/office/drawing/2014/main" val="10004"/>
                  </a:ext>
                </a:extLst>
              </a:tr>
              <a:tr h="397703">
                <a:tc>
                  <a:txBody>
                    <a:bodyPr/>
                    <a:lstStyle/>
                    <a:p>
                      <a:pPr fontAlgn="base"/>
                      <a:r>
                        <a:rPr lang="en-CA" sz="1800" b="0">
                          <a:solidFill>
                            <a:srgbClr val="333333"/>
                          </a:solidFill>
                          <a:effectLst/>
                          <a:latin typeface="Times New Roman" panose="02020603050405020304" pitchFamily="18" charset="0"/>
                        </a:rPr>
                        <a:t>No. 1</a:t>
                      </a:r>
                    </a:p>
                  </a:txBody>
                  <a:tcPr marL="189839" marR="94919" marT="94911" marB="28473"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2,400 </a:t>
                      </a:r>
                    </a:p>
                  </a:txBody>
                  <a:tcPr marL="94919" marR="94919" marT="94911" marB="28473"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$ 2,400 </a:t>
                      </a:r>
                    </a:p>
                  </a:txBody>
                  <a:tcPr marL="94919" marR="94919" marT="94911" marB="28473"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0</a:t>
                      </a:r>
                    </a:p>
                  </a:txBody>
                  <a:tcPr marL="94919" marR="189839" marT="94911" marB="28473"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5"/>
                  </a:ext>
                </a:extLst>
              </a:tr>
              <a:tr h="397703">
                <a:tc>
                  <a:txBody>
                    <a:bodyPr/>
                    <a:lstStyle/>
                    <a:p>
                      <a:pPr fontAlgn="base"/>
                      <a:r>
                        <a:rPr lang="en-CA" sz="1800" b="0">
                          <a:solidFill>
                            <a:srgbClr val="333333"/>
                          </a:solidFill>
                          <a:effectLst/>
                          <a:latin typeface="Times New Roman" panose="02020603050405020304" pitchFamily="18" charset="0"/>
                        </a:rPr>
                        <a:t>No. 2</a:t>
                      </a:r>
                    </a:p>
                  </a:txBody>
                  <a:tcPr marL="189839" marR="94919" marT="94911" marB="28473" anchor="ctr">
                    <a:lnL>
                      <a:noFill/>
                    </a:lnL>
                    <a:lnR>
                      <a:noFill/>
                    </a:lnR>
                    <a:lnT>
                      <a:noFill/>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7,200</a:t>
                      </a:r>
                    </a:p>
                  </a:txBody>
                  <a:tcPr marL="94919" marR="94919" marT="94911" marB="28473" anchor="ctr">
                    <a:lnL>
                      <a:noFill/>
                    </a:lnL>
                    <a:lnR>
                      <a:noFill/>
                    </a:lnR>
                    <a:lnT>
                      <a:noFill/>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7,200</a:t>
                      </a:r>
                    </a:p>
                  </a:txBody>
                  <a:tcPr marL="94919" marR="94919" marT="94911" marB="28473" anchor="ctr">
                    <a:lnL>
                      <a:noFill/>
                    </a:lnL>
                    <a:lnR>
                      <a:noFill/>
                    </a:lnR>
                    <a:lnT>
                      <a:noFill/>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0</a:t>
                      </a:r>
                    </a:p>
                  </a:txBody>
                  <a:tcPr marL="94919" marR="189839" marT="94911" marB="28473" anchor="ctr">
                    <a:lnL>
                      <a:noFill/>
                    </a:lnL>
                    <a:lnR>
                      <a:noFill/>
                    </a:lnR>
                    <a:lnT>
                      <a:noFill/>
                    </a:lnT>
                    <a:lnB>
                      <a:noFill/>
                    </a:lnB>
                    <a:solidFill>
                      <a:srgbClr val="E4F2E7"/>
                    </a:solidFill>
                  </a:tcPr>
                </a:tc>
                <a:extLst>
                  <a:ext uri="{0D108BD9-81ED-4DB2-BD59-A6C34878D82A}">
                    <a16:rowId xmlns:a16="http://schemas.microsoft.com/office/drawing/2014/main" val="10006"/>
                  </a:ext>
                </a:extLst>
              </a:tr>
              <a:tr h="397703">
                <a:tc>
                  <a:txBody>
                    <a:bodyPr/>
                    <a:lstStyle/>
                    <a:p>
                      <a:pPr fontAlgn="base"/>
                      <a:r>
                        <a:rPr lang="en-CA" sz="1800" b="0">
                          <a:solidFill>
                            <a:srgbClr val="333333"/>
                          </a:solidFill>
                          <a:effectLst/>
                          <a:latin typeface="Times New Roman" panose="02020603050405020304" pitchFamily="18" charset="0"/>
                        </a:rPr>
                        <a:t>No. 3</a:t>
                      </a:r>
                    </a:p>
                  </a:txBody>
                  <a:tcPr marL="189839" marR="94919" marT="94911" marB="28473" anchor="ctr">
                    <a:lnL>
                      <a:noFill/>
                    </a:lnL>
                    <a:lnR>
                      <a:noFill/>
                    </a:lnR>
                    <a:lnT>
                      <a:noFill/>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8,000</a:t>
                      </a:r>
                    </a:p>
                  </a:txBody>
                  <a:tcPr marL="94919" marR="94919" marT="94911" marB="28473" anchor="ctr">
                    <a:lnL>
                      <a:noFill/>
                    </a:lnL>
                    <a:lnR>
                      <a:noFill/>
                    </a:lnR>
                    <a:lnT>
                      <a:noFill/>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7,200</a:t>
                      </a:r>
                    </a:p>
                  </a:txBody>
                  <a:tcPr marL="94919" marR="94919" marT="94911" marB="28473" anchor="ctr">
                    <a:lnL>
                      <a:noFill/>
                    </a:lnL>
                    <a:lnR>
                      <a:noFill/>
                    </a:lnR>
                    <a:lnT>
                      <a:noFill/>
                    </a:lnT>
                    <a:lnB>
                      <a:noFill/>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800  </a:t>
                      </a:r>
                    </a:p>
                  </a:txBody>
                  <a:tcPr marL="94919" marR="189839" marT="94911" marB="28473" anchor="ctr">
                    <a:lnL>
                      <a:noFill/>
                    </a:lnL>
                    <a:lnR>
                      <a:noFill/>
                    </a:lnR>
                    <a:lnT>
                      <a:noFill/>
                    </a:lnT>
                    <a:lnB>
                      <a:noFill/>
                    </a:lnB>
                    <a:solidFill>
                      <a:srgbClr val="E4F2E7"/>
                    </a:solidFill>
                  </a:tcPr>
                </a:tc>
                <a:extLst>
                  <a:ext uri="{0D108BD9-81ED-4DB2-BD59-A6C34878D82A}">
                    <a16:rowId xmlns:a16="http://schemas.microsoft.com/office/drawing/2014/main" val="10007"/>
                  </a:ext>
                </a:extLst>
              </a:tr>
              <a:tr h="397703">
                <a:tc>
                  <a:txBody>
                    <a:bodyPr/>
                    <a:lstStyle/>
                    <a:p>
                      <a:pPr fontAlgn="base"/>
                      <a:r>
                        <a:rPr lang="en-CA" sz="1800" b="0">
                          <a:solidFill>
                            <a:srgbClr val="333333"/>
                          </a:solidFill>
                          <a:effectLst/>
                          <a:latin typeface="Times New Roman" panose="02020603050405020304" pitchFamily="18" charset="0"/>
                        </a:rPr>
                        <a:t>No. 4</a:t>
                      </a:r>
                    </a:p>
                  </a:txBody>
                  <a:tcPr marL="189839" marR="94919" marT="94911" marB="28473"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30,000</a:t>
                      </a:r>
                    </a:p>
                  </a:txBody>
                  <a:tcPr marL="94919" marR="94919" marT="94911" marB="28473"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  7,200</a:t>
                      </a:r>
                    </a:p>
                  </a:txBody>
                  <a:tcPr marL="94919" marR="94919" marT="94911" marB="28473"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a:txBody>
                    <a:bodyPr/>
                    <a:lstStyle/>
                    <a:p>
                      <a:pPr algn="ctr" fontAlgn="base"/>
                      <a:r>
                        <a:rPr lang="en-CA" sz="1800" b="0">
                          <a:solidFill>
                            <a:srgbClr val="333333"/>
                          </a:solidFill>
                          <a:effectLst/>
                          <a:latin typeface="Times New Roman" panose="02020603050405020304" pitchFamily="18" charset="0"/>
                        </a:rPr>
                        <a:t>22,800</a:t>
                      </a:r>
                    </a:p>
                  </a:txBody>
                  <a:tcPr marL="94919" marR="189839" marT="94911" marB="28473"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extLst>
                  <a:ext uri="{0D108BD9-81ED-4DB2-BD59-A6C34878D82A}">
                    <a16:rowId xmlns:a16="http://schemas.microsoft.com/office/drawing/2014/main" val="10008"/>
                  </a:ext>
                </a:extLst>
              </a:tr>
              <a:tr h="397703">
                <a:tc gridSpan="4">
                  <a:txBody>
                    <a:bodyPr/>
                    <a:lstStyle/>
                    <a:p>
                      <a:pPr fontAlgn="base"/>
                      <a:endParaRPr lang="en-CA" sz="1800" dirty="0">
                        <a:solidFill>
                          <a:srgbClr val="333333"/>
                        </a:solidFill>
                        <a:effectLst/>
                      </a:endParaRPr>
                    </a:p>
                  </a:txBody>
                  <a:tcPr marL="189839" marR="189839" marT="94911" marB="28473"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21535" name="Rectangle 1">
            <a:extLst>
              <a:ext uri="{FF2B5EF4-FFF2-40B4-BE49-F238E27FC236}">
                <a16:creationId xmlns:a16="http://schemas.microsoft.com/office/drawing/2014/main" id="{EFEF9FE9-8128-4916-BDDA-A1A09001331B}"/>
              </a:ext>
            </a:extLst>
          </p:cNvPr>
          <p:cNvSpPr>
            <a:spLocks noChangeArrowheads="1"/>
          </p:cNvSpPr>
          <p:nvPr/>
        </p:nvSpPr>
        <p:spPr bwMode="auto">
          <a:xfrm>
            <a:off x="471488" y="113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br>
              <a:rPr lang="en-US" altLang="en-US"/>
            </a:br>
            <a:endParaRPr lang="en-US" alt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70570041-3CE5-4306-82F2-1B401D750DC7}"/>
              </a:ext>
            </a:extLst>
          </p:cNvPr>
          <p:cNvSpPr>
            <a:spLocks noGrp="1"/>
          </p:cNvSpPr>
          <p:nvPr>
            <p:ph type="title"/>
          </p:nvPr>
        </p:nvSpPr>
        <p:spPr>
          <a:xfrm>
            <a:off x="457200" y="198437"/>
            <a:ext cx="8229600" cy="792163"/>
          </a:xfrm>
        </p:spPr>
        <p:txBody>
          <a:bodyPr/>
          <a:lstStyle/>
          <a:p>
            <a:r>
              <a:rPr lang="en-CA" altLang="en-US" dirty="0"/>
              <a:t>Measuring and Reporting Changes in Shareholders’ Equity</a:t>
            </a:r>
            <a:endParaRPr lang="en-US" altLang="en-US" dirty="0"/>
          </a:p>
        </p:txBody>
      </p:sp>
      <p:sp>
        <p:nvSpPr>
          <p:cNvPr id="3" name="Content Placeholder 2">
            <a:extLst>
              <a:ext uri="{FF2B5EF4-FFF2-40B4-BE49-F238E27FC236}">
                <a16:creationId xmlns:a16="http://schemas.microsoft.com/office/drawing/2014/main" id="{6492A024-59D0-4F2A-AF58-3C20F4E3ED44}"/>
              </a:ext>
            </a:extLst>
          </p:cNvPr>
          <p:cNvSpPr>
            <a:spLocks noGrp="1"/>
          </p:cNvSpPr>
          <p:nvPr>
            <p:ph idx="1"/>
          </p:nvPr>
        </p:nvSpPr>
        <p:spPr>
          <a:xfrm>
            <a:off x="457200" y="1371600"/>
            <a:ext cx="8229600" cy="5105400"/>
          </a:xfrm>
        </p:spPr>
        <p:txBody>
          <a:bodyPr/>
          <a:lstStyle/>
          <a:p>
            <a:pPr eaLnBrk="1" hangingPunct="1">
              <a:buFont typeface="Wingdings 3" pitchFamily="2" charset="2"/>
              <a:buChar char=""/>
              <a:defRPr/>
            </a:pPr>
            <a:r>
              <a:rPr lang="en-CA" altLang="en-US" dirty="0"/>
              <a:t>Two additional components of shareholders’ equity are:</a:t>
            </a:r>
          </a:p>
          <a:p>
            <a:pPr eaLnBrk="1" hangingPunct="1">
              <a:lnSpc>
                <a:spcPct val="80000"/>
              </a:lnSpc>
              <a:buFont typeface="Wingdings 3" pitchFamily="2" charset="2"/>
              <a:buChar char=""/>
              <a:defRPr/>
            </a:pPr>
            <a:endParaRPr lang="en-CA" altLang="en-US" dirty="0"/>
          </a:p>
          <a:p>
            <a:pPr marL="514350" indent="-514350" eaLnBrk="1" hangingPunct="1">
              <a:lnSpc>
                <a:spcPct val="80000"/>
              </a:lnSpc>
              <a:buFont typeface="+mj-lt"/>
              <a:buAutoNum type="arabicPeriod"/>
              <a:defRPr/>
            </a:pPr>
            <a:r>
              <a:rPr lang="en-CA" altLang="en-US" dirty="0"/>
              <a:t>Retained Earnings</a:t>
            </a:r>
          </a:p>
          <a:p>
            <a:pPr marL="514350" indent="-514350" eaLnBrk="1" hangingPunct="1">
              <a:buFont typeface="+mj-lt"/>
              <a:buAutoNum type="arabicPeriod"/>
              <a:defRPr/>
            </a:pPr>
            <a:r>
              <a:rPr lang="en-CA" altLang="en-US" dirty="0"/>
              <a:t>Accumulated Other Comprehensive Income (Loss) (AOCI)</a:t>
            </a:r>
          </a:p>
          <a:p>
            <a:pPr>
              <a:buFont typeface="Wingdings 3" pitchFamily="2" charset="2"/>
              <a:buChar char=""/>
              <a:defRPr/>
            </a:pPr>
            <a:endParaRPr 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BAA3094B-C3B4-41CA-8D74-6096AEBB21C7}"/>
              </a:ext>
            </a:extLst>
          </p:cNvPr>
          <p:cNvSpPr>
            <a:spLocks noGrp="1"/>
          </p:cNvSpPr>
          <p:nvPr>
            <p:ph type="title"/>
          </p:nvPr>
        </p:nvSpPr>
        <p:spPr/>
        <p:txBody>
          <a:bodyPr/>
          <a:lstStyle/>
          <a:p>
            <a:r>
              <a:rPr lang="en-CA" altLang="en-US"/>
              <a:t>Retained Earnings</a:t>
            </a:r>
            <a:endParaRPr lang="en-US" altLang="en-US"/>
          </a:p>
        </p:txBody>
      </p:sp>
      <p:sp>
        <p:nvSpPr>
          <p:cNvPr id="46082" name="Content Placeholder 2">
            <a:extLst>
              <a:ext uri="{FF2B5EF4-FFF2-40B4-BE49-F238E27FC236}">
                <a16:creationId xmlns:a16="http://schemas.microsoft.com/office/drawing/2014/main" id="{F8C560D3-9D5D-49E4-AAE3-C4331803A510}"/>
              </a:ext>
            </a:extLst>
          </p:cNvPr>
          <p:cNvSpPr>
            <a:spLocks noGrp="1"/>
          </p:cNvSpPr>
          <p:nvPr>
            <p:ph idx="1"/>
          </p:nvPr>
        </p:nvSpPr>
        <p:spPr>
          <a:xfrm>
            <a:off x="457200" y="1219200"/>
            <a:ext cx="8229600" cy="5334000"/>
          </a:xfrm>
        </p:spPr>
        <p:txBody>
          <a:bodyPr/>
          <a:lstStyle/>
          <a:p>
            <a:r>
              <a:rPr lang="en-CA" altLang="en-US" dirty="0"/>
              <a:t>Retained earnings represent net earnings that has been earned less dividends that have been declared since the first day of the company’s operations.</a:t>
            </a:r>
          </a:p>
          <a:p>
            <a:endParaRPr lang="en-CA" altLang="en-US" sz="1200" dirty="0"/>
          </a:p>
          <a:p>
            <a:r>
              <a:rPr lang="en-CA" altLang="en-US" dirty="0"/>
              <a:t>Under rare circumstances, an adjustment to the beginning balance of retained earnings may result from either (1) a correction of a material accounting error that occurred in a prior period, or (2) a change in accounting policy.</a:t>
            </a:r>
          </a:p>
          <a:p>
            <a:endParaRPr lang="en-CA" altLang="en-US" sz="2800" dirty="0"/>
          </a:p>
          <a:p>
            <a:endParaRPr lang="en-US"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C1BFA3CE-EBA6-496B-8802-C31DEB7F83ED}"/>
              </a:ext>
            </a:extLst>
          </p:cNvPr>
          <p:cNvSpPr>
            <a:spLocks noGrp="1"/>
          </p:cNvSpPr>
          <p:nvPr>
            <p:ph type="title"/>
          </p:nvPr>
        </p:nvSpPr>
        <p:spPr>
          <a:xfrm>
            <a:off x="457200" y="198437"/>
            <a:ext cx="8458200" cy="792163"/>
          </a:xfrm>
        </p:spPr>
        <p:txBody>
          <a:bodyPr/>
          <a:lstStyle/>
          <a:p>
            <a:r>
              <a:rPr lang="en-CA" altLang="en-US" dirty="0"/>
              <a:t>Accumulated Other Comprehensive Income (Loss) Part 1</a:t>
            </a:r>
            <a:endParaRPr lang="en-US" altLang="en-US" dirty="0"/>
          </a:p>
        </p:txBody>
      </p:sp>
      <p:sp>
        <p:nvSpPr>
          <p:cNvPr id="47106" name="Content Placeholder 2">
            <a:extLst>
              <a:ext uri="{FF2B5EF4-FFF2-40B4-BE49-F238E27FC236}">
                <a16:creationId xmlns:a16="http://schemas.microsoft.com/office/drawing/2014/main" id="{7A80B4D5-7DBD-48BA-917B-7494A4DAAC16}"/>
              </a:ext>
            </a:extLst>
          </p:cNvPr>
          <p:cNvSpPr>
            <a:spLocks noGrp="1"/>
          </p:cNvSpPr>
          <p:nvPr>
            <p:ph idx="1"/>
          </p:nvPr>
        </p:nvSpPr>
        <p:spPr/>
        <p:txBody>
          <a:bodyPr/>
          <a:lstStyle/>
          <a:p>
            <a:r>
              <a:rPr lang="en-CA" dirty="0"/>
              <a:t>IFRS require Canadian publicly accountable enterprises to report accumulated other comprehensive income (loss).</a:t>
            </a:r>
          </a:p>
          <a:p>
            <a:endParaRPr lang="en-CA" sz="800" dirty="0"/>
          </a:p>
          <a:p>
            <a:r>
              <a:rPr lang="en-CA" dirty="0"/>
              <a:t>This equity item reflects the financial effect of events that cause changes in shareholders’ equity, other than investments by shareholders or distributions to shareholders. </a:t>
            </a:r>
          </a:p>
          <a:p>
            <a:endParaRPr lang="en-CA" sz="800" dirty="0"/>
          </a:p>
          <a:p>
            <a:r>
              <a:rPr lang="en-CA" dirty="0"/>
              <a:t>Such changes in equity result from unrealized gains or losses related to the valuation of specific assets and liabilities at fair value. </a:t>
            </a:r>
          </a:p>
          <a:p>
            <a:endParaRPr lang="en-CA" altLang="en-US" dirty="0"/>
          </a:p>
          <a:p>
            <a:endParaRPr lang="en-CA" altLang="en-US" dirty="0"/>
          </a:p>
          <a:p>
            <a:endParaRPr lang="en-US"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C1BFA3CE-EBA6-496B-8802-C31DEB7F83ED}"/>
              </a:ext>
            </a:extLst>
          </p:cNvPr>
          <p:cNvSpPr>
            <a:spLocks noGrp="1"/>
          </p:cNvSpPr>
          <p:nvPr>
            <p:ph type="title"/>
          </p:nvPr>
        </p:nvSpPr>
        <p:spPr>
          <a:xfrm>
            <a:off x="457200" y="198437"/>
            <a:ext cx="8458200" cy="792163"/>
          </a:xfrm>
        </p:spPr>
        <p:txBody>
          <a:bodyPr/>
          <a:lstStyle/>
          <a:p>
            <a:r>
              <a:rPr lang="en-CA" altLang="en-US" dirty="0"/>
              <a:t>Accumulated Other Comprehensive Income (Loss) Part 2</a:t>
            </a:r>
            <a:endParaRPr lang="en-US" altLang="en-US" dirty="0"/>
          </a:p>
        </p:txBody>
      </p:sp>
      <p:sp>
        <p:nvSpPr>
          <p:cNvPr id="47106" name="Content Placeholder 2">
            <a:extLst>
              <a:ext uri="{FF2B5EF4-FFF2-40B4-BE49-F238E27FC236}">
                <a16:creationId xmlns:a16="http://schemas.microsoft.com/office/drawing/2014/main" id="{7A80B4D5-7DBD-48BA-917B-7494A4DAAC16}"/>
              </a:ext>
            </a:extLst>
          </p:cNvPr>
          <p:cNvSpPr>
            <a:spLocks noGrp="1"/>
          </p:cNvSpPr>
          <p:nvPr>
            <p:ph idx="1"/>
          </p:nvPr>
        </p:nvSpPr>
        <p:spPr/>
        <p:txBody>
          <a:bodyPr/>
          <a:lstStyle/>
          <a:p>
            <a:r>
              <a:rPr lang="en-CA" dirty="0"/>
              <a:t>The unrealized gains and losses resulting from these changes are not reported on the statement of earnings because they have not been realized yet. </a:t>
            </a:r>
          </a:p>
          <a:p>
            <a:endParaRPr lang="en-CA" sz="800" dirty="0"/>
          </a:p>
          <a:p>
            <a:r>
              <a:rPr lang="en-CA" dirty="0"/>
              <a:t>Measurement of the unrealized gains and losses related to these and similar items is fairly complex and is covered in intermediate and advanced accounting courses.</a:t>
            </a:r>
          </a:p>
          <a:p>
            <a:endParaRPr lang="en-CA" altLang="en-US" dirty="0"/>
          </a:p>
          <a:p>
            <a:endParaRPr lang="en-CA" altLang="en-US" dirty="0"/>
          </a:p>
          <a:p>
            <a:endParaRPr lang="en-US" altLang="en-US" dirty="0"/>
          </a:p>
        </p:txBody>
      </p:sp>
    </p:spTree>
    <p:extLst>
      <p:ext uri="{BB962C8B-B14F-4D97-AF65-F5344CB8AC3E}">
        <p14:creationId xmlns:p14="http://schemas.microsoft.com/office/powerpoint/2010/main" val="164650008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C1BFA3CE-EBA6-496B-8802-C31DEB7F83ED}"/>
              </a:ext>
            </a:extLst>
          </p:cNvPr>
          <p:cNvSpPr>
            <a:spLocks noGrp="1"/>
          </p:cNvSpPr>
          <p:nvPr>
            <p:ph type="title"/>
          </p:nvPr>
        </p:nvSpPr>
        <p:spPr>
          <a:xfrm>
            <a:off x="457200" y="198437"/>
            <a:ext cx="8458200" cy="792163"/>
          </a:xfrm>
        </p:spPr>
        <p:txBody>
          <a:bodyPr/>
          <a:lstStyle/>
          <a:p>
            <a:r>
              <a:rPr lang="en-CA" altLang="en-US" dirty="0"/>
              <a:t>Accounting and Reporting for Unincorporated Businesses Part 1</a:t>
            </a:r>
            <a:endParaRPr lang="en-US" altLang="en-US" dirty="0"/>
          </a:p>
        </p:txBody>
      </p:sp>
      <p:sp>
        <p:nvSpPr>
          <p:cNvPr id="47106" name="Content Placeholder 2">
            <a:extLst>
              <a:ext uri="{FF2B5EF4-FFF2-40B4-BE49-F238E27FC236}">
                <a16:creationId xmlns:a16="http://schemas.microsoft.com/office/drawing/2014/main" id="{7A80B4D5-7DBD-48BA-917B-7494A4DAAC16}"/>
              </a:ext>
            </a:extLst>
          </p:cNvPr>
          <p:cNvSpPr>
            <a:spLocks noGrp="1"/>
          </p:cNvSpPr>
          <p:nvPr>
            <p:ph idx="1"/>
          </p:nvPr>
        </p:nvSpPr>
        <p:spPr>
          <a:xfrm>
            <a:off x="457200" y="1066800"/>
            <a:ext cx="8229600" cy="5334000"/>
          </a:xfrm>
        </p:spPr>
        <p:txBody>
          <a:bodyPr/>
          <a:lstStyle/>
          <a:p>
            <a:r>
              <a:rPr lang="en-CA" dirty="0"/>
              <a:t>There are three forms of business organizations: corporations, sole proprietorships, and partnerships. </a:t>
            </a:r>
          </a:p>
          <a:p>
            <a:r>
              <a:rPr lang="en-CA" dirty="0"/>
              <a:t>A corporation is a legal entity, separate and distinct from its owners. It can enter into contracts in its own name, it can be sued, and it is taxed as a separate entity. </a:t>
            </a:r>
          </a:p>
          <a:p>
            <a:r>
              <a:rPr lang="en-CA" dirty="0"/>
              <a:t>A </a:t>
            </a:r>
            <a:r>
              <a:rPr lang="en-CA" i="1" dirty="0"/>
              <a:t>sole proprietorship</a:t>
            </a:r>
            <a:r>
              <a:rPr lang="en-CA" dirty="0"/>
              <a:t> is an unincorporated business owned by one individual. It is not necessary to file any legal papers to create a proprietorship. </a:t>
            </a:r>
          </a:p>
          <a:p>
            <a:r>
              <a:rPr lang="en-CA" dirty="0"/>
              <a:t>A </a:t>
            </a:r>
            <a:r>
              <a:rPr lang="en-CA" i="1" dirty="0"/>
              <a:t>partnership</a:t>
            </a:r>
            <a:r>
              <a:rPr lang="en-CA" dirty="0"/>
              <a:t> is an unincorporated business owned by two or more people. Again, it is not necessary to file legal papers to create a partnership, but it is certainly a good idea to have a lawyer draw up a contract among all the partners.</a:t>
            </a:r>
            <a:endParaRPr lang="en-CA" altLang="en-US" dirty="0"/>
          </a:p>
          <a:p>
            <a:endParaRPr lang="en-CA" altLang="en-US" dirty="0"/>
          </a:p>
          <a:p>
            <a:endParaRPr lang="en-US" altLang="en-US" dirty="0"/>
          </a:p>
        </p:txBody>
      </p:sp>
    </p:spTree>
    <p:extLst>
      <p:ext uri="{BB962C8B-B14F-4D97-AF65-F5344CB8AC3E}">
        <p14:creationId xmlns:p14="http://schemas.microsoft.com/office/powerpoint/2010/main" val="367858985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C1BFA3CE-EBA6-496B-8802-C31DEB7F83ED}"/>
              </a:ext>
            </a:extLst>
          </p:cNvPr>
          <p:cNvSpPr>
            <a:spLocks noGrp="1"/>
          </p:cNvSpPr>
          <p:nvPr>
            <p:ph type="title"/>
          </p:nvPr>
        </p:nvSpPr>
        <p:spPr>
          <a:xfrm>
            <a:off x="457200" y="198437"/>
            <a:ext cx="8458200" cy="792163"/>
          </a:xfrm>
        </p:spPr>
        <p:txBody>
          <a:bodyPr/>
          <a:lstStyle/>
          <a:p>
            <a:r>
              <a:rPr lang="en-CA" altLang="en-US" dirty="0"/>
              <a:t>Accounting and Reporting for Unincorporated Businesses Part 2</a:t>
            </a:r>
            <a:endParaRPr lang="en-US" altLang="en-US" dirty="0"/>
          </a:p>
        </p:txBody>
      </p:sp>
      <p:sp>
        <p:nvSpPr>
          <p:cNvPr id="47106" name="Content Placeholder 2">
            <a:extLst>
              <a:ext uri="{FF2B5EF4-FFF2-40B4-BE49-F238E27FC236}">
                <a16:creationId xmlns:a16="http://schemas.microsoft.com/office/drawing/2014/main" id="{7A80B4D5-7DBD-48BA-917B-7494A4DAAC16}"/>
              </a:ext>
            </a:extLst>
          </p:cNvPr>
          <p:cNvSpPr>
            <a:spLocks noGrp="1"/>
          </p:cNvSpPr>
          <p:nvPr>
            <p:ph idx="1"/>
          </p:nvPr>
        </p:nvSpPr>
        <p:spPr/>
        <p:txBody>
          <a:bodyPr/>
          <a:lstStyle/>
          <a:p>
            <a:r>
              <a:rPr lang="en-CA" dirty="0"/>
              <a:t>Neither partnerships nor proprietorships are separate legal entities. As a result, owners may be directly sued and are individually taxed on the earnings of the business.</a:t>
            </a:r>
          </a:p>
          <a:p>
            <a:endParaRPr lang="en-CA" sz="800" dirty="0"/>
          </a:p>
          <a:p>
            <a:r>
              <a:rPr lang="en-CA" dirty="0"/>
              <a:t>The fundamentals of accounting and reporting for unincorporated businesses are the same as for a corporation, except for shareholders’ equity. </a:t>
            </a:r>
          </a:p>
          <a:p>
            <a:endParaRPr lang="en-CA" sz="800" dirty="0"/>
          </a:p>
          <a:p>
            <a:r>
              <a:rPr lang="en-CA" dirty="0"/>
              <a:t>Typical account structures for the three forms of business organizations are outlined in the following slide.</a:t>
            </a:r>
          </a:p>
          <a:p>
            <a:endParaRPr lang="en-US" altLang="en-US" dirty="0"/>
          </a:p>
        </p:txBody>
      </p:sp>
    </p:spTree>
    <p:extLst>
      <p:ext uri="{BB962C8B-B14F-4D97-AF65-F5344CB8AC3E}">
        <p14:creationId xmlns:p14="http://schemas.microsoft.com/office/powerpoint/2010/main" val="345016887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629ABFB9-8149-41EB-AC76-B5AD7A83DECD}"/>
              </a:ext>
            </a:extLst>
          </p:cNvPr>
          <p:cNvSpPr>
            <a:spLocks noGrp="1"/>
          </p:cNvSpPr>
          <p:nvPr>
            <p:ph type="title"/>
          </p:nvPr>
        </p:nvSpPr>
        <p:spPr>
          <a:xfrm>
            <a:off x="457200" y="198437"/>
            <a:ext cx="8229600" cy="792163"/>
          </a:xfrm>
        </p:spPr>
        <p:txBody>
          <a:bodyPr/>
          <a:lstStyle/>
          <a:p>
            <a:r>
              <a:rPr lang="en-US" altLang="en-US" dirty="0"/>
              <a:t>Comparative Account Structure among Types of Business Entities</a:t>
            </a:r>
          </a:p>
        </p:txBody>
      </p:sp>
      <p:graphicFrame>
        <p:nvGraphicFramePr>
          <p:cNvPr id="4" name="Content Placeholder 3">
            <a:extLst>
              <a:ext uri="{FF2B5EF4-FFF2-40B4-BE49-F238E27FC236}">
                <a16:creationId xmlns:a16="http://schemas.microsoft.com/office/drawing/2014/main" id="{7E668F5D-5EEA-44BE-BC0B-C62492770118}"/>
              </a:ext>
            </a:extLst>
          </p:cNvPr>
          <p:cNvGraphicFramePr>
            <a:graphicFrameLocks noGrp="1"/>
          </p:cNvGraphicFramePr>
          <p:nvPr>
            <p:ph idx="1"/>
            <p:extLst>
              <p:ext uri="{D42A27DB-BD31-4B8C-83A1-F6EECF244321}">
                <p14:modId xmlns:p14="http://schemas.microsoft.com/office/powerpoint/2010/main" val="1622442123"/>
              </p:ext>
            </p:extLst>
          </p:nvPr>
        </p:nvGraphicFramePr>
        <p:xfrm>
          <a:off x="457200" y="1752600"/>
          <a:ext cx="8229600" cy="3552290"/>
        </p:xfrm>
        <a:graphic>
          <a:graphicData uri="http://schemas.openxmlformats.org/drawingml/2006/table">
            <a:tbl>
              <a:tblPr/>
              <a:tblGrid>
                <a:gridCol w="3581400">
                  <a:extLst>
                    <a:ext uri="{9D8B030D-6E8A-4147-A177-3AD203B41FA5}">
                      <a16:colId xmlns:a16="http://schemas.microsoft.com/office/drawing/2014/main" val="20000"/>
                    </a:ext>
                  </a:extLst>
                </a:gridCol>
                <a:gridCol w="2286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286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57200">
                <a:tc>
                  <a:txBody>
                    <a:bodyPr/>
                    <a:lstStyle/>
                    <a:p>
                      <a:pPr fontAlgn="base"/>
                      <a:r>
                        <a:rPr lang="en-CA" sz="1700" b="1">
                          <a:effectLst/>
                          <a:latin typeface="inherit"/>
                        </a:rPr>
                        <a:t>Typical Account Structure</a:t>
                      </a:r>
                      <a:endParaRPr lang="en-CA" sz="1700" b="0">
                        <a:effectLst/>
                        <a:latin typeface="Times New Roman" panose="02020603050405020304" pitchFamily="18" charset="0"/>
                      </a:endParaRPr>
                    </a:p>
                  </a:txBody>
                  <a:tcPr marL="175057" marR="87529" marT="87546" marB="26264"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175057" marT="87546" marB="26264"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64353">
                <a:tc>
                  <a:txBody>
                    <a:bodyPr/>
                    <a:lstStyle/>
                    <a:p>
                      <a:pPr fontAlgn="base"/>
                      <a:r>
                        <a:rPr lang="en-CA" sz="1700" b="1" dirty="0">
                          <a:effectLst/>
                          <a:latin typeface="inherit"/>
                        </a:rPr>
                        <a:t>Corporation</a:t>
                      </a:r>
                      <a:endParaRPr lang="en-CA" sz="1700" b="0" dirty="0">
                        <a:effectLst/>
                        <a:latin typeface="Times New Roman" panose="02020603050405020304" pitchFamily="18" charset="0"/>
                      </a:endParaRPr>
                    </a:p>
                    <a:p>
                      <a:pPr fontAlgn="base"/>
                      <a:r>
                        <a:rPr lang="en-CA" sz="1700" b="1" dirty="0">
                          <a:effectLst/>
                          <a:latin typeface="inherit"/>
                        </a:rPr>
                        <a:t>(Shareholders’ Equity)</a:t>
                      </a:r>
                      <a:endParaRPr lang="en-CA" sz="1700" b="0" dirty="0">
                        <a:effectLst/>
                        <a:latin typeface="Times New Roman" panose="02020603050405020304" pitchFamily="18" charset="0"/>
                      </a:endParaRPr>
                    </a:p>
                  </a:txBody>
                  <a:tcPr marL="175057" marR="87529" marT="87546" marB="26264"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700" b="1" dirty="0">
                          <a:effectLst/>
                          <a:latin typeface="inherit"/>
                        </a:rPr>
                        <a:t>Sole Proprietorship</a:t>
                      </a:r>
                      <a:endParaRPr lang="en-CA" sz="1700" b="0" dirty="0">
                        <a:effectLst/>
                        <a:latin typeface="Times New Roman" panose="02020603050405020304" pitchFamily="18" charset="0"/>
                      </a:endParaRPr>
                    </a:p>
                    <a:p>
                      <a:pPr fontAlgn="base"/>
                      <a:r>
                        <a:rPr lang="en-CA" sz="1700" b="1" dirty="0">
                          <a:effectLst/>
                          <a:latin typeface="inherit"/>
                        </a:rPr>
                        <a:t>(Owner’s Equity)</a:t>
                      </a:r>
                      <a:endParaRPr lang="en-CA" sz="1700" b="0" dirty="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700" b="1">
                          <a:effectLst/>
                          <a:latin typeface="inherit"/>
                        </a:rPr>
                        <a:t>Partnership</a:t>
                      </a:r>
                      <a:endParaRPr lang="en-CA" sz="1700" b="0">
                        <a:effectLst/>
                        <a:latin typeface="Times New Roman" panose="02020603050405020304" pitchFamily="18" charset="0"/>
                      </a:endParaRPr>
                    </a:p>
                    <a:p>
                      <a:pPr fontAlgn="base"/>
                      <a:r>
                        <a:rPr lang="en-CA" sz="1700" b="1">
                          <a:effectLst/>
                          <a:latin typeface="inherit"/>
                        </a:rPr>
                        <a:t>(Partners’ Equity)</a:t>
                      </a:r>
                      <a:endParaRPr lang="en-CA" sz="1700" b="0">
                        <a:effectLst/>
                        <a:latin typeface="Times New Roman" panose="02020603050405020304" pitchFamily="18" charset="0"/>
                      </a:endParaRPr>
                    </a:p>
                  </a:txBody>
                  <a:tcPr marL="87529" marR="175057" marT="87546" marB="26264"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2070">
                <a:tc>
                  <a:txBody>
                    <a:bodyPr/>
                    <a:lstStyle/>
                    <a:p>
                      <a:pPr fontAlgn="base"/>
                      <a:r>
                        <a:rPr lang="en-CA" sz="1700" b="0">
                          <a:effectLst/>
                          <a:latin typeface="Times New Roman" panose="02020603050405020304" pitchFamily="18" charset="0"/>
                        </a:rPr>
                        <a:t>Share capital, contributed surplus</a:t>
                      </a:r>
                    </a:p>
                  </a:txBody>
                  <a:tcPr marL="175057" marR="87529" marT="87546" marB="26264"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700" b="0">
                          <a:effectLst/>
                          <a:latin typeface="Times New Roman" panose="02020603050405020304" pitchFamily="18" charset="0"/>
                        </a:rPr>
                        <a:t>Doe, capital</a:t>
                      </a:r>
                    </a:p>
                  </a:txBody>
                  <a:tcPr marL="87529" marR="87529" marT="87546" marB="26264"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1700" b="0">
                          <a:effectLst/>
                          <a:latin typeface="Times New Roman" panose="02020603050405020304" pitchFamily="18" charset="0"/>
                        </a:rPr>
                        <a:t>Able, capital; Baker, capital</a:t>
                      </a:r>
                    </a:p>
                  </a:txBody>
                  <a:tcPr marL="87529" marR="175057" marT="87546" marB="26264"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2"/>
                  </a:ext>
                </a:extLst>
              </a:tr>
              <a:tr h="372940">
                <a:tc>
                  <a:txBody>
                    <a:bodyPr/>
                    <a:lstStyle/>
                    <a:p>
                      <a:pPr fontAlgn="base"/>
                      <a:r>
                        <a:rPr lang="en-CA" sz="1700" b="0">
                          <a:effectLst/>
                          <a:latin typeface="Times New Roman" panose="02020603050405020304" pitchFamily="18" charset="0"/>
                        </a:rPr>
                        <a:t>Retained earnings</a:t>
                      </a:r>
                    </a:p>
                  </a:txBody>
                  <a:tcPr marL="175057" marR="87529" marT="87546" marB="26264"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a:noFill/>
                    </a:lnB>
                    <a:solidFill>
                      <a:srgbClr val="FFFFFF"/>
                    </a:solidFill>
                  </a:tcPr>
                </a:tc>
                <a:tc>
                  <a:txBody>
                    <a:bodyPr/>
                    <a:lstStyle/>
                    <a:p>
                      <a:pPr fontAlgn="base"/>
                      <a:r>
                        <a:rPr lang="en-CA" sz="1700" b="0">
                          <a:effectLst/>
                          <a:latin typeface="Times New Roman" panose="02020603050405020304" pitchFamily="18" charset="0"/>
                        </a:rPr>
                        <a:t>Not used</a:t>
                      </a:r>
                    </a:p>
                  </a:txBody>
                  <a:tcPr marL="87529" marR="87529" marT="87546" marB="26264" anchor="ctr">
                    <a:lnL>
                      <a:noFill/>
                    </a:lnL>
                    <a:lnR>
                      <a:noFill/>
                    </a:lnR>
                    <a:lnT>
                      <a:noFill/>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a:noFill/>
                    </a:lnB>
                    <a:solidFill>
                      <a:srgbClr val="FFFFFF"/>
                    </a:solidFill>
                  </a:tcPr>
                </a:tc>
                <a:tc>
                  <a:txBody>
                    <a:bodyPr/>
                    <a:lstStyle/>
                    <a:p>
                      <a:pPr fontAlgn="base"/>
                      <a:r>
                        <a:rPr lang="en-CA" sz="1700" b="0">
                          <a:effectLst/>
                          <a:latin typeface="Times New Roman" panose="02020603050405020304" pitchFamily="18" charset="0"/>
                        </a:rPr>
                        <a:t>Not used</a:t>
                      </a:r>
                    </a:p>
                  </a:txBody>
                  <a:tcPr marL="87529" marR="175057" marT="87546" marB="26264"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632070">
                <a:tc>
                  <a:txBody>
                    <a:bodyPr/>
                    <a:lstStyle/>
                    <a:p>
                      <a:pPr fontAlgn="base"/>
                      <a:r>
                        <a:rPr lang="en-CA" sz="1700" b="0">
                          <a:effectLst/>
                          <a:latin typeface="Times New Roman" panose="02020603050405020304" pitchFamily="18" charset="0"/>
                        </a:rPr>
                        <a:t>Dividends paid</a:t>
                      </a:r>
                    </a:p>
                  </a:txBody>
                  <a:tcPr marL="175057" marR="87529" marT="87546" marB="26264"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a:noFill/>
                    </a:lnB>
                    <a:solidFill>
                      <a:srgbClr val="FFFFFF"/>
                    </a:solidFill>
                  </a:tcPr>
                </a:tc>
                <a:tc>
                  <a:txBody>
                    <a:bodyPr/>
                    <a:lstStyle/>
                    <a:p>
                      <a:pPr fontAlgn="base"/>
                      <a:r>
                        <a:rPr lang="en-CA" sz="1700" b="0">
                          <a:effectLst/>
                          <a:latin typeface="Times New Roman" panose="02020603050405020304" pitchFamily="18" charset="0"/>
                        </a:rPr>
                        <a:t>Doe, drawings</a:t>
                      </a:r>
                    </a:p>
                  </a:txBody>
                  <a:tcPr marL="87529" marR="87529" marT="87546" marB="26264" anchor="ctr">
                    <a:lnL>
                      <a:noFill/>
                    </a:lnL>
                    <a:lnR>
                      <a:noFill/>
                    </a:lnR>
                    <a:lnT>
                      <a:noFill/>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a:noFill/>
                    </a:lnB>
                    <a:solidFill>
                      <a:srgbClr val="FFFFFF"/>
                    </a:solidFill>
                  </a:tcPr>
                </a:tc>
                <a:tc>
                  <a:txBody>
                    <a:bodyPr/>
                    <a:lstStyle/>
                    <a:p>
                      <a:pPr fontAlgn="base"/>
                      <a:r>
                        <a:rPr lang="en-CA" sz="1700" b="0">
                          <a:effectLst/>
                          <a:latin typeface="Times New Roman" panose="02020603050405020304" pitchFamily="18" charset="0"/>
                        </a:rPr>
                        <a:t>Able, drawings; Baker, drawings</a:t>
                      </a:r>
                    </a:p>
                  </a:txBody>
                  <a:tcPr marL="87529" marR="175057" marT="87546" marB="26264"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4"/>
                  </a:ext>
                </a:extLst>
              </a:tr>
              <a:tr h="420717">
                <a:tc>
                  <a:txBody>
                    <a:bodyPr/>
                    <a:lstStyle/>
                    <a:p>
                      <a:pPr fontAlgn="base"/>
                      <a:r>
                        <a:rPr lang="en-CA" sz="1700" b="0">
                          <a:effectLst/>
                          <a:latin typeface="Times New Roman" panose="02020603050405020304" pitchFamily="18" charset="0"/>
                        </a:rPr>
                        <a:t>Revenues, expenses, gains, and losses</a:t>
                      </a:r>
                    </a:p>
                  </a:txBody>
                  <a:tcPr marL="175057" marR="87529" marT="87546" marB="26264"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a:noFill/>
                    </a:lnB>
                    <a:solidFill>
                      <a:srgbClr val="FFFFFF"/>
                    </a:solidFill>
                  </a:tcPr>
                </a:tc>
                <a:tc>
                  <a:txBody>
                    <a:bodyPr/>
                    <a:lstStyle/>
                    <a:p>
                      <a:pPr fontAlgn="base"/>
                      <a:r>
                        <a:rPr lang="en-CA" sz="1700" b="0">
                          <a:effectLst/>
                          <a:latin typeface="Times New Roman" panose="02020603050405020304" pitchFamily="18" charset="0"/>
                        </a:rPr>
                        <a:t>Same</a:t>
                      </a:r>
                    </a:p>
                  </a:txBody>
                  <a:tcPr marL="87529" marR="87529" marT="87546" marB="26264" anchor="ctr">
                    <a:lnL>
                      <a:noFill/>
                    </a:lnL>
                    <a:lnR>
                      <a:noFill/>
                    </a:lnR>
                    <a:lnT>
                      <a:noFill/>
                    </a:lnT>
                    <a:lnB>
                      <a:noFill/>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a:noFill/>
                    </a:lnB>
                    <a:solidFill>
                      <a:srgbClr val="FFFFFF"/>
                    </a:solidFill>
                  </a:tcPr>
                </a:tc>
                <a:tc>
                  <a:txBody>
                    <a:bodyPr/>
                    <a:lstStyle/>
                    <a:p>
                      <a:pPr fontAlgn="base"/>
                      <a:r>
                        <a:rPr lang="en-CA" sz="1700" b="0">
                          <a:effectLst/>
                          <a:latin typeface="Times New Roman" panose="02020603050405020304" pitchFamily="18" charset="0"/>
                        </a:rPr>
                        <a:t>Same</a:t>
                      </a:r>
                    </a:p>
                  </a:txBody>
                  <a:tcPr marL="87529" marR="175057" marT="87546" marB="26264"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372940">
                <a:tc>
                  <a:txBody>
                    <a:bodyPr/>
                    <a:lstStyle/>
                    <a:p>
                      <a:pPr fontAlgn="base"/>
                      <a:r>
                        <a:rPr lang="en-CA" sz="1700" b="0" dirty="0">
                          <a:effectLst/>
                          <a:latin typeface="Times New Roman" panose="02020603050405020304" pitchFamily="18" charset="0"/>
                        </a:rPr>
                        <a:t>Assets and liabilities</a:t>
                      </a:r>
                    </a:p>
                  </a:txBody>
                  <a:tcPr marL="175057" marR="87529" marT="87546" marB="26264"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700" b="0">
                          <a:effectLst/>
                          <a:latin typeface="Times New Roman" panose="02020603050405020304" pitchFamily="18" charset="0"/>
                        </a:rPr>
                        <a:t>Same</a:t>
                      </a:r>
                    </a:p>
                  </a:txBody>
                  <a:tcPr marL="87529" marR="87529" marT="87546" marB="26264"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endParaRPr lang="en-CA" sz="1700" b="0">
                        <a:effectLst/>
                        <a:latin typeface="Times New Roman" panose="02020603050405020304" pitchFamily="18" charset="0"/>
                      </a:endParaRPr>
                    </a:p>
                  </a:txBody>
                  <a:tcPr marL="87529" marR="87529" marT="87546" marB="26264"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1700" b="0" dirty="0">
                          <a:effectLst/>
                          <a:latin typeface="Times New Roman" panose="02020603050405020304" pitchFamily="18" charset="0"/>
                        </a:rPr>
                        <a:t>Same</a:t>
                      </a:r>
                    </a:p>
                  </a:txBody>
                  <a:tcPr marL="87529" marR="175057" marT="87546" marB="26264"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229600" cy="792163"/>
          </a:xfrm>
        </p:spPr>
        <p:txBody>
          <a:bodyPr/>
          <a:lstStyle/>
          <a:p>
            <a:r>
              <a:rPr lang="en-US" altLang="en-US" dirty="0"/>
              <a:t>Appendix 10A: Accounting for Owners’ Equity for Sole Proprietorships and Partnerships Part 1</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Proprietorships and partnerships are private enterprises that do not issue shares for sale to the public. </a:t>
            </a:r>
          </a:p>
          <a:p>
            <a:endParaRPr lang="en-CA" sz="800" dirty="0"/>
          </a:p>
          <a:p>
            <a:r>
              <a:rPr lang="en-CA" dirty="0"/>
              <a:t>They normally report their financial information in accordance with the accounting standards for private enterprises. </a:t>
            </a:r>
          </a:p>
          <a:p>
            <a:endParaRPr lang="en-CA" sz="800" dirty="0"/>
          </a:p>
          <a:p>
            <a:r>
              <a:rPr lang="en-CA" dirty="0"/>
              <a:t>These standards are less complicated than the IFRS that publicly accountable enterprises must use. </a:t>
            </a:r>
          </a:p>
          <a:p>
            <a:endParaRPr lang="en-CA" sz="800" dirty="0"/>
          </a:p>
          <a:p>
            <a:r>
              <a:rPr lang="en-CA" dirty="0"/>
              <a:t>The use of accounting standards for private enterprises does not mean, however, that the standards are less rigorous than those used by publicly accountable enterprises. </a:t>
            </a:r>
          </a:p>
          <a:p>
            <a:endParaRPr lang="en-CA" alt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229600" cy="792163"/>
          </a:xfrm>
        </p:spPr>
        <p:txBody>
          <a:bodyPr/>
          <a:lstStyle/>
          <a:p>
            <a:r>
              <a:rPr lang="en-US" altLang="en-US" dirty="0"/>
              <a:t>Appendix 10A: Accounting for Owners’ Equity for Sole Proprietorships and Partnerships Part 2</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This simplified set of standards makes the preparation and audit of financial statements affordable for smaller business entities. </a:t>
            </a:r>
          </a:p>
          <a:p>
            <a:endParaRPr lang="en-CA" sz="800" dirty="0"/>
          </a:p>
          <a:p>
            <a:r>
              <a:rPr lang="en-CA" dirty="0"/>
              <a:t>All of the principles, such as economic substance over form and the excess of benefit over cost, guided the production of these standards.</a:t>
            </a:r>
          </a:p>
          <a:p>
            <a:endParaRPr lang="en-CA" altLang="en-US" dirty="0"/>
          </a:p>
        </p:txBody>
      </p:sp>
    </p:spTree>
    <p:extLst>
      <p:ext uri="{BB962C8B-B14F-4D97-AF65-F5344CB8AC3E}">
        <p14:creationId xmlns:p14="http://schemas.microsoft.com/office/powerpoint/2010/main" val="243005999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229600" cy="792163"/>
          </a:xfrm>
        </p:spPr>
        <p:txBody>
          <a:bodyPr/>
          <a:lstStyle/>
          <a:p>
            <a:r>
              <a:rPr lang="en-US" altLang="en-US" dirty="0"/>
              <a:t>Appendix 10A: Owners’ Equity for Sole Proprietorships Part 1</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A sole proprietorship is an unincorporated business owned by one person. </a:t>
            </a:r>
          </a:p>
          <a:p>
            <a:endParaRPr lang="en-CA" sz="800" dirty="0"/>
          </a:p>
          <a:p>
            <a:r>
              <a:rPr lang="en-CA" dirty="0"/>
              <a:t>Only two owner’s equity accounts are needed: a capital account for the proprietor (J. Doe, capital) and a drawings (or withdrawal) account for the proprietor (J. Doe, drawings).</a:t>
            </a:r>
          </a:p>
          <a:p>
            <a:endParaRPr lang="en-CA" sz="800" dirty="0"/>
          </a:p>
          <a:p>
            <a:r>
              <a:rPr lang="en-CA" dirty="0"/>
              <a:t>The capital account of a sole proprietorship serves two purposes: to record investments by the owner and to accumulate periodic net earnings or loss. </a:t>
            </a:r>
          </a:p>
          <a:p>
            <a:endParaRPr lang="en-CA" altLang="en-US" dirty="0"/>
          </a:p>
        </p:txBody>
      </p:sp>
    </p:spTree>
    <p:extLst>
      <p:ext uri="{BB962C8B-B14F-4D97-AF65-F5344CB8AC3E}">
        <p14:creationId xmlns:p14="http://schemas.microsoft.com/office/powerpoint/2010/main" val="131757091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229600" cy="792163"/>
          </a:xfrm>
        </p:spPr>
        <p:txBody>
          <a:bodyPr/>
          <a:lstStyle/>
          <a:p>
            <a:r>
              <a:rPr lang="en-US" altLang="en-US" dirty="0"/>
              <a:t>Appendix 10A: Owners’ Equity for Sole Proprietorships Part 2</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The drawings account is used to record the owner’s withdrawals of cash or other assets from the business.</a:t>
            </a:r>
          </a:p>
          <a:p>
            <a:endParaRPr lang="en-CA" sz="800" dirty="0"/>
          </a:p>
          <a:p>
            <a:r>
              <a:rPr lang="en-CA" dirty="0"/>
              <a:t>The drawings account is closed to the capital account at the end of each accounting period. </a:t>
            </a:r>
          </a:p>
          <a:p>
            <a:endParaRPr lang="en-CA" sz="800" dirty="0"/>
          </a:p>
          <a:p>
            <a:r>
              <a:rPr lang="en-CA" dirty="0"/>
              <a:t>The capital account reflects the cumulative total of all investments by the owner, plus all earnings of the entity, less all withdrawals of resources from the entity by the owner.</a:t>
            </a:r>
          </a:p>
          <a:p>
            <a:endParaRPr lang="en-CA" altLang="en-US" dirty="0"/>
          </a:p>
        </p:txBody>
      </p:sp>
    </p:spTree>
    <p:extLst>
      <p:ext uri="{BB962C8B-B14F-4D97-AF65-F5344CB8AC3E}">
        <p14:creationId xmlns:p14="http://schemas.microsoft.com/office/powerpoint/2010/main" val="140350539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458200" cy="792163"/>
          </a:xfrm>
        </p:spPr>
        <p:txBody>
          <a:bodyPr/>
          <a:lstStyle/>
          <a:p>
            <a:r>
              <a:rPr lang="en-US" altLang="en-US" dirty="0"/>
              <a:t>Appendix 10A: Owners’ Equity for a Partnerships Part 1</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altLang="en-US" dirty="0"/>
              <a:t>A partnership is formed by two or more persons reaching mutual agreement about the terms of the partnership.</a:t>
            </a:r>
          </a:p>
          <a:p>
            <a:endParaRPr lang="en-CA" altLang="en-US" sz="800" dirty="0"/>
          </a:p>
          <a:p>
            <a:r>
              <a:rPr lang="en-CA" altLang="en-US" dirty="0"/>
              <a:t>The law does not require an application for a charter as it does in the case of a corporation. Instead, the agreement between the partners constitutes a legally enforceable partnership contract. </a:t>
            </a:r>
          </a:p>
          <a:p>
            <a:endParaRPr lang="en-CA" altLang="en-US" sz="800" dirty="0"/>
          </a:p>
          <a:p>
            <a:r>
              <a:rPr lang="en-CA" altLang="en-US" dirty="0"/>
              <a:t>The agreement should specify matters such as division of net earnings, management responsibilities, transfer or sale of partnership interests, disposition of assets upon liquidation, and procedures to be followed in case of the death of a partner. </a:t>
            </a:r>
          </a:p>
        </p:txBody>
      </p:sp>
    </p:spTree>
    <p:extLst>
      <p:ext uri="{BB962C8B-B14F-4D97-AF65-F5344CB8AC3E}">
        <p14:creationId xmlns:p14="http://schemas.microsoft.com/office/powerpoint/2010/main" val="191087125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458200" cy="792163"/>
          </a:xfrm>
        </p:spPr>
        <p:txBody>
          <a:bodyPr/>
          <a:lstStyle/>
          <a:p>
            <a:r>
              <a:rPr lang="en-US" altLang="en-US" dirty="0"/>
              <a:t>Appendix 10A: Owners’ Equity for a Partnerships Part 2</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The primary advantages of a partnership are: </a:t>
            </a:r>
          </a:p>
          <a:p>
            <a:pPr marL="731838" lvl="1" indent="-457200">
              <a:buFont typeface="+mj-lt"/>
              <a:buAutoNum type="arabicPeriod"/>
            </a:pPr>
            <a:r>
              <a:rPr lang="en-CA" dirty="0"/>
              <a:t>Ease of formation,</a:t>
            </a:r>
          </a:p>
          <a:p>
            <a:pPr marL="731838" lvl="1" indent="-457200">
              <a:buFont typeface="+mj-lt"/>
              <a:buAutoNum type="arabicPeriod"/>
            </a:pPr>
            <a:r>
              <a:rPr lang="en-CA" dirty="0"/>
              <a:t>Complete control by the partners, and </a:t>
            </a:r>
          </a:p>
          <a:p>
            <a:pPr marL="731838" lvl="1" indent="-457200">
              <a:buFont typeface="+mj-lt"/>
              <a:buAutoNum type="arabicPeriod"/>
            </a:pPr>
            <a:r>
              <a:rPr lang="en-CA" dirty="0"/>
              <a:t>Lack of income taxes on the business itself. </a:t>
            </a:r>
          </a:p>
          <a:p>
            <a:pPr marL="274638" lvl="1" indent="0">
              <a:buNone/>
            </a:pPr>
            <a:endParaRPr lang="en-CA" sz="800" dirty="0"/>
          </a:p>
          <a:p>
            <a:r>
              <a:rPr lang="en-CA" dirty="0"/>
              <a:t>The primary disadvantage is the unlimited liability of each partner for the partnership’s liabilities. </a:t>
            </a:r>
          </a:p>
          <a:p>
            <a:endParaRPr lang="en-CA" sz="800" dirty="0"/>
          </a:p>
          <a:p>
            <a:r>
              <a:rPr lang="en-CA" dirty="0"/>
              <a:t>If the partnership does not have sufficient assets to satisfy outstanding debt, its creditors can seize the partners’ personal assets.</a:t>
            </a:r>
          </a:p>
        </p:txBody>
      </p:sp>
    </p:spTree>
    <p:extLst>
      <p:ext uri="{BB962C8B-B14F-4D97-AF65-F5344CB8AC3E}">
        <p14:creationId xmlns:p14="http://schemas.microsoft.com/office/powerpoint/2010/main" val="373575667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458200" cy="792163"/>
          </a:xfrm>
        </p:spPr>
        <p:txBody>
          <a:bodyPr/>
          <a:lstStyle/>
          <a:p>
            <a:r>
              <a:rPr lang="en-US" altLang="en-US" dirty="0"/>
              <a:t>Appendix 10A: Owners’ Equity for a Partnerships Part 3</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Accounting for partners’ equity follows the same pattern as illustrated earlier for a sole proprietorship, except that separate partner capital and drawings accounts must be established for each partner. </a:t>
            </a:r>
          </a:p>
          <a:p>
            <a:r>
              <a:rPr lang="en-CA" dirty="0"/>
              <a:t>Investments by each partner are credited to the partner’s capital account, and withdrawals from the partnership by each partner are debited to the respective drawings accounts. </a:t>
            </a:r>
          </a:p>
          <a:p>
            <a:r>
              <a:rPr lang="en-CA" dirty="0"/>
              <a:t>The net earnings for a partnership are divided between the partners in the profit ratio specified in the partnership agreement, and credited to each partner’s account. </a:t>
            </a:r>
          </a:p>
          <a:p>
            <a:endParaRPr lang="en-CA" dirty="0"/>
          </a:p>
        </p:txBody>
      </p:sp>
    </p:spTree>
    <p:extLst>
      <p:ext uri="{BB962C8B-B14F-4D97-AF65-F5344CB8AC3E}">
        <p14:creationId xmlns:p14="http://schemas.microsoft.com/office/powerpoint/2010/main" val="38638417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458200" cy="792163"/>
          </a:xfrm>
        </p:spPr>
        <p:txBody>
          <a:bodyPr/>
          <a:lstStyle/>
          <a:p>
            <a:r>
              <a:rPr lang="en-US" altLang="en-US" dirty="0"/>
              <a:t>Appendix 10A: Owners’ Equity for a Partnerships Part 4</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The respective drawings accounts are closed to the partner capital accounts. </a:t>
            </a:r>
          </a:p>
          <a:p>
            <a:endParaRPr lang="en-CA" sz="800" dirty="0"/>
          </a:p>
          <a:p>
            <a:r>
              <a:rPr lang="en-CA" dirty="0"/>
              <a:t>After the closing process, each partner’s capital account reflects the cumulative total of all investments of that individual partner, plus the partner’s share of all partnership earnings, less all the partner’s withdrawals.</a:t>
            </a:r>
          </a:p>
          <a:p>
            <a:endParaRPr lang="en-CA" dirty="0"/>
          </a:p>
        </p:txBody>
      </p:sp>
    </p:spTree>
    <p:extLst>
      <p:ext uri="{BB962C8B-B14F-4D97-AF65-F5344CB8AC3E}">
        <p14:creationId xmlns:p14="http://schemas.microsoft.com/office/powerpoint/2010/main" val="361392390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a:xfrm>
            <a:off x="457200" y="198437"/>
            <a:ext cx="8458200" cy="792163"/>
          </a:xfrm>
        </p:spPr>
        <p:txBody>
          <a:bodyPr/>
          <a:lstStyle/>
          <a:p>
            <a:r>
              <a:rPr lang="en-US" altLang="en-US" dirty="0"/>
              <a:t>Appendix 10A: Owners’ Equity for a Partnerships Part 5</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dirty="0"/>
              <a:t>The financial statements of a partnership follow the same format as those for a corporation, except that:</a:t>
            </a:r>
          </a:p>
          <a:p>
            <a:pPr marL="731838" lvl="1" indent="-457200">
              <a:buFont typeface="+mj-lt"/>
              <a:buAutoNum type="arabicPeriod"/>
            </a:pPr>
            <a:r>
              <a:rPr lang="en-CA" dirty="0"/>
              <a:t>The statement of earnings includes an additional section titled distribution of net earnings, </a:t>
            </a:r>
          </a:p>
          <a:p>
            <a:pPr marL="731838" lvl="1" indent="-457200">
              <a:buFont typeface="+mj-lt"/>
              <a:buAutoNum type="arabicPeriod"/>
            </a:pPr>
            <a:r>
              <a:rPr lang="en-CA" dirty="0"/>
              <a:t>The partners’ equity section of the statement of financial position is detailed for each partner,</a:t>
            </a:r>
          </a:p>
          <a:p>
            <a:pPr marL="731838" lvl="1" indent="-457200">
              <a:buFont typeface="+mj-lt"/>
              <a:buAutoNum type="arabicPeriod"/>
            </a:pPr>
            <a:r>
              <a:rPr lang="en-CA" dirty="0"/>
              <a:t>A partnership has no income tax expense because partnerships do not pay income tax (each partner must report their share of the partnership net earnings on their individual tax return), and </a:t>
            </a:r>
          </a:p>
          <a:p>
            <a:pPr marL="731838" lvl="1" indent="-457200">
              <a:buFont typeface="+mj-lt"/>
              <a:buAutoNum type="arabicPeriod"/>
            </a:pPr>
            <a:r>
              <a:rPr lang="en-CA" dirty="0"/>
              <a:t>Salaries paid to partners are not recorded as expense but treated as a distribution of net earnings (withdrawals).</a:t>
            </a:r>
          </a:p>
        </p:txBody>
      </p:sp>
    </p:spTree>
    <p:extLst>
      <p:ext uri="{BB962C8B-B14F-4D97-AF65-F5344CB8AC3E}">
        <p14:creationId xmlns:p14="http://schemas.microsoft.com/office/powerpoint/2010/main" val="89279019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756431E-5FCD-4E4C-94AB-7A04F7F279CC}"/>
              </a:ext>
            </a:extLst>
          </p:cNvPr>
          <p:cNvSpPr>
            <a:spLocks noGrp="1"/>
          </p:cNvSpPr>
          <p:nvPr>
            <p:ph type="title"/>
          </p:nvPr>
        </p:nvSpPr>
        <p:spPr/>
        <p:txBody>
          <a:bodyPr/>
          <a:lstStyle/>
          <a:p>
            <a:r>
              <a:rPr lang="en-US" altLang="en-US"/>
              <a:t>End of Chapter Summary Part 1</a:t>
            </a:r>
          </a:p>
        </p:txBody>
      </p:sp>
      <p:sp>
        <p:nvSpPr>
          <p:cNvPr id="23554" name="Content Placeholder 2">
            <a:extLst>
              <a:ext uri="{FF2B5EF4-FFF2-40B4-BE49-F238E27FC236}">
                <a16:creationId xmlns:a16="http://schemas.microsoft.com/office/drawing/2014/main" id="{84411357-7DAC-45FF-8136-937E4C5F6DEC}"/>
              </a:ext>
            </a:extLst>
          </p:cNvPr>
          <p:cNvSpPr>
            <a:spLocks noGrp="1"/>
          </p:cNvSpPr>
          <p:nvPr>
            <p:ph idx="1"/>
          </p:nvPr>
        </p:nvSpPr>
        <p:spPr/>
        <p:txBody>
          <a:bodyPr/>
          <a:lstStyle/>
          <a:p>
            <a:r>
              <a:rPr lang="en-CA" altLang="en-US"/>
              <a:t>A common share is the basic voting share issued by a corporation. Usually, it has no par value, but par value shares can also be issued. </a:t>
            </a:r>
          </a:p>
          <a:p>
            <a:r>
              <a:rPr lang="en-CA" altLang="en-US"/>
              <a:t>Preferred shares are issued by some corporations. These shares contain some special rights and may appeal to certain investors.</a:t>
            </a:r>
          </a:p>
          <a:p>
            <a:r>
              <a:rPr lang="en-CA" altLang="en-US"/>
              <a:t>A number of key transactions involve share capital: (1) initial sale of shares, (2) cash dividends, (3) stock dividends and stock splits, and (4) repurchase of shares. </a:t>
            </a:r>
          </a:p>
          <a:p>
            <a:r>
              <a:rPr lang="en-CA" altLang="en-US"/>
              <a:t>The return associated with an investment in shares comes from two sources: appreciation of share price and dividends. </a:t>
            </a:r>
          </a:p>
        </p:txBody>
      </p:sp>
    </p:spTree>
    <p:extLst>
      <p:ext uri="{BB962C8B-B14F-4D97-AF65-F5344CB8AC3E}">
        <p14:creationId xmlns:p14="http://schemas.microsoft.com/office/powerpoint/2010/main" val="297139370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63707292-716D-42CF-8FA2-4C7C4F8485C5}"/>
              </a:ext>
            </a:extLst>
          </p:cNvPr>
          <p:cNvSpPr>
            <a:spLocks noGrp="1"/>
          </p:cNvSpPr>
          <p:nvPr>
            <p:ph type="title"/>
          </p:nvPr>
        </p:nvSpPr>
        <p:spPr/>
        <p:txBody>
          <a:bodyPr/>
          <a:lstStyle/>
          <a:p>
            <a:r>
              <a:rPr lang="en-US" altLang="en-US"/>
              <a:t>End of Chapter Summary Part 2</a:t>
            </a:r>
          </a:p>
        </p:txBody>
      </p:sp>
      <p:sp>
        <p:nvSpPr>
          <p:cNvPr id="24578" name="Content Placeholder 2">
            <a:extLst>
              <a:ext uri="{FF2B5EF4-FFF2-40B4-BE49-F238E27FC236}">
                <a16:creationId xmlns:a16="http://schemas.microsoft.com/office/drawing/2014/main" id="{DFFC304E-27FD-4B7F-AB21-BAA0B53645A9}"/>
              </a:ext>
            </a:extLst>
          </p:cNvPr>
          <p:cNvSpPr>
            <a:spLocks noGrp="1"/>
          </p:cNvSpPr>
          <p:nvPr>
            <p:ph idx="1"/>
          </p:nvPr>
        </p:nvSpPr>
        <p:spPr/>
        <p:txBody>
          <a:bodyPr/>
          <a:lstStyle/>
          <a:p>
            <a:r>
              <a:rPr lang="en-CA" altLang="en-US"/>
              <a:t>Stock dividends are distributions of a company’s shares to existing shareholders on a pro rata basis. The transaction involves transferring an additional amount into the common shares account from the retained earnings account. </a:t>
            </a:r>
          </a:p>
          <a:p>
            <a:r>
              <a:rPr lang="en-CA" altLang="en-US"/>
              <a:t>A stock split also involves the distribution of additional shares to shareholders, but no additional amount is transferred into the common shares account from the retained earnings account.</a:t>
            </a:r>
          </a:p>
          <a:p>
            <a:r>
              <a:rPr lang="en-CA" altLang="en-US"/>
              <a:t>Preferred shares provide investors certain advantages, including dividend preferences and a preference on asset distributions in the event the corporation is liquidated.</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1A75E5CE-D645-4679-8F2C-70BFE7E78467}"/>
              </a:ext>
            </a:extLst>
          </p:cNvPr>
          <p:cNvSpPr>
            <a:spLocks noGrp="1"/>
          </p:cNvSpPr>
          <p:nvPr>
            <p:ph type="title"/>
          </p:nvPr>
        </p:nvSpPr>
        <p:spPr/>
        <p:txBody>
          <a:bodyPr/>
          <a:lstStyle/>
          <a:p>
            <a:r>
              <a:rPr lang="en-US" altLang="en-US"/>
              <a:t>End of Chapter Summary Part 3</a:t>
            </a:r>
          </a:p>
        </p:txBody>
      </p:sp>
      <p:sp>
        <p:nvSpPr>
          <p:cNvPr id="25602" name="Content Placeholder 2">
            <a:extLst>
              <a:ext uri="{FF2B5EF4-FFF2-40B4-BE49-F238E27FC236}">
                <a16:creationId xmlns:a16="http://schemas.microsoft.com/office/drawing/2014/main" id="{233DA78D-AB34-4F4D-B49A-CF64B923CBCF}"/>
              </a:ext>
            </a:extLst>
          </p:cNvPr>
          <p:cNvSpPr>
            <a:spLocks noGrp="1"/>
          </p:cNvSpPr>
          <p:nvPr>
            <p:ph idx="1"/>
          </p:nvPr>
        </p:nvSpPr>
        <p:spPr/>
        <p:txBody>
          <a:bodyPr/>
          <a:lstStyle/>
          <a:p>
            <a:r>
              <a:rPr lang="en-CA" altLang="en-US"/>
              <a:t>The shareholders’ equity section of the statement of financial position is affected by many changes that occur over time. These changes are reported in a separate statement of changes in equity that discloses a summary of the effects of transactions and events that affected the various components of equity, including share capital, contributed surplus, retained earnings, and accumulated other comprehensive income (loss).</a:t>
            </a:r>
          </a:p>
          <a:p>
            <a:r>
              <a:rPr lang="en-CA" altLang="en-US"/>
              <a:t>Both inflows (e.g., issuance of share capital) and outflows (e.g., repurchase of shares) are reported in the financing activities section of the statement of cash flows. The payment of dividends is reported as an outflow in this section.</a:t>
            </a:r>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12469B-5387-418F-98CA-77699C4722BB}">
  <ds:schemaRefs>
    <ds:schemaRef ds:uri="http://schemas.microsoft.com/sharepoint/v3/contenttype/forms"/>
  </ds:schemaRefs>
</ds:datastoreItem>
</file>

<file path=customXml/itemProps2.xml><?xml version="1.0" encoding="utf-8"?>
<ds:datastoreItem xmlns:ds="http://schemas.openxmlformats.org/officeDocument/2006/customXml" ds:itemID="{10F1B26D-79B0-41C8-8910-217D4E9ECACB}">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customXml/itemProps3.xml><?xml version="1.0" encoding="utf-8"?>
<ds:datastoreItem xmlns:ds="http://schemas.openxmlformats.org/officeDocument/2006/customXml" ds:itemID="{5929D973-88DC-4A6D-9B89-0FC67B89FD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2192</TotalTime>
  <Words>4795</Words>
  <Application>Microsoft Office PowerPoint</Application>
  <PresentationFormat>On-screen Show (4:3)</PresentationFormat>
  <Paragraphs>497</Paragraphs>
  <Slides>55</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55</vt:i4>
      </vt:variant>
    </vt:vector>
  </HeadingPairs>
  <TitlesOfParts>
    <vt:vector size="64" baseType="lpstr">
      <vt:lpstr>Arial</vt:lpstr>
      <vt:lpstr>Calibri</vt:lpstr>
      <vt:lpstr>inherit</vt:lpstr>
      <vt:lpstr>Tahoma</vt:lpstr>
      <vt:lpstr>Times New Roman</vt:lpstr>
      <vt:lpstr>Wingdings</vt:lpstr>
      <vt:lpstr>Wingdings 3</vt:lpstr>
      <vt:lpstr>1_Origin</vt:lpstr>
      <vt:lpstr>Origin</vt:lpstr>
      <vt:lpstr>PowerPoint Presentation</vt:lpstr>
      <vt:lpstr>Learning Objectives</vt:lpstr>
      <vt:lpstr>Learning Objectives Continued</vt:lpstr>
      <vt:lpstr> Understanding The Business Part 1</vt:lpstr>
      <vt:lpstr> Understanding The Business Part 2</vt:lpstr>
      <vt:lpstr>Shareholders’ Equity</vt:lpstr>
      <vt:lpstr>Ownership of a Corporation</vt:lpstr>
      <vt:lpstr>Benefits of Share Ownership</vt:lpstr>
      <vt:lpstr>Typical Organizational Structure of a Corporation</vt:lpstr>
      <vt:lpstr>Authorized, Issued, and Outstanding Shares</vt:lpstr>
      <vt:lpstr>Key Ratio Analysis – Earnings per Share Ratio</vt:lpstr>
      <vt:lpstr>Common Share Transactions</vt:lpstr>
      <vt:lpstr>No Par Value and Par Value Shares</vt:lpstr>
      <vt:lpstr>Initial Sale of Shares</vt:lpstr>
      <vt:lpstr>Sale of Shares in Secondary Markets</vt:lpstr>
      <vt:lpstr>Shares Issued for Non-cash Assets or Services</vt:lpstr>
      <vt:lpstr>Shares Issued for Employee Compensation</vt:lpstr>
      <vt:lpstr>Repurchase of Shares Part 1</vt:lpstr>
      <vt:lpstr>Repurchase of Shares Part 2</vt:lpstr>
      <vt:lpstr>Repurchase of Shares Part 3</vt:lpstr>
      <vt:lpstr>Repurchase of Shares Part 4</vt:lpstr>
      <vt:lpstr>Dividends on Common Shares Part 1</vt:lpstr>
      <vt:lpstr>Dividends on Common Shares Part 2</vt:lpstr>
      <vt:lpstr>Dividends on Common Shares Part 3</vt:lpstr>
      <vt:lpstr>Dividends on Common Shares Part 4</vt:lpstr>
      <vt:lpstr>Key Ratio Analysis – Dividend Yield Ratio</vt:lpstr>
      <vt:lpstr>Stock Dividends Part 1</vt:lpstr>
      <vt:lpstr>Stock Dividends Part 2</vt:lpstr>
      <vt:lpstr>Stock Dividends Part 3</vt:lpstr>
      <vt:lpstr>Stock Splits Part 1</vt:lpstr>
      <vt:lpstr>Stock Splits Part 2</vt:lpstr>
      <vt:lpstr>Preferred Shares</vt:lpstr>
      <vt:lpstr>Special Features of Preferred Shares</vt:lpstr>
      <vt:lpstr>Dividends on Preferred Shares</vt:lpstr>
      <vt:lpstr>Dividends on Preferred Shares: Current Dividend Preference Only</vt:lpstr>
      <vt:lpstr>Dividends on Preferred Shares: Cumulative Dividend Preference</vt:lpstr>
      <vt:lpstr>Measuring and Reporting Changes in Shareholders’ Equity</vt:lpstr>
      <vt:lpstr>Retained Earnings</vt:lpstr>
      <vt:lpstr>Accumulated Other Comprehensive Income (Loss) Part 1</vt:lpstr>
      <vt:lpstr>Accumulated Other Comprehensive Income (Loss) Part 2</vt:lpstr>
      <vt:lpstr>Accounting and Reporting for Unincorporated Businesses Part 1</vt:lpstr>
      <vt:lpstr>Accounting and Reporting for Unincorporated Businesses Part 2</vt:lpstr>
      <vt:lpstr>Comparative Account Structure among Types of Business Entities</vt:lpstr>
      <vt:lpstr>Appendix 10A: Accounting for Owners’ Equity for Sole Proprietorships and Partnerships Part 1</vt:lpstr>
      <vt:lpstr>Appendix 10A: Accounting for Owners’ Equity for Sole Proprietorships and Partnerships Part 2</vt:lpstr>
      <vt:lpstr>Appendix 10A: Owners’ Equity for Sole Proprietorships Part 1</vt:lpstr>
      <vt:lpstr>Appendix 10A: Owners’ Equity for Sole Proprietorships Part 2</vt:lpstr>
      <vt:lpstr>Appendix 10A: Owners’ Equity for a Partnerships Part 1</vt:lpstr>
      <vt:lpstr>Appendix 10A: Owners’ Equity for a Partnerships Part 2</vt:lpstr>
      <vt:lpstr>Appendix 10A: Owners’ Equity for a Partnerships Part 3</vt:lpstr>
      <vt:lpstr>Appendix 10A: Owners’ Equity for a Partnerships Part 4</vt:lpstr>
      <vt:lpstr>Appendix 10A: Owners’ Equity for a Partnerships Part 5</vt:lpstr>
      <vt:lpstr>End of Chapter Summary Part 1</vt:lpstr>
      <vt:lpstr>End of Chapter Summary Part 2</vt:lpstr>
      <vt:lpstr>End of Chapter Summary Part 3</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11: Reporting and Interpreting Owners' Equity</dc:subject>
  <dc:creator>Robert G. Ducharme, MAcc, CPA, CA - University of Waterloo, School of Accounting and Finance</dc:creator>
  <cp:lastModifiedBy>Schwartz, Stephanie</cp:lastModifiedBy>
  <cp:revision>55</cp:revision>
  <dcterms:created xsi:type="dcterms:W3CDTF">2010-03-30T15:03:05Z</dcterms:created>
  <dcterms:modified xsi:type="dcterms:W3CDTF">2023-01-12T15:26:55Z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
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4"/>
    <p:sldMasterId id="2147483745" r:id="rId5"/>
  </p:sldMasterIdLst>
  <p:notesMasterIdLst>
    <p:notesMasterId r:id="rId60"/>
  </p:notesMasterIdLst>
  <p:handoutMasterIdLst>
    <p:handoutMasterId r:id="rId61"/>
  </p:handoutMasterIdLst>
  <p:sldIdLst>
    <p:sldId id="343" r:id="rId6"/>
    <p:sldId id="446" r:id="rId7"/>
    <p:sldId id="448" r:id="rId8"/>
    <p:sldId id="449" r:id="rId9"/>
    <p:sldId id="450" r:id="rId10"/>
    <p:sldId id="451" r:id="rId11"/>
    <p:sldId id="452" r:id="rId12"/>
    <p:sldId id="489" r:id="rId13"/>
    <p:sldId id="453" r:id="rId14"/>
    <p:sldId id="455" r:id="rId15"/>
    <p:sldId id="454" r:id="rId16"/>
    <p:sldId id="457" r:id="rId17"/>
    <p:sldId id="458" r:id="rId18"/>
    <p:sldId id="459" r:id="rId19"/>
    <p:sldId id="456" r:id="rId20"/>
    <p:sldId id="460" r:id="rId21"/>
    <p:sldId id="461" r:id="rId22"/>
    <p:sldId id="462" r:id="rId23"/>
    <p:sldId id="463" r:id="rId24"/>
    <p:sldId id="464" r:id="rId25"/>
    <p:sldId id="465" r:id="rId26"/>
    <p:sldId id="490" r:id="rId27"/>
    <p:sldId id="491" r:id="rId28"/>
    <p:sldId id="492" r:id="rId29"/>
    <p:sldId id="466" r:id="rId30"/>
    <p:sldId id="493" r:id="rId31"/>
    <p:sldId id="467" r:id="rId32"/>
    <p:sldId id="468" r:id="rId33"/>
    <p:sldId id="469" r:id="rId34"/>
    <p:sldId id="470" r:id="rId35"/>
    <p:sldId id="471" r:id="rId36"/>
    <p:sldId id="495" r:id="rId37"/>
    <p:sldId id="473" r:id="rId38"/>
    <p:sldId id="503" r:id="rId39"/>
    <p:sldId id="474" r:id="rId40"/>
    <p:sldId id="475" r:id="rId41"/>
    <p:sldId id="497" r:id="rId42"/>
    <p:sldId id="476" r:id="rId43"/>
    <p:sldId id="477" r:id="rId44"/>
    <p:sldId id="478" r:id="rId45"/>
    <p:sldId id="498" r:id="rId46"/>
    <p:sldId id="479" r:id="rId47"/>
    <p:sldId id="480" r:id="rId48"/>
    <p:sldId id="499" r:id="rId49"/>
    <p:sldId id="500" r:id="rId50"/>
    <p:sldId id="481" r:id="rId51"/>
    <p:sldId id="483" r:id="rId52"/>
    <p:sldId id="484" r:id="rId53"/>
    <p:sldId id="486" r:id="rId54"/>
    <p:sldId id="502" r:id="rId55"/>
    <p:sldId id="501" r:id="rId56"/>
    <p:sldId id="487" r:id="rId57"/>
    <p:sldId id="447" r:id="rId58"/>
    <p:sldId id="488" r:id="rId5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832">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1"/>
    <a:srgbClr val="005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594" autoAdjust="0"/>
    <p:restoredTop sz="90748" autoAdjust="0"/>
  </p:normalViewPr>
  <p:slideViewPr>
    <p:cSldViewPr>
      <p:cViewPr varScale="1">
        <p:scale>
          <a:sx n="78" d="100"/>
          <a:sy n="78" d="100"/>
        </p:scale>
        <p:origin x="1090" y="58"/>
      </p:cViewPr>
      <p:guideLst>
        <p:guide orient="horz" pos="283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82"/>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3311FDF-8EF6-46B0-AC26-C83FE6597327}"/>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7-</a:t>
            </a:r>
            <a:fld id="{75BA190C-0F8B-409C-B1A4-F7EF48C0729E}"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A0F905F-FB0E-4686-9DAC-D25D82DCAA8D}"/>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63EBC416-2463-4D2D-9FD2-067983D3597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24475F08-B143-400E-AA2B-A60AEBF487D6}"/>
              </a:ext>
            </a:extLst>
          </p:cNvPr>
          <p:cNvSpPr>
            <a:spLocks noGrp="1"/>
          </p:cNvSpPr>
          <p:nvPr>
            <p:ph type="sldNum" sz="quarter" idx="5"/>
          </p:nvPr>
        </p:nvSpPr>
        <p:spPr>
          <a:xfrm>
            <a:off x="3886200"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7-</a:t>
            </a:r>
            <a:fld id="{0A058729-5502-4E0D-852C-4D3A21079369}"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082375DD-8854-4AC2-BE50-69E9916FB5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A37FCE70-DC91-4ED6-A01C-7BB9B687FD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a:t>Chapter 7: Reporting and Interpreting Cost of Sales and Inventory. </a:t>
            </a:r>
          </a:p>
        </p:txBody>
      </p:sp>
      <p:sp>
        <p:nvSpPr>
          <p:cNvPr id="6147" name="Slide Number Placeholder 3">
            <a:extLst>
              <a:ext uri="{FF2B5EF4-FFF2-40B4-BE49-F238E27FC236}">
                <a16:creationId xmlns:a16="http://schemas.microsoft.com/office/drawing/2014/main" id="{92EA9DE4-189E-4543-8967-80E7A529A4CC}"/>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CB9B5036-0396-40CF-AF45-22A531FDDA70}" type="slidenum">
              <a:rPr lang="en-US" altLang="en-US"/>
              <a:pPr algn="r" eaLnBrk="1" hangingPunct="1">
                <a:spcBef>
                  <a:spcPct val="0"/>
                </a:spcBef>
              </a:pPr>
              <a:t>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514738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9775023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2887261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78814015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57041818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Tree>
    <p:extLst>
      <p:ext uri="{BB962C8B-B14F-4D97-AF65-F5344CB8AC3E}">
        <p14:creationId xmlns:p14="http://schemas.microsoft.com/office/powerpoint/2010/main" val="178471423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6568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553163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dirty="0"/>
              <a:t>Click to edit Master title style</a:t>
            </a:r>
            <a:endParaRPr lang="en-CA" dirty="0"/>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9809399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0994059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4"/>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6012368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351867723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2841137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09776450"/>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50832238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79647218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227949956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923611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8548597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7562169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6689186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1049462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3"/>
          </a:xfrm>
        </p:spPr>
        <p:txBody>
          <a:bodyPr/>
          <a:lstStyle/>
          <a:p>
            <a:r>
              <a:rPr lang="en-US"/>
              <a:t>Click to edit Master title style</a:t>
            </a:r>
            <a:endParaRPr lang="en-CA"/>
          </a:p>
        </p:txBody>
      </p:sp>
      <p:sp>
        <p:nvSpPr>
          <p:cNvPr id="3" name="Text Placeholder 2"/>
          <p:cNvSpPr>
            <a:spLocks noGrp="1"/>
          </p:cNvSpPr>
          <p:nvPr>
            <p:ph type="body" sz="half" idx="1"/>
          </p:nvPr>
        </p:nvSpPr>
        <p:spPr>
          <a:xfrm>
            <a:off x="457200" y="1143000"/>
            <a:ext cx="403860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0276899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04D72A0A-EF5D-4240-A4A2-957EE41BCE77}"/>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D24B5E83-B9B1-4636-8FD3-13BFA3D61ED8}"/>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5075C865-8F0D-47D0-AD96-11D7517E07F4}"/>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grpSp>
      <p:grpSp>
        <p:nvGrpSpPr>
          <p:cNvPr id="1027" name="Group 18">
            <a:extLst>
              <a:ext uri="{FF2B5EF4-FFF2-40B4-BE49-F238E27FC236}">
                <a16:creationId xmlns:a16="http://schemas.microsoft.com/office/drawing/2014/main" id="{7D210373-4BD3-4D9A-8319-10410223F12B}"/>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09B2408D-313E-4126-A283-C3360965BBA5}"/>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B078D23E-9E80-4BE3-8443-1D166234F65F}"/>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F103E243-FDC5-4DF7-9372-1162A22224FF}"/>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6E282C55-8393-495D-B842-39D9D5246D45}"/>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513BA7B8-ABF2-4C95-AC73-A6D54D25F223}"/>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dirty="0">
                <a:solidFill>
                  <a:schemeClr val="tx1"/>
                </a:solidFill>
                <a:latin typeface="Calibri" panose="020F0502020204030204" pitchFamily="34" charset="0"/>
              </a:rPr>
              <a:t>Eighth Canadian Edition</a:t>
            </a:r>
            <a:br>
              <a:rPr lang="en-US" altLang="en-US" dirty="0">
                <a:solidFill>
                  <a:schemeClr val="tx1"/>
                </a:solidFill>
                <a:latin typeface="Calibri" panose="020F0502020204030204" pitchFamily="34" charset="0"/>
              </a:rPr>
            </a:br>
            <a:br>
              <a:rPr lang="en-US" altLang="en-US" dirty="0">
                <a:solidFill>
                  <a:schemeClr val="tx1"/>
                </a:solidFill>
                <a:latin typeface="Calibri" panose="020F0502020204030204" pitchFamily="34" charset="0"/>
              </a:rPr>
            </a:br>
            <a:r>
              <a:rPr lang="en-US" altLang="en-US" b="1" dirty="0">
                <a:solidFill>
                  <a:schemeClr val="tx1"/>
                </a:solidFill>
                <a:latin typeface="Calibri" panose="020F0502020204030204" pitchFamily="34" charset="0"/>
              </a:rPr>
              <a:t>LIBBY, LIBBY, HODGE, KANAAN, STERLING</a:t>
            </a:r>
            <a:r>
              <a:rPr lang="en-US" altLang="en-US"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FA4EE45B-0895-7242-B55E-8DF9C10E224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
        <p:nvSpPr>
          <p:cNvPr id="18" name="Rectangle 12">
            <a:extLst>
              <a:ext uri="{FF2B5EF4-FFF2-40B4-BE49-F238E27FC236}">
                <a16:creationId xmlns:a16="http://schemas.microsoft.com/office/drawing/2014/main" id="{78973886-6859-7F46-8C22-9F80B8F7EFAF}"/>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D268B0A6-BB92-4233-95A9-770D1DEB1BBE}"/>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dirty="0"/>
              <a:t>Click to edit Master title style</a:t>
            </a:r>
          </a:p>
        </p:txBody>
      </p:sp>
      <p:sp>
        <p:nvSpPr>
          <p:cNvPr id="2051" name="Text Placeholder 12">
            <a:extLst>
              <a:ext uri="{FF2B5EF4-FFF2-40B4-BE49-F238E27FC236}">
                <a16:creationId xmlns:a16="http://schemas.microsoft.com/office/drawing/2014/main" id="{EC78F8B9-AD08-4250-863D-76612FA7D05B}"/>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
        <p:nvSpPr>
          <p:cNvPr id="2052" name="Straight Connector 28">
            <a:extLst>
              <a:ext uri="{FF2B5EF4-FFF2-40B4-BE49-F238E27FC236}">
                <a16:creationId xmlns:a16="http://schemas.microsoft.com/office/drawing/2014/main" id="{6E77DA66-518F-420F-8859-2AB1FD33FB76}"/>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85BFA592-9EC5-41B7-818D-4C3F1B9DDE53}"/>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2055" name="Text Box 9">
            <a:extLst>
              <a:ext uri="{FF2B5EF4-FFF2-40B4-BE49-F238E27FC236}">
                <a16:creationId xmlns:a16="http://schemas.microsoft.com/office/drawing/2014/main" id="{FF06FE2E-E141-4C4C-8D0A-61092C28968B}"/>
              </a:ext>
            </a:extLst>
          </p:cNvPr>
          <p:cNvSpPr txBox="1">
            <a:spLocks noChangeArrowheads="1"/>
          </p:cNvSpPr>
          <p:nvPr userDrawn="1"/>
        </p:nvSpPr>
        <p:spPr bwMode="auto">
          <a:xfrm>
            <a:off x="8229600" y="6546850"/>
            <a:ext cx="898525" cy="24447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6-</a:t>
            </a:r>
            <a:fld id="{5E0830B5-5168-47B5-A310-B072DD3BC62A}" type="slidenum">
              <a:rPr lang="en-US" altLang="en-US" sz="1000" smtClean="0">
                <a:solidFill>
                  <a:schemeClr val="bg1"/>
                </a:solidFill>
              </a:rPr>
              <a:pPr algn="r" eaLnBrk="1" hangingPunct="1">
                <a:defRPr/>
              </a:pPr>
              <a:t>‹#›</a:t>
            </a:fld>
            <a:endParaRPr lang="en-CA" altLang="en-US" dirty="0"/>
          </a:p>
        </p:txBody>
      </p:sp>
      <p:sp>
        <p:nvSpPr>
          <p:cNvPr id="8" name="Rectangle 8">
            <a:extLst>
              <a:ext uri="{FF2B5EF4-FFF2-40B4-BE49-F238E27FC236}">
                <a16:creationId xmlns:a16="http://schemas.microsoft.com/office/drawing/2014/main" id="{82A91015-E8BD-40F9-90B8-B98DD4093A2E}"/>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hyperlink" Target="%5bremark:1ed9708348da44e5ae949b89bdcb8864%5d" TargetMode="Externa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36237924-EEE1-43CD-A872-87A14B28E70D}"/>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Reporting and Interpreting Cost of Sales</a:t>
            </a:r>
            <a:br>
              <a:rPr lang="en-CA" altLang="en-US" sz="2800" b="1" dirty="0">
                <a:solidFill>
                  <a:srgbClr val="005654"/>
                </a:solidFill>
                <a:latin typeface="Calibri" panose="020F0502020204030204" pitchFamily="34" charset="0"/>
              </a:rPr>
            </a:br>
            <a:r>
              <a:rPr lang="en-CA" altLang="en-US" sz="2800" b="1" dirty="0">
                <a:solidFill>
                  <a:srgbClr val="005654"/>
                </a:solidFill>
                <a:latin typeface="Calibri" panose="020F0502020204030204" pitchFamily="34" charset="0"/>
              </a:rPr>
              <a:t> and Inventory</a:t>
            </a:r>
          </a:p>
        </p:txBody>
      </p:sp>
      <p:sp>
        <p:nvSpPr>
          <p:cNvPr id="5122" name="Subtitle 4">
            <a:extLst>
              <a:ext uri="{FF2B5EF4-FFF2-40B4-BE49-F238E27FC236}">
                <a16:creationId xmlns:a16="http://schemas.microsoft.com/office/drawing/2014/main" id="{6D0E7E9C-586F-4052-8C47-6D6D86FFAF91}"/>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CE456CC7-C303-45B8-8769-9D88D1C8B900}"/>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2BD9D108-8E6A-4D25-AE8A-448622FB05A3}"/>
              </a:ext>
            </a:extLst>
          </p:cNvPr>
          <p:cNvSpPr>
            <a:spLocks noGrp="1"/>
          </p:cNvSpPr>
          <p:nvPr>
            <p:ph idx="1"/>
          </p:nvPr>
        </p:nvSpPr>
        <p:spPr/>
        <p:txBody>
          <a:bodyPr/>
          <a:lstStyle/>
          <a:p>
            <a:r>
              <a:rPr lang="en-CA" altLang="en-US" b="1" dirty="0"/>
              <a:t>LO6-1 </a:t>
            </a:r>
            <a:r>
              <a:rPr lang="en-CA" altLang="en-US" dirty="0"/>
              <a:t>Apply the cost principle to identify the amounts that should be included in inventory, and apply the expense recognition principle to determine the cost of sales for typical retailers, wholesalers, and manufacturers.</a:t>
            </a:r>
          </a:p>
          <a:p>
            <a:r>
              <a:rPr lang="en-CA" altLang="en-US" b="1" dirty="0"/>
              <a:t>LO6-2 </a:t>
            </a:r>
            <a:r>
              <a:rPr lang="en-CA" altLang="en-US" dirty="0"/>
              <a:t>Record inventory and cost of sales by using three inventory costing methods.</a:t>
            </a:r>
          </a:p>
          <a:p>
            <a:r>
              <a:rPr lang="en-CA" altLang="en-US" b="1" dirty="0"/>
              <a:t>LO6-3 </a:t>
            </a:r>
            <a:r>
              <a:rPr lang="en-CA" altLang="en-US" dirty="0"/>
              <a:t>Select the inventory costing method that reports the most faithful representation and relevant information to users of financial statements.</a:t>
            </a:r>
          </a:p>
          <a:p>
            <a:r>
              <a:rPr lang="en-CA" altLang="en-US" b="1" dirty="0"/>
              <a:t>LO6-4 </a:t>
            </a:r>
            <a:r>
              <a:rPr lang="en-CA" altLang="en-US" dirty="0"/>
              <a:t>Report inventory at the lower of cost and net realizable value (LC&amp;NRV).</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D893A6B1-CC36-4923-B557-D73CA965BA68}"/>
              </a:ext>
            </a:extLst>
          </p:cNvPr>
          <p:cNvSpPr>
            <a:spLocks noGrp="1"/>
          </p:cNvSpPr>
          <p:nvPr>
            <p:ph type="title"/>
          </p:nvPr>
        </p:nvSpPr>
        <p:spPr/>
        <p:txBody>
          <a:bodyPr/>
          <a:lstStyle/>
          <a:p>
            <a:r>
              <a:rPr lang="en-US" altLang="en-US"/>
              <a:t>Learning Objectives Continued</a:t>
            </a:r>
          </a:p>
        </p:txBody>
      </p:sp>
      <p:sp>
        <p:nvSpPr>
          <p:cNvPr id="7170" name="Content Placeholder 2">
            <a:extLst>
              <a:ext uri="{FF2B5EF4-FFF2-40B4-BE49-F238E27FC236}">
                <a16:creationId xmlns:a16="http://schemas.microsoft.com/office/drawing/2014/main" id="{1913CBBD-8102-487D-85D8-BEAE0A81E2E8}"/>
              </a:ext>
            </a:extLst>
          </p:cNvPr>
          <p:cNvSpPr>
            <a:spLocks noGrp="1"/>
          </p:cNvSpPr>
          <p:nvPr>
            <p:ph idx="1"/>
          </p:nvPr>
        </p:nvSpPr>
        <p:spPr/>
        <p:txBody>
          <a:bodyPr/>
          <a:lstStyle/>
          <a:p>
            <a:pPr>
              <a:buFont typeface="Wingdings 3" pitchFamily="2" charset="2"/>
              <a:buChar char=""/>
              <a:defRPr/>
            </a:pPr>
            <a:r>
              <a:rPr lang="en-CA" altLang="en-US" b="1" dirty="0"/>
              <a:t>LO6-5 </a:t>
            </a:r>
            <a:r>
              <a:rPr lang="en-CA" dirty="0"/>
              <a:t>Describe methods for controlling inventory, and analyze the effects of inventory reporting errors on financial statements.</a:t>
            </a:r>
          </a:p>
          <a:p>
            <a:pPr>
              <a:buFont typeface="Wingdings 3" pitchFamily="2" charset="2"/>
              <a:buChar char=""/>
              <a:defRPr/>
            </a:pPr>
            <a:r>
              <a:rPr lang="en-CA" altLang="en-US" b="1" dirty="0"/>
              <a:t>LO6-6 </a:t>
            </a:r>
            <a:r>
              <a:rPr lang="en-CA" dirty="0"/>
              <a:t>Evaluate inventory management by using the inventory turnover ratio, and analyze the effects of inventory on cash flows.</a:t>
            </a:r>
          </a:p>
          <a:p>
            <a:pPr>
              <a:buFont typeface="Wingdings 3" pitchFamily="2" charset="2"/>
              <a:buChar char=""/>
              <a:defRPr/>
            </a:pPr>
            <a:endParaRPr lang="en-CA" sz="1200" dirty="0"/>
          </a:p>
          <a:p>
            <a:pPr marL="0" indent="0">
              <a:buFont typeface="Wingdings 3" pitchFamily="2" charset="2"/>
              <a:buNone/>
              <a:defRPr/>
            </a:pPr>
            <a:r>
              <a:rPr lang="en-CA" b="1" cap="all" dirty="0"/>
              <a:t>SUPPLEMENTARY MATERIAL</a:t>
            </a:r>
          </a:p>
          <a:p>
            <a:pPr>
              <a:buFont typeface="Wingdings 3" pitchFamily="2" charset="2"/>
              <a:buChar char=""/>
              <a:defRPr/>
            </a:pPr>
            <a:r>
              <a:rPr lang="en-CA" b="1" dirty="0"/>
              <a:t>LO6-S1 </a:t>
            </a:r>
            <a:r>
              <a:rPr lang="en-CA" dirty="0"/>
              <a:t>Report inventory and cost of sales in a periodic inventory system.</a:t>
            </a:r>
          </a:p>
          <a:p>
            <a:pPr>
              <a:buFont typeface="Wingdings 3" pitchFamily="2" charset="2"/>
              <a:buChar char=""/>
              <a:defRPr/>
            </a:pPr>
            <a:r>
              <a:rPr lang="en-CA" b="1"/>
              <a:t>LO6-S2 </a:t>
            </a:r>
            <a:r>
              <a:rPr lang="en-CA" dirty="0"/>
              <a:t>Compare and contrast the recording of inventory transactions in periodic and perpetual inventory systems.</a:t>
            </a:r>
          </a:p>
          <a:p>
            <a:pPr>
              <a:buFont typeface="Wingdings 3" pitchFamily="2" charset="2"/>
              <a:buChar char=""/>
              <a:defRPr/>
            </a:pPr>
            <a:endParaRPr lang="en-US"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ADB30D03-57A4-48E9-9435-9BBA7DA9E79C}"/>
              </a:ext>
            </a:extLst>
          </p:cNvPr>
          <p:cNvSpPr>
            <a:spLocks noGrp="1"/>
          </p:cNvSpPr>
          <p:nvPr>
            <p:ph type="title"/>
          </p:nvPr>
        </p:nvSpPr>
        <p:spPr/>
        <p:txBody>
          <a:bodyPr/>
          <a:lstStyle/>
          <a:p>
            <a:r>
              <a:rPr lang="en-US" altLang="en-US"/>
              <a:t>Understanding the Business</a:t>
            </a:r>
          </a:p>
        </p:txBody>
      </p:sp>
      <p:sp>
        <p:nvSpPr>
          <p:cNvPr id="21506" name="Content Placeholder 2">
            <a:extLst>
              <a:ext uri="{FF2B5EF4-FFF2-40B4-BE49-F238E27FC236}">
                <a16:creationId xmlns:a16="http://schemas.microsoft.com/office/drawing/2014/main" id="{AAED1E20-64E4-49CC-8034-4DAEE3F59092}"/>
              </a:ext>
            </a:extLst>
          </p:cNvPr>
          <p:cNvSpPr>
            <a:spLocks noGrp="1"/>
          </p:cNvSpPr>
          <p:nvPr>
            <p:ph idx="1"/>
          </p:nvPr>
        </p:nvSpPr>
        <p:spPr/>
        <p:txBody>
          <a:bodyPr/>
          <a:lstStyle/>
          <a:p>
            <a:r>
              <a:rPr lang="en-US" altLang="en-US" dirty="0"/>
              <a:t>Primary Goals of Inventory Management:</a:t>
            </a:r>
          </a:p>
          <a:p>
            <a:pPr lvl="1"/>
            <a:r>
              <a:rPr lang="en-US" altLang="en-US" sz="2600" dirty="0">
                <a:solidFill>
                  <a:schemeClr val="tx1"/>
                </a:solidFill>
              </a:rPr>
              <a:t>Provides sufficient quantities of high-quality inventory.</a:t>
            </a:r>
          </a:p>
          <a:p>
            <a:pPr lvl="1"/>
            <a:r>
              <a:rPr lang="en-US" altLang="en-US" sz="2600" dirty="0">
                <a:solidFill>
                  <a:schemeClr val="tx1"/>
                </a:solidFill>
              </a:rPr>
              <a:t>Minimizes the costs of carrying inventory.</a:t>
            </a:r>
            <a:endParaRPr lang="en-US" altLang="en-US" dirty="0"/>
          </a:p>
          <a:p>
            <a:endParaRPr lang="en-US" altLang="en-US" dirty="0"/>
          </a:p>
          <a:p>
            <a:r>
              <a:rPr lang="en-US" altLang="en-US" dirty="0"/>
              <a:t>Roles of the Accounting System:</a:t>
            </a:r>
          </a:p>
          <a:p>
            <a:pPr lvl="1"/>
            <a:r>
              <a:rPr lang="en-US" altLang="en-US" sz="2600" dirty="0">
                <a:solidFill>
                  <a:schemeClr val="tx1"/>
                </a:solidFill>
              </a:rPr>
              <a:t>Provides accurate information</a:t>
            </a:r>
          </a:p>
          <a:p>
            <a:pPr lvl="1"/>
            <a:r>
              <a:rPr lang="en-US" altLang="en-US" sz="2600" dirty="0">
                <a:solidFill>
                  <a:schemeClr val="tx1"/>
                </a:solidFill>
              </a:rPr>
              <a:t>Provides up-to-date information</a:t>
            </a:r>
          </a:p>
          <a:p>
            <a:pPr lvl="1"/>
            <a:r>
              <a:rPr lang="en-US" altLang="en-US" sz="2600" dirty="0">
                <a:solidFill>
                  <a:schemeClr val="tx1"/>
                </a:solidFill>
              </a:rPr>
              <a:t>Provides information to help protect and control assets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6FCDF59E-3F6A-4B65-AD04-03E19E635B0A}"/>
              </a:ext>
            </a:extLst>
          </p:cNvPr>
          <p:cNvSpPr>
            <a:spLocks noGrp="1"/>
          </p:cNvSpPr>
          <p:nvPr>
            <p:ph type="title"/>
          </p:nvPr>
        </p:nvSpPr>
        <p:spPr/>
        <p:txBody>
          <a:bodyPr/>
          <a:lstStyle/>
          <a:p>
            <a:r>
              <a:rPr lang="en-US" altLang="en-US"/>
              <a:t>Inventory</a:t>
            </a:r>
          </a:p>
        </p:txBody>
      </p:sp>
      <p:sp>
        <p:nvSpPr>
          <p:cNvPr id="22530" name="Content Placeholder 2">
            <a:extLst>
              <a:ext uri="{FF2B5EF4-FFF2-40B4-BE49-F238E27FC236}">
                <a16:creationId xmlns:a16="http://schemas.microsoft.com/office/drawing/2014/main" id="{02746359-274F-4B13-B3D7-5B59C8C70F12}"/>
              </a:ext>
            </a:extLst>
          </p:cNvPr>
          <p:cNvSpPr>
            <a:spLocks noGrp="1"/>
          </p:cNvSpPr>
          <p:nvPr>
            <p:ph idx="1"/>
          </p:nvPr>
        </p:nvSpPr>
        <p:spPr/>
        <p:txBody>
          <a:bodyPr/>
          <a:lstStyle/>
          <a:p>
            <a:r>
              <a:rPr lang="en-CA" altLang="en-US" dirty="0"/>
              <a:t>Inventory is a tangible asset that is either:</a:t>
            </a:r>
          </a:p>
          <a:p>
            <a:pPr marL="731838" lvl="1" indent="-457200">
              <a:buFont typeface="Calibri" panose="020F0502020204030204" pitchFamily="34" charset="0"/>
              <a:buAutoNum type="arabicPeriod"/>
            </a:pPr>
            <a:r>
              <a:rPr lang="en-CA" altLang="en-US" sz="2600" dirty="0">
                <a:solidFill>
                  <a:schemeClr val="tx1"/>
                </a:solidFill>
              </a:rPr>
              <a:t>Held for sale in the ordinary course of business or </a:t>
            </a:r>
          </a:p>
          <a:p>
            <a:pPr marL="731838" lvl="1" indent="-457200">
              <a:buFont typeface="Calibri" panose="020F0502020204030204" pitchFamily="34" charset="0"/>
              <a:buAutoNum type="arabicPeriod"/>
            </a:pPr>
            <a:r>
              <a:rPr lang="en-CA" altLang="en-US" sz="2600" dirty="0">
                <a:solidFill>
                  <a:schemeClr val="tx1"/>
                </a:solidFill>
              </a:rPr>
              <a:t>Used in the process </a:t>
            </a:r>
            <a:r>
              <a:rPr lang="en-CA" altLang="en-US" sz="2600" dirty="0"/>
              <a:t>to</a:t>
            </a:r>
            <a:r>
              <a:rPr lang="en-CA" altLang="en-US" sz="2600" dirty="0">
                <a:solidFill>
                  <a:schemeClr val="tx1"/>
                </a:solidFill>
              </a:rPr>
              <a:t> produce goods for sale or render services. </a:t>
            </a:r>
          </a:p>
          <a:p>
            <a:r>
              <a:rPr lang="en-CA" altLang="en-US" dirty="0"/>
              <a:t>Inventory is reported on the statement of financial position as a current asset, because it is normally used or converted into cash within one year or within the next operating cycle of the business, whichever is longer. </a:t>
            </a:r>
          </a:p>
          <a:p>
            <a:r>
              <a:rPr lang="en-CA" altLang="en-US" dirty="0"/>
              <a:t>The types of inventory normally held depend on the characteristics of the business.</a:t>
            </a:r>
            <a:endParaRPr lang="en-US"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2BA009A9-8494-432E-B213-276EF128DDAB}"/>
              </a:ext>
            </a:extLst>
          </p:cNvPr>
          <p:cNvSpPr>
            <a:spLocks noGrp="1"/>
          </p:cNvSpPr>
          <p:nvPr>
            <p:ph type="title"/>
          </p:nvPr>
        </p:nvSpPr>
        <p:spPr/>
        <p:txBody>
          <a:bodyPr/>
          <a:lstStyle/>
          <a:p>
            <a:r>
              <a:rPr lang="en-US" altLang="en-US"/>
              <a:t>Items Included in Inventory</a:t>
            </a:r>
          </a:p>
        </p:txBody>
      </p:sp>
      <p:sp>
        <p:nvSpPr>
          <p:cNvPr id="3" name="Content Placeholder 2">
            <a:extLst>
              <a:ext uri="{FF2B5EF4-FFF2-40B4-BE49-F238E27FC236}">
                <a16:creationId xmlns:a16="http://schemas.microsoft.com/office/drawing/2014/main" id="{D51EB8D6-7A26-42FB-9044-0A64762B37AF}"/>
              </a:ext>
            </a:extLst>
          </p:cNvPr>
          <p:cNvSpPr>
            <a:spLocks noGrp="1"/>
          </p:cNvSpPr>
          <p:nvPr>
            <p:ph idx="1"/>
          </p:nvPr>
        </p:nvSpPr>
        <p:spPr/>
        <p:txBody>
          <a:bodyPr/>
          <a:lstStyle/>
          <a:p>
            <a:pPr>
              <a:buFont typeface="Wingdings 3" pitchFamily="2" charset="2"/>
              <a:buChar char=""/>
              <a:defRPr/>
            </a:pPr>
            <a:r>
              <a:rPr lang="en-CA" b="1" dirty="0"/>
              <a:t>Merchandisers</a:t>
            </a:r>
            <a:r>
              <a:rPr lang="en-CA" dirty="0"/>
              <a:t> hold </a:t>
            </a:r>
            <a:r>
              <a:rPr lang="en-CA" b="1" dirty="0"/>
              <a:t>Merchandise inventory</a:t>
            </a:r>
            <a:r>
              <a:rPr lang="en-CA" i="1" dirty="0"/>
              <a:t>.</a:t>
            </a:r>
            <a:r>
              <a:rPr lang="en-CA" dirty="0"/>
              <a:t> </a:t>
            </a:r>
          </a:p>
          <a:p>
            <a:pPr lvl="1">
              <a:buFont typeface="Wingdings 3" pitchFamily="2" charset="2"/>
              <a:buChar char=""/>
              <a:defRPr/>
            </a:pPr>
            <a:r>
              <a:rPr lang="en-CA" sz="2600" dirty="0">
                <a:solidFill>
                  <a:schemeClr val="tx1"/>
                </a:solidFill>
              </a:rPr>
              <a:t>These are finished goods (or merchandise) held for resale in the ordinary course of business. The goods are usually acquired by the merchandiser in a finished condition and are ready for sale without further processing.</a:t>
            </a:r>
          </a:p>
          <a:p>
            <a:pPr>
              <a:buFont typeface="Wingdings 3" pitchFamily="2" charset="2"/>
              <a:buChar char=""/>
              <a:defRPr/>
            </a:pPr>
            <a:r>
              <a:rPr lang="en-CA" b="1" dirty="0"/>
              <a:t>Manufacturing businesses </a:t>
            </a:r>
            <a:r>
              <a:rPr lang="en-CA" dirty="0"/>
              <a:t>hold three types of inventory:</a:t>
            </a:r>
          </a:p>
          <a:p>
            <a:pPr marL="514350" indent="-514350">
              <a:buFont typeface="+mj-lt"/>
              <a:buAutoNum type="arabicPeriod"/>
              <a:defRPr/>
            </a:pPr>
            <a:r>
              <a:rPr lang="en-CA" dirty="0"/>
              <a:t>Raw materials inventory</a:t>
            </a:r>
            <a:endParaRPr lang="en-CA" i="1" dirty="0"/>
          </a:p>
          <a:p>
            <a:pPr marL="514350" indent="-514350">
              <a:buFont typeface="+mj-lt"/>
              <a:buAutoNum type="arabicPeriod"/>
              <a:defRPr/>
            </a:pPr>
            <a:r>
              <a:rPr lang="en-CA" dirty="0"/>
              <a:t>Work-in-process inventory</a:t>
            </a:r>
            <a:r>
              <a:rPr lang="en-CA" i="1" dirty="0"/>
              <a:t> </a:t>
            </a:r>
          </a:p>
          <a:p>
            <a:pPr marL="514350" indent="-514350">
              <a:buFont typeface="+mj-lt"/>
              <a:buAutoNum type="arabicPeriod"/>
              <a:defRPr/>
            </a:pPr>
            <a:r>
              <a:rPr lang="en-CA" dirty="0"/>
              <a:t>Finished goods inventory</a:t>
            </a:r>
          </a:p>
          <a:p>
            <a:pPr>
              <a:buFont typeface="Wingdings 3" pitchFamily="2" charset="2"/>
              <a:buChar char=""/>
              <a:defRPr/>
            </a:pPr>
            <a:endParaRPr 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DA02DB83-E743-483E-99C9-16034A093B0E}"/>
              </a:ext>
            </a:extLst>
          </p:cNvPr>
          <p:cNvSpPr>
            <a:spLocks noGrp="1"/>
          </p:cNvSpPr>
          <p:nvPr>
            <p:ph type="title"/>
          </p:nvPr>
        </p:nvSpPr>
        <p:spPr/>
        <p:txBody>
          <a:bodyPr/>
          <a:lstStyle/>
          <a:p>
            <a:r>
              <a:rPr lang="en-US" altLang="en-US"/>
              <a:t>Manufacturing Types of Inventory</a:t>
            </a:r>
          </a:p>
        </p:txBody>
      </p:sp>
      <p:sp>
        <p:nvSpPr>
          <p:cNvPr id="24578" name="Content Placeholder 2">
            <a:extLst>
              <a:ext uri="{FF2B5EF4-FFF2-40B4-BE49-F238E27FC236}">
                <a16:creationId xmlns:a16="http://schemas.microsoft.com/office/drawing/2014/main" id="{DE7C926A-B8B8-46BF-BBA8-8357FED98496}"/>
              </a:ext>
            </a:extLst>
          </p:cNvPr>
          <p:cNvSpPr>
            <a:spLocks noGrp="1"/>
          </p:cNvSpPr>
          <p:nvPr>
            <p:ph idx="1"/>
          </p:nvPr>
        </p:nvSpPr>
        <p:spPr/>
        <p:txBody>
          <a:bodyPr/>
          <a:lstStyle/>
          <a:p>
            <a:r>
              <a:rPr lang="en-CA" altLang="en-US" b="1"/>
              <a:t>Raw materials inventory:</a:t>
            </a:r>
            <a:r>
              <a:rPr lang="en-CA" altLang="en-US" b="1" i="1"/>
              <a:t> </a:t>
            </a:r>
            <a:r>
              <a:rPr lang="en-CA" altLang="en-US"/>
              <a:t>This consists of items acquired by purchase, growth (such as food products), or extraction (natural resources) for processing into finished goods. Such items are included in raw materials inventory until used, at which point they become part of work-in-process inventory.</a:t>
            </a:r>
          </a:p>
          <a:p>
            <a:r>
              <a:rPr lang="en-CA" altLang="en-US" b="1"/>
              <a:t>Work-in-process inventory:</a:t>
            </a:r>
            <a:r>
              <a:rPr lang="en-CA" altLang="en-US"/>
              <a:t> This includes goods in the process of being manufactured but not yet complete. When complete, work-in-process inventory becomes finished goods inventory.</a:t>
            </a:r>
          </a:p>
          <a:p>
            <a:r>
              <a:rPr lang="en-CA" altLang="en-US" b="1"/>
              <a:t>Finished goods inventory:</a:t>
            </a:r>
            <a:r>
              <a:rPr lang="en-CA" altLang="en-US"/>
              <a:t> This consists of manufactured goods that are complete and available for sale.</a:t>
            </a:r>
          </a:p>
          <a:p>
            <a:endParaRPr lang="en-US"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4C18AF26-D822-46E1-8648-A6D005315EB1}"/>
              </a:ext>
            </a:extLst>
          </p:cNvPr>
          <p:cNvSpPr>
            <a:spLocks noGrp="1"/>
          </p:cNvSpPr>
          <p:nvPr>
            <p:ph type="title"/>
          </p:nvPr>
        </p:nvSpPr>
        <p:spPr>
          <a:xfrm>
            <a:off x="457200" y="152400"/>
            <a:ext cx="8534400" cy="792163"/>
          </a:xfrm>
        </p:spPr>
        <p:txBody>
          <a:bodyPr/>
          <a:lstStyle/>
          <a:p>
            <a:r>
              <a:rPr lang="en-US" altLang="en-US" dirty="0"/>
              <a:t>Environmental, Social, and Governance Reporting</a:t>
            </a:r>
          </a:p>
        </p:txBody>
      </p:sp>
      <p:sp>
        <p:nvSpPr>
          <p:cNvPr id="25602" name="Content Placeholder 2">
            <a:extLst>
              <a:ext uri="{FF2B5EF4-FFF2-40B4-BE49-F238E27FC236}">
                <a16:creationId xmlns:a16="http://schemas.microsoft.com/office/drawing/2014/main" id="{4863E7BC-6A75-4EC7-94A3-3BB828199964}"/>
              </a:ext>
            </a:extLst>
          </p:cNvPr>
          <p:cNvSpPr>
            <a:spLocks noGrp="1"/>
          </p:cNvSpPr>
          <p:nvPr>
            <p:ph idx="1"/>
          </p:nvPr>
        </p:nvSpPr>
        <p:spPr/>
        <p:txBody>
          <a:bodyPr/>
          <a:lstStyle/>
          <a:p>
            <a:r>
              <a:rPr lang="en-CA" dirty="0"/>
              <a:t>IFRS detail the type of depiction of sustainability-related information as a neutral and faithful representation of its sustainability-related financial information. </a:t>
            </a:r>
          </a:p>
          <a:p>
            <a:endParaRPr lang="en-CA" dirty="0"/>
          </a:p>
          <a:p>
            <a:r>
              <a:rPr lang="en-CA" dirty="0"/>
              <a:t>The information must be a sufficient basis on which users can assess the implications of sustainability-related risks and opportunities on the entity’s enterprise value.</a:t>
            </a:r>
            <a:endParaRPr lang="en-US" altLang="en-US" dirty="0"/>
          </a:p>
        </p:txBody>
      </p:sp>
    </p:spTree>
    <p:extLst>
      <p:ext uri="{BB962C8B-B14F-4D97-AF65-F5344CB8AC3E}">
        <p14:creationId xmlns:p14="http://schemas.microsoft.com/office/powerpoint/2010/main" val="306050669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4C18AF26-D822-46E1-8648-A6D005315EB1}"/>
              </a:ext>
            </a:extLst>
          </p:cNvPr>
          <p:cNvSpPr>
            <a:spLocks noGrp="1"/>
          </p:cNvSpPr>
          <p:nvPr>
            <p:ph type="title"/>
          </p:nvPr>
        </p:nvSpPr>
        <p:spPr/>
        <p:txBody>
          <a:bodyPr/>
          <a:lstStyle/>
          <a:p>
            <a:r>
              <a:rPr lang="en-US" altLang="en-US"/>
              <a:t>Costs Included in Inventory Purchases</a:t>
            </a:r>
          </a:p>
        </p:txBody>
      </p:sp>
      <p:sp>
        <p:nvSpPr>
          <p:cNvPr id="25602" name="Content Placeholder 2">
            <a:extLst>
              <a:ext uri="{FF2B5EF4-FFF2-40B4-BE49-F238E27FC236}">
                <a16:creationId xmlns:a16="http://schemas.microsoft.com/office/drawing/2014/main" id="{4863E7BC-6A75-4EC7-94A3-3BB828199964}"/>
              </a:ext>
            </a:extLst>
          </p:cNvPr>
          <p:cNvSpPr>
            <a:spLocks noGrp="1"/>
          </p:cNvSpPr>
          <p:nvPr>
            <p:ph idx="1"/>
          </p:nvPr>
        </p:nvSpPr>
        <p:spPr/>
        <p:txBody>
          <a:bodyPr/>
          <a:lstStyle/>
          <a:p>
            <a:r>
              <a:rPr lang="en-CA" altLang="en-US"/>
              <a:t>Goods in inventory are initially recorded at cost. </a:t>
            </a:r>
          </a:p>
          <a:p>
            <a:r>
              <a:rPr lang="en-CA" altLang="en-US"/>
              <a:t>The primary basis of accounting for inventory is cash-equivalent cost, which is either the price paid or consideration given to acquire an asset. </a:t>
            </a:r>
          </a:p>
          <a:p>
            <a:r>
              <a:rPr lang="en-CA" altLang="en-US"/>
              <a:t>Inventory cost includes the sum of the costs incurred in bringing an article to a usable or saleable condition and location.  </a:t>
            </a:r>
          </a:p>
          <a:p>
            <a:r>
              <a:rPr lang="en-CA" altLang="en-US"/>
              <a:t>Any </a:t>
            </a:r>
            <a:r>
              <a:rPr lang="en-CA" altLang="en-US" i="1"/>
              <a:t>purchase returns and allowances</a:t>
            </a:r>
            <a:r>
              <a:rPr lang="en-CA" altLang="en-US"/>
              <a:t> or </a:t>
            </a:r>
            <a:r>
              <a:rPr lang="en-CA" altLang="en-US" i="1"/>
              <a:t>purchase discounts</a:t>
            </a:r>
            <a:r>
              <a:rPr lang="en-CA" altLang="en-US"/>
              <a:t> taken are subtracted. </a:t>
            </a:r>
            <a:endParaRPr lang="en-US"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2FE77090-43D1-4CBB-9D4F-266B4BB431D1}"/>
              </a:ext>
            </a:extLst>
          </p:cNvPr>
          <p:cNvSpPr>
            <a:spLocks noGrp="1"/>
          </p:cNvSpPr>
          <p:nvPr>
            <p:ph type="title"/>
          </p:nvPr>
        </p:nvSpPr>
        <p:spPr/>
        <p:txBody>
          <a:bodyPr/>
          <a:lstStyle/>
          <a:p>
            <a:r>
              <a:rPr lang="en-US" altLang="en-US"/>
              <a:t>Flow of Inventory Costs</a:t>
            </a:r>
          </a:p>
        </p:txBody>
      </p:sp>
      <p:sp>
        <p:nvSpPr>
          <p:cNvPr id="27650" name="Content Placeholder 2">
            <a:extLst>
              <a:ext uri="{FF2B5EF4-FFF2-40B4-BE49-F238E27FC236}">
                <a16:creationId xmlns:a16="http://schemas.microsoft.com/office/drawing/2014/main" id="{6BDF9D94-62C5-4B71-BF5A-BF7806266831}"/>
              </a:ext>
            </a:extLst>
          </p:cNvPr>
          <p:cNvSpPr>
            <a:spLocks noGrp="1"/>
          </p:cNvSpPr>
          <p:nvPr>
            <p:ph idx="1"/>
          </p:nvPr>
        </p:nvSpPr>
        <p:spPr/>
        <p:txBody>
          <a:bodyPr/>
          <a:lstStyle/>
          <a:p>
            <a:r>
              <a:rPr lang="en-CA" altLang="en-US" b="1"/>
              <a:t>Direct labour</a:t>
            </a:r>
            <a:r>
              <a:rPr lang="en-CA" altLang="en-US"/>
              <a:t> cost represents the earnings of employees who work directly on the products being manufactured. </a:t>
            </a:r>
          </a:p>
          <a:p>
            <a:r>
              <a:rPr lang="en-CA" altLang="en-US" b="1"/>
              <a:t>Factory overhead</a:t>
            </a:r>
            <a:r>
              <a:rPr lang="en-CA" altLang="en-US"/>
              <a:t> costs include all other manufacturing costs that are not raw material or direct labour costs.</a:t>
            </a:r>
          </a:p>
          <a:p>
            <a:r>
              <a:rPr lang="en-CA" altLang="en-US"/>
              <a:t>There are three stages to inventory cost flows for both merchandisers and manufacturers. </a:t>
            </a:r>
          </a:p>
          <a:p>
            <a:pPr lvl="1"/>
            <a:r>
              <a:rPr lang="en-CA" altLang="en-US">
                <a:solidFill>
                  <a:schemeClr val="tx1"/>
                </a:solidFill>
              </a:rPr>
              <a:t>The first involves purchasing and/or production activities. </a:t>
            </a:r>
          </a:p>
          <a:p>
            <a:pPr lvl="1"/>
            <a:r>
              <a:rPr lang="en-CA" altLang="en-US">
                <a:solidFill>
                  <a:schemeClr val="tx1"/>
                </a:solidFill>
              </a:rPr>
              <a:t>The second stage, these activities result in additions to inventory accounts on the statement of financial position. </a:t>
            </a:r>
          </a:p>
          <a:p>
            <a:pPr lvl="1"/>
            <a:r>
              <a:rPr lang="en-CA" altLang="en-US">
                <a:solidFill>
                  <a:schemeClr val="tx1"/>
                </a:solidFill>
              </a:rPr>
              <a:t>The third stage, the inventory items are sold and the amounts become cost of sales on the statement of earnings. </a:t>
            </a:r>
            <a:endParaRPr lang="en-US" altLang="en-US">
              <a:solidFill>
                <a:schemeClr val="tx1"/>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C4DE7E8D-C807-44EF-88CE-5CE5116C798A}"/>
              </a:ext>
            </a:extLst>
          </p:cNvPr>
          <p:cNvSpPr>
            <a:spLocks noGrp="1"/>
          </p:cNvSpPr>
          <p:nvPr>
            <p:ph type="title"/>
          </p:nvPr>
        </p:nvSpPr>
        <p:spPr/>
        <p:txBody>
          <a:bodyPr/>
          <a:lstStyle/>
          <a:p>
            <a:r>
              <a:rPr lang="en-US" altLang="en-US" dirty="0"/>
              <a:t>Flow of Inventory Costs – Exhibit 6.2</a:t>
            </a:r>
          </a:p>
        </p:txBody>
      </p:sp>
      <p:pic>
        <p:nvPicPr>
          <p:cNvPr id="26626" name="Picture 3">
            <a:extLst>
              <a:ext uri="{FF2B5EF4-FFF2-40B4-BE49-F238E27FC236}">
                <a16:creationId xmlns:a16="http://schemas.microsoft.com/office/drawing/2014/main" id="{A4249435-044F-4184-8587-07FBC4C5A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00" y="1295400"/>
            <a:ext cx="7061200"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4D922FEF-81D4-4D12-8554-E05B3B24721D}"/>
              </a:ext>
            </a:extLst>
          </p:cNvPr>
          <p:cNvSpPr>
            <a:spLocks noGrp="1"/>
          </p:cNvSpPr>
          <p:nvPr>
            <p:ph type="title"/>
          </p:nvPr>
        </p:nvSpPr>
        <p:spPr/>
        <p:txBody>
          <a:bodyPr/>
          <a:lstStyle/>
          <a:p>
            <a:r>
              <a:rPr lang="en-US" altLang="en-US"/>
              <a:t>Cost of Sales Equation Part 1</a:t>
            </a:r>
          </a:p>
        </p:txBody>
      </p:sp>
      <p:sp>
        <p:nvSpPr>
          <p:cNvPr id="28674" name="Content Placeholder 2">
            <a:extLst>
              <a:ext uri="{FF2B5EF4-FFF2-40B4-BE49-F238E27FC236}">
                <a16:creationId xmlns:a16="http://schemas.microsoft.com/office/drawing/2014/main" id="{9381AB57-B2F2-4FEF-8A12-2468E63D1E7E}"/>
              </a:ext>
            </a:extLst>
          </p:cNvPr>
          <p:cNvSpPr>
            <a:spLocks noGrp="1"/>
          </p:cNvSpPr>
          <p:nvPr>
            <p:ph idx="1"/>
          </p:nvPr>
        </p:nvSpPr>
        <p:spPr/>
        <p:txBody>
          <a:bodyPr/>
          <a:lstStyle/>
          <a:p>
            <a:r>
              <a:rPr lang="en-CA" altLang="en-US" dirty="0"/>
              <a:t>Cost of sales (COS) is directly related to sales revenue.</a:t>
            </a:r>
          </a:p>
          <a:p>
            <a:endParaRPr lang="en-CA" altLang="en-US" sz="1000" dirty="0"/>
          </a:p>
          <a:p>
            <a:r>
              <a:rPr lang="en-CA" altLang="en-US" dirty="0"/>
              <a:t>Sales revenue during an accounting period is the number of units sold multiplied by the sales price. </a:t>
            </a:r>
          </a:p>
          <a:p>
            <a:endParaRPr lang="en-CA" altLang="en-US" sz="1000" dirty="0"/>
          </a:p>
          <a:p>
            <a:r>
              <a:rPr lang="en-CA" altLang="en-US" dirty="0"/>
              <a:t>Cost of sales is the same number of units, multiplied by their unit costs. </a:t>
            </a:r>
          </a:p>
          <a:p>
            <a:endParaRPr lang="en-CA" altLang="en-US" sz="1000" dirty="0"/>
          </a:p>
          <a:p>
            <a:r>
              <a:rPr lang="en-CA" altLang="en-US" dirty="0"/>
              <a:t>It includes all costs of the merchandise or the finished goods sold during the period.</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EC461031-4639-4256-AA79-2A82DDC82DF8}"/>
              </a:ext>
            </a:extLst>
          </p:cNvPr>
          <p:cNvSpPr>
            <a:spLocks noGrp="1"/>
          </p:cNvSpPr>
          <p:nvPr>
            <p:ph type="title"/>
          </p:nvPr>
        </p:nvSpPr>
        <p:spPr/>
        <p:txBody>
          <a:bodyPr/>
          <a:lstStyle/>
          <a:p>
            <a:r>
              <a:rPr lang="en-US" altLang="en-US"/>
              <a:t>Cost of Sales Equation Part 2</a:t>
            </a:r>
          </a:p>
        </p:txBody>
      </p:sp>
      <p:sp>
        <p:nvSpPr>
          <p:cNvPr id="29698" name="Content Placeholder 2">
            <a:extLst>
              <a:ext uri="{FF2B5EF4-FFF2-40B4-BE49-F238E27FC236}">
                <a16:creationId xmlns:a16="http://schemas.microsoft.com/office/drawing/2014/main" id="{C353C475-2A50-4690-A729-3538F33AA8D3}"/>
              </a:ext>
            </a:extLst>
          </p:cNvPr>
          <p:cNvSpPr>
            <a:spLocks noGrp="1"/>
          </p:cNvSpPr>
          <p:nvPr>
            <p:ph idx="1"/>
          </p:nvPr>
        </p:nvSpPr>
        <p:spPr/>
        <p:txBody>
          <a:bodyPr/>
          <a:lstStyle/>
          <a:p>
            <a:r>
              <a:rPr lang="en-CA" altLang="en-US"/>
              <a:t>Each accounting period is started with a stock of merchandise inventory called </a:t>
            </a:r>
            <a:r>
              <a:rPr lang="en-CA" altLang="en-US" i="1"/>
              <a:t>beginning inventory</a:t>
            </a:r>
            <a:r>
              <a:rPr lang="en-CA" altLang="en-US"/>
              <a:t> (BI).</a:t>
            </a:r>
          </a:p>
          <a:p>
            <a:endParaRPr lang="en-CA" altLang="en-US" sz="1000"/>
          </a:p>
          <a:p>
            <a:r>
              <a:rPr lang="en-CA" altLang="en-US"/>
              <a:t>During the accounting period, new </a:t>
            </a:r>
            <a:r>
              <a:rPr lang="en-CA" altLang="en-US" i="1"/>
              <a:t>purchases</a:t>
            </a:r>
            <a:r>
              <a:rPr lang="en-CA" altLang="en-US"/>
              <a:t> (P) are added to inventory. </a:t>
            </a:r>
          </a:p>
          <a:p>
            <a:endParaRPr lang="en-CA" altLang="en-US" sz="1000"/>
          </a:p>
          <a:p>
            <a:r>
              <a:rPr lang="en-CA" altLang="en-US"/>
              <a:t>The sum of the cost of beginning inventory and the cost of purchases (or additions to its merchandise inventory) is the </a:t>
            </a:r>
            <a:r>
              <a:rPr lang="en-CA" altLang="en-US" b="1"/>
              <a:t>cost of goods available for sale</a:t>
            </a:r>
            <a:r>
              <a:rPr lang="en-CA" altLang="en-US"/>
              <a:t> during that period.</a:t>
            </a:r>
          </a:p>
          <a:p>
            <a:endParaRPr lang="en-CA" altLang="en-US" sz="1000"/>
          </a:p>
          <a:p>
            <a:r>
              <a:rPr lang="en-CA" altLang="en-US"/>
              <a:t>What remains unsold at the end of the period becomes </a:t>
            </a:r>
            <a:r>
              <a:rPr lang="en-CA" altLang="en-US" i="1"/>
              <a:t>ending inventory</a:t>
            </a:r>
            <a:r>
              <a:rPr lang="en-CA" altLang="en-US"/>
              <a:t> (EI) on the statement of financial position.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307ACD3D-C24A-4FCD-9A81-AC3B682C327D}"/>
              </a:ext>
            </a:extLst>
          </p:cNvPr>
          <p:cNvSpPr>
            <a:spLocks noGrp="1"/>
          </p:cNvSpPr>
          <p:nvPr>
            <p:ph type="title"/>
          </p:nvPr>
        </p:nvSpPr>
        <p:spPr/>
        <p:txBody>
          <a:bodyPr/>
          <a:lstStyle/>
          <a:p>
            <a:r>
              <a:rPr lang="en-US" altLang="en-US"/>
              <a:t>Cost of Sales Equation Part 3</a:t>
            </a:r>
          </a:p>
        </p:txBody>
      </p:sp>
      <p:sp>
        <p:nvSpPr>
          <p:cNvPr id="3" name="Content Placeholder 2">
            <a:extLst>
              <a:ext uri="{FF2B5EF4-FFF2-40B4-BE49-F238E27FC236}">
                <a16:creationId xmlns:a16="http://schemas.microsoft.com/office/drawing/2014/main" id="{A9402F87-2993-4E33-8571-2D34ACE268FA}"/>
              </a:ext>
            </a:extLst>
          </p:cNvPr>
          <p:cNvSpPr>
            <a:spLocks noGrp="1"/>
          </p:cNvSpPr>
          <p:nvPr>
            <p:ph idx="1"/>
          </p:nvPr>
        </p:nvSpPr>
        <p:spPr/>
        <p:txBody>
          <a:bodyPr/>
          <a:lstStyle/>
          <a:p>
            <a:pPr>
              <a:buFont typeface="Wingdings 3" pitchFamily="2" charset="2"/>
              <a:buChar char=""/>
              <a:defRPr/>
            </a:pPr>
            <a:r>
              <a:rPr lang="en-CA" dirty="0"/>
              <a:t>The portion of the cost of goods available for sale that are actually sold becomes cost of sales on the statement of earnings. </a:t>
            </a:r>
          </a:p>
          <a:p>
            <a:pPr>
              <a:buFont typeface="Wingdings 3" pitchFamily="2" charset="2"/>
              <a:buChar char=""/>
              <a:defRPr/>
            </a:pPr>
            <a:endParaRPr lang="en-CA" sz="1000" dirty="0"/>
          </a:p>
          <a:p>
            <a:pPr>
              <a:buFont typeface="Wingdings 3" pitchFamily="2" charset="2"/>
              <a:buChar char=""/>
              <a:defRPr/>
            </a:pPr>
            <a:r>
              <a:rPr lang="en-CA" dirty="0"/>
              <a:t>The ending inventory for one accounting period then becomes the beginning inventory for the next period. </a:t>
            </a:r>
          </a:p>
          <a:p>
            <a:pPr>
              <a:buFont typeface="Wingdings 3" pitchFamily="2" charset="2"/>
              <a:buChar char=""/>
              <a:defRPr/>
            </a:pPr>
            <a:endParaRPr lang="en-CA" sz="1000" dirty="0"/>
          </a:p>
          <a:p>
            <a:pPr>
              <a:buFont typeface="Wingdings 3" pitchFamily="2" charset="2"/>
              <a:buChar char=""/>
              <a:defRPr/>
            </a:pPr>
            <a:r>
              <a:rPr lang="en-CA" dirty="0"/>
              <a:t>The relationships between these various amounts are brought together in the </a:t>
            </a:r>
            <a:r>
              <a:rPr lang="en-CA" b="1" dirty="0"/>
              <a:t>cost of sales equation</a:t>
            </a:r>
            <a:r>
              <a:rPr lang="en-CA" dirty="0"/>
              <a:t>: </a:t>
            </a:r>
          </a:p>
          <a:p>
            <a:pPr marL="0" indent="0" algn="ctr">
              <a:buFont typeface="Wingdings 3" pitchFamily="2" charset="2"/>
              <a:buNone/>
              <a:defRPr/>
            </a:pPr>
            <a:r>
              <a:rPr lang="en-CA" b="1" dirty="0"/>
              <a:t>BI + P − EI = COS</a:t>
            </a:r>
            <a:endParaRPr lang="en-US" b="1"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4AAB00A3-69F6-4738-AC57-B0739135B927}"/>
              </a:ext>
            </a:extLst>
          </p:cNvPr>
          <p:cNvSpPr>
            <a:spLocks noGrp="1"/>
          </p:cNvSpPr>
          <p:nvPr>
            <p:ph type="title"/>
          </p:nvPr>
        </p:nvSpPr>
        <p:spPr/>
        <p:txBody>
          <a:bodyPr/>
          <a:lstStyle/>
          <a:p>
            <a:r>
              <a:rPr lang="en-US" altLang="en-US"/>
              <a:t>Cost of Sales Equation Part 4</a:t>
            </a:r>
          </a:p>
        </p:txBody>
      </p:sp>
      <p:sp>
        <p:nvSpPr>
          <p:cNvPr id="9218" name="Rectangle 11">
            <a:extLst>
              <a:ext uri="{FF2B5EF4-FFF2-40B4-BE49-F238E27FC236}">
                <a16:creationId xmlns:a16="http://schemas.microsoft.com/office/drawing/2014/main" id="{65143667-D230-4050-ADDA-B3C6A368E718}"/>
              </a:ext>
            </a:extLst>
          </p:cNvPr>
          <p:cNvSpPr>
            <a:spLocks noChangeArrowheads="1"/>
          </p:cNvSpPr>
          <p:nvPr/>
        </p:nvSpPr>
        <p:spPr bwMode="auto">
          <a:xfrm>
            <a:off x="266700" y="1752600"/>
            <a:ext cx="8610600" cy="3057525"/>
          </a:xfrm>
          <a:prstGeom prst="rect">
            <a:avLst/>
          </a:prstGeom>
          <a:noFill/>
          <a:ln w="444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Aft>
                <a:spcPts val="600"/>
              </a:spcAft>
            </a:pPr>
            <a:r>
              <a:rPr lang="en-US" altLang="en-US" sz="2600"/>
              <a:t>	Beginning inventory</a:t>
            </a:r>
          </a:p>
          <a:p>
            <a:pPr eaLnBrk="1" hangingPunct="1">
              <a:spcAft>
                <a:spcPts val="600"/>
              </a:spcAft>
            </a:pPr>
            <a:r>
              <a:rPr lang="en-US" altLang="en-US" sz="2600"/>
              <a:t>       </a:t>
            </a:r>
            <a:r>
              <a:rPr lang="en-US" altLang="en-US" sz="2600" u="sng"/>
              <a:t>+ Purchases of merchandise during the year</a:t>
            </a:r>
          </a:p>
          <a:p>
            <a:pPr eaLnBrk="1" hangingPunct="1">
              <a:spcAft>
                <a:spcPts val="600"/>
              </a:spcAft>
            </a:pPr>
            <a:r>
              <a:rPr lang="en-US" altLang="en-US" sz="2600"/>
              <a:t>	Cost of goods available for sale</a:t>
            </a:r>
          </a:p>
          <a:p>
            <a:pPr eaLnBrk="1" hangingPunct="1">
              <a:spcAft>
                <a:spcPts val="600"/>
              </a:spcAft>
            </a:pPr>
            <a:r>
              <a:rPr lang="en-US" altLang="en-US" sz="2600"/>
              <a:t>       </a:t>
            </a:r>
            <a:r>
              <a:rPr lang="en-US" altLang="en-US" sz="2600" u="sng"/>
              <a:t>-	Ending inventory	</a:t>
            </a:r>
            <a:r>
              <a:rPr lang="en-US" altLang="en-US" sz="2600"/>
              <a:t>				     </a:t>
            </a:r>
          </a:p>
          <a:p>
            <a:pPr eaLnBrk="1" hangingPunct="1">
              <a:spcAft>
                <a:spcPts val="600"/>
              </a:spcAft>
            </a:pPr>
            <a:r>
              <a:rPr lang="en-US" altLang="en-US" sz="2600"/>
              <a:t>	Cost of sales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8F6AD787-0625-4637-9F50-6BA91159B5EE}"/>
              </a:ext>
            </a:extLst>
          </p:cNvPr>
          <p:cNvSpPr>
            <a:spLocks noGrp="1"/>
          </p:cNvSpPr>
          <p:nvPr>
            <p:ph type="title"/>
          </p:nvPr>
        </p:nvSpPr>
        <p:spPr/>
        <p:txBody>
          <a:bodyPr/>
          <a:lstStyle/>
          <a:p>
            <a:r>
              <a:rPr lang="en-US" altLang="en-US" sz="3100"/>
              <a:t>Nature of Cost of Sales for Merchandise Inventory</a:t>
            </a:r>
          </a:p>
        </p:txBody>
      </p:sp>
      <p:pic>
        <p:nvPicPr>
          <p:cNvPr id="3" name="Picture 2" descr="Diagram&#10;&#10;Description automatically generated">
            <a:extLst>
              <a:ext uri="{FF2B5EF4-FFF2-40B4-BE49-F238E27FC236}">
                <a16:creationId xmlns:a16="http://schemas.microsoft.com/office/drawing/2014/main" id="{0A60272C-7528-E34E-AC07-B7DFDE6486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000" y="1092200"/>
            <a:ext cx="6350000" cy="530860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A86D762F-D775-430C-9C0C-D219A98BA5F5}"/>
              </a:ext>
            </a:extLst>
          </p:cNvPr>
          <p:cNvSpPr>
            <a:spLocks noGrp="1"/>
          </p:cNvSpPr>
          <p:nvPr>
            <p:ph type="title"/>
          </p:nvPr>
        </p:nvSpPr>
        <p:spPr/>
        <p:txBody>
          <a:bodyPr/>
          <a:lstStyle/>
          <a:p>
            <a:r>
              <a:rPr lang="en-US" altLang="en-US"/>
              <a:t>Perpetual and Periodic Inventory Systems</a:t>
            </a:r>
          </a:p>
        </p:txBody>
      </p:sp>
      <p:sp>
        <p:nvSpPr>
          <p:cNvPr id="3" name="Content Placeholder 2">
            <a:extLst>
              <a:ext uri="{FF2B5EF4-FFF2-40B4-BE49-F238E27FC236}">
                <a16:creationId xmlns:a16="http://schemas.microsoft.com/office/drawing/2014/main" id="{79FAA25B-3E1E-4213-AD2B-770D3DC8AEFD}"/>
              </a:ext>
            </a:extLst>
          </p:cNvPr>
          <p:cNvSpPr>
            <a:spLocks noGrp="1"/>
          </p:cNvSpPr>
          <p:nvPr>
            <p:ph idx="1"/>
          </p:nvPr>
        </p:nvSpPr>
        <p:spPr/>
        <p:txBody>
          <a:bodyPr/>
          <a:lstStyle/>
          <a:p>
            <a:pPr>
              <a:buFont typeface="Wingdings 3" pitchFamily="2" charset="2"/>
              <a:buChar char=""/>
              <a:defRPr/>
            </a:pPr>
            <a:r>
              <a:rPr lang="en-CA" dirty="0"/>
              <a:t>To calculate cost of sales, three amounts must be known:</a:t>
            </a:r>
          </a:p>
          <a:p>
            <a:pPr marL="731838" lvl="1" indent="-457200">
              <a:buFont typeface="+mj-lt"/>
              <a:buAutoNum type="arabicPeriod"/>
              <a:defRPr/>
            </a:pPr>
            <a:r>
              <a:rPr lang="en-CA" sz="2600" dirty="0">
                <a:solidFill>
                  <a:schemeClr val="tx1"/>
                </a:solidFill>
              </a:rPr>
              <a:t>Beginning inventory; </a:t>
            </a:r>
          </a:p>
          <a:p>
            <a:pPr marL="731838" lvl="1" indent="-457200">
              <a:buFont typeface="+mj-lt"/>
              <a:buAutoNum type="arabicPeriod"/>
              <a:defRPr/>
            </a:pPr>
            <a:r>
              <a:rPr lang="en-CA" sz="2600" dirty="0">
                <a:solidFill>
                  <a:schemeClr val="tx1"/>
                </a:solidFill>
              </a:rPr>
              <a:t>Purchases of merchandise, or additions to finished goods, during the period; and </a:t>
            </a:r>
          </a:p>
          <a:p>
            <a:pPr marL="731838" lvl="1" indent="-457200">
              <a:buFont typeface="+mj-lt"/>
              <a:buAutoNum type="arabicPeriod"/>
              <a:defRPr/>
            </a:pPr>
            <a:r>
              <a:rPr lang="en-CA" sz="2600" dirty="0">
                <a:solidFill>
                  <a:schemeClr val="tx1"/>
                </a:solidFill>
              </a:rPr>
              <a:t>Ending inventory. </a:t>
            </a:r>
          </a:p>
          <a:p>
            <a:pPr marL="731838" lvl="1" indent="-457200">
              <a:buFont typeface="+mj-lt"/>
              <a:buAutoNum type="arabicPeriod"/>
              <a:defRPr/>
            </a:pPr>
            <a:endParaRPr lang="en-CA" sz="800" dirty="0"/>
          </a:p>
          <a:p>
            <a:pPr>
              <a:buFont typeface="Wingdings 3" pitchFamily="2" charset="2"/>
              <a:buChar char=""/>
              <a:defRPr/>
            </a:pPr>
            <a:r>
              <a:rPr lang="en-CA" dirty="0"/>
              <a:t>The amount of purchases for the period is always accumulated in the accounting system. </a:t>
            </a:r>
          </a:p>
          <a:p>
            <a:pPr>
              <a:buFont typeface="Wingdings 3" pitchFamily="2" charset="2"/>
              <a:buChar char=""/>
              <a:defRPr/>
            </a:pPr>
            <a:endParaRPr lang="en-CA" sz="800" dirty="0"/>
          </a:p>
          <a:p>
            <a:pPr>
              <a:buFont typeface="Wingdings 3" pitchFamily="2" charset="2"/>
              <a:buChar char=""/>
              <a:defRPr/>
            </a:pPr>
            <a:r>
              <a:rPr lang="en-CA" dirty="0"/>
              <a:t>The cost of sales and cost of ending inventory can be determined by using one of two different inventory systems: </a:t>
            </a:r>
            <a:r>
              <a:rPr lang="en-CA" b="1" dirty="0"/>
              <a:t>perpetual and periodic</a:t>
            </a:r>
            <a:r>
              <a:rPr lang="en-CA" dirty="0"/>
              <a:t>.</a:t>
            </a:r>
            <a:endParaRPr lang="en-US" dirty="0"/>
          </a:p>
          <a:p>
            <a:pPr>
              <a:buFont typeface="Wingdings 3" pitchFamily="2" charset="2"/>
              <a:buChar char=""/>
              <a:defRPr/>
            </a:pPr>
            <a:endParaRPr lang="en-CA" dirty="0"/>
          </a:p>
          <a:p>
            <a:pPr marL="274638" lvl="1" indent="0">
              <a:buFont typeface="Wingdings 3" pitchFamily="2" charset="2"/>
              <a:buNone/>
              <a:defRPr/>
            </a:pPr>
            <a:endParaRPr lang="en-CA"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0307F488-864B-414C-B324-CB4E4C434C77}"/>
              </a:ext>
            </a:extLst>
          </p:cNvPr>
          <p:cNvSpPr>
            <a:spLocks noGrp="1"/>
          </p:cNvSpPr>
          <p:nvPr>
            <p:ph type="title"/>
          </p:nvPr>
        </p:nvSpPr>
        <p:spPr/>
        <p:txBody>
          <a:bodyPr/>
          <a:lstStyle/>
          <a:p>
            <a:r>
              <a:rPr lang="en-US" altLang="en-US" dirty="0"/>
              <a:t>Perpetual Inventory System Part 1</a:t>
            </a:r>
          </a:p>
        </p:txBody>
      </p:sp>
      <p:sp>
        <p:nvSpPr>
          <p:cNvPr id="33794" name="Content Placeholder 2">
            <a:extLst>
              <a:ext uri="{FF2B5EF4-FFF2-40B4-BE49-F238E27FC236}">
                <a16:creationId xmlns:a16="http://schemas.microsoft.com/office/drawing/2014/main" id="{358A6733-862F-424E-A2A1-68C44C94D77E}"/>
              </a:ext>
            </a:extLst>
          </p:cNvPr>
          <p:cNvSpPr>
            <a:spLocks noGrp="1"/>
          </p:cNvSpPr>
          <p:nvPr>
            <p:ph idx="1"/>
          </p:nvPr>
        </p:nvSpPr>
        <p:spPr/>
        <p:txBody>
          <a:bodyPr/>
          <a:lstStyle/>
          <a:p>
            <a:r>
              <a:rPr lang="en-CA" altLang="en-US"/>
              <a:t>In a perpetual inventory system, purchase transactions are directly recorded in an inventory account.</a:t>
            </a:r>
          </a:p>
          <a:p>
            <a:endParaRPr lang="en-CA" altLang="en-US" sz="1000"/>
          </a:p>
          <a:p>
            <a:r>
              <a:rPr lang="en-CA" altLang="en-US"/>
              <a:t>Simultaneously, when each sale is recorded, a companion cost of sales entry is made, decreasing inventory and recording cost of sales.</a:t>
            </a:r>
          </a:p>
          <a:p>
            <a:endParaRPr lang="en-CA" altLang="en-US" sz="1000"/>
          </a:p>
          <a:p>
            <a:r>
              <a:rPr lang="en-CA" altLang="en-US"/>
              <a:t>As a result, information on cost of sales and ending inventory is available on a continuous (perpetual) basis.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FB26FF6E-612F-4829-8058-74E81D2906A8}"/>
              </a:ext>
            </a:extLst>
          </p:cNvPr>
          <p:cNvSpPr>
            <a:spLocks noGrp="1"/>
          </p:cNvSpPr>
          <p:nvPr>
            <p:ph type="title"/>
          </p:nvPr>
        </p:nvSpPr>
        <p:spPr/>
        <p:txBody>
          <a:bodyPr/>
          <a:lstStyle/>
          <a:p>
            <a:r>
              <a:rPr lang="en-US" altLang="en-US" dirty="0"/>
              <a:t>Perpetual Inventory System Part 2</a:t>
            </a:r>
          </a:p>
        </p:txBody>
      </p:sp>
      <p:sp>
        <p:nvSpPr>
          <p:cNvPr id="34818" name="Content Placeholder 2">
            <a:extLst>
              <a:ext uri="{FF2B5EF4-FFF2-40B4-BE49-F238E27FC236}">
                <a16:creationId xmlns:a16="http://schemas.microsoft.com/office/drawing/2014/main" id="{D0C94380-EB3E-4771-9CF2-D90727B4A40A}"/>
              </a:ext>
            </a:extLst>
          </p:cNvPr>
          <p:cNvSpPr>
            <a:spLocks noGrp="1"/>
          </p:cNvSpPr>
          <p:nvPr>
            <p:ph idx="1"/>
          </p:nvPr>
        </p:nvSpPr>
        <p:spPr/>
        <p:txBody>
          <a:bodyPr/>
          <a:lstStyle/>
          <a:p>
            <a:r>
              <a:rPr lang="en-CA" altLang="en-US"/>
              <a:t>A detailed record is maintained for each type of merchandise stocked, showing:</a:t>
            </a:r>
          </a:p>
          <a:p>
            <a:pPr marL="731838" lvl="1" indent="-457200">
              <a:buFont typeface="Calibri" panose="020F0502020204030204" pitchFamily="34" charset="0"/>
              <a:buAutoNum type="arabicPeriod"/>
            </a:pPr>
            <a:r>
              <a:rPr lang="en-CA" altLang="en-US" sz="2600">
                <a:solidFill>
                  <a:schemeClr val="tx1"/>
                </a:solidFill>
              </a:rPr>
              <a:t>Units and cost of the beginning inventory, </a:t>
            </a:r>
          </a:p>
          <a:p>
            <a:pPr marL="731838" lvl="1" indent="-457200">
              <a:buFont typeface="Calibri" panose="020F0502020204030204" pitchFamily="34" charset="0"/>
              <a:buAutoNum type="arabicPeriod"/>
            </a:pPr>
            <a:r>
              <a:rPr lang="en-CA" altLang="en-US" sz="2600">
                <a:solidFill>
                  <a:schemeClr val="tx1"/>
                </a:solidFill>
              </a:rPr>
              <a:t>Units and cost of each purchase, </a:t>
            </a:r>
          </a:p>
          <a:p>
            <a:pPr marL="731838" lvl="1" indent="-457200">
              <a:buFont typeface="Calibri" panose="020F0502020204030204" pitchFamily="34" charset="0"/>
              <a:buAutoNum type="arabicPeriod"/>
            </a:pPr>
            <a:r>
              <a:rPr lang="en-CA" altLang="en-US" sz="2600">
                <a:solidFill>
                  <a:schemeClr val="tx1"/>
                </a:solidFill>
              </a:rPr>
              <a:t>Units and cost of the goods for each sale, and </a:t>
            </a:r>
          </a:p>
          <a:p>
            <a:pPr marL="731838" lvl="1" indent="-457200">
              <a:buFont typeface="Calibri" panose="020F0502020204030204" pitchFamily="34" charset="0"/>
              <a:buAutoNum type="arabicPeriod"/>
            </a:pPr>
            <a:r>
              <a:rPr lang="en-CA" altLang="en-US" sz="2600">
                <a:solidFill>
                  <a:schemeClr val="tx1"/>
                </a:solidFill>
              </a:rPr>
              <a:t>Units and cost of the goods on hand at any point in time. </a:t>
            </a:r>
          </a:p>
          <a:p>
            <a:endParaRPr lang="en-CA" altLang="en-US" sz="1000"/>
          </a:p>
          <a:p>
            <a:r>
              <a:rPr lang="en-CA" altLang="en-US"/>
              <a:t>This up-to-date record is maintained on a transaction-by-transaction basis and is usually necessary for purchasing, manufacturing, and distribution decisions. </a:t>
            </a:r>
            <a:endParaRPr lang="en-US"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B8BCA00C-3CC4-433A-9693-C874D0DB8A82}"/>
              </a:ext>
            </a:extLst>
          </p:cNvPr>
          <p:cNvSpPr>
            <a:spLocks noGrp="1"/>
          </p:cNvSpPr>
          <p:nvPr>
            <p:ph type="title"/>
          </p:nvPr>
        </p:nvSpPr>
        <p:spPr/>
        <p:txBody>
          <a:bodyPr/>
          <a:lstStyle/>
          <a:p>
            <a:r>
              <a:rPr lang="en-US" altLang="en-US" dirty="0"/>
              <a:t>Periodic Inventory System Part 1</a:t>
            </a:r>
          </a:p>
        </p:txBody>
      </p:sp>
      <p:sp>
        <p:nvSpPr>
          <p:cNvPr id="35842" name="Content Placeholder 2">
            <a:extLst>
              <a:ext uri="{FF2B5EF4-FFF2-40B4-BE49-F238E27FC236}">
                <a16:creationId xmlns:a16="http://schemas.microsoft.com/office/drawing/2014/main" id="{99AD85EB-1C4E-4BDC-B7D8-69BA3291D9AE}"/>
              </a:ext>
            </a:extLst>
          </p:cNvPr>
          <p:cNvSpPr>
            <a:spLocks noGrp="1"/>
          </p:cNvSpPr>
          <p:nvPr>
            <p:ph idx="1"/>
          </p:nvPr>
        </p:nvSpPr>
        <p:spPr/>
        <p:txBody>
          <a:bodyPr/>
          <a:lstStyle/>
          <a:p>
            <a:r>
              <a:rPr lang="en-CA" altLang="en-US"/>
              <a:t>Under the </a:t>
            </a:r>
            <a:r>
              <a:rPr lang="en-CA" altLang="en-US" b="1"/>
              <a:t>periodic inventory system</a:t>
            </a:r>
            <a:r>
              <a:rPr lang="en-CA" altLang="en-US"/>
              <a:t>, companies do </a:t>
            </a:r>
            <a:r>
              <a:rPr lang="en-CA" altLang="en-US" i="1"/>
              <a:t>not</a:t>
            </a:r>
            <a:r>
              <a:rPr lang="en-CA" altLang="en-US"/>
              <a:t> maintain an ongoing record of inventory during the year; rather, an actual physical count of the goods remaining on hand is required at the end of each period.</a:t>
            </a:r>
          </a:p>
          <a:p>
            <a:endParaRPr lang="en-CA" altLang="en-US" sz="800"/>
          </a:p>
          <a:p>
            <a:r>
              <a:rPr lang="en-CA" altLang="en-US"/>
              <a:t>The number of units of each type of merchandise on hand is multiplied by their unit cost to compute the total cost of the ending inventory. </a:t>
            </a:r>
          </a:p>
          <a:p>
            <a:endParaRPr lang="en-CA" altLang="en-US" sz="800"/>
          </a:p>
          <a:p>
            <a:r>
              <a:rPr lang="en-CA" altLang="en-US"/>
              <a:t>Cost of sales is calculated by using the cost of sales equation.</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2BA064FC-11D2-41FF-B1D8-76299340DEA1}"/>
              </a:ext>
            </a:extLst>
          </p:cNvPr>
          <p:cNvSpPr>
            <a:spLocks noGrp="1"/>
          </p:cNvSpPr>
          <p:nvPr>
            <p:ph type="title"/>
          </p:nvPr>
        </p:nvSpPr>
        <p:spPr/>
        <p:txBody>
          <a:bodyPr/>
          <a:lstStyle/>
          <a:p>
            <a:r>
              <a:rPr lang="en-US" altLang="en-US" dirty="0"/>
              <a:t>Periodic Inventory System Part 2</a:t>
            </a:r>
          </a:p>
        </p:txBody>
      </p:sp>
      <p:sp>
        <p:nvSpPr>
          <p:cNvPr id="36866" name="Content Placeholder 2">
            <a:extLst>
              <a:ext uri="{FF2B5EF4-FFF2-40B4-BE49-F238E27FC236}">
                <a16:creationId xmlns:a16="http://schemas.microsoft.com/office/drawing/2014/main" id="{2C4C3D8A-73D1-4950-8874-EA9863DF9508}"/>
              </a:ext>
            </a:extLst>
          </p:cNvPr>
          <p:cNvSpPr>
            <a:spLocks noGrp="1"/>
          </p:cNvSpPr>
          <p:nvPr>
            <p:ph idx="1"/>
          </p:nvPr>
        </p:nvSpPr>
        <p:spPr/>
        <p:txBody>
          <a:bodyPr/>
          <a:lstStyle/>
          <a:p>
            <a:r>
              <a:rPr lang="en-CA" altLang="en-US" dirty="0"/>
              <a:t>Because the amount of inventory is not known until the end of the period when the physical inventory count is taken, the cost of sales cannot be determined reliably until the inventory count is completed. </a:t>
            </a:r>
          </a:p>
          <a:p>
            <a:r>
              <a:rPr lang="en-CA" altLang="en-US" dirty="0"/>
              <a:t>Inventory purchases are debited to a temporary account called purchases. </a:t>
            </a:r>
          </a:p>
          <a:p>
            <a:r>
              <a:rPr lang="en-CA" altLang="en-US" dirty="0"/>
              <a:t>Revenues are recorded at the time of each sale. </a:t>
            </a:r>
          </a:p>
          <a:p>
            <a:r>
              <a:rPr lang="en-CA" altLang="en-US" dirty="0"/>
              <a:t>However, the cost of sales is not recorded until after the inventory count is completed. </a:t>
            </a:r>
          </a:p>
          <a:p>
            <a:r>
              <a:rPr lang="en-CA" altLang="en-US" dirty="0"/>
              <a:t>At all other times, companies using a periodic system must estimate the value of inventory on hand. </a:t>
            </a:r>
            <a:endParaRPr lang="en-US"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2BA064FC-11D2-41FF-B1D8-76299340DEA1}"/>
              </a:ext>
            </a:extLst>
          </p:cNvPr>
          <p:cNvSpPr>
            <a:spLocks noGrp="1"/>
          </p:cNvSpPr>
          <p:nvPr>
            <p:ph type="title"/>
          </p:nvPr>
        </p:nvSpPr>
        <p:spPr>
          <a:xfrm>
            <a:off x="457200" y="228600"/>
            <a:ext cx="8229600" cy="792163"/>
          </a:xfrm>
        </p:spPr>
        <p:txBody>
          <a:bodyPr/>
          <a:lstStyle/>
          <a:p>
            <a:r>
              <a:rPr lang="en-US" altLang="en-US" dirty="0"/>
              <a:t>Recording Inventory Transactions in a Perpetual System Part 1</a:t>
            </a:r>
          </a:p>
        </p:txBody>
      </p:sp>
      <p:sp>
        <p:nvSpPr>
          <p:cNvPr id="36866" name="Content Placeholder 2">
            <a:extLst>
              <a:ext uri="{FF2B5EF4-FFF2-40B4-BE49-F238E27FC236}">
                <a16:creationId xmlns:a16="http://schemas.microsoft.com/office/drawing/2014/main" id="{2C4C3D8A-73D1-4950-8874-EA9863DF9508}"/>
              </a:ext>
            </a:extLst>
          </p:cNvPr>
          <p:cNvSpPr>
            <a:spLocks noGrp="1"/>
          </p:cNvSpPr>
          <p:nvPr>
            <p:ph idx="1"/>
          </p:nvPr>
        </p:nvSpPr>
        <p:spPr/>
        <p:txBody>
          <a:bodyPr/>
          <a:lstStyle/>
          <a:p>
            <a:r>
              <a:rPr lang="en-CA" dirty="0"/>
              <a:t>Sellers of merchandise or raw materials use a variety of methods to motivate their customers to buy the products they offer. </a:t>
            </a:r>
          </a:p>
          <a:p>
            <a:r>
              <a:rPr lang="en-CA" dirty="0"/>
              <a:t>The principal methods include:</a:t>
            </a:r>
          </a:p>
          <a:p>
            <a:pPr lvl="1"/>
            <a:r>
              <a:rPr lang="en-CA" sz="2500" dirty="0"/>
              <a:t>(1) allowing customers to make purchases on account and pay later, </a:t>
            </a:r>
          </a:p>
          <a:p>
            <a:pPr lvl="1"/>
            <a:r>
              <a:rPr lang="en-CA" sz="2500" dirty="0"/>
              <a:t>(2) offering business customers discounts for early payment, and </a:t>
            </a:r>
          </a:p>
          <a:p>
            <a:pPr lvl="1"/>
            <a:r>
              <a:rPr lang="en-CA" sz="2500" dirty="0"/>
              <a:t>(3) allowing returns from all customers under specific circumstances. </a:t>
            </a:r>
            <a:endParaRPr lang="en-US" altLang="en-US" sz="2500" dirty="0"/>
          </a:p>
        </p:txBody>
      </p:sp>
    </p:spTree>
    <p:extLst>
      <p:ext uri="{BB962C8B-B14F-4D97-AF65-F5344CB8AC3E}">
        <p14:creationId xmlns:p14="http://schemas.microsoft.com/office/powerpoint/2010/main" val="139342835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2BA064FC-11D2-41FF-B1D8-76299340DEA1}"/>
              </a:ext>
            </a:extLst>
          </p:cNvPr>
          <p:cNvSpPr>
            <a:spLocks noGrp="1"/>
          </p:cNvSpPr>
          <p:nvPr>
            <p:ph type="title"/>
          </p:nvPr>
        </p:nvSpPr>
        <p:spPr>
          <a:xfrm>
            <a:off x="457200" y="198437"/>
            <a:ext cx="8229600" cy="792163"/>
          </a:xfrm>
        </p:spPr>
        <p:txBody>
          <a:bodyPr/>
          <a:lstStyle/>
          <a:p>
            <a:r>
              <a:rPr lang="en-US" altLang="en-US" dirty="0"/>
              <a:t>Recording Inventory Transactions in a Perpetual System Part 2</a:t>
            </a:r>
          </a:p>
        </p:txBody>
      </p:sp>
      <p:sp>
        <p:nvSpPr>
          <p:cNvPr id="36866" name="Content Placeholder 2">
            <a:extLst>
              <a:ext uri="{FF2B5EF4-FFF2-40B4-BE49-F238E27FC236}">
                <a16:creationId xmlns:a16="http://schemas.microsoft.com/office/drawing/2014/main" id="{2C4C3D8A-73D1-4950-8874-EA9863DF9508}"/>
              </a:ext>
            </a:extLst>
          </p:cNvPr>
          <p:cNvSpPr>
            <a:spLocks noGrp="1"/>
          </p:cNvSpPr>
          <p:nvPr>
            <p:ph idx="1"/>
          </p:nvPr>
        </p:nvSpPr>
        <p:spPr/>
        <p:txBody>
          <a:bodyPr/>
          <a:lstStyle/>
          <a:p>
            <a:r>
              <a:rPr lang="en-CA" dirty="0"/>
              <a:t>The amount recorded for inventory purchases should include the invoice price to be paid plus other expenditures related to the purchase, such as import duties, transportation charges (</a:t>
            </a:r>
            <a:r>
              <a:rPr lang="en-CA" i="1" dirty="0"/>
              <a:t>freight-in</a:t>
            </a:r>
            <a:r>
              <a:rPr lang="en-CA" dirty="0"/>
              <a:t>), as well as inspection and preparation costs. </a:t>
            </a:r>
          </a:p>
          <a:p>
            <a:endParaRPr lang="en-CA" dirty="0"/>
          </a:p>
          <a:p>
            <a:r>
              <a:rPr lang="en-CA" dirty="0"/>
              <a:t>Any </a:t>
            </a:r>
            <a:r>
              <a:rPr lang="en-CA" i="1" dirty="0"/>
              <a:t>purchase returns and allowances </a:t>
            </a:r>
            <a:r>
              <a:rPr lang="en-CA" dirty="0"/>
              <a:t>or </a:t>
            </a:r>
            <a:r>
              <a:rPr lang="en-CA" i="1" dirty="0"/>
              <a:t>purchase discounts</a:t>
            </a:r>
            <a:r>
              <a:rPr lang="en-CA" dirty="0"/>
              <a:t> taken are subtracted.</a:t>
            </a:r>
            <a:endParaRPr lang="en-US" altLang="en-US" dirty="0"/>
          </a:p>
        </p:txBody>
      </p:sp>
    </p:spTree>
    <p:extLst>
      <p:ext uri="{BB962C8B-B14F-4D97-AF65-F5344CB8AC3E}">
        <p14:creationId xmlns:p14="http://schemas.microsoft.com/office/powerpoint/2010/main" val="122203815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2BA064FC-11D2-41FF-B1D8-76299340DEA1}"/>
              </a:ext>
            </a:extLst>
          </p:cNvPr>
          <p:cNvSpPr>
            <a:spLocks noGrp="1"/>
          </p:cNvSpPr>
          <p:nvPr>
            <p:ph type="title"/>
          </p:nvPr>
        </p:nvSpPr>
        <p:spPr/>
        <p:txBody>
          <a:bodyPr/>
          <a:lstStyle/>
          <a:p>
            <a:r>
              <a:rPr lang="en-US" altLang="en-US" dirty="0"/>
              <a:t>Inventory Purchases</a:t>
            </a:r>
          </a:p>
        </p:txBody>
      </p:sp>
      <p:sp>
        <p:nvSpPr>
          <p:cNvPr id="36866" name="Content Placeholder 2">
            <a:extLst>
              <a:ext uri="{FF2B5EF4-FFF2-40B4-BE49-F238E27FC236}">
                <a16:creationId xmlns:a16="http://schemas.microsoft.com/office/drawing/2014/main" id="{2C4C3D8A-73D1-4950-8874-EA9863DF9508}"/>
              </a:ext>
            </a:extLst>
          </p:cNvPr>
          <p:cNvSpPr>
            <a:spLocks noGrp="1"/>
          </p:cNvSpPr>
          <p:nvPr>
            <p:ph idx="1"/>
          </p:nvPr>
        </p:nvSpPr>
        <p:spPr/>
        <p:txBody>
          <a:bodyPr/>
          <a:lstStyle/>
          <a:p>
            <a:r>
              <a:rPr lang="en-CA" dirty="0"/>
              <a:t>The point at which title (ownership) changes hands is determined by the shipping terms in the purchase contract, as explained in Chapter 5.</a:t>
            </a:r>
          </a:p>
          <a:p>
            <a:endParaRPr lang="en-CA" sz="1000" dirty="0"/>
          </a:p>
          <a:p>
            <a:r>
              <a:rPr lang="en-CA" dirty="0"/>
              <a:t>When goods are shipped </a:t>
            </a:r>
            <a:r>
              <a:rPr lang="en-CA" i="1" dirty="0"/>
              <a:t>FOB (free on board) destination point</a:t>
            </a:r>
            <a:r>
              <a:rPr lang="en-CA" dirty="0"/>
              <a:t>, title changes hands on delivery at the buyer’s location, and the seller pays the shipping costs. </a:t>
            </a:r>
          </a:p>
          <a:p>
            <a:endParaRPr lang="en-CA" sz="1000" dirty="0"/>
          </a:p>
          <a:p>
            <a:r>
              <a:rPr lang="en-CA" dirty="0"/>
              <a:t>When they are shipped </a:t>
            </a:r>
            <a:r>
              <a:rPr lang="en-CA" i="1" dirty="0"/>
              <a:t>FOB shipping point</a:t>
            </a:r>
            <a:r>
              <a:rPr lang="en-CA" dirty="0"/>
              <a:t>, title changes hands on delivery at the seller’s location, and the buyer pays for shipping.</a:t>
            </a:r>
            <a:endParaRPr lang="en-US" altLang="en-US" dirty="0"/>
          </a:p>
        </p:txBody>
      </p:sp>
    </p:spTree>
    <p:extLst>
      <p:ext uri="{BB962C8B-B14F-4D97-AF65-F5344CB8AC3E}">
        <p14:creationId xmlns:p14="http://schemas.microsoft.com/office/powerpoint/2010/main" val="35038555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002F0F2-6776-4BAC-89B7-CEBD9CDF3C56}"/>
              </a:ext>
            </a:extLst>
          </p:cNvPr>
          <p:cNvSpPr>
            <a:spLocks noGrp="1"/>
          </p:cNvSpPr>
          <p:nvPr>
            <p:ph type="title"/>
          </p:nvPr>
        </p:nvSpPr>
        <p:spPr/>
        <p:txBody>
          <a:bodyPr/>
          <a:lstStyle/>
          <a:p>
            <a:r>
              <a:rPr lang="en-US" altLang="en-US" dirty="0"/>
              <a:t>Purchase Returns and Allowances</a:t>
            </a:r>
          </a:p>
        </p:txBody>
      </p:sp>
      <p:sp>
        <p:nvSpPr>
          <p:cNvPr id="37890" name="Content Placeholder 2">
            <a:extLst>
              <a:ext uri="{FF2B5EF4-FFF2-40B4-BE49-F238E27FC236}">
                <a16:creationId xmlns:a16="http://schemas.microsoft.com/office/drawing/2014/main" id="{02DD37A4-3DFD-46CF-9C9E-1D9C07042E4A}"/>
              </a:ext>
            </a:extLst>
          </p:cNvPr>
          <p:cNvSpPr>
            <a:spLocks noGrp="1"/>
          </p:cNvSpPr>
          <p:nvPr>
            <p:ph idx="1"/>
          </p:nvPr>
        </p:nvSpPr>
        <p:spPr/>
        <p:txBody>
          <a:bodyPr/>
          <a:lstStyle/>
          <a:p>
            <a:r>
              <a:rPr lang="en-CA" dirty="0"/>
              <a:t>Goods purchased may be returned to the supplier if they do not meet specifications, arrive in damaged condition, or are otherwise unsatisfactory. </a:t>
            </a:r>
          </a:p>
          <a:p>
            <a:r>
              <a:rPr lang="en-CA" dirty="0"/>
              <a:t>Alternatively, the buyer may keep the unsatisfactory goods and benefit from a cost reduction or allowance.</a:t>
            </a:r>
          </a:p>
          <a:p>
            <a:r>
              <a:rPr lang="en-CA" dirty="0"/>
              <a:t>The effect of purchases returns or allowances on the cost of purchases must be measured. </a:t>
            </a:r>
          </a:p>
          <a:p>
            <a:r>
              <a:rPr lang="en-CA" dirty="0"/>
              <a:t>The buyer normally receives a cash refund or a reduction in the liability owed to the supplier. </a:t>
            </a:r>
            <a:endParaRPr lang="en-CA" altLang="en-US" b="1" dirty="0"/>
          </a:p>
          <a:p>
            <a:r>
              <a:rPr lang="en-CA" altLang="en-US" b="1" dirty="0"/>
              <a:t>Purchase returns and allowances</a:t>
            </a:r>
            <a:r>
              <a:rPr lang="en-CA" altLang="en-US" dirty="0"/>
              <a:t> are treated as a reduction in the cost of inventory purchases associated with unsatisfactory goods.</a:t>
            </a:r>
          </a:p>
          <a:p>
            <a:endParaRPr lang="en-US"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002F0F2-6776-4BAC-89B7-CEBD9CDF3C56}"/>
              </a:ext>
            </a:extLst>
          </p:cNvPr>
          <p:cNvSpPr>
            <a:spLocks noGrp="1"/>
          </p:cNvSpPr>
          <p:nvPr>
            <p:ph type="title"/>
          </p:nvPr>
        </p:nvSpPr>
        <p:spPr/>
        <p:txBody>
          <a:bodyPr/>
          <a:lstStyle/>
          <a:p>
            <a:r>
              <a:rPr lang="en-US" altLang="en-US" dirty="0"/>
              <a:t>Purchase Discounts</a:t>
            </a:r>
          </a:p>
        </p:txBody>
      </p:sp>
      <p:sp>
        <p:nvSpPr>
          <p:cNvPr id="37890" name="Content Placeholder 2">
            <a:extLst>
              <a:ext uri="{FF2B5EF4-FFF2-40B4-BE49-F238E27FC236}">
                <a16:creationId xmlns:a16="http://schemas.microsoft.com/office/drawing/2014/main" id="{02DD37A4-3DFD-46CF-9C9E-1D9C07042E4A}"/>
              </a:ext>
            </a:extLst>
          </p:cNvPr>
          <p:cNvSpPr>
            <a:spLocks noGrp="1"/>
          </p:cNvSpPr>
          <p:nvPr>
            <p:ph idx="1"/>
          </p:nvPr>
        </p:nvSpPr>
        <p:spPr/>
        <p:txBody>
          <a:bodyPr/>
          <a:lstStyle/>
          <a:p>
            <a:r>
              <a:rPr lang="en-CA" altLang="en-US" dirty="0"/>
              <a:t>Cash discounts must be accounted for by both the buyer and the seller (seller was discussed in Chapter 5). </a:t>
            </a:r>
          </a:p>
          <a:p>
            <a:endParaRPr lang="en-CA" altLang="en-US" sz="1000" dirty="0"/>
          </a:p>
          <a:p>
            <a:r>
              <a:rPr lang="en-CA" altLang="en-US" dirty="0"/>
              <a:t>When inventory is purchased on credit, terms such as 2/10, n/30 are sometimes specified. These terms mean that if payment is made within 10 days from the date of purchase, the buyer can deduct a 2 percent </a:t>
            </a:r>
            <a:r>
              <a:rPr lang="en-CA" altLang="en-US" b="1" dirty="0"/>
              <a:t>purchase discount</a:t>
            </a:r>
            <a:r>
              <a:rPr lang="en-CA" altLang="en-US" dirty="0"/>
              <a:t> for prompt payment. </a:t>
            </a:r>
          </a:p>
          <a:p>
            <a:endParaRPr lang="en-CA" altLang="en-US" sz="1000" dirty="0"/>
          </a:p>
          <a:p>
            <a:r>
              <a:rPr lang="en-CA" altLang="en-US" dirty="0"/>
              <a:t>If payment is not made within the discount period, the amount owed (net of purchases returns and allowances) is due 30 days after the date of purchase.</a:t>
            </a:r>
          </a:p>
          <a:p>
            <a:endParaRPr lang="en-US" altLang="en-US" dirty="0"/>
          </a:p>
        </p:txBody>
      </p:sp>
    </p:spTree>
    <p:extLst>
      <p:ext uri="{BB962C8B-B14F-4D97-AF65-F5344CB8AC3E}">
        <p14:creationId xmlns:p14="http://schemas.microsoft.com/office/powerpoint/2010/main" val="187267673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0F8FE1DF-E2D1-455F-BB4D-2DB292D13F79}"/>
              </a:ext>
            </a:extLst>
          </p:cNvPr>
          <p:cNvSpPr>
            <a:spLocks noGrp="1"/>
          </p:cNvSpPr>
          <p:nvPr>
            <p:ph type="title"/>
          </p:nvPr>
        </p:nvSpPr>
        <p:spPr/>
        <p:txBody>
          <a:bodyPr/>
          <a:lstStyle/>
          <a:p>
            <a:r>
              <a:rPr lang="en-US" altLang="en-US"/>
              <a:t>Inventory Costing Methods</a:t>
            </a:r>
          </a:p>
        </p:txBody>
      </p:sp>
      <p:sp>
        <p:nvSpPr>
          <p:cNvPr id="38914" name="Content Placeholder 2">
            <a:extLst>
              <a:ext uri="{FF2B5EF4-FFF2-40B4-BE49-F238E27FC236}">
                <a16:creationId xmlns:a16="http://schemas.microsoft.com/office/drawing/2014/main" id="{F1829255-48D4-4D23-A45E-97A221BA285B}"/>
              </a:ext>
            </a:extLst>
          </p:cNvPr>
          <p:cNvSpPr>
            <a:spLocks noGrp="1"/>
          </p:cNvSpPr>
          <p:nvPr>
            <p:ph idx="1"/>
          </p:nvPr>
        </p:nvSpPr>
        <p:spPr>
          <a:xfrm>
            <a:off x="457200" y="1066800"/>
            <a:ext cx="8229600" cy="5334000"/>
          </a:xfrm>
        </p:spPr>
        <p:txBody>
          <a:bodyPr/>
          <a:lstStyle/>
          <a:p>
            <a:r>
              <a:rPr lang="en-CA" altLang="en-US" dirty="0"/>
              <a:t>There are three generally accepted inventory costing methods available to determine the cost of sales:</a:t>
            </a:r>
          </a:p>
          <a:p>
            <a:pPr marL="731838" lvl="1" indent="-457200">
              <a:buFont typeface="Calibri" panose="020F0502020204030204" pitchFamily="34" charset="0"/>
              <a:buAutoNum type="arabicPeriod"/>
            </a:pPr>
            <a:r>
              <a:rPr lang="en-CA" altLang="en-US" sz="2400" dirty="0">
                <a:solidFill>
                  <a:schemeClr val="tx1"/>
                </a:solidFill>
              </a:rPr>
              <a:t>Specific identification</a:t>
            </a:r>
          </a:p>
          <a:p>
            <a:pPr marL="731838" lvl="1" indent="-457200">
              <a:buFont typeface="Calibri" panose="020F0502020204030204" pitchFamily="34" charset="0"/>
              <a:buAutoNum type="arabicPeriod"/>
            </a:pPr>
            <a:r>
              <a:rPr lang="en-CA" altLang="en-US" sz="2400" dirty="0">
                <a:solidFill>
                  <a:schemeClr val="tx1"/>
                </a:solidFill>
              </a:rPr>
              <a:t>First-in, first-out (FIFO)</a:t>
            </a:r>
          </a:p>
          <a:p>
            <a:pPr marL="731838" lvl="1" indent="-457200">
              <a:buFont typeface="Calibri" panose="020F0502020204030204" pitchFamily="34" charset="0"/>
              <a:buAutoNum type="arabicPeriod"/>
            </a:pPr>
            <a:r>
              <a:rPr lang="en-CA" altLang="en-US" sz="2400" dirty="0">
                <a:solidFill>
                  <a:schemeClr val="tx1"/>
                </a:solidFill>
              </a:rPr>
              <a:t>Weighted average</a:t>
            </a:r>
            <a:endParaRPr lang="en-CA" altLang="en-US" sz="2400" dirty="0"/>
          </a:p>
          <a:p>
            <a:r>
              <a:rPr lang="en-CA" altLang="en-US" dirty="0"/>
              <a:t>These methods are alternative ways to assign the total cost of goods available for sale between (1) ending inventory and (2) cost of sales. </a:t>
            </a:r>
          </a:p>
          <a:p>
            <a:r>
              <a:rPr lang="en-CA" altLang="en-US" dirty="0"/>
              <a:t>International Accounting Standard 2 requires only that the inventory costing method used be rational and systematic; it should be the one that provides a faithful representation of expenses to correspond to the revenues earned during the period. </a:t>
            </a:r>
          </a:p>
          <a:p>
            <a:endParaRPr lang="en-US"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C0F4BA92-B430-40CC-96BA-33C90368CF80}"/>
              </a:ext>
            </a:extLst>
          </p:cNvPr>
          <p:cNvSpPr>
            <a:spLocks noGrp="1"/>
          </p:cNvSpPr>
          <p:nvPr>
            <p:ph type="title"/>
          </p:nvPr>
        </p:nvSpPr>
        <p:spPr/>
        <p:txBody>
          <a:bodyPr/>
          <a:lstStyle/>
          <a:p>
            <a:r>
              <a:rPr lang="en-US" altLang="en-US" dirty="0"/>
              <a:t>Specific Identification Method Part 1</a:t>
            </a:r>
          </a:p>
        </p:txBody>
      </p:sp>
      <p:sp>
        <p:nvSpPr>
          <p:cNvPr id="39938" name="Content Placeholder 2">
            <a:extLst>
              <a:ext uri="{FF2B5EF4-FFF2-40B4-BE49-F238E27FC236}">
                <a16:creationId xmlns:a16="http://schemas.microsoft.com/office/drawing/2014/main" id="{1EA7A6A9-AEE9-402A-9BAE-16246D17D273}"/>
              </a:ext>
            </a:extLst>
          </p:cNvPr>
          <p:cNvSpPr>
            <a:spLocks noGrp="1"/>
          </p:cNvSpPr>
          <p:nvPr>
            <p:ph idx="1"/>
          </p:nvPr>
        </p:nvSpPr>
        <p:spPr/>
        <p:txBody>
          <a:bodyPr/>
          <a:lstStyle/>
          <a:p>
            <a:r>
              <a:rPr lang="en-CA" altLang="en-US"/>
              <a:t>The</a:t>
            </a:r>
            <a:r>
              <a:rPr lang="en-CA" altLang="en-US" b="1"/>
              <a:t> specific identification method</a:t>
            </a:r>
            <a:r>
              <a:rPr lang="en-CA" altLang="en-US"/>
              <a:t> requires that the cost of each item sold be individually identified and recorded as cost of sales. </a:t>
            </a:r>
          </a:p>
          <a:p>
            <a:r>
              <a:rPr lang="en-CA" altLang="en-US"/>
              <a:t>It cannot be used when units are identical because the method may be manipulated without electronic tracking of the units sold. </a:t>
            </a:r>
          </a:p>
          <a:p>
            <a:r>
              <a:rPr lang="en-CA" altLang="en-US"/>
              <a:t>It is easy to affect the cost of sales and the ending inventory accounts by picking and choosing from among the several available unit costs. For this reason, IFRS prohibit the use of specific identification when there are large numbers of inventory items that are interchangeable, such as leather jackets of the same size and style.</a:t>
            </a:r>
            <a:endParaRPr lang="en-US"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F394D537-7C1F-4B89-9307-65286FF4EAF8}"/>
              </a:ext>
            </a:extLst>
          </p:cNvPr>
          <p:cNvSpPr>
            <a:spLocks noGrp="1"/>
          </p:cNvSpPr>
          <p:nvPr>
            <p:ph type="title"/>
          </p:nvPr>
        </p:nvSpPr>
        <p:spPr/>
        <p:txBody>
          <a:bodyPr/>
          <a:lstStyle/>
          <a:p>
            <a:r>
              <a:rPr lang="en-US" altLang="en-US" dirty="0"/>
              <a:t>Specific Identification Method Part 2</a:t>
            </a:r>
          </a:p>
        </p:txBody>
      </p:sp>
      <p:sp>
        <p:nvSpPr>
          <p:cNvPr id="40962" name="Content Placeholder 2">
            <a:extLst>
              <a:ext uri="{FF2B5EF4-FFF2-40B4-BE49-F238E27FC236}">
                <a16:creationId xmlns:a16="http://schemas.microsoft.com/office/drawing/2014/main" id="{D4C872AF-B495-4627-B228-FEAFD5C63FB6}"/>
              </a:ext>
            </a:extLst>
          </p:cNvPr>
          <p:cNvSpPr>
            <a:spLocks noGrp="1"/>
          </p:cNvSpPr>
          <p:nvPr>
            <p:ph idx="1"/>
          </p:nvPr>
        </p:nvSpPr>
        <p:spPr/>
        <p:txBody>
          <a:bodyPr/>
          <a:lstStyle/>
          <a:p>
            <a:r>
              <a:rPr lang="en-CA" altLang="en-US" dirty="0"/>
              <a:t>The specific identification method is impractical when large quantities of similar items are kept in stock. </a:t>
            </a:r>
          </a:p>
          <a:p>
            <a:endParaRPr lang="en-CA" altLang="en-US" sz="200" dirty="0"/>
          </a:p>
          <a:p>
            <a:r>
              <a:rPr lang="en-CA" altLang="en-US" dirty="0"/>
              <a:t>It is appropriate, however, when dealing with very expensive items, such as broadband telecommunications systems, aircraft, yachts, fine art objects, buildings, luxury cars, and fine jewellery, because each item tends to differ from the other items. </a:t>
            </a:r>
          </a:p>
          <a:p>
            <a:endParaRPr lang="en-CA" altLang="en-US" sz="200" dirty="0"/>
          </a:p>
          <a:p>
            <a:r>
              <a:rPr lang="en-CA" dirty="0"/>
              <a:t>Technology assists in keeping track of the purchase cost of each item. This is done by either (1) coding the purchase cost on each unit before placing it in stock or (2) keeping a separate record of the unit and identifying it with a serial number.</a:t>
            </a:r>
          </a:p>
          <a:p>
            <a:endParaRPr lang="en-US"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8A6840BA-9757-4A64-A0AA-8B82A3E35AF1}"/>
              </a:ext>
            </a:extLst>
          </p:cNvPr>
          <p:cNvSpPr>
            <a:spLocks noGrp="1"/>
          </p:cNvSpPr>
          <p:nvPr>
            <p:ph type="title"/>
          </p:nvPr>
        </p:nvSpPr>
        <p:spPr/>
        <p:txBody>
          <a:bodyPr/>
          <a:lstStyle/>
          <a:p>
            <a:r>
              <a:rPr lang="en-US" altLang="en-US"/>
              <a:t>Cost Flow Assumptions</a:t>
            </a:r>
          </a:p>
        </p:txBody>
      </p:sp>
      <p:sp>
        <p:nvSpPr>
          <p:cNvPr id="41986" name="Content Placeholder 2">
            <a:extLst>
              <a:ext uri="{FF2B5EF4-FFF2-40B4-BE49-F238E27FC236}">
                <a16:creationId xmlns:a16="http://schemas.microsoft.com/office/drawing/2014/main" id="{912F761E-EBB7-4884-9153-D07A25073E58}"/>
              </a:ext>
            </a:extLst>
          </p:cNvPr>
          <p:cNvSpPr>
            <a:spLocks noGrp="1"/>
          </p:cNvSpPr>
          <p:nvPr>
            <p:ph idx="1"/>
          </p:nvPr>
        </p:nvSpPr>
        <p:spPr/>
        <p:txBody>
          <a:bodyPr/>
          <a:lstStyle/>
          <a:p>
            <a:r>
              <a:rPr lang="en-CA" altLang="en-US"/>
              <a:t>Most inventory items are accounted for by using one of two cost flow assumptions. </a:t>
            </a:r>
          </a:p>
          <a:p>
            <a:endParaRPr lang="en-CA" altLang="en-US" sz="800"/>
          </a:p>
          <a:p>
            <a:r>
              <a:rPr lang="en-CA" altLang="en-US"/>
              <a:t>The choice of an inventory costing method is not based on the physical flow of goods on and off the shelves.</a:t>
            </a:r>
          </a:p>
          <a:p>
            <a:endParaRPr lang="en-CA" altLang="en-US" sz="800"/>
          </a:p>
          <a:p>
            <a:r>
              <a:rPr lang="en-CA" altLang="en-US"/>
              <a:t>The </a:t>
            </a:r>
            <a:r>
              <a:rPr lang="en-CA" altLang="en-US" b="1"/>
              <a:t>first-in, first-out (FIFO) method</a:t>
            </a:r>
            <a:r>
              <a:rPr lang="en-CA" altLang="en-US"/>
              <a:t> assumes that the earliest goods purchased (the first ones in) are the first ones sold (the first ones out) and the last ones purchased remain in ending inventory.</a:t>
            </a:r>
          </a:p>
          <a:p>
            <a:endParaRPr lang="en-CA" altLang="en-US" sz="800"/>
          </a:p>
          <a:p>
            <a:r>
              <a:rPr lang="en-CA" altLang="en-US"/>
              <a:t>FIFO allocates the oldest unit costs to cost of sales and the newest unit costs to ending inventory.</a:t>
            </a:r>
            <a:endParaRPr lang="en-US"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1AEDF6E9-4C15-4998-B3D0-C16E166E126F}"/>
              </a:ext>
            </a:extLst>
          </p:cNvPr>
          <p:cNvSpPr>
            <a:spLocks noGrp="1"/>
          </p:cNvSpPr>
          <p:nvPr>
            <p:ph type="title"/>
          </p:nvPr>
        </p:nvSpPr>
        <p:spPr>
          <a:xfrm>
            <a:off x="457200" y="198437"/>
            <a:ext cx="8229600" cy="792163"/>
          </a:xfrm>
        </p:spPr>
        <p:txBody>
          <a:bodyPr/>
          <a:lstStyle/>
          <a:p>
            <a:r>
              <a:rPr lang="en-US" altLang="en-US" dirty="0"/>
              <a:t>FIFO Inventory Flows – Perpetual Inventory System; Exhibit 6.5 Part 1</a:t>
            </a:r>
          </a:p>
        </p:txBody>
      </p:sp>
      <p:pic>
        <p:nvPicPr>
          <p:cNvPr id="3" name="Picture 2">
            <a:extLst>
              <a:ext uri="{FF2B5EF4-FFF2-40B4-BE49-F238E27FC236}">
                <a16:creationId xmlns:a16="http://schemas.microsoft.com/office/drawing/2014/main" id="{D4711888-FC2C-9F4A-9FF6-80D25201F4AF}"/>
              </a:ext>
            </a:extLst>
          </p:cNvPr>
          <p:cNvPicPr>
            <a:picLocks noChangeAspect="1"/>
          </p:cNvPicPr>
          <p:nvPr/>
        </p:nvPicPr>
        <p:blipFill>
          <a:blip r:embed="rId2"/>
          <a:stretch>
            <a:fillRect/>
          </a:stretch>
        </p:blipFill>
        <p:spPr>
          <a:xfrm>
            <a:off x="685800" y="1371600"/>
            <a:ext cx="7287381" cy="459105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0AC16975-D033-43A7-8FE3-B2176944DD7F}"/>
              </a:ext>
            </a:extLst>
          </p:cNvPr>
          <p:cNvSpPr>
            <a:spLocks noGrp="1"/>
          </p:cNvSpPr>
          <p:nvPr>
            <p:ph type="title"/>
          </p:nvPr>
        </p:nvSpPr>
        <p:spPr>
          <a:xfrm>
            <a:off x="457200" y="228600"/>
            <a:ext cx="8229600" cy="792163"/>
          </a:xfrm>
        </p:spPr>
        <p:txBody>
          <a:bodyPr/>
          <a:lstStyle/>
          <a:p>
            <a:r>
              <a:rPr lang="en-US" altLang="en-US" dirty="0"/>
              <a:t>FIFO Inventory Flows – Perpetual Inventory System; Exhibit 6.5 Part 2</a:t>
            </a:r>
          </a:p>
        </p:txBody>
      </p:sp>
      <p:graphicFrame>
        <p:nvGraphicFramePr>
          <p:cNvPr id="8" name="Table 7">
            <a:extLst>
              <a:ext uri="{FF2B5EF4-FFF2-40B4-BE49-F238E27FC236}">
                <a16:creationId xmlns:a16="http://schemas.microsoft.com/office/drawing/2014/main" id="{71325227-E3ED-C44E-A2FE-1A574D7D8D2B}"/>
              </a:ext>
            </a:extLst>
          </p:cNvPr>
          <p:cNvGraphicFramePr>
            <a:graphicFrameLocks noGrp="1"/>
          </p:cNvGraphicFramePr>
          <p:nvPr>
            <p:extLst>
              <p:ext uri="{D42A27DB-BD31-4B8C-83A1-F6EECF244321}">
                <p14:modId xmlns:p14="http://schemas.microsoft.com/office/powerpoint/2010/main" val="30030807"/>
              </p:ext>
            </p:extLst>
          </p:nvPr>
        </p:nvGraphicFramePr>
        <p:xfrm>
          <a:off x="609600" y="1524000"/>
          <a:ext cx="7924800" cy="4454972"/>
        </p:xfrm>
        <a:graphic>
          <a:graphicData uri="http://schemas.openxmlformats.org/drawingml/2006/table">
            <a:tbl>
              <a:tblPr/>
              <a:tblGrid>
                <a:gridCol w="990600">
                  <a:extLst>
                    <a:ext uri="{9D8B030D-6E8A-4147-A177-3AD203B41FA5}">
                      <a16:colId xmlns:a16="http://schemas.microsoft.com/office/drawing/2014/main" val="2770541075"/>
                    </a:ext>
                  </a:extLst>
                </a:gridCol>
                <a:gridCol w="3200400">
                  <a:extLst>
                    <a:ext uri="{9D8B030D-6E8A-4147-A177-3AD203B41FA5}">
                      <a16:colId xmlns:a16="http://schemas.microsoft.com/office/drawing/2014/main" val="2795058273"/>
                    </a:ext>
                  </a:extLst>
                </a:gridCol>
                <a:gridCol w="1143000">
                  <a:extLst>
                    <a:ext uri="{9D8B030D-6E8A-4147-A177-3AD203B41FA5}">
                      <a16:colId xmlns:a16="http://schemas.microsoft.com/office/drawing/2014/main" val="2420064204"/>
                    </a:ext>
                  </a:extLst>
                </a:gridCol>
                <a:gridCol w="533400">
                  <a:extLst>
                    <a:ext uri="{9D8B030D-6E8A-4147-A177-3AD203B41FA5}">
                      <a16:colId xmlns:a16="http://schemas.microsoft.com/office/drawing/2014/main" val="2153249799"/>
                    </a:ext>
                  </a:extLst>
                </a:gridCol>
                <a:gridCol w="228600">
                  <a:extLst>
                    <a:ext uri="{9D8B030D-6E8A-4147-A177-3AD203B41FA5}">
                      <a16:colId xmlns:a16="http://schemas.microsoft.com/office/drawing/2014/main" val="4068289626"/>
                    </a:ext>
                  </a:extLst>
                </a:gridCol>
                <a:gridCol w="685800">
                  <a:extLst>
                    <a:ext uri="{9D8B030D-6E8A-4147-A177-3AD203B41FA5}">
                      <a16:colId xmlns:a16="http://schemas.microsoft.com/office/drawing/2014/main" val="484545745"/>
                    </a:ext>
                  </a:extLst>
                </a:gridCol>
                <a:gridCol w="152400">
                  <a:extLst>
                    <a:ext uri="{9D8B030D-6E8A-4147-A177-3AD203B41FA5}">
                      <a16:colId xmlns:a16="http://schemas.microsoft.com/office/drawing/2014/main" val="2831122331"/>
                    </a:ext>
                  </a:extLst>
                </a:gridCol>
                <a:gridCol w="990600">
                  <a:extLst>
                    <a:ext uri="{9D8B030D-6E8A-4147-A177-3AD203B41FA5}">
                      <a16:colId xmlns:a16="http://schemas.microsoft.com/office/drawing/2014/main" val="1926978934"/>
                    </a:ext>
                  </a:extLst>
                </a:gridCol>
              </a:tblGrid>
              <a:tr h="131704">
                <a:tc gridSpan="8">
                  <a:txBody>
                    <a:bodyPr/>
                    <a:lstStyle/>
                    <a:p>
                      <a:pPr algn="ctr"/>
                      <a:r>
                        <a:rPr lang="en-CA" sz="1400" b="1" dirty="0"/>
                        <a:t>Cost of Sales Calculation (FIFO Perpetual)</a:t>
                      </a:r>
                    </a:p>
                  </a:txBody>
                  <a:tcPr marL="32926" marR="32926" marT="16463" marB="16463"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75637773"/>
                  </a:ext>
                </a:extLst>
              </a:tr>
              <a:tr h="131704">
                <a:tc gridSpan="8">
                  <a:txBody>
                    <a:bodyPr/>
                    <a:lstStyle/>
                    <a:p>
                      <a:pPr algn="r"/>
                      <a:r>
                        <a:rPr lang="en-CA" sz="1400" b="1" dirty="0"/>
                        <a:t>Cost of Jackets Purchased and Sold</a:t>
                      </a:r>
                    </a:p>
                  </a:txBody>
                  <a:tcPr marL="32926" marR="32926" marT="16463" marB="16463"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4714258"/>
                  </a:ext>
                </a:extLst>
              </a:tr>
              <a:tr h="131704">
                <a:tc>
                  <a:txBody>
                    <a:bodyPr/>
                    <a:lstStyle/>
                    <a:p>
                      <a:r>
                        <a:rPr lang="en-CA" sz="1400" b="1" u="sng"/>
                        <a:t>Date</a:t>
                      </a:r>
                    </a:p>
                  </a:txBody>
                  <a:tcPr marL="32926" marR="32926" marT="16463" marB="16463" anchor="ctr">
                    <a:lnL>
                      <a:noFill/>
                    </a:lnL>
                    <a:lnR>
                      <a:noFill/>
                    </a:lnR>
                    <a:lnT>
                      <a:noFill/>
                    </a:lnT>
                    <a:lnB>
                      <a:noFill/>
                    </a:lnB>
                  </a:tcPr>
                </a:tc>
                <a:tc>
                  <a:txBody>
                    <a:bodyPr/>
                    <a:lstStyle/>
                    <a:p>
                      <a:endParaRPr lang="en-CA" sz="1400" b="1" u="sng" dirty="0"/>
                    </a:p>
                  </a:txBody>
                  <a:tcPr marL="32926" marR="32926" marT="16463" marB="16463" anchor="ctr">
                    <a:lnL>
                      <a:noFill/>
                    </a:lnL>
                    <a:lnR>
                      <a:noFill/>
                    </a:lnR>
                    <a:lnT>
                      <a:noFill/>
                    </a:lnT>
                    <a:lnB>
                      <a:noFill/>
                    </a:lnB>
                  </a:tcPr>
                </a:tc>
                <a:tc>
                  <a:txBody>
                    <a:bodyPr/>
                    <a:lstStyle/>
                    <a:p>
                      <a:endParaRPr lang="en-CA" sz="1400" b="1" u="sng" dirty="0"/>
                    </a:p>
                  </a:txBody>
                  <a:tcPr marL="32926" marR="32926" marT="16463" marB="16463" anchor="ctr">
                    <a:lnL>
                      <a:noFill/>
                    </a:lnL>
                    <a:lnR>
                      <a:noFill/>
                    </a:lnR>
                    <a:lnT>
                      <a:noFill/>
                    </a:lnT>
                    <a:lnB>
                      <a:noFill/>
                    </a:lnB>
                  </a:tcPr>
                </a:tc>
                <a:tc>
                  <a:txBody>
                    <a:bodyPr/>
                    <a:lstStyle/>
                    <a:p>
                      <a:pPr algn="ctr"/>
                      <a:r>
                        <a:rPr lang="en-CA" sz="1400" b="1" u="sng" dirty="0"/>
                        <a:t>Units</a:t>
                      </a:r>
                    </a:p>
                  </a:txBody>
                  <a:tcPr marL="32926" marR="32926" marT="16463" marB="16463" anchor="ctr">
                    <a:lnL>
                      <a:noFill/>
                    </a:lnL>
                    <a:lnR>
                      <a:noFill/>
                    </a:lnR>
                    <a:lnT>
                      <a:noFill/>
                    </a:lnT>
                    <a:lnB>
                      <a:noFill/>
                    </a:lnB>
                  </a:tcPr>
                </a:tc>
                <a:tc>
                  <a:txBody>
                    <a:bodyPr/>
                    <a:lstStyle/>
                    <a:p>
                      <a:endParaRPr lang="en-CA" sz="1400" b="1" u="sng" dirty="0"/>
                    </a:p>
                  </a:txBody>
                  <a:tcPr marL="32926" marR="32926" marT="16463" marB="16463" anchor="ctr">
                    <a:lnL>
                      <a:noFill/>
                    </a:lnL>
                    <a:lnR>
                      <a:noFill/>
                    </a:lnR>
                    <a:lnT>
                      <a:noFill/>
                    </a:lnT>
                    <a:lnB>
                      <a:noFill/>
                    </a:lnB>
                  </a:tcPr>
                </a:tc>
                <a:tc>
                  <a:txBody>
                    <a:bodyPr/>
                    <a:lstStyle/>
                    <a:p>
                      <a:pPr algn="ctr"/>
                      <a:r>
                        <a:rPr lang="en-CA" sz="1400" b="1" u="sng" dirty="0"/>
                        <a:t>Cost</a:t>
                      </a:r>
                    </a:p>
                  </a:txBody>
                  <a:tcPr marL="32926" marR="32926" marT="16463" marB="16463" anchor="ctr">
                    <a:lnL>
                      <a:noFill/>
                    </a:lnL>
                    <a:lnR>
                      <a:noFill/>
                    </a:lnR>
                    <a:lnT>
                      <a:noFill/>
                    </a:lnT>
                    <a:lnB>
                      <a:noFill/>
                    </a:lnB>
                  </a:tcPr>
                </a:tc>
                <a:tc>
                  <a:txBody>
                    <a:bodyPr/>
                    <a:lstStyle/>
                    <a:p>
                      <a:endParaRPr lang="en-CA" sz="1400" b="1" u="sng" dirty="0"/>
                    </a:p>
                  </a:txBody>
                  <a:tcPr marL="32926" marR="32926" marT="16463" marB="16463" anchor="ctr">
                    <a:lnL>
                      <a:noFill/>
                    </a:lnL>
                    <a:lnR>
                      <a:noFill/>
                    </a:lnR>
                    <a:lnT>
                      <a:noFill/>
                    </a:lnT>
                    <a:lnB>
                      <a:noFill/>
                    </a:lnB>
                  </a:tcPr>
                </a:tc>
                <a:tc>
                  <a:txBody>
                    <a:bodyPr/>
                    <a:lstStyle/>
                    <a:p>
                      <a:pPr algn="ctr"/>
                      <a:r>
                        <a:rPr lang="en-CA" sz="1400" b="1" u="sng" dirty="0"/>
                        <a:t>Total</a:t>
                      </a:r>
                    </a:p>
                  </a:txBody>
                  <a:tcPr marL="32926" marR="32926" marT="16463" marB="16463" anchor="ctr">
                    <a:lnL>
                      <a:noFill/>
                    </a:lnL>
                    <a:lnR>
                      <a:noFill/>
                    </a:lnR>
                    <a:lnT>
                      <a:noFill/>
                    </a:lnT>
                    <a:lnB>
                      <a:noFill/>
                    </a:lnB>
                  </a:tcPr>
                </a:tc>
                <a:extLst>
                  <a:ext uri="{0D108BD9-81ED-4DB2-BD59-A6C34878D82A}">
                    <a16:rowId xmlns:a16="http://schemas.microsoft.com/office/drawing/2014/main" val="1127479242"/>
                  </a:ext>
                </a:extLst>
              </a:tr>
              <a:tr h="251742">
                <a:tc>
                  <a:txBody>
                    <a:bodyPr/>
                    <a:lstStyle/>
                    <a:p>
                      <a:r>
                        <a:rPr lang="en-CA" sz="1400" dirty="0"/>
                        <a:t>January 1</a:t>
                      </a:r>
                    </a:p>
                  </a:txBody>
                  <a:tcPr marL="32926" marR="32926" marT="16463" marB="16463" anchor="ctr">
                    <a:lnL>
                      <a:noFill/>
                    </a:lnL>
                    <a:lnR>
                      <a:noFill/>
                    </a:lnR>
                    <a:lnT>
                      <a:noFill/>
                    </a:lnT>
                    <a:lnB>
                      <a:noFill/>
                    </a:lnB>
                  </a:tcPr>
                </a:tc>
                <a:tc>
                  <a:txBody>
                    <a:bodyPr/>
                    <a:lstStyle/>
                    <a:p>
                      <a:r>
                        <a:rPr lang="en-CA" sz="1400"/>
                        <a:t>Beginning inventory</a:t>
                      </a:r>
                    </a:p>
                  </a:txBody>
                  <a:tcPr marL="32926" marR="32926" marT="16463" marB="16463" anchor="ctr">
                    <a:lnL>
                      <a:noFill/>
                    </a:lnL>
                    <a:lnR>
                      <a:noFill/>
                    </a:lnR>
                    <a:lnT>
                      <a:noFill/>
                    </a:lnT>
                    <a:lnB>
                      <a:noFill/>
                    </a:lnB>
                  </a:tcPr>
                </a:tc>
                <a:tc>
                  <a:txBody>
                    <a:bodyPr/>
                    <a:lstStyle/>
                    <a:p>
                      <a:r>
                        <a:rPr lang="en-CA" sz="1400" b="1" dirty="0"/>
                        <a:t>Oldest cost</a:t>
                      </a:r>
                    </a:p>
                  </a:txBody>
                  <a:tcPr marL="32926" marR="32926" marT="16463" marB="16463" anchor="ctr">
                    <a:lnL>
                      <a:noFill/>
                    </a:lnL>
                    <a:lnR>
                      <a:noFill/>
                    </a:lnR>
                    <a:lnT>
                      <a:noFill/>
                    </a:lnT>
                    <a:lnB>
                      <a:noFill/>
                    </a:lnB>
                  </a:tcPr>
                </a:tc>
                <a:tc>
                  <a:txBody>
                    <a:bodyPr/>
                    <a:lstStyle/>
                    <a:p>
                      <a:pPr algn="r"/>
                      <a:r>
                        <a:rPr lang="en-CA" sz="1400" dirty="0"/>
                        <a:t>800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$400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dirty="0"/>
                        <a:t>$320,000</a:t>
                      </a:r>
                    </a:p>
                  </a:txBody>
                  <a:tcPr marL="32926" marR="32926" marT="16463" marB="16463" anchor="ctr">
                    <a:lnL>
                      <a:noFill/>
                    </a:lnL>
                    <a:lnR>
                      <a:noFill/>
                    </a:lnR>
                    <a:lnT>
                      <a:noFill/>
                    </a:lnT>
                    <a:lnB>
                      <a:noFill/>
                    </a:lnB>
                  </a:tcPr>
                </a:tc>
                <a:extLst>
                  <a:ext uri="{0D108BD9-81ED-4DB2-BD59-A6C34878D82A}">
                    <a16:rowId xmlns:a16="http://schemas.microsoft.com/office/drawing/2014/main" val="3993064019"/>
                  </a:ext>
                </a:extLst>
              </a:tr>
              <a:tr h="230481">
                <a:tc>
                  <a:txBody>
                    <a:bodyPr/>
                    <a:lstStyle/>
                    <a:p>
                      <a:r>
                        <a:rPr lang="en-CA" sz="1400"/>
                        <a:t>January 31</a:t>
                      </a:r>
                    </a:p>
                  </a:txBody>
                  <a:tcPr marL="32926" marR="32926" marT="16463" marB="16463" anchor="ctr">
                    <a:lnL>
                      <a:noFill/>
                    </a:lnL>
                    <a:lnR>
                      <a:noFill/>
                    </a:lnR>
                    <a:lnT>
                      <a:noFill/>
                    </a:lnT>
                    <a:lnB>
                      <a:noFill/>
                    </a:lnB>
                  </a:tcPr>
                </a:tc>
                <a:tc>
                  <a:txBody>
                    <a:bodyPr/>
                    <a:lstStyle/>
                    <a:p>
                      <a:r>
                        <a:rPr lang="en-CA" sz="1400"/>
                        <a:t>Cost of sales</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(600)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$400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u="sng" dirty="0"/>
                        <a:t>(240,000)</a:t>
                      </a:r>
                    </a:p>
                  </a:txBody>
                  <a:tcPr marL="32926" marR="32926" marT="16463" marB="16463" anchor="ctr">
                    <a:lnL>
                      <a:noFill/>
                    </a:lnL>
                    <a:lnR>
                      <a:noFill/>
                    </a:lnR>
                    <a:lnT>
                      <a:noFill/>
                    </a:lnT>
                    <a:lnB>
                      <a:noFill/>
                    </a:lnB>
                  </a:tcPr>
                </a:tc>
                <a:extLst>
                  <a:ext uri="{0D108BD9-81ED-4DB2-BD59-A6C34878D82A}">
                    <a16:rowId xmlns:a16="http://schemas.microsoft.com/office/drawing/2014/main" val="3440176812"/>
                  </a:ext>
                </a:extLst>
              </a:tr>
              <a:tr h="187019">
                <a:tc>
                  <a:txBody>
                    <a:bodyPr/>
                    <a:lstStyle/>
                    <a:p>
                      <a:endParaRPr lang="en-CA" sz="1400" dirty="0"/>
                    </a:p>
                  </a:txBody>
                  <a:tcPr marL="32926" marR="32926" marT="16463" marB="16463" anchor="ctr">
                    <a:lnL>
                      <a:noFill/>
                    </a:lnL>
                    <a:lnR>
                      <a:noFill/>
                    </a:lnR>
                    <a:lnT>
                      <a:noFill/>
                    </a:lnT>
                    <a:lnB>
                      <a:noFill/>
                    </a:lnB>
                  </a:tcPr>
                </a:tc>
                <a:tc>
                  <a:txBody>
                    <a:bodyPr/>
                    <a:lstStyle/>
                    <a:p>
                      <a:r>
                        <a:rPr lang="en-CA" sz="1400"/>
                        <a:t>Cost of remaining inventory</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200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$400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dirty="0"/>
                        <a:t>80,000</a:t>
                      </a:r>
                    </a:p>
                  </a:txBody>
                  <a:tcPr marL="32926" marR="32926" marT="16463" marB="16463" anchor="ctr">
                    <a:lnL>
                      <a:noFill/>
                    </a:lnL>
                    <a:lnR>
                      <a:noFill/>
                    </a:lnR>
                    <a:lnT>
                      <a:noFill/>
                    </a:lnT>
                    <a:lnB>
                      <a:noFill/>
                    </a:lnB>
                  </a:tcPr>
                </a:tc>
                <a:extLst>
                  <a:ext uri="{0D108BD9-81ED-4DB2-BD59-A6C34878D82A}">
                    <a16:rowId xmlns:a16="http://schemas.microsoft.com/office/drawing/2014/main" val="1063228341"/>
                  </a:ext>
                </a:extLst>
              </a:tr>
              <a:tr h="230481">
                <a:tc>
                  <a:txBody>
                    <a:bodyPr/>
                    <a:lstStyle/>
                    <a:p>
                      <a:r>
                        <a:rPr lang="en-CA" sz="1400"/>
                        <a:t>February 5</a:t>
                      </a:r>
                    </a:p>
                  </a:txBody>
                  <a:tcPr marL="32926" marR="32926" marT="16463" marB="16463" anchor="ctr">
                    <a:lnL>
                      <a:noFill/>
                    </a:lnL>
                    <a:lnR>
                      <a:noFill/>
                    </a:lnR>
                    <a:lnT>
                      <a:noFill/>
                    </a:lnT>
                    <a:lnB>
                      <a:noFill/>
                    </a:lnB>
                  </a:tcPr>
                </a:tc>
                <a:tc>
                  <a:txBody>
                    <a:bodyPr/>
                    <a:lstStyle/>
                    <a:p>
                      <a:r>
                        <a:rPr lang="en-CA" sz="1400"/>
                        <a:t>Purchase</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800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$420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u="sng" dirty="0"/>
                        <a:t>336,000</a:t>
                      </a:r>
                    </a:p>
                  </a:txBody>
                  <a:tcPr marL="32926" marR="32926" marT="16463" marB="16463" anchor="ctr">
                    <a:lnL>
                      <a:noFill/>
                    </a:lnL>
                    <a:lnR>
                      <a:noFill/>
                    </a:lnR>
                    <a:lnT>
                      <a:noFill/>
                    </a:lnT>
                    <a:lnB>
                      <a:noFill/>
                    </a:lnB>
                  </a:tcPr>
                </a:tc>
                <a:extLst>
                  <a:ext uri="{0D108BD9-81ED-4DB2-BD59-A6C34878D82A}">
                    <a16:rowId xmlns:a16="http://schemas.microsoft.com/office/drawing/2014/main" val="3813868258"/>
                  </a:ext>
                </a:extLst>
              </a:tr>
              <a:tr h="175918">
                <a:tc>
                  <a:txBody>
                    <a:bodyPr/>
                    <a:lstStyle/>
                    <a:p>
                      <a:endParaRPr lang="en-CA" sz="1400"/>
                    </a:p>
                  </a:txBody>
                  <a:tcPr marL="32926" marR="32926" marT="16463" marB="16463" anchor="ctr">
                    <a:lnL>
                      <a:noFill/>
                    </a:lnL>
                    <a:lnR>
                      <a:noFill/>
                    </a:lnR>
                    <a:lnT>
                      <a:noFill/>
                    </a:lnT>
                    <a:lnB>
                      <a:noFill/>
                    </a:lnB>
                  </a:tcPr>
                </a:tc>
                <a:tc>
                  <a:txBody>
                    <a:bodyPr/>
                    <a:lstStyle/>
                    <a:p>
                      <a:r>
                        <a:rPr lang="en-CA" sz="1400"/>
                        <a:t>Cost of goods available for sale</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1,000</a:t>
                      </a:r>
                    </a:p>
                  </a:txBody>
                  <a:tcPr marL="32926" marR="32926" marT="16463" marB="16463" anchor="ctr">
                    <a:lnL>
                      <a:noFill/>
                    </a:lnL>
                    <a:lnR>
                      <a:noFill/>
                    </a:lnR>
                    <a:lnT>
                      <a:noFill/>
                    </a:lnT>
                    <a:lnB>
                      <a:noFill/>
                    </a:lnB>
                  </a:tcPr>
                </a:tc>
                <a:tc>
                  <a:txBody>
                    <a:bodyPr/>
                    <a:lstStyle/>
                    <a:p>
                      <a:pPr algn="ctr"/>
                      <a:endParaRPr lang="en-CA" sz="1400" dirty="0"/>
                    </a:p>
                  </a:txBody>
                  <a:tcPr marL="32926" marR="32926" marT="16463" marB="16463" anchor="ctr">
                    <a:lnL>
                      <a:noFill/>
                    </a:lnL>
                    <a:lnR>
                      <a:noFill/>
                    </a:lnR>
                    <a:lnT>
                      <a:noFill/>
                    </a:lnT>
                    <a:lnB>
                      <a:noFill/>
                    </a:lnB>
                  </a:tcPr>
                </a:tc>
                <a:tc>
                  <a:txBody>
                    <a:bodyPr/>
                    <a:lstStyle/>
                    <a:p>
                      <a:pPr algn="ctr"/>
                      <a:endParaRPr lang="en-CA" sz="1400" dirty="0"/>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pPr algn="r"/>
                      <a:r>
                        <a:rPr lang="en-CA" sz="1400" dirty="0"/>
                        <a:t>416,000</a:t>
                      </a:r>
                    </a:p>
                  </a:txBody>
                  <a:tcPr marL="32926" marR="32926" marT="16463" marB="16463" anchor="ctr">
                    <a:lnL>
                      <a:noFill/>
                    </a:lnL>
                    <a:lnR>
                      <a:noFill/>
                    </a:lnR>
                    <a:lnT>
                      <a:noFill/>
                    </a:lnT>
                    <a:lnB>
                      <a:noFill/>
                    </a:lnB>
                  </a:tcPr>
                </a:tc>
                <a:extLst>
                  <a:ext uri="{0D108BD9-81ED-4DB2-BD59-A6C34878D82A}">
                    <a16:rowId xmlns:a16="http://schemas.microsoft.com/office/drawing/2014/main" val="3289496299"/>
                  </a:ext>
                </a:extLst>
              </a:tr>
              <a:tr h="205081">
                <a:tc>
                  <a:txBody>
                    <a:bodyPr/>
                    <a:lstStyle/>
                    <a:p>
                      <a:r>
                        <a:rPr lang="en-CA" sz="1400"/>
                        <a:t>February 28</a:t>
                      </a:r>
                    </a:p>
                  </a:txBody>
                  <a:tcPr marL="32926" marR="32926" marT="16463" marB="16463" anchor="ctr">
                    <a:lnL>
                      <a:noFill/>
                    </a:lnL>
                    <a:lnR>
                      <a:noFill/>
                    </a:lnR>
                    <a:lnT>
                      <a:noFill/>
                    </a:lnT>
                    <a:lnB>
                      <a:noFill/>
                    </a:lnB>
                  </a:tcPr>
                </a:tc>
                <a:tc>
                  <a:txBody>
                    <a:bodyPr/>
                    <a:lstStyle/>
                    <a:p>
                      <a:r>
                        <a:rPr lang="en-CA" sz="1400"/>
                        <a:t>Cost of sales (900 units)</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(200)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a:t>$400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dirty="0"/>
                        <a:t>(80,000)</a:t>
                      </a:r>
                    </a:p>
                  </a:txBody>
                  <a:tcPr marL="32926" marR="32926" marT="16463" marB="16463" anchor="ctr">
                    <a:lnL>
                      <a:noFill/>
                    </a:lnL>
                    <a:lnR>
                      <a:noFill/>
                    </a:lnR>
                    <a:lnT>
                      <a:noFill/>
                    </a:lnT>
                    <a:lnB>
                      <a:noFill/>
                    </a:lnB>
                  </a:tcPr>
                </a:tc>
                <a:extLst>
                  <a:ext uri="{0D108BD9-81ED-4DB2-BD59-A6C34878D82A}">
                    <a16:rowId xmlns:a16="http://schemas.microsoft.com/office/drawing/2014/main" val="1916971672"/>
                  </a:ext>
                </a:extLst>
              </a:tr>
              <a:tr h="230481">
                <a:tc>
                  <a:txBody>
                    <a:bodyPr/>
                    <a:lstStyle/>
                    <a:p>
                      <a:endParaRPr lang="en-CA" sz="1400"/>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(700)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$420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u="sng" dirty="0"/>
                        <a:t>(294,000)</a:t>
                      </a:r>
                    </a:p>
                  </a:txBody>
                  <a:tcPr marL="32926" marR="32926" marT="16463" marB="16463" anchor="ctr">
                    <a:lnL>
                      <a:noFill/>
                    </a:lnL>
                    <a:lnR>
                      <a:noFill/>
                    </a:lnR>
                    <a:lnT>
                      <a:noFill/>
                    </a:lnT>
                    <a:lnB>
                      <a:noFill/>
                    </a:lnB>
                  </a:tcPr>
                </a:tc>
                <a:extLst>
                  <a:ext uri="{0D108BD9-81ED-4DB2-BD59-A6C34878D82A}">
                    <a16:rowId xmlns:a16="http://schemas.microsoft.com/office/drawing/2014/main" val="1677853184"/>
                  </a:ext>
                </a:extLst>
              </a:tr>
              <a:tr h="198684">
                <a:tc>
                  <a:txBody>
                    <a:bodyPr/>
                    <a:lstStyle/>
                    <a:p>
                      <a:endParaRPr lang="en-CA" sz="1400"/>
                    </a:p>
                  </a:txBody>
                  <a:tcPr marL="32926" marR="32926" marT="16463" marB="16463" anchor="ctr">
                    <a:lnL>
                      <a:noFill/>
                    </a:lnL>
                    <a:lnR>
                      <a:noFill/>
                    </a:lnR>
                    <a:lnT>
                      <a:noFill/>
                    </a:lnT>
                    <a:lnB>
                      <a:noFill/>
                    </a:lnB>
                  </a:tcPr>
                </a:tc>
                <a:tc>
                  <a:txBody>
                    <a:bodyPr/>
                    <a:lstStyle/>
                    <a:p>
                      <a:r>
                        <a:rPr lang="en-CA" sz="1400"/>
                        <a:t>Cost of remaining inventory</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100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$420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dirty="0"/>
                        <a:t>42,000</a:t>
                      </a:r>
                    </a:p>
                  </a:txBody>
                  <a:tcPr marL="32926" marR="32926" marT="16463" marB="16463" anchor="ctr">
                    <a:lnL>
                      <a:noFill/>
                    </a:lnL>
                    <a:lnR>
                      <a:noFill/>
                    </a:lnR>
                    <a:lnT>
                      <a:noFill/>
                    </a:lnT>
                    <a:lnB>
                      <a:noFill/>
                    </a:lnB>
                  </a:tcPr>
                </a:tc>
                <a:extLst>
                  <a:ext uri="{0D108BD9-81ED-4DB2-BD59-A6C34878D82A}">
                    <a16:rowId xmlns:a16="http://schemas.microsoft.com/office/drawing/2014/main" val="2551257685"/>
                  </a:ext>
                </a:extLst>
              </a:tr>
              <a:tr h="230481">
                <a:tc>
                  <a:txBody>
                    <a:bodyPr/>
                    <a:lstStyle/>
                    <a:p>
                      <a:r>
                        <a:rPr lang="en-CA" sz="1400"/>
                        <a:t>March 10</a:t>
                      </a:r>
                    </a:p>
                  </a:txBody>
                  <a:tcPr marL="32926" marR="32926" marT="16463" marB="16463" anchor="ctr">
                    <a:lnL>
                      <a:noFill/>
                    </a:lnL>
                    <a:lnR>
                      <a:noFill/>
                    </a:lnR>
                    <a:lnT>
                      <a:noFill/>
                    </a:lnT>
                    <a:lnB>
                      <a:noFill/>
                    </a:lnB>
                  </a:tcPr>
                </a:tc>
                <a:tc>
                  <a:txBody>
                    <a:bodyPr/>
                    <a:lstStyle/>
                    <a:p>
                      <a:r>
                        <a:rPr lang="en-CA" sz="1400"/>
                        <a:t>Purchase</a:t>
                      </a:r>
                    </a:p>
                  </a:txBody>
                  <a:tcPr marL="32926" marR="32926" marT="16463" marB="16463" anchor="ctr">
                    <a:lnL>
                      <a:noFill/>
                    </a:lnL>
                    <a:lnR>
                      <a:noFill/>
                    </a:lnR>
                    <a:lnT>
                      <a:noFill/>
                    </a:lnT>
                    <a:lnB>
                      <a:noFill/>
                    </a:lnB>
                  </a:tcPr>
                </a:tc>
                <a:tc>
                  <a:txBody>
                    <a:bodyPr/>
                    <a:lstStyle/>
                    <a:p>
                      <a:r>
                        <a:rPr lang="en-CA" sz="1400" b="1" dirty="0"/>
                        <a:t>Newest cost</a:t>
                      </a:r>
                    </a:p>
                  </a:txBody>
                  <a:tcPr marL="32926" marR="32926" marT="16463" marB="16463" anchor="ctr">
                    <a:lnL>
                      <a:noFill/>
                    </a:lnL>
                    <a:lnR>
                      <a:noFill/>
                    </a:lnR>
                    <a:lnT>
                      <a:noFill/>
                    </a:lnT>
                    <a:lnB>
                      <a:noFill/>
                    </a:lnB>
                  </a:tcPr>
                </a:tc>
                <a:tc>
                  <a:txBody>
                    <a:bodyPr/>
                    <a:lstStyle/>
                    <a:p>
                      <a:pPr algn="r"/>
                      <a:r>
                        <a:rPr lang="en-CA" sz="1400" dirty="0"/>
                        <a:t>900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$440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u="sng" dirty="0"/>
                        <a:t>396,000</a:t>
                      </a:r>
                    </a:p>
                  </a:txBody>
                  <a:tcPr marL="32926" marR="32926" marT="16463" marB="16463" anchor="ctr">
                    <a:lnL>
                      <a:noFill/>
                    </a:lnL>
                    <a:lnR>
                      <a:noFill/>
                    </a:lnR>
                    <a:lnT>
                      <a:noFill/>
                    </a:lnT>
                    <a:lnB>
                      <a:noFill/>
                    </a:lnB>
                  </a:tcPr>
                </a:tc>
                <a:extLst>
                  <a:ext uri="{0D108BD9-81ED-4DB2-BD59-A6C34878D82A}">
                    <a16:rowId xmlns:a16="http://schemas.microsoft.com/office/drawing/2014/main" val="2119767343"/>
                  </a:ext>
                </a:extLst>
              </a:tr>
              <a:tr h="205457">
                <a:tc>
                  <a:txBody>
                    <a:bodyPr/>
                    <a:lstStyle/>
                    <a:p>
                      <a:endParaRPr lang="en-CA" sz="1400"/>
                    </a:p>
                  </a:txBody>
                  <a:tcPr marL="32926" marR="32926" marT="16463" marB="16463" anchor="ctr">
                    <a:lnL>
                      <a:noFill/>
                    </a:lnL>
                    <a:lnR>
                      <a:noFill/>
                    </a:lnR>
                    <a:lnT>
                      <a:noFill/>
                    </a:lnT>
                    <a:lnB>
                      <a:noFill/>
                    </a:lnB>
                  </a:tcPr>
                </a:tc>
                <a:tc>
                  <a:txBody>
                    <a:bodyPr/>
                    <a:lstStyle/>
                    <a:p>
                      <a:r>
                        <a:rPr lang="en-CA" sz="1400"/>
                        <a:t>Cost of goods available for sale</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1,000</a:t>
                      </a:r>
                    </a:p>
                  </a:txBody>
                  <a:tcPr marL="32926" marR="32926" marT="16463" marB="16463" anchor="ctr">
                    <a:lnL>
                      <a:noFill/>
                    </a:lnL>
                    <a:lnR>
                      <a:noFill/>
                    </a:lnR>
                    <a:lnT>
                      <a:noFill/>
                    </a:lnT>
                    <a:lnB>
                      <a:noFill/>
                    </a:lnB>
                  </a:tcPr>
                </a:tc>
                <a:tc>
                  <a:txBody>
                    <a:bodyPr/>
                    <a:lstStyle/>
                    <a:p>
                      <a:pPr algn="ctr"/>
                      <a:endParaRPr lang="en-CA" sz="1400" dirty="0"/>
                    </a:p>
                  </a:txBody>
                  <a:tcPr marL="32926" marR="32926" marT="16463" marB="16463" anchor="ctr">
                    <a:lnL>
                      <a:noFill/>
                    </a:lnL>
                    <a:lnR>
                      <a:noFill/>
                    </a:lnR>
                    <a:lnT>
                      <a:noFill/>
                    </a:lnT>
                    <a:lnB>
                      <a:noFill/>
                    </a:lnB>
                  </a:tcPr>
                </a:tc>
                <a:tc>
                  <a:txBody>
                    <a:bodyPr/>
                    <a:lstStyle/>
                    <a:p>
                      <a:pPr algn="ctr"/>
                      <a:endParaRPr lang="en-CA" sz="1400" dirty="0"/>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pPr algn="r"/>
                      <a:r>
                        <a:rPr lang="en-CA" sz="1400" dirty="0"/>
                        <a:t>438,000</a:t>
                      </a:r>
                    </a:p>
                  </a:txBody>
                  <a:tcPr marL="32926" marR="32926" marT="16463" marB="16463" anchor="ctr">
                    <a:lnL>
                      <a:noFill/>
                    </a:lnL>
                    <a:lnR>
                      <a:noFill/>
                    </a:lnR>
                    <a:lnT>
                      <a:noFill/>
                    </a:lnT>
                    <a:lnB>
                      <a:noFill/>
                    </a:lnB>
                  </a:tcPr>
                </a:tc>
                <a:extLst>
                  <a:ext uri="{0D108BD9-81ED-4DB2-BD59-A6C34878D82A}">
                    <a16:rowId xmlns:a16="http://schemas.microsoft.com/office/drawing/2014/main" val="845384817"/>
                  </a:ext>
                </a:extLst>
              </a:tr>
              <a:tr h="221826">
                <a:tc>
                  <a:txBody>
                    <a:bodyPr/>
                    <a:lstStyle/>
                    <a:p>
                      <a:r>
                        <a:rPr lang="en-CA" sz="1400"/>
                        <a:t>March 31</a:t>
                      </a:r>
                    </a:p>
                  </a:txBody>
                  <a:tcPr marL="32926" marR="32926" marT="16463" marB="16463" anchor="ctr">
                    <a:lnL>
                      <a:noFill/>
                    </a:lnL>
                    <a:lnR>
                      <a:noFill/>
                    </a:lnR>
                    <a:lnT>
                      <a:noFill/>
                    </a:lnT>
                    <a:lnB>
                      <a:noFill/>
                    </a:lnB>
                  </a:tcPr>
                </a:tc>
                <a:tc>
                  <a:txBody>
                    <a:bodyPr/>
                    <a:lstStyle/>
                    <a:p>
                      <a:r>
                        <a:rPr lang="en-CA" sz="1400"/>
                        <a:t>Cost of sales (200 units)</a:t>
                      </a:r>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(100)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$420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dirty="0"/>
                        <a:t>(42,000)</a:t>
                      </a:r>
                    </a:p>
                  </a:txBody>
                  <a:tcPr marL="32926" marR="32926" marT="16463" marB="16463" anchor="ctr">
                    <a:lnL>
                      <a:noFill/>
                    </a:lnL>
                    <a:lnR>
                      <a:noFill/>
                    </a:lnR>
                    <a:lnT>
                      <a:noFill/>
                    </a:lnT>
                    <a:lnB>
                      <a:noFill/>
                    </a:lnB>
                  </a:tcPr>
                </a:tc>
                <a:extLst>
                  <a:ext uri="{0D108BD9-81ED-4DB2-BD59-A6C34878D82A}">
                    <a16:rowId xmlns:a16="http://schemas.microsoft.com/office/drawing/2014/main" val="4141777984"/>
                  </a:ext>
                </a:extLst>
              </a:tr>
              <a:tr h="123612">
                <a:tc>
                  <a:txBody>
                    <a:bodyPr/>
                    <a:lstStyle/>
                    <a:p>
                      <a:endParaRPr lang="en-CA" sz="1400"/>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endParaRPr lang="en-CA" sz="1400" b="1" dirty="0"/>
                    </a:p>
                  </a:txBody>
                  <a:tcPr marL="32926" marR="32926" marT="16463" marB="16463" anchor="ctr">
                    <a:lnL>
                      <a:noFill/>
                    </a:lnL>
                    <a:lnR>
                      <a:noFill/>
                    </a:lnR>
                    <a:lnT>
                      <a:noFill/>
                    </a:lnT>
                    <a:lnB>
                      <a:noFill/>
                    </a:lnB>
                  </a:tcPr>
                </a:tc>
                <a:tc>
                  <a:txBody>
                    <a:bodyPr/>
                    <a:lstStyle/>
                    <a:p>
                      <a:pPr algn="r"/>
                      <a:r>
                        <a:rPr lang="en-CA" sz="1400" dirty="0"/>
                        <a:t>(100)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$440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u="sng" dirty="0"/>
                        <a:t>(44,000)</a:t>
                      </a:r>
                    </a:p>
                  </a:txBody>
                  <a:tcPr marL="32926" marR="32926" marT="16463" marB="16463" anchor="ctr">
                    <a:lnL>
                      <a:noFill/>
                    </a:lnL>
                    <a:lnR>
                      <a:noFill/>
                    </a:lnR>
                    <a:lnT>
                      <a:noFill/>
                    </a:lnT>
                    <a:lnB>
                      <a:noFill/>
                    </a:lnB>
                  </a:tcPr>
                </a:tc>
                <a:extLst>
                  <a:ext uri="{0D108BD9-81ED-4DB2-BD59-A6C34878D82A}">
                    <a16:rowId xmlns:a16="http://schemas.microsoft.com/office/drawing/2014/main" val="1562931659"/>
                  </a:ext>
                </a:extLst>
              </a:tr>
              <a:tr h="262654">
                <a:tc>
                  <a:txBody>
                    <a:bodyPr/>
                    <a:lstStyle/>
                    <a:p>
                      <a:endParaRPr lang="en-CA" sz="1400" dirty="0"/>
                    </a:p>
                  </a:txBody>
                  <a:tcPr marL="32926" marR="32926" marT="16463" marB="16463" anchor="ctr">
                    <a:lnL>
                      <a:noFill/>
                    </a:lnL>
                    <a:lnR>
                      <a:noFill/>
                    </a:lnR>
                    <a:lnT>
                      <a:noFill/>
                    </a:lnT>
                    <a:lnB>
                      <a:noFill/>
                    </a:lnB>
                  </a:tcPr>
                </a:tc>
                <a:tc>
                  <a:txBody>
                    <a:bodyPr/>
                    <a:lstStyle/>
                    <a:p>
                      <a:r>
                        <a:rPr lang="en-CA" sz="1400"/>
                        <a:t>Ending inventory</a:t>
                      </a:r>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pPr algn="r"/>
                      <a:r>
                        <a:rPr lang="en-CA" sz="1400" dirty="0"/>
                        <a:t>800</a:t>
                      </a:r>
                    </a:p>
                  </a:txBody>
                  <a:tcPr marL="32926" marR="32926" marT="16463" marB="16463" anchor="ctr">
                    <a:lnL>
                      <a:noFill/>
                    </a:lnL>
                    <a:lnR>
                      <a:noFill/>
                    </a:lnR>
                    <a:lnT>
                      <a:noFill/>
                    </a:lnT>
                    <a:lnB>
                      <a:noFill/>
                    </a:lnB>
                  </a:tcPr>
                </a:tc>
                <a:tc>
                  <a:txBody>
                    <a:bodyPr/>
                    <a:lstStyle/>
                    <a:p>
                      <a:pPr algn="ctr"/>
                      <a:r>
                        <a:rPr lang="en-CA" sz="1400" dirty="0"/>
                        <a:t>×</a:t>
                      </a:r>
                    </a:p>
                  </a:txBody>
                  <a:tcPr marL="32926" marR="32926" marT="16463" marB="16463" anchor="ctr">
                    <a:lnL>
                      <a:noFill/>
                    </a:lnL>
                    <a:lnR>
                      <a:noFill/>
                    </a:lnR>
                    <a:lnT>
                      <a:noFill/>
                    </a:lnT>
                    <a:lnB>
                      <a:noFill/>
                    </a:lnB>
                  </a:tcPr>
                </a:tc>
                <a:tc>
                  <a:txBody>
                    <a:bodyPr/>
                    <a:lstStyle/>
                    <a:p>
                      <a:pPr algn="ctr"/>
                      <a:r>
                        <a:rPr lang="en-CA" sz="1400" dirty="0"/>
                        <a:t>$440</a:t>
                      </a:r>
                    </a:p>
                  </a:txBody>
                  <a:tcPr marL="32926" marR="32926" marT="16463" marB="16463" anchor="ctr">
                    <a:lnL>
                      <a:noFill/>
                    </a:lnL>
                    <a:lnR>
                      <a:noFill/>
                    </a:lnR>
                    <a:lnT>
                      <a:noFill/>
                    </a:lnT>
                    <a:lnB>
                      <a:noFill/>
                    </a:lnB>
                  </a:tcPr>
                </a:tc>
                <a:tc>
                  <a:txBody>
                    <a:bodyPr/>
                    <a:lstStyle/>
                    <a:p>
                      <a:r>
                        <a:rPr lang="en-CA" sz="1400"/>
                        <a:t>=</a:t>
                      </a:r>
                    </a:p>
                  </a:txBody>
                  <a:tcPr marL="32926" marR="32926" marT="16463" marB="16463" anchor="ctr">
                    <a:lnL>
                      <a:noFill/>
                    </a:lnL>
                    <a:lnR>
                      <a:noFill/>
                    </a:lnR>
                    <a:lnT>
                      <a:noFill/>
                    </a:lnT>
                    <a:lnB>
                      <a:noFill/>
                    </a:lnB>
                  </a:tcPr>
                </a:tc>
                <a:tc>
                  <a:txBody>
                    <a:bodyPr/>
                    <a:lstStyle/>
                    <a:p>
                      <a:pPr algn="r"/>
                      <a:r>
                        <a:rPr lang="en-CA" sz="1400" u="sng" dirty="0"/>
                        <a:t>352,000</a:t>
                      </a:r>
                    </a:p>
                  </a:txBody>
                  <a:tcPr marL="32926" marR="32926" marT="16463" marB="16463" anchor="ctr">
                    <a:lnL>
                      <a:noFill/>
                    </a:lnL>
                    <a:lnR>
                      <a:noFill/>
                    </a:lnR>
                    <a:lnT>
                      <a:noFill/>
                    </a:lnT>
                    <a:lnB>
                      <a:noFill/>
                    </a:lnB>
                  </a:tcPr>
                </a:tc>
                <a:extLst>
                  <a:ext uri="{0D108BD9-81ED-4DB2-BD59-A6C34878D82A}">
                    <a16:rowId xmlns:a16="http://schemas.microsoft.com/office/drawing/2014/main" val="2599044009"/>
                  </a:ext>
                </a:extLst>
              </a:tr>
              <a:tr h="230481">
                <a:tc>
                  <a:txBody>
                    <a:bodyPr/>
                    <a:lstStyle/>
                    <a:p>
                      <a:endParaRPr lang="en-CA" sz="1400"/>
                    </a:p>
                  </a:txBody>
                  <a:tcPr marL="32926" marR="32926" marT="16463" marB="16463" anchor="ctr">
                    <a:lnL>
                      <a:noFill/>
                    </a:lnL>
                    <a:lnR>
                      <a:noFill/>
                    </a:lnR>
                    <a:lnT>
                      <a:noFill/>
                    </a:lnT>
                    <a:lnB>
                      <a:noFill/>
                    </a:lnB>
                  </a:tcPr>
                </a:tc>
                <a:tc>
                  <a:txBody>
                    <a:bodyPr/>
                    <a:lstStyle/>
                    <a:p>
                      <a:r>
                        <a:rPr lang="en-CA" sz="1400"/>
                        <a:t>Cost of sales*</a:t>
                      </a:r>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pPr algn="ctr"/>
                      <a:endParaRPr lang="en-CA" sz="1400" dirty="0"/>
                    </a:p>
                  </a:txBody>
                  <a:tcPr marL="32926" marR="32926" marT="16463" marB="16463" anchor="ctr">
                    <a:lnL>
                      <a:noFill/>
                    </a:lnL>
                    <a:lnR>
                      <a:noFill/>
                    </a:lnR>
                    <a:lnT>
                      <a:noFill/>
                    </a:lnT>
                    <a:lnB>
                      <a:noFill/>
                    </a:lnB>
                  </a:tcPr>
                </a:tc>
                <a:tc>
                  <a:txBody>
                    <a:bodyPr/>
                    <a:lstStyle/>
                    <a:p>
                      <a:endParaRPr lang="en-CA" sz="1400"/>
                    </a:p>
                  </a:txBody>
                  <a:tcPr marL="32926" marR="32926" marT="16463" marB="16463" anchor="ctr">
                    <a:lnL>
                      <a:noFill/>
                    </a:lnL>
                    <a:lnR>
                      <a:noFill/>
                    </a:lnR>
                    <a:lnT>
                      <a:noFill/>
                    </a:lnT>
                    <a:lnB>
                      <a:noFill/>
                    </a:lnB>
                  </a:tcPr>
                </a:tc>
                <a:tc>
                  <a:txBody>
                    <a:bodyPr/>
                    <a:lstStyle/>
                    <a:p>
                      <a:pPr algn="r"/>
                      <a:r>
                        <a:rPr lang="en-US" sz="1400" u="dbl" baseline="0" dirty="0"/>
                        <a:t>$700,000</a:t>
                      </a:r>
                      <a:endParaRPr lang="en-US" sz="1400" dirty="0"/>
                    </a:p>
                  </a:txBody>
                  <a:tcPr marL="32926" marR="32926" marT="16463" marB="16463" anchor="ctr">
                    <a:lnL>
                      <a:noFill/>
                    </a:lnL>
                    <a:lnR>
                      <a:noFill/>
                    </a:lnR>
                    <a:lnT>
                      <a:noFill/>
                    </a:lnT>
                    <a:lnB>
                      <a:noFill/>
                    </a:lnB>
                  </a:tcPr>
                </a:tc>
                <a:extLst>
                  <a:ext uri="{0D108BD9-81ED-4DB2-BD59-A6C34878D82A}">
                    <a16:rowId xmlns:a16="http://schemas.microsoft.com/office/drawing/2014/main" val="2076160582"/>
                  </a:ext>
                </a:extLst>
              </a:tr>
              <a:tr h="131704">
                <a:tc gridSpan="8">
                  <a:txBody>
                    <a:bodyPr/>
                    <a:lstStyle/>
                    <a:p>
                      <a:r>
                        <a:rPr lang="en-CA" sz="1400" dirty="0"/>
                        <a:t>*Cost of sales = $240,000 + $80,000 + $294,000 + $42,000 + $44,000 = $700,000</a:t>
                      </a:r>
                    </a:p>
                  </a:txBody>
                  <a:tcPr marL="32926" marR="32926" marT="16463" marB="16463"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18856788"/>
                  </a:ext>
                </a:extLst>
              </a:tr>
            </a:tbl>
          </a:graphicData>
        </a:graphic>
      </p:graphicFrame>
    </p:spTree>
    <p:extLst>
      <p:ext uri="{BB962C8B-B14F-4D97-AF65-F5344CB8AC3E}">
        <p14:creationId xmlns:p14="http://schemas.microsoft.com/office/powerpoint/2010/main" val="251965354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7941893C-E9FD-4DDD-917D-D582EE3B893E}"/>
              </a:ext>
            </a:extLst>
          </p:cNvPr>
          <p:cNvSpPr>
            <a:spLocks noGrp="1"/>
          </p:cNvSpPr>
          <p:nvPr>
            <p:ph type="title"/>
          </p:nvPr>
        </p:nvSpPr>
        <p:spPr/>
        <p:txBody>
          <a:bodyPr/>
          <a:lstStyle/>
          <a:p>
            <a:r>
              <a:rPr lang="en-US" altLang="en-US"/>
              <a:t>Weighted-Average Cost Method</a:t>
            </a:r>
          </a:p>
        </p:txBody>
      </p:sp>
      <p:sp>
        <p:nvSpPr>
          <p:cNvPr id="11266" name="Content Placeholder 2">
            <a:extLst>
              <a:ext uri="{FF2B5EF4-FFF2-40B4-BE49-F238E27FC236}">
                <a16:creationId xmlns:a16="http://schemas.microsoft.com/office/drawing/2014/main" id="{843D6390-F47C-423C-A242-9C738CAC0E7D}"/>
              </a:ext>
            </a:extLst>
          </p:cNvPr>
          <p:cNvSpPr>
            <a:spLocks noGrp="1"/>
          </p:cNvSpPr>
          <p:nvPr>
            <p:ph idx="1"/>
          </p:nvPr>
        </p:nvSpPr>
        <p:spPr/>
        <p:txBody>
          <a:bodyPr/>
          <a:lstStyle/>
          <a:p>
            <a:r>
              <a:rPr lang="en-CA" altLang="en-US" dirty="0"/>
              <a:t>The </a:t>
            </a:r>
            <a:r>
              <a:rPr lang="en-CA" altLang="en-US" b="1" dirty="0"/>
              <a:t>weighted-average cost method</a:t>
            </a:r>
            <a:r>
              <a:rPr lang="en-CA" altLang="en-US" dirty="0"/>
              <a:t> requires calculating the weighted-average unit cost of the goods available for sale.</a:t>
            </a:r>
          </a:p>
          <a:p>
            <a:r>
              <a:rPr lang="en-CA" altLang="en-US" dirty="0"/>
              <a:t>When a unit is sold, the </a:t>
            </a:r>
            <a:r>
              <a:rPr lang="en-CA" altLang="en-US" b="1" dirty="0"/>
              <a:t>average cost </a:t>
            </a:r>
            <a:r>
              <a:rPr lang="en-CA" altLang="en-US" dirty="0"/>
              <a:t>of each unit  in inventory is assigned to cost of sales. </a:t>
            </a:r>
          </a:p>
          <a:p>
            <a:endParaRPr lang="en-CA" altLang="en-US" sz="2800" dirty="0">
              <a:solidFill>
                <a:srgbClr val="C00000"/>
              </a:solidFill>
            </a:endParaRPr>
          </a:p>
          <a:p>
            <a:endParaRPr lang="en-CA" altLang="en-US" sz="2800" dirty="0">
              <a:solidFill>
                <a:srgbClr val="C00000"/>
              </a:solidFill>
            </a:endParaRPr>
          </a:p>
          <a:p>
            <a:pPr algn="ctr" eaLnBrk="1" hangingPunct="1">
              <a:spcBef>
                <a:spcPct val="0"/>
              </a:spcBef>
              <a:buFont typeface="Wingdings 3" panose="05040102010807070707" pitchFamily="18" charset="2"/>
              <a:buNone/>
            </a:pPr>
            <a:endParaRPr lang="en-CA" altLang="en-US" dirty="0"/>
          </a:p>
          <a:p>
            <a:pPr algn="ctr" eaLnBrk="1" hangingPunct="1">
              <a:spcBef>
                <a:spcPct val="0"/>
              </a:spcBef>
              <a:buFont typeface="Wingdings 3" panose="05040102010807070707" pitchFamily="18" charset="2"/>
              <a:buNone/>
            </a:pPr>
            <a:r>
              <a:rPr lang="en-CA" altLang="en-US" u="sng" dirty="0"/>
              <a:t>Ending Inventory</a:t>
            </a:r>
          </a:p>
          <a:p>
            <a:pPr algn="ctr" eaLnBrk="1" hangingPunct="1">
              <a:spcBef>
                <a:spcPct val="0"/>
              </a:spcBef>
              <a:buFont typeface="Wingdings 3" panose="05040102010807070707" pitchFamily="18" charset="2"/>
              <a:buNone/>
            </a:pPr>
            <a:r>
              <a:rPr lang="en-CA" altLang="en-US" b="1" dirty="0"/>
              <a:t>Units in Ending Inventory  ×  Average Cost per Unit</a:t>
            </a:r>
            <a:br>
              <a:rPr lang="en-CA" altLang="en-US" dirty="0"/>
            </a:br>
            <a:endParaRPr lang="en-CA" altLang="en-US" sz="800" dirty="0"/>
          </a:p>
          <a:p>
            <a:pPr algn="ctr" eaLnBrk="1" hangingPunct="1">
              <a:spcBef>
                <a:spcPct val="0"/>
              </a:spcBef>
              <a:buFont typeface="Wingdings 3" panose="05040102010807070707" pitchFamily="18" charset="2"/>
              <a:buNone/>
            </a:pPr>
            <a:r>
              <a:rPr lang="en-CA" altLang="en-US" u="sng" dirty="0"/>
              <a:t>Cost of Sales</a:t>
            </a:r>
          </a:p>
          <a:p>
            <a:pPr algn="ctr" eaLnBrk="1" hangingPunct="1">
              <a:spcBef>
                <a:spcPct val="0"/>
              </a:spcBef>
              <a:buFont typeface="Wingdings 3" panose="05040102010807070707" pitchFamily="18" charset="2"/>
              <a:buNone/>
            </a:pPr>
            <a:r>
              <a:rPr lang="en-CA" altLang="en-US" b="1" dirty="0"/>
              <a:t>Units Sold  ×  Average Cost per Unit</a:t>
            </a:r>
            <a:endParaRPr lang="en-CA" altLang="en-US" dirty="0">
              <a:solidFill>
                <a:srgbClr val="C00000"/>
              </a:solidFill>
            </a:endParaRPr>
          </a:p>
          <a:p>
            <a:endParaRPr lang="en-CA" altLang="en-US" dirty="0"/>
          </a:p>
          <a:p>
            <a:endParaRPr lang="en-US" altLang="en-US" dirty="0"/>
          </a:p>
        </p:txBody>
      </p:sp>
      <p:grpSp>
        <p:nvGrpSpPr>
          <p:cNvPr id="11267" name="Group 1028">
            <a:extLst>
              <a:ext uri="{FF2B5EF4-FFF2-40B4-BE49-F238E27FC236}">
                <a16:creationId xmlns:a16="http://schemas.microsoft.com/office/drawing/2014/main" id="{A2380521-968F-4B5C-A360-7B98552873D5}"/>
              </a:ext>
            </a:extLst>
          </p:cNvPr>
          <p:cNvGrpSpPr>
            <a:grpSpLocks/>
          </p:cNvGrpSpPr>
          <p:nvPr/>
        </p:nvGrpSpPr>
        <p:grpSpPr bwMode="auto">
          <a:xfrm>
            <a:off x="1447800" y="3373438"/>
            <a:ext cx="5684838" cy="1219200"/>
            <a:chOff x="480" y="2304"/>
            <a:chExt cx="2832" cy="912"/>
          </a:xfrm>
        </p:grpSpPr>
        <p:grpSp>
          <p:nvGrpSpPr>
            <p:cNvPr id="11269" name="Group 1029">
              <a:extLst>
                <a:ext uri="{FF2B5EF4-FFF2-40B4-BE49-F238E27FC236}">
                  <a16:creationId xmlns:a16="http://schemas.microsoft.com/office/drawing/2014/main" id="{7A54D902-2EF5-4B43-805E-FFB1A42F31A9}"/>
                </a:ext>
              </a:extLst>
            </p:cNvPr>
            <p:cNvGrpSpPr>
              <a:grpSpLocks/>
            </p:cNvGrpSpPr>
            <p:nvPr/>
          </p:nvGrpSpPr>
          <p:grpSpPr bwMode="auto">
            <a:xfrm>
              <a:off x="480" y="2304"/>
              <a:ext cx="2832" cy="912"/>
              <a:chOff x="336" y="2784"/>
              <a:chExt cx="2832" cy="912"/>
            </a:xfrm>
          </p:grpSpPr>
          <p:sp>
            <p:nvSpPr>
              <p:cNvPr id="11271" name="Rectangle 1030">
                <a:extLst>
                  <a:ext uri="{FF2B5EF4-FFF2-40B4-BE49-F238E27FC236}">
                    <a16:creationId xmlns:a16="http://schemas.microsoft.com/office/drawing/2014/main" id="{2E74958A-9D6D-4B3E-B482-54ABFB6BF587}"/>
                  </a:ext>
                </a:extLst>
              </p:cNvPr>
              <p:cNvSpPr>
                <a:spLocks noChangeArrowheads="1"/>
              </p:cNvSpPr>
              <p:nvPr/>
            </p:nvSpPr>
            <p:spPr bwMode="auto">
              <a:xfrm>
                <a:off x="336" y="2784"/>
                <a:ext cx="1344"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a:latin typeface="Arial" panose="020B0604020202020204" pitchFamily="34" charset="0"/>
                  </a:rPr>
                  <a:t>Cost of Goods Available for Sale</a:t>
                </a:r>
              </a:p>
            </p:txBody>
          </p:sp>
          <p:sp>
            <p:nvSpPr>
              <p:cNvPr id="11272" name="Rectangle 1031">
                <a:extLst>
                  <a:ext uri="{FF2B5EF4-FFF2-40B4-BE49-F238E27FC236}">
                    <a16:creationId xmlns:a16="http://schemas.microsoft.com/office/drawing/2014/main" id="{0B7B52A1-343E-48E8-B9A5-A8AF4C0C0048}"/>
                  </a:ext>
                </a:extLst>
              </p:cNvPr>
              <p:cNvSpPr>
                <a:spLocks noChangeArrowheads="1"/>
              </p:cNvSpPr>
              <p:nvPr/>
            </p:nvSpPr>
            <p:spPr bwMode="auto">
              <a:xfrm>
                <a:off x="1824" y="2784"/>
                <a:ext cx="1344"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a:latin typeface="Arial" panose="020B0604020202020204" pitchFamily="34" charset="0"/>
                  </a:rPr>
                  <a:t>Number of Units Available for Sale</a:t>
                </a:r>
              </a:p>
            </p:txBody>
          </p:sp>
        </p:grpSp>
        <p:sp>
          <p:nvSpPr>
            <p:cNvPr id="11270" name="Rectangle 1032">
              <a:extLst>
                <a:ext uri="{FF2B5EF4-FFF2-40B4-BE49-F238E27FC236}">
                  <a16:creationId xmlns:a16="http://schemas.microsoft.com/office/drawing/2014/main" id="{958654AC-ABAB-42CC-B570-25137BAF4152}"/>
                </a:ext>
              </a:extLst>
            </p:cNvPr>
            <p:cNvSpPr>
              <a:spLocks noChangeArrowheads="1"/>
            </p:cNvSpPr>
            <p:nvPr/>
          </p:nvSpPr>
          <p:spPr bwMode="auto">
            <a:xfrm>
              <a:off x="1809" y="2532"/>
              <a:ext cx="25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sz="3200" b="1">
                  <a:latin typeface="Arial" panose="020B0604020202020204" pitchFamily="34" charset="0"/>
                </a:rPr>
                <a:t>÷</a:t>
              </a:r>
            </a:p>
          </p:txBody>
        </p:sp>
      </p:grpSp>
      <p:sp>
        <p:nvSpPr>
          <p:cNvPr id="11268" name="TextBox 9">
            <a:extLst>
              <a:ext uri="{FF2B5EF4-FFF2-40B4-BE49-F238E27FC236}">
                <a16:creationId xmlns:a16="http://schemas.microsoft.com/office/drawing/2014/main" id="{7E8AEE59-5E64-42CC-A3A5-ECB431D759B3}"/>
              </a:ext>
            </a:extLst>
          </p:cNvPr>
          <p:cNvSpPr txBox="1">
            <a:spLocks noChangeArrowheads="1"/>
          </p:cNvSpPr>
          <p:nvPr/>
        </p:nvSpPr>
        <p:spPr bwMode="auto">
          <a:xfrm>
            <a:off x="1371600" y="3505200"/>
            <a:ext cx="5867400" cy="914400"/>
          </a:xfrm>
          <a:prstGeom prst="rect">
            <a:avLst/>
          </a:prstGeom>
          <a:noFill/>
          <a:ln w="444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0AC16975-D033-43A7-8FE3-B2176944DD7F}"/>
              </a:ext>
            </a:extLst>
          </p:cNvPr>
          <p:cNvSpPr>
            <a:spLocks noGrp="1"/>
          </p:cNvSpPr>
          <p:nvPr>
            <p:ph type="title"/>
          </p:nvPr>
        </p:nvSpPr>
        <p:spPr>
          <a:xfrm>
            <a:off x="457200" y="274637"/>
            <a:ext cx="8229600" cy="792163"/>
          </a:xfrm>
        </p:spPr>
        <p:txBody>
          <a:bodyPr/>
          <a:lstStyle/>
          <a:p>
            <a:r>
              <a:rPr lang="en-US" altLang="en-US" dirty="0"/>
              <a:t>Average Cost Inventory Flows – Perpetual Inventory System; </a:t>
            </a:r>
          </a:p>
        </p:txBody>
      </p:sp>
      <p:graphicFrame>
        <p:nvGraphicFramePr>
          <p:cNvPr id="3" name="Content Placeholder 2">
            <a:extLst>
              <a:ext uri="{FF2B5EF4-FFF2-40B4-BE49-F238E27FC236}">
                <a16:creationId xmlns:a16="http://schemas.microsoft.com/office/drawing/2014/main" id="{770A47A9-72A8-464F-99DE-491AF5CF54C9}"/>
              </a:ext>
            </a:extLst>
          </p:cNvPr>
          <p:cNvGraphicFramePr>
            <a:graphicFrameLocks noGrp="1"/>
          </p:cNvGraphicFramePr>
          <p:nvPr>
            <p:ph idx="1"/>
            <p:extLst>
              <p:ext uri="{D42A27DB-BD31-4B8C-83A1-F6EECF244321}">
                <p14:modId xmlns:p14="http://schemas.microsoft.com/office/powerpoint/2010/main" val="2074270730"/>
              </p:ext>
            </p:extLst>
          </p:nvPr>
        </p:nvGraphicFramePr>
        <p:xfrm>
          <a:off x="228600" y="1219200"/>
          <a:ext cx="8229600" cy="522732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1103663898"/>
                    </a:ext>
                  </a:extLst>
                </a:gridCol>
                <a:gridCol w="3390900">
                  <a:extLst>
                    <a:ext uri="{9D8B030D-6E8A-4147-A177-3AD203B41FA5}">
                      <a16:colId xmlns:a16="http://schemas.microsoft.com/office/drawing/2014/main" val="513327097"/>
                    </a:ext>
                  </a:extLst>
                </a:gridCol>
                <a:gridCol w="1143000">
                  <a:extLst>
                    <a:ext uri="{9D8B030D-6E8A-4147-A177-3AD203B41FA5}">
                      <a16:colId xmlns:a16="http://schemas.microsoft.com/office/drawing/2014/main" val="1359197755"/>
                    </a:ext>
                  </a:extLst>
                </a:gridCol>
                <a:gridCol w="762000">
                  <a:extLst>
                    <a:ext uri="{9D8B030D-6E8A-4147-A177-3AD203B41FA5}">
                      <a16:colId xmlns:a16="http://schemas.microsoft.com/office/drawing/2014/main" val="3708845865"/>
                    </a:ext>
                  </a:extLst>
                </a:gridCol>
                <a:gridCol w="304800">
                  <a:extLst>
                    <a:ext uri="{9D8B030D-6E8A-4147-A177-3AD203B41FA5}">
                      <a16:colId xmlns:a16="http://schemas.microsoft.com/office/drawing/2014/main" val="2476314093"/>
                    </a:ext>
                  </a:extLst>
                </a:gridCol>
                <a:gridCol w="533400">
                  <a:extLst>
                    <a:ext uri="{9D8B030D-6E8A-4147-A177-3AD203B41FA5}">
                      <a16:colId xmlns:a16="http://schemas.microsoft.com/office/drawing/2014/main" val="1312277848"/>
                    </a:ext>
                  </a:extLst>
                </a:gridCol>
                <a:gridCol w="304800">
                  <a:extLst>
                    <a:ext uri="{9D8B030D-6E8A-4147-A177-3AD203B41FA5}">
                      <a16:colId xmlns:a16="http://schemas.microsoft.com/office/drawing/2014/main" val="2022599803"/>
                    </a:ext>
                  </a:extLst>
                </a:gridCol>
                <a:gridCol w="762000">
                  <a:extLst>
                    <a:ext uri="{9D8B030D-6E8A-4147-A177-3AD203B41FA5}">
                      <a16:colId xmlns:a16="http://schemas.microsoft.com/office/drawing/2014/main" val="3823797479"/>
                    </a:ext>
                  </a:extLst>
                </a:gridCol>
              </a:tblGrid>
              <a:tr h="0">
                <a:tc gridSpan="8">
                  <a:txBody>
                    <a:bodyPr/>
                    <a:lstStyle/>
                    <a:p>
                      <a:pPr algn="ctr"/>
                      <a:r>
                        <a:rPr lang="en-US" sz="1100" b="1" dirty="0"/>
                        <a:t>Cost of Sales Calculation (Avg Cost Perpetual) </a:t>
                      </a: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extLst>
                  <a:ext uri="{0D108BD9-81ED-4DB2-BD59-A6C34878D82A}">
                    <a16:rowId xmlns:a16="http://schemas.microsoft.com/office/drawing/2014/main" val="3505937868"/>
                  </a:ext>
                </a:extLst>
              </a:tr>
              <a:tr h="0">
                <a:tc gridSpan="8">
                  <a:txBody>
                    <a:bodyPr/>
                    <a:lstStyle/>
                    <a:p>
                      <a:pPr algn="ctr"/>
                      <a:r>
                        <a:rPr lang="en-US" sz="1100" b="1" dirty="0"/>
                        <a:t>Cost of jackets purchased and sold</a:t>
                      </a:r>
                      <a:endParaRPr lang="en-US" sz="1100" dirty="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tc hMerge="1">
                  <a:txBody>
                    <a:bodyPr/>
                    <a:lstStyle/>
                    <a:p>
                      <a:endParaRPr lang="en-US" sz="900" dirty="0"/>
                    </a:p>
                  </a:txBody>
                  <a:tcPr/>
                </a:tc>
                <a:extLst>
                  <a:ext uri="{0D108BD9-81ED-4DB2-BD59-A6C34878D82A}">
                    <a16:rowId xmlns:a16="http://schemas.microsoft.com/office/drawing/2014/main" val="1741604141"/>
                  </a:ext>
                </a:extLst>
              </a:tr>
              <a:tr h="0">
                <a:tc>
                  <a:txBody>
                    <a:bodyPr/>
                    <a:lstStyle/>
                    <a:p>
                      <a:pPr algn="l"/>
                      <a:r>
                        <a:rPr lang="en-US" sz="1100" b="1" dirty="0"/>
                        <a:t>Date</a:t>
                      </a:r>
                      <a:endParaRPr lang="en-US" sz="1100" dirty="0"/>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dirty="0"/>
                        <a:t>Units</a:t>
                      </a:r>
                      <a:endParaRPr lang="en-US" sz="1100" dirty="0"/>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a:t>Cost</a:t>
                      </a:r>
                      <a:endParaRPr lang="en-US" sz="1100"/>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b="1" dirty="0"/>
                        <a:t>Total</a:t>
                      </a:r>
                      <a:endParaRPr lang="en-US" sz="1100" dirty="0"/>
                    </a:p>
                  </a:txBody>
                  <a:tcPr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4069106"/>
                  </a:ext>
                </a:extLst>
              </a:tr>
              <a:tr h="0">
                <a:tc>
                  <a:txBody>
                    <a:bodyPr/>
                    <a:lstStyle/>
                    <a:p>
                      <a:pPr algn="l"/>
                      <a:r>
                        <a:rPr lang="en-US" sz="1100" dirty="0"/>
                        <a:t>January 1</a:t>
                      </a:r>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a:r>
                        <a:rPr lang="en-US" sz="1100"/>
                        <a:t>Beginning inventory</a:t>
                      </a:r>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a:endParaRPr lang="en-US" sz="1100" dirty="0"/>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a:r>
                        <a:rPr lang="en-US" sz="1100" dirty="0"/>
                        <a:t>   800 </a:t>
                      </a:r>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a:r>
                        <a:rPr lang="en-US" sz="1100" dirty="0"/>
                        <a:t>$400 </a:t>
                      </a:r>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a:r>
                        <a:rPr lang="en-US" sz="1100" dirty="0"/>
                        <a:t>$320,000  </a:t>
                      </a:r>
                    </a:p>
                  </a:txBody>
                  <a:tcPr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87726509"/>
                  </a:ext>
                </a:extLst>
              </a:tr>
              <a:tr h="0">
                <a:tc>
                  <a:txBody>
                    <a:bodyPr/>
                    <a:lstStyle/>
                    <a:p>
                      <a:pPr algn="l"/>
                      <a:r>
                        <a:rPr lang="en-US" sz="1100"/>
                        <a:t>January 31</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Cost of sales</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r>
                        <a:rPr lang="en-US" sz="1100" u="sng" dirty="0"/>
                        <a:t> (600)</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$400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u="sng" dirty="0"/>
                        <a:t>(240,000)</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18186514"/>
                  </a:ext>
                </a:extLst>
              </a:tr>
              <a:tr h="0">
                <a:tc>
                  <a:txBody>
                    <a:bodyPr/>
                    <a:lstStyle/>
                    <a:p>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Cost of remaining inventory</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200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$400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80,000</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32733528"/>
                  </a:ext>
                </a:extLst>
              </a:tr>
              <a:tr h="0">
                <a:tc>
                  <a:txBody>
                    <a:bodyPr/>
                    <a:lstStyle/>
                    <a:p>
                      <a:pPr algn="l"/>
                      <a:r>
                        <a:rPr lang="en-US" sz="1100"/>
                        <a:t>February 5</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Purchase</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r>
                        <a:rPr lang="en-US" sz="1100" u="sng" dirty="0"/>
                        <a:t>800 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$420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u="sng" dirty="0"/>
                        <a:t> 336,000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0527293"/>
                  </a:ext>
                </a:extLst>
              </a:tr>
              <a:tr h="0">
                <a:tc>
                  <a:txBody>
                    <a:bodyPr/>
                    <a:lstStyle/>
                    <a:p>
                      <a:r>
                        <a:rPr lang="en-US" sz="110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Cost of goods available for sale</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a:t>1,000 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416 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416,000</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88987394"/>
                  </a:ext>
                </a:extLst>
              </a:tr>
              <a:tr h="0">
                <a:tc>
                  <a:txBody>
                    <a:bodyPr/>
                    <a:lstStyle/>
                    <a:p>
                      <a:pPr algn="l"/>
                      <a:r>
                        <a:rPr lang="en-US" sz="1100"/>
                        <a:t>February 28</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Cost of sales (900 units)</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r>
                        <a:rPr lang="en-US" sz="1100" u="sng" dirty="0"/>
                        <a:t> (900)</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$416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r>
                        <a:rPr lang="en-US" sz="1100" u="sng" dirty="0"/>
                        <a:t>(374400)</a:t>
                      </a:r>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6414526"/>
                  </a:ext>
                </a:extLst>
              </a:tr>
              <a:tr h="0">
                <a:tc>
                  <a:txBody>
                    <a:bodyPr/>
                    <a:lstStyle/>
                    <a:p>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en-US" sz="1100" u="sng"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89320626"/>
                  </a:ext>
                </a:extLst>
              </a:tr>
              <a:tr h="0">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Cost of remaining inventory</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100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$416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p>
                    <a:p>
                      <a:pPr algn="r"/>
                      <a:r>
                        <a:rPr lang="en-US" sz="1100" dirty="0"/>
                        <a:t> 41,600  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11461966"/>
                  </a:ext>
                </a:extLst>
              </a:tr>
              <a:tr h="0">
                <a:tc>
                  <a:txBody>
                    <a:bodyPr/>
                    <a:lstStyle/>
                    <a:p>
                      <a:pPr algn="l"/>
                      <a:r>
                        <a:rPr lang="en-US" sz="1100"/>
                        <a:t>March 10</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Purchase</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r>
                        <a:rPr lang="en-US" sz="1100" u="sng" dirty="0"/>
                        <a:t>  900</a:t>
                      </a:r>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$440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u="sng" dirty="0"/>
                        <a:t> 396,000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1633098"/>
                  </a:ext>
                </a:extLst>
              </a:tr>
              <a:tr h="0">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Cost of goods available for sale</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1,000 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800" dirty="0"/>
                        <a:t>437.600 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437,600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96166377"/>
                  </a:ext>
                </a:extLst>
              </a:tr>
              <a:tr h="0">
                <a:tc>
                  <a:txBody>
                    <a:bodyPr/>
                    <a:lstStyle/>
                    <a:p>
                      <a:pPr algn="l"/>
                      <a:r>
                        <a:rPr lang="en-US" sz="1100"/>
                        <a:t>March 31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dirty="0"/>
                        <a:t>Cost of sales (200 units)</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dirty="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3084932"/>
                  </a:ext>
                </a:extLst>
              </a:tr>
              <a:tr h="0">
                <a:tc>
                  <a:txBody>
                    <a:bodyPr/>
                    <a:lstStyle/>
                    <a:p>
                      <a:r>
                        <a:rPr lang="en-US" sz="110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r>
                        <a:rPr lang="en-US" sz="1100" u="sng" dirty="0"/>
                        <a:t>  (200)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800" dirty="0"/>
                        <a:t>$437.60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a:t>
                      </a:r>
                      <a:r>
                        <a:rPr lang="en-US" sz="1100" u="sng" dirty="0"/>
                        <a:t> (87,520)</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46062724"/>
                  </a:ext>
                </a:extLst>
              </a:tr>
              <a:tr h="0">
                <a:tc>
                  <a:txBody>
                    <a:bodyPr/>
                    <a:lstStyle/>
                    <a:p>
                      <a:r>
                        <a:rPr lang="en-US" sz="110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US" sz="1100" b="1" dirty="0"/>
                        <a:t>Ending inventory</a:t>
                      </a:r>
                      <a:endParaRPr lang="en-US" sz="1100" dirty="0"/>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1100" dirty="0"/>
                        <a:t>   800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r>
                        <a:rPr lang="en-US" sz="800" dirty="0"/>
                        <a:t>$218.80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100" dirty="0"/>
                        <a:t>=</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r"/>
                      <a:endParaRPr lang="en-US" sz="1100" dirty="0"/>
                    </a:p>
                    <a:p>
                      <a:pPr algn="r"/>
                      <a:r>
                        <a:rPr lang="en-US" sz="1100" dirty="0"/>
                        <a:t> </a:t>
                      </a:r>
                      <a:r>
                        <a:rPr lang="en-US" sz="1100" u="sng" dirty="0"/>
                        <a:t> 350,080  </a:t>
                      </a:r>
                    </a:p>
                  </a:txBody>
                  <a:tcPr anchor="b">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8531145"/>
                  </a:ext>
                </a:extLst>
              </a:tr>
              <a:tr h="0">
                <a:tc>
                  <a:txBody>
                    <a:bodyPr/>
                    <a:lstStyle/>
                    <a:p>
                      <a:r>
                        <a:rPr lang="en-US" sz="1100"/>
                        <a:t> </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1"/>
                        <a:t>Cost of sales</a:t>
                      </a:r>
                      <a:r>
                        <a:rPr lang="en-US" sz="1100" b="1">
                          <a:hlinkClick r:id="rId2"/>
                        </a:rPr>
                        <a:t>*</a:t>
                      </a:r>
                      <a:endParaRPr lang="en-US" sz="1100"/>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100"/>
                        <a:t> </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100" dirty="0"/>
                        <a:t> </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 </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100" dirty="0"/>
                        <a:t> </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100" dirty="0"/>
                        <a:t> </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100" u="dbl" baseline="0" dirty="0"/>
                        <a:t>$701,920</a:t>
                      </a:r>
                      <a:r>
                        <a:rPr lang="en-US" sz="1100" dirty="0"/>
                        <a:t> </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5194854"/>
                  </a:ext>
                </a:extLst>
              </a:tr>
            </a:tbl>
          </a:graphicData>
        </a:graphic>
      </p:graphicFrame>
    </p:spTree>
    <p:extLst>
      <p:ext uri="{BB962C8B-B14F-4D97-AF65-F5344CB8AC3E}">
        <p14:creationId xmlns:p14="http://schemas.microsoft.com/office/powerpoint/2010/main" val="351501046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91BD04FC-563C-4199-BFD9-15411D4A54D3}"/>
              </a:ext>
            </a:extLst>
          </p:cNvPr>
          <p:cNvSpPr>
            <a:spLocks noGrp="1"/>
          </p:cNvSpPr>
          <p:nvPr>
            <p:ph type="title"/>
          </p:nvPr>
        </p:nvSpPr>
        <p:spPr>
          <a:xfrm>
            <a:off x="457200" y="198437"/>
            <a:ext cx="8229600" cy="792163"/>
          </a:xfrm>
        </p:spPr>
        <p:txBody>
          <a:bodyPr/>
          <a:lstStyle/>
          <a:p>
            <a:r>
              <a:rPr lang="en-US" altLang="en-US" dirty="0"/>
              <a:t>Financial Statement Effects of Inventory Costing Methods</a:t>
            </a:r>
          </a:p>
        </p:txBody>
      </p:sp>
      <p:sp>
        <p:nvSpPr>
          <p:cNvPr id="12290" name="Content Placeholder 2">
            <a:extLst>
              <a:ext uri="{FF2B5EF4-FFF2-40B4-BE49-F238E27FC236}">
                <a16:creationId xmlns:a16="http://schemas.microsoft.com/office/drawing/2014/main" id="{9A773698-3544-46A5-A9BB-EA32AB40ABC2}"/>
              </a:ext>
            </a:extLst>
          </p:cNvPr>
          <p:cNvSpPr>
            <a:spLocks noGrp="1"/>
          </p:cNvSpPr>
          <p:nvPr>
            <p:ph idx="1"/>
          </p:nvPr>
        </p:nvSpPr>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sz="800" dirty="0"/>
          </a:p>
          <a:p>
            <a:r>
              <a:rPr lang="en-US" altLang="en-US" b="1" dirty="0"/>
              <a:t>Advantages of Methods:</a:t>
            </a:r>
          </a:p>
          <a:p>
            <a:pPr lvl="1"/>
            <a:r>
              <a:rPr lang="en-US" altLang="en-US" sz="2600" dirty="0">
                <a:solidFill>
                  <a:schemeClr val="tx1"/>
                </a:solidFill>
              </a:rPr>
              <a:t>First-In, First-Out </a:t>
            </a:r>
            <a:r>
              <a:rPr lang="en-US" altLang="en-US" sz="2600" dirty="0">
                <a:solidFill>
                  <a:schemeClr val="tx1"/>
                </a:solidFill>
                <a:sym typeface="Wingdings" panose="05000000000000000000" pitchFamily="2" charset="2"/>
              </a:rPr>
              <a:t> Ending inventory approximates current replacement cost.</a:t>
            </a:r>
          </a:p>
          <a:p>
            <a:pPr lvl="1"/>
            <a:r>
              <a:rPr lang="en-US" altLang="en-US" sz="2600" dirty="0">
                <a:solidFill>
                  <a:schemeClr val="tx1"/>
                </a:solidFill>
                <a:sym typeface="Wingdings" panose="05000000000000000000" pitchFamily="2" charset="2"/>
              </a:rPr>
              <a:t>Weighted Average  Smooths out price changes.</a:t>
            </a:r>
            <a:endParaRPr lang="en-US" altLang="en-US" sz="2600" dirty="0">
              <a:solidFill>
                <a:schemeClr val="tx1"/>
              </a:solidFill>
            </a:endParaRPr>
          </a:p>
        </p:txBody>
      </p:sp>
      <p:graphicFrame>
        <p:nvGraphicFramePr>
          <p:cNvPr id="4" name="Table 3">
            <a:extLst>
              <a:ext uri="{FF2B5EF4-FFF2-40B4-BE49-F238E27FC236}">
                <a16:creationId xmlns:a16="http://schemas.microsoft.com/office/drawing/2014/main" id="{5C1C8366-AB1C-44F0-AA6E-55B056CC7261}"/>
              </a:ext>
            </a:extLst>
          </p:cNvPr>
          <p:cNvGraphicFramePr>
            <a:graphicFrameLocks noGrp="1"/>
          </p:cNvGraphicFramePr>
          <p:nvPr>
            <p:extLst>
              <p:ext uri="{D42A27DB-BD31-4B8C-83A1-F6EECF244321}">
                <p14:modId xmlns:p14="http://schemas.microsoft.com/office/powerpoint/2010/main" val="2458822286"/>
              </p:ext>
            </p:extLst>
          </p:nvPr>
        </p:nvGraphicFramePr>
        <p:xfrm>
          <a:off x="647700" y="1147763"/>
          <a:ext cx="7848600" cy="2808587"/>
        </p:xfrm>
        <a:graphic>
          <a:graphicData uri="http://schemas.openxmlformats.org/drawingml/2006/table">
            <a:tbl>
              <a:tblPr/>
              <a:tblGrid>
                <a:gridCol w="1905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2133600">
                  <a:extLst>
                    <a:ext uri="{9D8B030D-6E8A-4147-A177-3AD203B41FA5}">
                      <a16:colId xmlns:a16="http://schemas.microsoft.com/office/drawing/2014/main" val="20004"/>
                    </a:ext>
                  </a:extLst>
                </a:gridCol>
              </a:tblGrid>
              <a:tr h="398073">
                <a:tc>
                  <a:txBody>
                    <a:bodyPr/>
                    <a:lstStyle/>
                    <a:p>
                      <a:pPr algn="ctr" fontAlgn="base"/>
                      <a:r>
                        <a:rPr lang="en-CA" sz="1800">
                          <a:effectLst/>
                          <a:latin typeface="Times New Roman" panose="02020603050405020304" pitchFamily="18" charset="0"/>
                        </a:rPr>
                        <a:t> </a:t>
                      </a:r>
                    </a:p>
                  </a:txBody>
                  <a:tcPr marL="190500" marR="95250" marT="95233" marB="2857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gridSpan="4">
                  <a:txBody>
                    <a:bodyPr/>
                    <a:lstStyle/>
                    <a:p>
                      <a:pPr algn="ctr" fontAlgn="base"/>
                      <a:r>
                        <a:rPr lang="en-CA" sz="1800" b="1" dirty="0">
                          <a:effectLst/>
                          <a:latin typeface="inherit"/>
                        </a:rPr>
                        <a:t>Normal Financial Statement Effects of:</a:t>
                      </a:r>
                      <a:endParaRPr lang="en-CA" sz="1800" dirty="0">
                        <a:effectLst/>
                        <a:latin typeface="Times New Roman" panose="02020603050405020304" pitchFamily="18" charset="0"/>
                      </a:endParaRPr>
                    </a:p>
                  </a:txBody>
                  <a:tcPr marL="95250" marR="190500" marT="95233" marB="2857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8073">
                <a:tc>
                  <a:txBody>
                    <a:bodyPr/>
                    <a:lstStyle/>
                    <a:p>
                      <a:pPr algn="ctr" fontAlgn="base"/>
                      <a:r>
                        <a:rPr lang="en-CA" sz="1800">
                          <a:effectLst/>
                          <a:latin typeface="Times New Roman" panose="02020603050405020304" pitchFamily="18" charset="0"/>
                        </a:rPr>
                        <a:t> </a:t>
                      </a:r>
                    </a:p>
                  </a:txBody>
                  <a:tcPr marL="190500" marR="95250" marT="95233" marB="28570"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gridSpan="2">
                  <a:txBody>
                    <a:bodyPr/>
                    <a:lstStyle/>
                    <a:p>
                      <a:pPr algn="ctr" fontAlgn="base"/>
                      <a:r>
                        <a:rPr lang="en-CA" sz="1800" b="1">
                          <a:effectLst/>
                          <a:latin typeface="inherit"/>
                        </a:rPr>
                        <a:t>Rising Costs</a:t>
                      </a:r>
                      <a:endParaRPr lang="en-CA" sz="1800">
                        <a:effectLst/>
                        <a:latin typeface="Times New Roman" panose="02020603050405020304" pitchFamily="18" charset="0"/>
                      </a:endParaRPr>
                    </a:p>
                  </a:txBody>
                  <a:tcPr marL="95250" marR="95250" marT="95233" marB="28570"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gridSpan="2">
                  <a:txBody>
                    <a:bodyPr/>
                    <a:lstStyle/>
                    <a:p>
                      <a:pPr algn="ctr" fontAlgn="base"/>
                      <a:r>
                        <a:rPr lang="en-CA" sz="1800" b="1">
                          <a:effectLst/>
                          <a:latin typeface="inherit"/>
                        </a:rPr>
                        <a:t>Declining Costs</a:t>
                      </a:r>
                      <a:endParaRPr lang="en-CA" sz="1800">
                        <a:effectLst/>
                        <a:latin typeface="Times New Roman" panose="02020603050405020304" pitchFamily="18" charset="0"/>
                      </a:endParaRPr>
                    </a:p>
                  </a:txBody>
                  <a:tcPr marL="95250" marR="190500" marT="95233" marB="2857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0001"/>
                  </a:ext>
                </a:extLst>
              </a:tr>
              <a:tr h="419849">
                <a:tc>
                  <a:txBody>
                    <a:bodyPr/>
                    <a:lstStyle/>
                    <a:p>
                      <a:pPr algn="ctr" fontAlgn="base"/>
                      <a:r>
                        <a:rPr lang="en-CA" sz="1800">
                          <a:effectLst/>
                          <a:latin typeface="Times New Roman" panose="02020603050405020304" pitchFamily="18" charset="0"/>
                        </a:rPr>
                        <a:t> </a:t>
                      </a:r>
                    </a:p>
                  </a:txBody>
                  <a:tcPr marL="190500" marR="95250" marT="95233" marB="28570"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b="1">
                          <a:effectLst/>
                          <a:latin typeface="inherit"/>
                        </a:rPr>
                        <a:t>FIFO</a:t>
                      </a:r>
                      <a:endParaRPr lang="en-CA" sz="1800">
                        <a:effectLst/>
                        <a:latin typeface="Times New Roman" panose="02020603050405020304" pitchFamily="18" charset="0"/>
                      </a:endParaRPr>
                    </a:p>
                  </a:txBody>
                  <a:tcPr marL="95250" marR="95250" marT="95233" marB="28570"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b="1">
                          <a:effectLst/>
                          <a:latin typeface="inherit"/>
                        </a:rPr>
                        <a:t>Weighted Average</a:t>
                      </a:r>
                      <a:endParaRPr lang="en-CA" sz="1800">
                        <a:effectLst/>
                        <a:latin typeface="Times New Roman" panose="02020603050405020304" pitchFamily="18" charset="0"/>
                      </a:endParaRPr>
                    </a:p>
                  </a:txBody>
                  <a:tcPr marL="95250" marR="95250" marT="95233" marB="28570"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b="1">
                          <a:effectLst/>
                          <a:latin typeface="inherit"/>
                        </a:rPr>
                        <a:t>FIFO</a:t>
                      </a:r>
                      <a:endParaRPr lang="en-CA" sz="1800">
                        <a:effectLst/>
                        <a:latin typeface="Times New Roman" panose="02020603050405020304" pitchFamily="18" charset="0"/>
                      </a:endParaRPr>
                    </a:p>
                  </a:txBody>
                  <a:tcPr marL="95250" marR="95250" marT="95233" marB="28570"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b="1">
                          <a:effectLst/>
                          <a:latin typeface="inherit"/>
                        </a:rPr>
                        <a:t>Weighted Average</a:t>
                      </a:r>
                      <a:endParaRPr lang="en-CA" sz="1800">
                        <a:effectLst/>
                        <a:latin typeface="Times New Roman" panose="02020603050405020304" pitchFamily="18" charset="0"/>
                      </a:endParaRPr>
                    </a:p>
                  </a:txBody>
                  <a:tcPr marL="95250" marR="190500" marT="95233" marB="2857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8073">
                <a:tc>
                  <a:txBody>
                    <a:bodyPr/>
                    <a:lstStyle/>
                    <a:p>
                      <a:pPr fontAlgn="base"/>
                      <a:r>
                        <a:rPr lang="en-CA" sz="1800" dirty="0">
                          <a:effectLst/>
                          <a:latin typeface="+mj-lt"/>
                        </a:rPr>
                        <a:t>Cost of sales</a:t>
                      </a:r>
                    </a:p>
                  </a:txBody>
                  <a:tcPr marL="190500" marR="95250" marT="95233" marB="28570"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ase"/>
                      <a:r>
                        <a:rPr lang="en-CA" sz="1800">
                          <a:effectLst/>
                          <a:latin typeface="+mj-lt"/>
                        </a:rPr>
                        <a:t>Lower</a:t>
                      </a:r>
                    </a:p>
                  </a:txBody>
                  <a:tcPr marL="95250" marR="95250" marT="95233" marB="28570"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ase"/>
                      <a:r>
                        <a:rPr lang="en-CA" sz="1800">
                          <a:effectLst/>
                          <a:latin typeface="+mj-lt"/>
                        </a:rPr>
                        <a:t>Higher</a:t>
                      </a:r>
                    </a:p>
                  </a:txBody>
                  <a:tcPr marL="95250" marR="95250" marT="95233" marB="28570"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ase"/>
                      <a:r>
                        <a:rPr lang="en-CA" sz="1800">
                          <a:effectLst/>
                          <a:latin typeface="+mj-lt"/>
                        </a:rPr>
                        <a:t>Higher</a:t>
                      </a:r>
                    </a:p>
                  </a:txBody>
                  <a:tcPr marL="95250" marR="95250" marT="95233" marB="28570"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ase"/>
                      <a:r>
                        <a:rPr lang="en-CA" sz="1800">
                          <a:effectLst/>
                          <a:latin typeface="+mj-lt"/>
                        </a:rPr>
                        <a:t>Lower</a:t>
                      </a:r>
                    </a:p>
                  </a:txBody>
                  <a:tcPr marL="95250" marR="190500" marT="95233" marB="28570" anchor="ctr">
                    <a:lnL>
                      <a:noFill/>
                    </a:lnL>
                    <a:lnR w="9525" cap="flat" cmpd="sng" algn="ctr">
                      <a:solidFill>
                        <a:srgbClr val="333333"/>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3"/>
                  </a:ext>
                </a:extLst>
              </a:tr>
              <a:tr h="398073">
                <a:tc>
                  <a:txBody>
                    <a:bodyPr/>
                    <a:lstStyle/>
                    <a:p>
                      <a:pPr fontAlgn="base"/>
                      <a:r>
                        <a:rPr lang="en-CA" sz="1800" dirty="0">
                          <a:effectLst/>
                          <a:latin typeface="+mj-lt"/>
                        </a:rPr>
                        <a:t>Gross profit</a:t>
                      </a:r>
                    </a:p>
                  </a:txBody>
                  <a:tcPr marL="190500" marR="95250" marT="95233" marB="28570"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800" dirty="0">
                          <a:effectLst/>
                          <a:latin typeface="+mj-lt"/>
                        </a:rPr>
                        <a:t>Higher</a:t>
                      </a:r>
                    </a:p>
                  </a:txBody>
                  <a:tcPr marL="95250" marR="95250" marT="95233" marB="28570" anchor="ctr">
                    <a:lnL>
                      <a:noFill/>
                    </a:lnL>
                    <a:lnR>
                      <a:noFill/>
                    </a:lnR>
                    <a:lnT>
                      <a:noFill/>
                    </a:lnT>
                    <a:lnB>
                      <a:noFill/>
                    </a:lnB>
                    <a:solidFill>
                      <a:srgbClr val="FFFFFF"/>
                    </a:solidFill>
                  </a:tcPr>
                </a:tc>
                <a:tc>
                  <a:txBody>
                    <a:bodyPr/>
                    <a:lstStyle/>
                    <a:p>
                      <a:pPr algn="ctr" fontAlgn="base"/>
                      <a:r>
                        <a:rPr lang="en-CA" sz="1800">
                          <a:effectLst/>
                          <a:latin typeface="+mj-lt"/>
                        </a:rPr>
                        <a:t>Lower</a:t>
                      </a:r>
                    </a:p>
                  </a:txBody>
                  <a:tcPr marL="95250" marR="95250" marT="95233" marB="28570" anchor="ctr">
                    <a:lnL>
                      <a:noFill/>
                    </a:lnL>
                    <a:lnR>
                      <a:noFill/>
                    </a:lnR>
                    <a:lnT>
                      <a:noFill/>
                    </a:lnT>
                    <a:lnB>
                      <a:noFill/>
                    </a:lnB>
                    <a:solidFill>
                      <a:srgbClr val="FFFFFF"/>
                    </a:solidFill>
                  </a:tcPr>
                </a:tc>
                <a:tc>
                  <a:txBody>
                    <a:bodyPr/>
                    <a:lstStyle/>
                    <a:p>
                      <a:pPr algn="ctr" fontAlgn="base"/>
                      <a:r>
                        <a:rPr lang="en-CA" sz="1800">
                          <a:effectLst/>
                          <a:latin typeface="+mj-lt"/>
                        </a:rPr>
                        <a:t>Lower</a:t>
                      </a:r>
                    </a:p>
                  </a:txBody>
                  <a:tcPr marL="95250" marR="95250" marT="95233" marB="28570" anchor="ctr">
                    <a:lnL>
                      <a:noFill/>
                    </a:lnL>
                    <a:lnR>
                      <a:noFill/>
                    </a:lnR>
                    <a:lnT>
                      <a:noFill/>
                    </a:lnT>
                    <a:lnB>
                      <a:noFill/>
                    </a:lnB>
                    <a:solidFill>
                      <a:srgbClr val="FFFFFF"/>
                    </a:solidFill>
                  </a:tcPr>
                </a:tc>
                <a:tc>
                  <a:txBody>
                    <a:bodyPr/>
                    <a:lstStyle/>
                    <a:p>
                      <a:pPr algn="ctr" fontAlgn="base"/>
                      <a:r>
                        <a:rPr lang="en-CA" sz="1800" dirty="0">
                          <a:effectLst/>
                          <a:latin typeface="+mj-lt"/>
                        </a:rPr>
                        <a:t>Higher</a:t>
                      </a:r>
                    </a:p>
                  </a:txBody>
                  <a:tcPr marL="95250" marR="190500" marT="95233" marB="28570"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4"/>
                  </a:ext>
                </a:extLst>
              </a:tr>
              <a:tr h="398073">
                <a:tc>
                  <a:txBody>
                    <a:bodyPr/>
                    <a:lstStyle/>
                    <a:p>
                      <a:pPr fontAlgn="base"/>
                      <a:r>
                        <a:rPr lang="en-CA" sz="1800">
                          <a:effectLst/>
                          <a:latin typeface="+mj-lt"/>
                        </a:rPr>
                        <a:t>Net earnings</a:t>
                      </a:r>
                    </a:p>
                  </a:txBody>
                  <a:tcPr marL="190500" marR="95250" marT="95233" marB="28570"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algn="ctr" fontAlgn="base"/>
                      <a:r>
                        <a:rPr lang="en-CA" sz="1800" dirty="0">
                          <a:effectLst/>
                          <a:latin typeface="+mj-lt"/>
                        </a:rPr>
                        <a:t>Higher</a:t>
                      </a:r>
                    </a:p>
                  </a:txBody>
                  <a:tcPr marL="95250" marR="95250" marT="95233" marB="28570" anchor="ctr">
                    <a:lnL>
                      <a:noFill/>
                    </a:lnL>
                    <a:lnR>
                      <a:noFill/>
                    </a:lnR>
                    <a:lnT>
                      <a:noFill/>
                    </a:lnT>
                    <a:lnB>
                      <a:noFill/>
                    </a:lnB>
                    <a:solidFill>
                      <a:srgbClr val="FFFFFF"/>
                    </a:solidFill>
                  </a:tcPr>
                </a:tc>
                <a:tc>
                  <a:txBody>
                    <a:bodyPr/>
                    <a:lstStyle/>
                    <a:p>
                      <a:pPr algn="ctr" fontAlgn="base"/>
                      <a:r>
                        <a:rPr lang="en-CA" sz="1800" dirty="0">
                          <a:effectLst/>
                          <a:latin typeface="+mj-lt"/>
                        </a:rPr>
                        <a:t>Lower</a:t>
                      </a:r>
                    </a:p>
                  </a:txBody>
                  <a:tcPr marL="95250" marR="95250" marT="95233" marB="28570" anchor="ctr">
                    <a:lnL>
                      <a:noFill/>
                    </a:lnL>
                    <a:lnR>
                      <a:noFill/>
                    </a:lnR>
                    <a:lnT>
                      <a:noFill/>
                    </a:lnT>
                    <a:lnB>
                      <a:noFill/>
                    </a:lnB>
                    <a:solidFill>
                      <a:srgbClr val="FFFFFF"/>
                    </a:solidFill>
                  </a:tcPr>
                </a:tc>
                <a:tc>
                  <a:txBody>
                    <a:bodyPr/>
                    <a:lstStyle/>
                    <a:p>
                      <a:pPr algn="ctr" fontAlgn="base"/>
                      <a:r>
                        <a:rPr lang="en-CA" sz="1800">
                          <a:effectLst/>
                          <a:latin typeface="+mj-lt"/>
                        </a:rPr>
                        <a:t>Lower</a:t>
                      </a:r>
                    </a:p>
                  </a:txBody>
                  <a:tcPr marL="95250" marR="95250" marT="95233" marB="28570" anchor="ctr">
                    <a:lnL>
                      <a:noFill/>
                    </a:lnL>
                    <a:lnR>
                      <a:noFill/>
                    </a:lnR>
                    <a:lnT>
                      <a:noFill/>
                    </a:lnT>
                    <a:lnB>
                      <a:noFill/>
                    </a:lnB>
                    <a:solidFill>
                      <a:srgbClr val="FFFFFF"/>
                    </a:solidFill>
                  </a:tcPr>
                </a:tc>
                <a:tc>
                  <a:txBody>
                    <a:bodyPr/>
                    <a:lstStyle/>
                    <a:p>
                      <a:pPr algn="ctr" fontAlgn="base"/>
                      <a:r>
                        <a:rPr lang="en-CA" sz="1800" dirty="0">
                          <a:effectLst/>
                          <a:latin typeface="+mj-lt"/>
                        </a:rPr>
                        <a:t>Higher</a:t>
                      </a:r>
                    </a:p>
                  </a:txBody>
                  <a:tcPr marL="95250" marR="190500" marT="95233" marB="28570" anchor="ctr">
                    <a:lnL>
                      <a:noFill/>
                    </a:lnL>
                    <a:lnR w="9525" cap="flat" cmpd="sng" algn="ctr">
                      <a:solidFill>
                        <a:srgbClr val="333333"/>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398073">
                <a:tc>
                  <a:txBody>
                    <a:bodyPr/>
                    <a:lstStyle/>
                    <a:p>
                      <a:pPr fontAlgn="base"/>
                      <a:r>
                        <a:rPr lang="en-CA" sz="1800">
                          <a:effectLst/>
                          <a:latin typeface="+mj-lt"/>
                        </a:rPr>
                        <a:t>Ending inventory</a:t>
                      </a:r>
                    </a:p>
                  </a:txBody>
                  <a:tcPr marL="190500" marR="95250" marT="95233" marB="28570"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a:effectLst/>
                          <a:latin typeface="+mj-lt"/>
                        </a:rPr>
                        <a:t>Higher</a:t>
                      </a:r>
                    </a:p>
                  </a:txBody>
                  <a:tcPr marL="95250" marR="95250" marT="95233" marB="28570"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dirty="0">
                          <a:effectLst/>
                          <a:latin typeface="+mj-lt"/>
                        </a:rPr>
                        <a:t>Lower</a:t>
                      </a:r>
                    </a:p>
                  </a:txBody>
                  <a:tcPr marL="95250" marR="95250" marT="95233" marB="28570"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dirty="0">
                          <a:effectLst/>
                          <a:latin typeface="+mj-lt"/>
                        </a:rPr>
                        <a:t>Lower</a:t>
                      </a:r>
                    </a:p>
                  </a:txBody>
                  <a:tcPr marL="95250" marR="95250" marT="95233" marB="28570"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1800" dirty="0">
                          <a:effectLst/>
                          <a:latin typeface="+mj-lt"/>
                        </a:rPr>
                        <a:t>Higher</a:t>
                      </a:r>
                    </a:p>
                  </a:txBody>
                  <a:tcPr marL="95250" marR="190500" marT="95233" marB="28570" anchor="ctr">
                    <a:lnL>
                      <a:noFill/>
                    </a:lnL>
                    <a:lnR w="9525" cap="flat" cmpd="sng" algn="ctr">
                      <a:solidFill>
                        <a:srgbClr val="333333"/>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321B9C5A-8342-461E-AD35-C6253B01C55D}"/>
              </a:ext>
            </a:extLst>
          </p:cNvPr>
          <p:cNvSpPr>
            <a:spLocks noGrp="1"/>
          </p:cNvSpPr>
          <p:nvPr>
            <p:ph type="title"/>
          </p:nvPr>
        </p:nvSpPr>
        <p:spPr>
          <a:xfrm>
            <a:off x="457200" y="198437"/>
            <a:ext cx="8382000" cy="792163"/>
          </a:xfrm>
        </p:spPr>
        <p:txBody>
          <a:bodyPr/>
          <a:lstStyle/>
          <a:p>
            <a:r>
              <a:rPr lang="en-US" altLang="en-US" dirty="0"/>
              <a:t>Consistency in Use of Inventory Costing Methods Part 1</a:t>
            </a:r>
          </a:p>
        </p:txBody>
      </p:sp>
      <p:sp>
        <p:nvSpPr>
          <p:cNvPr id="44034" name="Content Placeholder 2">
            <a:extLst>
              <a:ext uri="{FF2B5EF4-FFF2-40B4-BE49-F238E27FC236}">
                <a16:creationId xmlns:a16="http://schemas.microsoft.com/office/drawing/2014/main" id="{D31A96AD-1C02-4CA1-8C3A-479DC472AB0B}"/>
              </a:ext>
            </a:extLst>
          </p:cNvPr>
          <p:cNvSpPr>
            <a:spLocks noGrp="1"/>
          </p:cNvSpPr>
          <p:nvPr>
            <p:ph idx="1"/>
          </p:nvPr>
        </p:nvSpPr>
        <p:spPr/>
        <p:txBody>
          <a:bodyPr/>
          <a:lstStyle/>
          <a:p>
            <a:r>
              <a:rPr lang="en-CA" dirty="0"/>
              <a:t>Regardless of the physical flow of goods, a company can use either the weighted-average or the FIFO inventory costing method. </a:t>
            </a:r>
          </a:p>
          <a:p>
            <a:r>
              <a:rPr lang="en-CA" dirty="0"/>
              <a:t>Companies are expected to select the most representationally faithful inventory costing method. </a:t>
            </a:r>
          </a:p>
          <a:p>
            <a:r>
              <a:rPr lang="en-CA" dirty="0"/>
              <a:t>The cost of inventory is supposed to reflect most accurately the anticipated benefit that will eventually be realized from either the use or the sale of the inventory.</a:t>
            </a:r>
          </a:p>
          <a:p>
            <a:r>
              <a:rPr lang="en-CA" dirty="0"/>
              <a:t>Therefore, a company is not required to use the same inventory costing method for all inventory items. The justification arises from the pervasive principle of economic substance over form. </a:t>
            </a:r>
            <a:endParaRPr lang="en-CA" altLang="en-US" dirty="0"/>
          </a:p>
          <a:p>
            <a:endParaRPr lang="en-US"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321B9C5A-8342-461E-AD35-C6253B01C55D}"/>
              </a:ext>
            </a:extLst>
          </p:cNvPr>
          <p:cNvSpPr>
            <a:spLocks noGrp="1"/>
          </p:cNvSpPr>
          <p:nvPr>
            <p:ph type="title"/>
          </p:nvPr>
        </p:nvSpPr>
        <p:spPr>
          <a:xfrm>
            <a:off x="457200" y="198437"/>
            <a:ext cx="8382000" cy="792163"/>
          </a:xfrm>
        </p:spPr>
        <p:txBody>
          <a:bodyPr/>
          <a:lstStyle/>
          <a:p>
            <a:r>
              <a:rPr lang="en-US" altLang="en-US" dirty="0"/>
              <a:t>Consistency in Use of Inventory Costing Methods Part 2</a:t>
            </a:r>
          </a:p>
        </p:txBody>
      </p:sp>
      <p:sp>
        <p:nvSpPr>
          <p:cNvPr id="44034" name="Content Placeholder 2">
            <a:extLst>
              <a:ext uri="{FF2B5EF4-FFF2-40B4-BE49-F238E27FC236}">
                <a16:creationId xmlns:a16="http://schemas.microsoft.com/office/drawing/2014/main" id="{D31A96AD-1C02-4CA1-8C3A-479DC472AB0B}"/>
              </a:ext>
            </a:extLst>
          </p:cNvPr>
          <p:cNvSpPr>
            <a:spLocks noGrp="1"/>
          </p:cNvSpPr>
          <p:nvPr>
            <p:ph idx="1"/>
          </p:nvPr>
        </p:nvSpPr>
        <p:spPr/>
        <p:txBody>
          <a:bodyPr/>
          <a:lstStyle/>
          <a:p>
            <a:r>
              <a:rPr lang="en-CA" dirty="0"/>
              <a:t>To enhance comparability, accounting rules require companies to apply their accounting methods on a consistent basis. </a:t>
            </a:r>
          </a:p>
          <a:p>
            <a:r>
              <a:rPr lang="en-CA" dirty="0"/>
              <a:t>A company is not permitted to use FIFO one period, weighted average the next, and then FIFO the next. </a:t>
            </a:r>
          </a:p>
          <a:p>
            <a:r>
              <a:rPr lang="en-CA" dirty="0"/>
              <a:t>A change in method is allowed only if the change will improve the measurement of financial results and financial position. </a:t>
            </a:r>
          </a:p>
          <a:p>
            <a:r>
              <a:rPr lang="en-CA" dirty="0"/>
              <a:t>Changing from one inventory costing method to another is a significant event. Such a change requires full disclosure of the reason for the change and the accounting effects.</a:t>
            </a:r>
            <a:endParaRPr lang="en-US" altLang="en-US" dirty="0"/>
          </a:p>
        </p:txBody>
      </p:sp>
    </p:spTree>
    <p:extLst>
      <p:ext uri="{BB962C8B-B14F-4D97-AF65-F5344CB8AC3E}">
        <p14:creationId xmlns:p14="http://schemas.microsoft.com/office/powerpoint/2010/main" val="6413615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F8F23E96-A8AC-4D59-A51D-421E8303DE15}"/>
              </a:ext>
            </a:extLst>
          </p:cNvPr>
          <p:cNvSpPr>
            <a:spLocks noGrp="1"/>
          </p:cNvSpPr>
          <p:nvPr>
            <p:ph type="title"/>
          </p:nvPr>
        </p:nvSpPr>
        <p:spPr>
          <a:xfrm>
            <a:off x="457200" y="198437"/>
            <a:ext cx="8229600" cy="792163"/>
          </a:xfrm>
        </p:spPr>
        <p:txBody>
          <a:bodyPr/>
          <a:lstStyle/>
          <a:p>
            <a:r>
              <a:rPr lang="en-US" altLang="en-US" dirty="0"/>
              <a:t>Managers’ Choice of Inventory Costing Methods Part 1</a:t>
            </a:r>
          </a:p>
        </p:txBody>
      </p:sp>
      <p:sp>
        <p:nvSpPr>
          <p:cNvPr id="45058" name="Content Placeholder 2">
            <a:extLst>
              <a:ext uri="{FF2B5EF4-FFF2-40B4-BE49-F238E27FC236}">
                <a16:creationId xmlns:a16="http://schemas.microsoft.com/office/drawing/2014/main" id="{C10556E3-78A1-4497-A4A4-092C3D3EB4E4}"/>
              </a:ext>
            </a:extLst>
          </p:cNvPr>
          <p:cNvSpPr>
            <a:spLocks noGrp="1"/>
          </p:cNvSpPr>
          <p:nvPr>
            <p:ph idx="1"/>
          </p:nvPr>
        </p:nvSpPr>
        <p:spPr/>
        <p:txBody>
          <a:bodyPr/>
          <a:lstStyle/>
          <a:p>
            <a:r>
              <a:rPr lang="en-CA" altLang="en-US"/>
              <a:t>In principle, managers should choose the method that best reflects the company’s economic circumstances for financial reporting purposes. </a:t>
            </a:r>
          </a:p>
          <a:p>
            <a:endParaRPr lang="en-CA" altLang="en-US" sz="1600"/>
          </a:p>
          <a:p>
            <a:r>
              <a:rPr lang="en-CA" altLang="en-US"/>
              <a:t>In practice, most managers choose generally accepted accounting methods based on two factors:</a:t>
            </a:r>
          </a:p>
          <a:p>
            <a:pPr marL="731838" lvl="1" indent="-457200">
              <a:buFont typeface="Calibri" panose="020F0502020204030204" pitchFamily="34" charset="0"/>
              <a:buAutoNum type="arabicPeriod"/>
            </a:pPr>
            <a:r>
              <a:rPr lang="en-CA" altLang="en-US" sz="2600">
                <a:solidFill>
                  <a:schemeClr val="tx1"/>
                </a:solidFill>
              </a:rPr>
              <a:t>Effect on net earnings (managers prefer to report higher earnings for their companies).</a:t>
            </a:r>
          </a:p>
          <a:p>
            <a:pPr marL="731838" lvl="1" indent="-457200">
              <a:buFont typeface="Calibri" panose="020F0502020204030204" pitchFamily="34" charset="0"/>
              <a:buAutoNum type="arabicPeriod"/>
            </a:pPr>
            <a:r>
              <a:rPr lang="en-CA" altLang="en-US" sz="2600">
                <a:solidFill>
                  <a:schemeClr val="tx1"/>
                </a:solidFill>
              </a:rPr>
              <a:t>Effect on income taxes (managers prefer to pay the least amount of taxes allowed by law, as late as possible: the </a:t>
            </a:r>
            <a:r>
              <a:rPr lang="en-CA" altLang="en-US" sz="2600" i="1">
                <a:solidFill>
                  <a:schemeClr val="tx1"/>
                </a:solidFill>
              </a:rPr>
              <a:t>least–latest rule</a:t>
            </a:r>
            <a:r>
              <a:rPr lang="en-CA" altLang="en-US" sz="2600">
                <a:solidFill>
                  <a:schemeClr val="tx1"/>
                </a:solidFill>
              </a:rPr>
              <a:t>).</a:t>
            </a:r>
          </a:p>
          <a:p>
            <a:endParaRPr lang="en-US" alt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D52EB584-5C1A-447E-98E3-CAE71EE49D31}"/>
              </a:ext>
            </a:extLst>
          </p:cNvPr>
          <p:cNvSpPr>
            <a:spLocks noGrp="1"/>
          </p:cNvSpPr>
          <p:nvPr>
            <p:ph type="title"/>
          </p:nvPr>
        </p:nvSpPr>
        <p:spPr>
          <a:xfrm>
            <a:off x="457200" y="198437"/>
            <a:ext cx="8610600" cy="792163"/>
          </a:xfrm>
        </p:spPr>
        <p:txBody>
          <a:bodyPr/>
          <a:lstStyle/>
          <a:p>
            <a:r>
              <a:rPr lang="en-US" altLang="en-US" dirty="0"/>
              <a:t>Managers’ Choice of Inventory Costing Methods Part 2</a:t>
            </a:r>
          </a:p>
        </p:txBody>
      </p:sp>
      <p:sp>
        <p:nvSpPr>
          <p:cNvPr id="46082" name="Content Placeholder 2">
            <a:extLst>
              <a:ext uri="{FF2B5EF4-FFF2-40B4-BE49-F238E27FC236}">
                <a16:creationId xmlns:a16="http://schemas.microsoft.com/office/drawing/2014/main" id="{140B81FD-DDD2-46D3-B7FE-9D58D9D34C7B}"/>
              </a:ext>
            </a:extLst>
          </p:cNvPr>
          <p:cNvSpPr>
            <a:spLocks noGrp="1"/>
          </p:cNvSpPr>
          <p:nvPr>
            <p:ph idx="1"/>
          </p:nvPr>
        </p:nvSpPr>
        <p:spPr/>
        <p:txBody>
          <a:bodyPr/>
          <a:lstStyle/>
          <a:p>
            <a:r>
              <a:rPr lang="en-CA" altLang="en-US"/>
              <a:t>Because accounting standards and tax laws differ, management must also choose an inventory costing method to use on the company’s tax return (for tax purposes). </a:t>
            </a:r>
          </a:p>
          <a:p>
            <a:endParaRPr lang="en-CA" altLang="en-US"/>
          </a:p>
          <a:p>
            <a:r>
              <a:rPr lang="en-CA" altLang="en-US"/>
              <a:t>In general, most companies choose to use the same inventory costing method for both financial reporting and tax reporting purposes.</a:t>
            </a:r>
          </a:p>
          <a:p>
            <a:endParaRPr lang="en-US"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E87260DF-D8E8-488A-8348-D4849A5516E7}"/>
              </a:ext>
            </a:extLst>
          </p:cNvPr>
          <p:cNvSpPr>
            <a:spLocks noGrp="1"/>
          </p:cNvSpPr>
          <p:nvPr>
            <p:ph type="title"/>
          </p:nvPr>
        </p:nvSpPr>
        <p:spPr>
          <a:xfrm>
            <a:off x="457200" y="198437"/>
            <a:ext cx="8229600" cy="792163"/>
          </a:xfrm>
        </p:spPr>
        <p:txBody>
          <a:bodyPr/>
          <a:lstStyle/>
          <a:p>
            <a:r>
              <a:rPr lang="en-US" altLang="en-US" dirty="0"/>
              <a:t>Valuation at Lower of Cost and Net Realizable Value Part 1</a:t>
            </a:r>
          </a:p>
        </p:txBody>
      </p:sp>
      <p:sp>
        <p:nvSpPr>
          <p:cNvPr id="47106" name="Content Placeholder 2">
            <a:extLst>
              <a:ext uri="{FF2B5EF4-FFF2-40B4-BE49-F238E27FC236}">
                <a16:creationId xmlns:a16="http://schemas.microsoft.com/office/drawing/2014/main" id="{3C742183-A06A-4415-A8D1-36601721E72A}"/>
              </a:ext>
            </a:extLst>
          </p:cNvPr>
          <p:cNvSpPr>
            <a:spLocks noGrp="1"/>
          </p:cNvSpPr>
          <p:nvPr>
            <p:ph idx="1"/>
          </p:nvPr>
        </p:nvSpPr>
        <p:spPr/>
        <p:txBody>
          <a:bodyPr/>
          <a:lstStyle/>
          <a:p>
            <a:r>
              <a:rPr lang="en-CA" altLang="en-US" dirty="0"/>
              <a:t>Ending inventory is reported at the lower of cost or net realizable value (LC&amp;NRV).  </a:t>
            </a:r>
          </a:p>
          <a:p>
            <a:r>
              <a:rPr lang="en-CA" altLang="en-US" dirty="0"/>
              <a:t>Net Realizable Value (NRV) is the expected sales price less estimated selling costs (e.g., repair and disposal costs).</a:t>
            </a:r>
          </a:p>
          <a:p>
            <a:r>
              <a:rPr lang="en-CA" dirty="0"/>
              <a:t>This valuation rule is a departure from the cost principle and is particularly important for two types of companies: </a:t>
            </a:r>
          </a:p>
          <a:p>
            <a:pPr lvl="1"/>
            <a:r>
              <a:rPr lang="en-CA" sz="2600" dirty="0"/>
              <a:t>(1) high-technology companies, such as Apple, that manufacture goods for which the cost of production and the selling price are declining and </a:t>
            </a:r>
          </a:p>
          <a:p>
            <a:pPr lvl="1"/>
            <a:r>
              <a:rPr lang="en-CA" sz="2600" dirty="0"/>
              <a:t>(2) companies like Canada Goose that sell seasonal goods, the value of which drops dramatically at the end of each selling season.</a:t>
            </a:r>
          </a:p>
          <a:p>
            <a:endParaRPr lang="en-CA" altLang="en-US" sz="2000" dirty="0">
              <a:latin typeface="Arial" panose="020B0604020202020204" pitchFamily="34" charset="0"/>
            </a:endParaRPr>
          </a:p>
          <a:p>
            <a:endParaRPr lang="en-CA" altLang="en-US" sz="2000" b="1" dirty="0">
              <a:solidFill>
                <a:srgbClr val="FFFF00"/>
              </a:solidFill>
              <a:latin typeface="Arial" panose="020B0604020202020204" pitchFamily="34" charset="0"/>
            </a:endParaRPr>
          </a:p>
          <a:p>
            <a:endParaRPr lang="en-US" altLang="en-US" dirty="0"/>
          </a:p>
          <a:p>
            <a:endParaRPr lang="en-US" alt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E87260DF-D8E8-488A-8348-D4849A5516E7}"/>
              </a:ext>
            </a:extLst>
          </p:cNvPr>
          <p:cNvSpPr>
            <a:spLocks noGrp="1"/>
          </p:cNvSpPr>
          <p:nvPr>
            <p:ph type="title"/>
          </p:nvPr>
        </p:nvSpPr>
        <p:spPr>
          <a:xfrm>
            <a:off x="457200" y="198437"/>
            <a:ext cx="8229600" cy="792163"/>
          </a:xfrm>
        </p:spPr>
        <p:txBody>
          <a:bodyPr/>
          <a:lstStyle/>
          <a:p>
            <a:r>
              <a:rPr lang="en-US" altLang="en-US" dirty="0"/>
              <a:t>Valuation at Lower of Cost and Net Realizable Value Part 2</a:t>
            </a:r>
          </a:p>
        </p:txBody>
      </p:sp>
      <p:sp>
        <p:nvSpPr>
          <p:cNvPr id="47106" name="Content Placeholder 2">
            <a:extLst>
              <a:ext uri="{FF2B5EF4-FFF2-40B4-BE49-F238E27FC236}">
                <a16:creationId xmlns:a16="http://schemas.microsoft.com/office/drawing/2014/main" id="{3C742183-A06A-4415-A8D1-36601721E72A}"/>
              </a:ext>
            </a:extLst>
          </p:cNvPr>
          <p:cNvSpPr>
            <a:spLocks noGrp="1"/>
          </p:cNvSpPr>
          <p:nvPr>
            <p:ph idx="1"/>
          </p:nvPr>
        </p:nvSpPr>
        <p:spPr/>
        <p:txBody>
          <a:bodyPr/>
          <a:lstStyle/>
          <a:p>
            <a:r>
              <a:rPr lang="en-CA" dirty="0"/>
              <a:t>Under LC&amp;NRV, companies recognize a loss in the period in which the net realizable value of an item drops rather than in the period in which the item is sold. </a:t>
            </a:r>
          </a:p>
          <a:p>
            <a:endParaRPr lang="en-CA" dirty="0"/>
          </a:p>
          <a:p>
            <a:r>
              <a:rPr lang="en-CA" dirty="0"/>
              <a:t>The loss is the difference between the purchase cost and the net realizable value and is added to the cost of sales of the period.</a:t>
            </a:r>
          </a:p>
          <a:p>
            <a:endParaRPr lang="en-CA" altLang="en-US" dirty="0">
              <a:latin typeface="Arial" panose="020B0604020202020204" pitchFamily="34" charset="0"/>
            </a:endParaRPr>
          </a:p>
          <a:p>
            <a:endParaRPr lang="en-CA" altLang="en-US" b="1" dirty="0">
              <a:solidFill>
                <a:srgbClr val="FFFF00"/>
              </a:solidFill>
              <a:latin typeface="Arial" panose="020B0604020202020204" pitchFamily="34" charset="0"/>
            </a:endParaRPr>
          </a:p>
          <a:p>
            <a:endParaRPr lang="en-US" altLang="en-US" dirty="0"/>
          </a:p>
          <a:p>
            <a:endParaRPr lang="en-US" altLang="en-US" dirty="0"/>
          </a:p>
        </p:txBody>
      </p:sp>
    </p:spTree>
    <p:extLst>
      <p:ext uri="{BB962C8B-B14F-4D97-AF65-F5344CB8AC3E}">
        <p14:creationId xmlns:p14="http://schemas.microsoft.com/office/powerpoint/2010/main" val="356748047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1AEF252A-A4F4-4338-8287-A05E0780EABA}"/>
              </a:ext>
            </a:extLst>
          </p:cNvPr>
          <p:cNvSpPr>
            <a:spLocks noGrp="1"/>
          </p:cNvSpPr>
          <p:nvPr>
            <p:ph type="title"/>
          </p:nvPr>
        </p:nvSpPr>
        <p:spPr>
          <a:xfrm>
            <a:off x="457200" y="198437"/>
            <a:ext cx="8229600" cy="792163"/>
          </a:xfrm>
        </p:spPr>
        <p:txBody>
          <a:bodyPr/>
          <a:lstStyle/>
          <a:p>
            <a:r>
              <a:rPr lang="en-US" altLang="en-US" dirty="0"/>
              <a:t>Valuation at Lower of Cost and Net Realizable Value Part 3</a:t>
            </a:r>
          </a:p>
        </p:txBody>
      </p:sp>
      <p:sp>
        <p:nvSpPr>
          <p:cNvPr id="48130" name="Content Placeholder 2">
            <a:extLst>
              <a:ext uri="{FF2B5EF4-FFF2-40B4-BE49-F238E27FC236}">
                <a16:creationId xmlns:a16="http://schemas.microsoft.com/office/drawing/2014/main" id="{76716B8E-465C-4CBA-A67A-87ABFCF967FB}"/>
              </a:ext>
            </a:extLst>
          </p:cNvPr>
          <p:cNvSpPr>
            <a:spLocks noGrp="1"/>
          </p:cNvSpPr>
          <p:nvPr>
            <p:ph idx="1"/>
          </p:nvPr>
        </p:nvSpPr>
        <p:spPr/>
        <p:txBody>
          <a:bodyPr/>
          <a:lstStyle/>
          <a:p>
            <a:r>
              <a:rPr lang="en-CA" altLang="en-US" dirty="0"/>
              <a:t>If the NRV of the inventory items that were written down increases in a subsequent accounting period because of changed economic circumstances, then the amount of the write-down is reversed up to the original cost, so that the new carrying amount of the inventory is the lower of the cost and the revised net realizable value. </a:t>
            </a:r>
          </a:p>
          <a:p>
            <a:r>
              <a:rPr lang="en-CA" altLang="en-US" dirty="0"/>
              <a:t>Normally, a reversal of a previous write-down occurs when an inventory item that is carried at NRV is still on hand in a subsequent period when its selling price has increased.</a:t>
            </a:r>
          </a:p>
          <a:p>
            <a:r>
              <a:rPr lang="en-CA" altLang="en-US" dirty="0"/>
              <a:t>Under IFRS, the LC&amp;NRV rule must be applied to all inventories, item by item, regardless of the inventory costing methods that a company uses.</a:t>
            </a:r>
          </a:p>
          <a:p>
            <a:endParaRPr lang="en-US" alt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2EBC5554-6E45-4CAA-985C-AFA59A99D789}"/>
              </a:ext>
            </a:extLst>
          </p:cNvPr>
          <p:cNvSpPr>
            <a:spLocks noGrp="1"/>
          </p:cNvSpPr>
          <p:nvPr>
            <p:ph type="title"/>
          </p:nvPr>
        </p:nvSpPr>
        <p:spPr/>
        <p:txBody>
          <a:bodyPr/>
          <a:lstStyle/>
          <a:p>
            <a:r>
              <a:rPr lang="en-US" altLang="en-US"/>
              <a:t>Internal Control of Inventory</a:t>
            </a:r>
          </a:p>
        </p:txBody>
      </p:sp>
      <p:sp>
        <p:nvSpPr>
          <p:cNvPr id="3" name="Content Placeholder 2">
            <a:extLst>
              <a:ext uri="{FF2B5EF4-FFF2-40B4-BE49-F238E27FC236}">
                <a16:creationId xmlns:a16="http://schemas.microsoft.com/office/drawing/2014/main" id="{4BD82799-1D6F-48BA-8948-8C351F34FBAE}"/>
              </a:ext>
            </a:extLst>
          </p:cNvPr>
          <p:cNvSpPr>
            <a:spLocks noGrp="1"/>
          </p:cNvSpPr>
          <p:nvPr>
            <p:ph idx="1"/>
          </p:nvPr>
        </p:nvSpPr>
        <p:spPr/>
        <p:txBody>
          <a:bodyPr/>
          <a:lstStyle/>
          <a:p>
            <a:pPr>
              <a:buFont typeface="Wingdings 3" pitchFamily="2" charset="2"/>
              <a:buChar char=""/>
              <a:defRPr/>
            </a:pPr>
            <a:r>
              <a:rPr lang="en-CA" dirty="0"/>
              <a:t>The following are the most important control features:</a:t>
            </a:r>
          </a:p>
          <a:p>
            <a:pPr marL="514350" indent="-514350">
              <a:buFont typeface="+mj-lt"/>
              <a:buAutoNum type="arabicPeriod"/>
              <a:defRPr/>
            </a:pPr>
            <a:r>
              <a:rPr lang="en-CA" sz="2400" dirty="0"/>
              <a:t>Separation of responsibilities for inventory accounting and physical handling of inventory.</a:t>
            </a:r>
          </a:p>
          <a:p>
            <a:pPr marL="514350" indent="-514350">
              <a:buFont typeface="+mj-lt"/>
              <a:buAutoNum type="arabicPeriod"/>
              <a:defRPr/>
            </a:pPr>
            <a:r>
              <a:rPr lang="en-CA" sz="2400" dirty="0"/>
              <a:t>Storage of inventory in a manner that protects it from theft and damage.</a:t>
            </a:r>
          </a:p>
          <a:p>
            <a:pPr marL="514350" indent="-514350">
              <a:buFont typeface="+mj-lt"/>
              <a:buAutoNum type="arabicPeriod"/>
              <a:defRPr/>
            </a:pPr>
            <a:r>
              <a:rPr lang="en-CA" sz="2400" dirty="0"/>
              <a:t>Limiting access to inventory to authorized employees.</a:t>
            </a:r>
          </a:p>
          <a:p>
            <a:pPr marL="514350" indent="-514350">
              <a:buFont typeface="+mj-lt"/>
              <a:buAutoNum type="arabicPeriod"/>
              <a:defRPr/>
            </a:pPr>
            <a:r>
              <a:rPr lang="en-CA" sz="2400" dirty="0"/>
              <a:t>Maintaining modern and comprehensive accounting information systems that provide timely reports of sales and perpetual inventory records.</a:t>
            </a:r>
          </a:p>
          <a:p>
            <a:pPr marL="514350" indent="-514350">
              <a:buFont typeface="+mj-lt"/>
              <a:buAutoNum type="arabicPeriod"/>
              <a:defRPr/>
            </a:pPr>
            <a:r>
              <a:rPr lang="en-CA" sz="2400" dirty="0"/>
              <a:t>Comparing perpetual records to periodic physical counts of inventory.</a:t>
            </a:r>
          </a:p>
          <a:p>
            <a:pPr>
              <a:buFont typeface="Wingdings 3" pitchFamily="2" charset="2"/>
              <a:buChar char=""/>
              <a:defRPr/>
            </a:pPr>
            <a:r>
              <a:rPr lang="en-CA" dirty="0"/>
              <a:t>The first three features protect inventory while the last two ensure the accuracy of reporting inventory costs.</a:t>
            </a:r>
          </a:p>
          <a:p>
            <a:pPr>
              <a:buFont typeface="Wingdings 3" pitchFamily="2" charset="2"/>
              <a:buChar char=""/>
              <a:defRPr/>
            </a:pPr>
            <a:endParaRPr lang="en-US"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2EBC5554-6E45-4CAA-985C-AFA59A99D789}"/>
              </a:ext>
            </a:extLst>
          </p:cNvPr>
          <p:cNvSpPr>
            <a:spLocks noGrp="1"/>
          </p:cNvSpPr>
          <p:nvPr>
            <p:ph type="title"/>
          </p:nvPr>
        </p:nvSpPr>
        <p:spPr/>
        <p:txBody>
          <a:bodyPr/>
          <a:lstStyle/>
          <a:p>
            <a:r>
              <a:rPr lang="en-US" altLang="en-US" dirty="0"/>
              <a:t>Errors in Measuring Ending Inventory Part 1</a:t>
            </a:r>
          </a:p>
        </p:txBody>
      </p:sp>
      <p:sp>
        <p:nvSpPr>
          <p:cNvPr id="3" name="Content Placeholder 2">
            <a:extLst>
              <a:ext uri="{FF2B5EF4-FFF2-40B4-BE49-F238E27FC236}">
                <a16:creationId xmlns:a16="http://schemas.microsoft.com/office/drawing/2014/main" id="{4BD82799-1D6F-48BA-8948-8C351F34FBAE}"/>
              </a:ext>
            </a:extLst>
          </p:cNvPr>
          <p:cNvSpPr>
            <a:spLocks noGrp="1"/>
          </p:cNvSpPr>
          <p:nvPr>
            <p:ph idx="1"/>
          </p:nvPr>
        </p:nvSpPr>
        <p:spPr/>
        <p:txBody>
          <a:bodyPr/>
          <a:lstStyle/>
          <a:p>
            <a:pPr>
              <a:buFont typeface="Wingdings 3" pitchFamily="2" charset="2"/>
              <a:buChar char=""/>
              <a:defRPr/>
            </a:pPr>
            <a:r>
              <a:rPr lang="en-CA" dirty="0"/>
              <a:t>As the cost of sales equation indicates, a direct relationship exists between the cost of ending inventory and the cost of sales, because items not in the ending inventory are assumed to have been sold. </a:t>
            </a:r>
          </a:p>
          <a:p>
            <a:pPr>
              <a:buFont typeface="Wingdings 3" pitchFamily="2" charset="2"/>
              <a:buChar char=""/>
              <a:defRPr/>
            </a:pPr>
            <a:endParaRPr lang="en-CA" sz="1000" dirty="0"/>
          </a:p>
          <a:p>
            <a:pPr>
              <a:buFont typeface="Wingdings 3" pitchFamily="2" charset="2"/>
              <a:buChar char=""/>
              <a:defRPr/>
            </a:pPr>
            <a:r>
              <a:rPr lang="en-CA" dirty="0"/>
              <a:t>The measurement of ending inventory quantities and costs affects both the statement of financial position (assets) and the statement of earnings (cost of sales, gross profit, and net earnings). </a:t>
            </a:r>
          </a:p>
          <a:p>
            <a:pPr>
              <a:buFont typeface="Wingdings 3" pitchFamily="2" charset="2"/>
              <a:buChar char=""/>
              <a:defRPr/>
            </a:pPr>
            <a:endParaRPr lang="en-CA" sz="1000" dirty="0"/>
          </a:p>
          <a:p>
            <a:pPr>
              <a:buFont typeface="Wingdings 3" pitchFamily="2" charset="2"/>
              <a:buChar char=""/>
              <a:defRPr/>
            </a:pPr>
            <a:r>
              <a:rPr lang="en-CA" dirty="0"/>
              <a:t>The measurement of ending inventory affects not only the net earnings for that period but also the net earnings for the next accounting period. </a:t>
            </a:r>
          </a:p>
        </p:txBody>
      </p:sp>
    </p:spTree>
    <p:extLst>
      <p:ext uri="{BB962C8B-B14F-4D97-AF65-F5344CB8AC3E}">
        <p14:creationId xmlns:p14="http://schemas.microsoft.com/office/powerpoint/2010/main" val="426496141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2EBC5554-6E45-4CAA-985C-AFA59A99D789}"/>
              </a:ext>
            </a:extLst>
          </p:cNvPr>
          <p:cNvSpPr>
            <a:spLocks noGrp="1"/>
          </p:cNvSpPr>
          <p:nvPr>
            <p:ph type="title"/>
          </p:nvPr>
        </p:nvSpPr>
        <p:spPr/>
        <p:txBody>
          <a:bodyPr/>
          <a:lstStyle/>
          <a:p>
            <a:r>
              <a:rPr lang="en-US" altLang="en-US" dirty="0"/>
              <a:t>Errors in Measuring Ending Inventory Part 2</a:t>
            </a:r>
          </a:p>
        </p:txBody>
      </p:sp>
      <p:sp>
        <p:nvSpPr>
          <p:cNvPr id="3" name="Content Placeholder 2">
            <a:extLst>
              <a:ext uri="{FF2B5EF4-FFF2-40B4-BE49-F238E27FC236}">
                <a16:creationId xmlns:a16="http://schemas.microsoft.com/office/drawing/2014/main" id="{4BD82799-1D6F-48BA-8948-8C351F34FBAE}"/>
              </a:ext>
            </a:extLst>
          </p:cNvPr>
          <p:cNvSpPr>
            <a:spLocks noGrp="1"/>
          </p:cNvSpPr>
          <p:nvPr>
            <p:ph idx="1"/>
          </p:nvPr>
        </p:nvSpPr>
        <p:spPr/>
        <p:txBody>
          <a:bodyPr/>
          <a:lstStyle/>
          <a:p>
            <a:pPr>
              <a:buFont typeface="Wingdings 3" pitchFamily="2" charset="2"/>
              <a:buChar char=""/>
              <a:defRPr/>
            </a:pPr>
            <a:r>
              <a:rPr lang="en-CA" dirty="0"/>
              <a:t>This two-period effect occurs because the ending inventory for one accounting period is the beginning inventory for the next.</a:t>
            </a:r>
          </a:p>
          <a:p>
            <a:pPr>
              <a:buFont typeface="Wingdings 3" pitchFamily="2" charset="2"/>
              <a:buChar char=""/>
              <a:defRPr/>
            </a:pPr>
            <a:endParaRPr lang="en-CA" sz="1000" dirty="0"/>
          </a:p>
          <a:p>
            <a:pPr>
              <a:buFont typeface="Wingdings 3" pitchFamily="2" charset="2"/>
              <a:buChar char=""/>
              <a:defRPr/>
            </a:pPr>
            <a:r>
              <a:rPr lang="en-CA" dirty="0"/>
              <a:t>Exhibit 6.8 shows how an error that understates the cost of ending inventory affects other elements of financial statements during the year of the error and the following year. </a:t>
            </a:r>
          </a:p>
          <a:p>
            <a:pPr>
              <a:buFont typeface="Wingdings 3" pitchFamily="2" charset="2"/>
              <a:buChar char=""/>
              <a:defRPr/>
            </a:pPr>
            <a:endParaRPr lang="en-CA" sz="1000" dirty="0"/>
          </a:p>
          <a:p>
            <a:pPr>
              <a:buFont typeface="Wingdings 3" pitchFamily="2" charset="2"/>
              <a:buChar char=""/>
              <a:defRPr/>
            </a:pPr>
            <a:r>
              <a:rPr lang="en-CA" dirty="0"/>
              <a:t>An error that overstates ending inventory would have exactly the opposite effects on the financial statement items shown in Exhibit 6.8 on the next slide.</a:t>
            </a:r>
            <a:endParaRPr lang="en-US" dirty="0"/>
          </a:p>
        </p:txBody>
      </p:sp>
    </p:spTree>
    <p:extLst>
      <p:ext uri="{BB962C8B-B14F-4D97-AF65-F5344CB8AC3E}">
        <p14:creationId xmlns:p14="http://schemas.microsoft.com/office/powerpoint/2010/main" val="80278049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F62A8872-A537-4E1F-97B8-7B60E6C39945}"/>
              </a:ext>
            </a:extLst>
          </p:cNvPr>
          <p:cNvSpPr>
            <a:spLocks noGrp="1"/>
          </p:cNvSpPr>
          <p:nvPr>
            <p:ph type="title"/>
          </p:nvPr>
        </p:nvSpPr>
        <p:spPr>
          <a:xfrm>
            <a:off x="0" y="152400"/>
            <a:ext cx="9144000" cy="792163"/>
          </a:xfrm>
        </p:spPr>
        <p:txBody>
          <a:bodyPr/>
          <a:lstStyle/>
          <a:p>
            <a:pPr algn="ctr"/>
            <a:r>
              <a:rPr lang="en-US" altLang="en-US" dirty="0"/>
              <a:t>Errors in Measuring Ending Inventory – Exhibit 6.8</a:t>
            </a:r>
          </a:p>
        </p:txBody>
      </p:sp>
      <p:sp>
        <p:nvSpPr>
          <p:cNvPr id="14338" name="Content Placeholder 2">
            <a:extLst>
              <a:ext uri="{FF2B5EF4-FFF2-40B4-BE49-F238E27FC236}">
                <a16:creationId xmlns:a16="http://schemas.microsoft.com/office/drawing/2014/main" id="{518B50D2-1F58-4EB2-9498-02F635379132}"/>
              </a:ext>
            </a:extLst>
          </p:cNvPr>
          <p:cNvSpPr>
            <a:spLocks noGrp="1"/>
          </p:cNvSpPr>
          <p:nvPr>
            <p:ph idx="1"/>
          </p:nvPr>
        </p:nvSpPr>
        <p:spPr/>
        <p:txBody>
          <a:bodyPr/>
          <a:lstStyle/>
          <a:p>
            <a:r>
              <a:rPr lang="en-US" altLang="en-US"/>
              <a:t>Effect of Understatement in Ending Inventory on Selected Financial Statement Items</a:t>
            </a:r>
          </a:p>
        </p:txBody>
      </p:sp>
      <p:pic>
        <p:nvPicPr>
          <p:cNvPr id="14339" name="Picture 13" descr="A screenshot of a cell phone&#10;&#10;Description automatically generated">
            <a:extLst>
              <a:ext uri="{FF2B5EF4-FFF2-40B4-BE49-F238E27FC236}">
                <a16:creationId xmlns:a16="http://schemas.microsoft.com/office/drawing/2014/main" id="{4B48BD7E-5A4D-45F5-BF5F-631D4D0D9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2484438"/>
            <a:ext cx="876300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91B9D9A2-7167-4453-9A8A-FAAC82A249DA}"/>
              </a:ext>
            </a:extLst>
          </p:cNvPr>
          <p:cNvSpPr>
            <a:spLocks noGrp="1"/>
          </p:cNvSpPr>
          <p:nvPr>
            <p:ph type="title"/>
          </p:nvPr>
        </p:nvSpPr>
        <p:spPr/>
        <p:txBody>
          <a:bodyPr/>
          <a:lstStyle/>
          <a:p>
            <a:r>
              <a:rPr lang="en-US" altLang="en-US"/>
              <a:t>Key Ratio Analysis – Inventory Turnover Ratio</a:t>
            </a:r>
          </a:p>
        </p:txBody>
      </p:sp>
      <p:sp>
        <p:nvSpPr>
          <p:cNvPr id="3" name="Content Placeholder 2">
            <a:extLst>
              <a:ext uri="{FF2B5EF4-FFF2-40B4-BE49-F238E27FC236}">
                <a16:creationId xmlns:a16="http://schemas.microsoft.com/office/drawing/2014/main" id="{7820112C-CCBA-412C-AD4D-4DC0AB6BE6D8}"/>
              </a:ext>
            </a:extLst>
          </p:cNvPr>
          <p:cNvSpPr>
            <a:spLocks noGrp="1"/>
          </p:cNvSpPr>
          <p:nvPr>
            <p:ph idx="1"/>
          </p:nvPr>
        </p:nvSpPr>
        <p:spPr/>
        <p:txBody>
          <a:bodyPr/>
          <a:lstStyle/>
          <a:p>
            <a:pPr>
              <a:buFont typeface="Wingdings 3" pitchFamily="2" charset="2"/>
              <a:buChar char=""/>
              <a:defRPr/>
            </a:pPr>
            <a:r>
              <a:rPr lang="en-CA" b="1" dirty="0"/>
              <a:t>ANALYTICAL QUESTION</a:t>
            </a:r>
            <a:r>
              <a:rPr lang="en-CA" dirty="0"/>
              <a:t> → How efficient are inventory management activities?</a:t>
            </a:r>
          </a:p>
          <a:p>
            <a:pPr>
              <a:buFont typeface="Wingdings 3" pitchFamily="2" charset="2"/>
              <a:buChar char=""/>
              <a:defRPr/>
            </a:pPr>
            <a:r>
              <a:rPr lang="en-CA" b="1" dirty="0"/>
              <a:t>RATIO AND COMPARISONS</a:t>
            </a:r>
            <a:r>
              <a:rPr lang="en-CA" dirty="0"/>
              <a:t> → The answer to this question is facilitated by the computation of the inventory turnover ratio as follows:</a:t>
            </a:r>
          </a:p>
          <a:p>
            <a:pPr>
              <a:buFont typeface="Wingdings 3" pitchFamily="2" charset="2"/>
              <a:buChar char=""/>
              <a:defRPr/>
            </a:pPr>
            <a:endParaRPr lang="en-CA" dirty="0"/>
          </a:p>
          <a:p>
            <a:pPr>
              <a:buFont typeface="Wingdings 3" pitchFamily="2" charset="2"/>
              <a:buChar char=""/>
              <a:defRPr/>
            </a:pPr>
            <a:endParaRPr lang="en-CA" dirty="0"/>
          </a:p>
          <a:p>
            <a:pPr marL="0" indent="0">
              <a:buFont typeface="Wingdings 3" pitchFamily="2" charset="2"/>
              <a:buNone/>
              <a:defRPr/>
            </a:pPr>
            <a:endParaRPr lang="en-CA" dirty="0"/>
          </a:p>
          <a:p>
            <a:pPr>
              <a:buFont typeface="Wingdings 3" pitchFamily="2" charset="2"/>
              <a:buChar char=""/>
              <a:defRPr/>
            </a:pPr>
            <a:r>
              <a:rPr lang="en-US" dirty="0"/>
              <a:t>This ratio reflects how many times average inventory was produced and sold during the period.  </a:t>
            </a:r>
          </a:p>
          <a:p>
            <a:pPr>
              <a:buFont typeface="Wingdings 3" pitchFamily="2" charset="2"/>
              <a:buChar char=""/>
              <a:defRPr/>
            </a:pPr>
            <a:r>
              <a:rPr lang="en-US" dirty="0"/>
              <a:t>A higher ratio indicates that inventory moves more quickly thus reducing storage and obsolescence costs.  </a:t>
            </a:r>
          </a:p>
          <a:p>
            <a:pPr>
              <a:buFont typeface="Wingdings 3" pitchFamily="2" charset="2"/>
              <a:buChar char=""/>
              <a:defRPr/>
            </a:pPr>
            <a:endParaRPr lang="en-CA" dirty="0"/>
          </a:p>
          <a:p>
            <a:pPr>
              <a:buFont typeface="Wingdings 3" pitchFamily="2" charset="2"/>
              <a:buChar char=""/>
              <a:defRPr/>
            </a:pPr>
            <a:endParaRPr lang="en-US" dirty="0"/>
          </a:p>
        </p:txBody>
      </p:sp>
      <p:sp>
        <p:nvSpPr>
          <p:cNvPr id="15363" name="Rectangle 4">
            <a:extLst>
              <a:ext uri="{FF2B5EF4-FFF2-40B4-BE49-F238E27FC236}">
                <a16:creationId xmlns:a16="http://schemas.microsoft.com/office/drawing/2014/main" id="{4F01744C-162E-42DE-9D0C-DDCA64797BC0}"/>
              </a:ext>
            </a:extLst>
          </p:cNvPr>
          <p:cNvSpPr>
            <a:spLocks noChangeArrowheads="1"/>
          </p:cNvSpPr>
          <p:nvPr/>
        </p:nvSpPr>
        <p:spPr bwMode="auto">
          <a:xfrm>
            <a:off x="685800" y="3429000"/>
            <a:ext cx="6467734" cy="108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90000"/>
              </a:lnSpc>
              <a:spcBef>
                <a:spcPct val="0"/>
              </a:spcBef>
              <a:buClrTx/>
              <a:buSzTx/>
              <a:buFontTx/>
              <a:buNone/>
            </a:pPr>
            <a:r>
              <a:rPr lang="en-CA" altLang="en-US" sz="2400" b="1" dirty="0">
                <a:latin typeface="Arial" panose="020B0604020202020204" pitchFamily="34" charset="0"/>
              </a:rPr>
              <a:t>			          Cost of Sales</a:t>
            </a:r>
          </a:p>
          <a:p>
            <a:pPr>
              <a:lnSpc>
                <a:spcPct val="90000"/>
              </a:lnSpc>
              <a:spcBef>
                <a:spcPct val="0"/>
              </a:spcBef>
              <a:buClrTx/>
              <a:buSzTx/>
              <a:buFontTx/>
              <a:buNone/>
            </a:pPr>
            <a:r>
              <a:rPr lang="en-CA" altLang="en-US" sz="2400" b="1" dirty="0">
                <a:latin typeface="Arial" panose="020B0604020202020204" pitchFamily="34" charset="0"/>
              </a:rPr>
              <a:t>                              =   </a:t>
            </a:r>
          </a:p>
          <a:p>
            <a:pPr>
              <a:lnSpc>
                <a:spcPct val="90000"/>
              </a:lnSpc>
              <a:spcBef>
                <a:spcPct val="0"/>
              </a:spcBef>
              <a:buClrTx/>
              <a:buSzTx/>
              <a:buFontTx/>
              <a:buNone/>
            </a:pPr>
            <a:r>
              <a:rPr lang="en-CA" altLang="en-US" sz="2400" b="1" dirty="0">
                <a:latin typeface="Arial" panose="020B0604020202020204" pitchFamily="34" charset="0"/>
              </a:rPr>
              <a:t>                                        Average Inventory</a:t>
            </a:r>
          </a:p>
        </p:txBody>
      </p:sp>
      <p:sp>
        <p:nvSpPr>
          <p:cNvPr id="15364" name="Line 5">
            <a:extLst>
              <a:ext uri="{FF2B5EF4-FFF2-40B4-BE49-F238E27FC236}">
                <a16:creationId xmlns:a16="http://schemas.microsoft.com/office/drawing/2014/main" id="{B3400C9B-010C-40CC-9D9F-3C1003DEA100}"/>
              </a:ext>
            </a:extLst>
          </p:cNvPr>
          <p:cNvSpPr>
            <a:spLocks noChangeShapeType="1"/>
          </p:cNvSpPr>
          <p:nvPr/>
        </p:nvSpPr>
        <p:spPr bwMode="auto">
          <a:xfrm>
            <a:off x="3665538" y="3970338"/>
            <a:ext cx="342900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5" name="Rectangle 6">
            <a:extLst>
              <a:ext uri="{FF2B5EF4-FFF2-40B4-BE49-F238E27FC236}">
                <a16:creationId xmlns:a16="http://schemas.microsoft.com/office/drawing/2014/main" id="{FC636F0E-8EA7-4DCD-A75B-1ED3426A8D59}"/>
              </a:ext>
            </a:extLst>
          </p:cNvPr>
          <p:cNvSpPr>
            <a:spLocks noChangeArrowheads="1"/>
          </p:cNvSpPr>
          <p:nvPr/>
        </p:nvSpPr>
        <p:spPr bwMode="auto">
          <a:xfrm>
            <a:off x="398205" y="3597275"/>
            <a:ext cx="2967296"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dirty="0">
                <a:latin typeface="Arial" panose="020B0604020202020204" pitchFamily="34" charset="0"/>
              </a:rPr>
              <a:t>Inventory Turnover Ratio</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F152CAC7-0CF1-45B9-92F1-26FCB87B761E}"/>
              </a:ext>
            </a:extLst>
          </p:cNvPr>
          <p:cNvSpPr>
            <a:spLocks noGrp="1"/>
          </p:cNvSpPr>
          <p:nvPr>
            <p:ph type="title"/>
          </p:nvPr>
        </p:nvSpPr>
        <p:spPr>
          <a:xfrm>
            <a:off x="0" y="152400"/>
            <a:ext cx="9144000" cy="792163"/>
          </a:xfrm>
        </p:spPr>
        <p:txBody>
          <a:bodyPr/>
          <a:lstStyle/>
          <a:p>
            <a:pPr algn="ctr"/>
            <a:r>
              <a:rPr lang="en-US" altLang="en-US"/>
              <a:t>Key Ratio Analysis – Average Days to Sell Inventory</a:t>
            </a:r>
          </a:p>
        </p:txBody>
      </p:sp>
      <p:sp>
        <p:nvSpPr>
          <p:cNvPr id="16386" name="Content Placeholder 2">
            <a:extLst>
              <a:ext uri="{FF2B5EF4-FFF2-40B4-BE49-F238E27FC236}">
                <a16:creationId xmlns:a16="http://schemas.microsoft.com/office/drawing/2014/main" id="{3B6FA692-64E0-4E68-82B1-15BE3BFEA8DB}"/>
              </a:ext>
            </a:extLst>
          </p:cNvPr>
          <p:cNvSpPr>
            <a:spLocks noGrp="1"/>
          </p:cNvSpPr>
          <p:nvPr>
            <p:ph idx="1"/>
          </p:nvPr>
        </p:nvSpPr>
        <p:spPr/>
        <p:txBody>
          <a:bodyPr/>
          <a:lstStyle/>
          <a:p>
            <a:endParaRPr lang="en-US" altLang="en-US"/>
          </a:p>
          <a:p>
            <a:endParaRPr lang="en-US" altLang="en-US"/>
          </a:p>
          <a:p>
            <a:endParaRPr lang="en-US" altLang="en-US"/>
          </a:p>
          <a:p>
            <a:endParaRPr lang="en-US" altLang="en-US"/>
          </a:p>
          <a:p>
            <a:endParaRPr lang="en-US" altLang="en-US"/>
          </a:p>
          <a:p>
            <a:r>
              <a:rPr lang="en-US" altLang="en-US"/>
              <a:t>This</a:t>
            </a:r>
            <a:r>
              <a:rPr lang="en-CA" altLang="en-US"/>
              <a:t> ratio reflects the average time in days it takes a company to produce and deliver inventory to its customers.</a:t>
            </a:r>
            <a:r>
              <a:rPr lang="en-US" altLang="en-US"/>
              <a:t> </a:t>
            </a:r>
          </a:p>
        </p:txBody>
      </p:sp>
      <p:grpSp>
        <p:nvGrpSpPr>
          <p:cNvPr id="16387" name="Group 10">
            <a:extLst>
              <a:ext uri="{FF2B5EF4-FFF2-40B4-BE49-F238E27FC236}">
                <a16:creationId xmlns:a16="http://schemas.microsoft.com/office/drawing/2014/main" id="{3C9C12B0-35B4-491D-991B-96988C4AC5A0}"/>
              </a:ext>
            </a:extLst>
          </p:cNvPr>
          <p:cNvGrpSpPr>
            <a:grpSpLocks/>
          </p:cNvGrpSpPr>
          <p:nvPr/>
        </p:nvGrpSpPr>
        <p:grpSpPr bwMode="auto">
          <a:xfrm>
            <a:off x="685800" y="1981200"/>
            <a:ext cx="7391400" cy="1017588"/>
            <a:chOff x="762000" y="1689850"/>
            <a:chExt cx="7391400" cy="1016857"/>
          </a:xfrm>
        </p:grpSpPr>
        <p:grpSp>
          <p:nvGrpSpPr>
            <p:cNvPr id="16388" name="Group 9">
              <a:extLst>
                <a:ext uri="{FF2B5EF4-FFF2-40B4-BE49-F238E27FC236}">
                  <a16:creationId xmlns:a16="http://schemas.microsoft.com/office/drawing/2014/main" id="{B91B4E2B-047A-496C-A955-B6D220224324}"/>
                </a:ext>
              </a:extLst>
            </p:cNvPr>
            <p:cNvGrpSpPr>
              <a:grpSpLocks/>
            </p:cNvGrpSpPr>
            <p:nvPr/>
          </p:nvGrpSpPr>
          <p:grpSpPr bwMode="auto">
            <a:xfrm>
              <a:off x="762000" y="1689850"/>
              <a:ext cx="7391400" cy="1016857"/>
              <a:chOff x="762000" y="1689850"/>
              <a:chExt cx="7391400" cy="1016857"/>
            </a:xfrm>
          </p:grpSpPr>
          <p:sp>
            <p:nvSpPr>
              <p:cNvPr id="16390" name="Text Box 18">
                <a:extLst>
                  <a:ext uri="{FF2B5EF4-FFF2-40B4-BE49-F238E27FC236}">
                    <a16:creationId xmlns:a16="http://schemas.microsoft.com/office/drawing/2014/main" id="{CC3D13BF-4EB1-4574-84AE-4F00AA005575}"/>
                  </a:ext>
                </a:extLst>
              </p:cNvPr>
              <p:cNvSpPr txBox="1">
                <a:spLocks noChangeArrowheads="1"/>
              </p:cNvSpPr>
              <p:nvPr/>
            </p:nvSpPr>
            <p:spPr bwMode="auto">
              <a:xfrm>
                <a:off x="4488539" y="1689850"/>
                <a:ext cx="366486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800" b="1">
                    <a:latin typeface="Arial" panose="020B0604020202020204" pitchFamily="34" charset="0"/>
                  </a:rPr>
                  <a:t>365</a:t>
                </a:r>
              </a:p>
              <a:p>
                <a:pPr algn="ctr">
                  <a:spcBef>
                    <a:spcPct val="0"/>
                  </a:spcBef>
                  <a:buClrTx/>
                  <a:buSzTx/>
                  <a:buFontTx/>
                  <a:buNone/>
                </a:pPr>
                <a:r>
                  <a:rPr lang="en-CA" altLang="en-US" sz="2800" b="1">
                    <a:latin typeface="Arial" panose="020B0604020202020204" pitchFamily="34" charset="0"/>
                  </a:rPr>
                  <a:t>Inventory Turnover</a:t>
                </a:r>
              </a:p>
            </p:txBody>
          </p:sp>
          <p:sp>
            <p:nvSpPr>
              <p:cNvPr id="16391" name="Text Box 19">
                <a:extLst>
                  <a:ext uri="{FF2B5EF4-FFF2-40B4-BE49-F238E27FC236}">
                    <a16:creationId xmlns:a16="http://schemas.microsoft.com/office/drawing/2014/main" id="{0D6D60ED-216F-4B16-86C6-B4A297C20945}"/>
                  </a:ext>
                </a:extLst>
              </p:cNvPr>
              <p:cNvSpPr txBox="1">
                <a:spLocks noChangeArrowheads="1"/>
              </p:cNvSpPr>
              <p:nvPr/>
            </p:nvSpPr>
            <p:spPr bwMode="auto">
              <a:xfrm>
                <a:off x="762000" y="1752600"/>
                <a:ext cx="3352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800" b="1">
                    <a:latin typeface="Arial" panose="020B0604020202020204" pitchFamily="34" charset="0"/>
                  </a:rPr>
                  <a:t>Average Days to Sell Inventory</a:t>
                </a:r>
              </a:p>
            </p:txBody>
          </p:sp>
          <p:sp>
            <p:nvSpPr>
              <p:cNvPr id="16392" name="Line 20">
                <a:extLst>
                  <a:ext uri="{FF2B5EF4-FFF2-40B4-BE49-F238E27FC236}">
                    <a16:creationId xmlns:a16="http://schemas.microsoft.com/office/drawing/2014/main" id="{CCD14315-1CED-4C50-B093-7CF3488529AD}"/>
                  </a:ext>
                </a:extLst>
              </p:cNvPr>
              <p:cNvSpPr>
                <a:spLocks noChangeShapeType="1"/>
              </p:cNvSpPr>
              <p:nvPr/>
            </p:nvSpPr>
            <p:spPr bwMode="auto">
              <a:xfrm>
                <a:off x="4724400" y="2133600"/>
                <a:ext cx="3240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389" name="Text Box 19">
              <a:extLst>
                <a:ext uri="{FF2B5EF4-FFF2-40B4-BE49-F238E27FC236}">
                  <a16:creationId xmlns:a16="http://schemas.microsoft.com/office/drawing/2014/main" id="{FFDC6593-5420-49AC-894A-9B10BC70856E}"/>
                </a:ext>
              </a:extLst>
            </p:cNvPr>
            <p:cNvSpPr txBox="1">
              <a:spLocks noChangeArrowheads="1"/>
            </p:cNvSpPr>
            <p:nvPr/>
          </p:nvSpPr>
          <p:spPr bwMode="auto">
            <a:xfrm>
              <a:off x="4038600" y="1905000"/>
              <a:ext cx="685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800" b="1">
                  <a:latin typeface="Arial" panose="020B0604020202020204" pitchFamily="34" charset="0"/>
                </a:rPr>
                <a:t>=</a:t>
              </a: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A38DA59A-DAD0-481A-9A9F-4DEEBDF52588}"/>
              </a:ext>
            </a:extLst>
          </p:cNvPr>
          <p:cNvSpPr>
            <a:spLocks noGrp="1"/>
          </p:cNvSpPr>
          <p:nvPr>
            <p:ph type="title"/>
          </p:nvPr>
        </p:nvSpPr>
        <p:spPr/>
        <p:txBody>
          <a:bodyPr/>
          <a:lstStyle/>
          <a:p>
            <a:r>
              <a:rPr lang="en-US" altLang="en-US" dirty="0"/>
              <a:t>Inventory and Cash Flows</a:t>
            </a:r>
          </a:p>
        </p:txBody>
      </p:sp>
      <p:sp>
        <p:nvSpPr>
          <p:cNvPr id="50178" name="Content Placeholder 2">
            <a:extLst>
              <a:ext uri="{FF2B5EF4-FFF2-40B4-BE49-F238E27FC236}">
                <a16:creationId xmlns:a16="http://schemas.microsoft.com/office/drawing/2014/main" id="{B56576B1-65BF-40FF-AF21-C48B1F3375B4}"/>
              </a:ext>
            </a:extLst>
          </p:cNvPr>
          <p:cNvSpPr>
            <a:spLocks noGrp="1"/>
          </p:cNvSpPr>
          <p:nvPr>
            <p:ph idx="1"/>
          </p:nvPr>
        </p:nvSpPr>
        <p:spPr/>
        <p:txBody>
          <a:bodyPr/>
          <a:lstStyle/>
          <a:p>
            <a:r>
              <a:rPr lang="en-CA" dirty="0"/>
              <a:t>When companies expand production to meet increases in demand, this increases the amount of inventory reported on the statement of financial position. </a:t>
            </a:r>
          </a:p>
          <a:p>
            <a:r>
              <a:rPr lang="en-CA" dirty="0"/>
              <a:t>However, when companies overestimate demand for a product, they usually produce too many units of the slow-moving item. </a:t>
            </a:r>
          </a:p>
          <a:p>
            <a:r>
              <a:rPr lang="en-CA" dirty="0"/>
              <a:t>This increases storage costs as well as the interest costs on short-term borrowings that finance the inventory. It may even lead to losses if the excess inventory cannot be sold at normal prices. </a:t>
            </a:r>
          </a:p>
          <a:p>
            <a:r>
              <a:rPr lang="en-CA" dirty="0"/>
              <a:t>The statement of cash flows often provides the first sign of such problems.</a:t>
            </a:r>
            <a:endParaRPr lang="en-US" alt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A38DA59A-DAD0-481A-9A9F-4DEEBDF52588}"/>
              </a:ext>
            </a:extLst>
          </p:cNvPr>
          <p:cNvSpPr>
            <a:spLocks noGrp="1"/>
          </p:cNvSpPr>
          <p:nvPr>
            <p:ph type="title"/>
          </p:nvPr>
        </p:nvSpPr>
        <p:spPr/>
        <p:txBody>
          <a:bodyPr/>
          <a:lstStyle/>
          <a:p>
            <a:r>
              <a:rPr lang="en-US" altLang="en-US" dirty="0"/>
              <a:t>Accounting Standards for Private Enterprises</a:t>
            </a:r>
          </a:p>
        </p:txBody>
      </p:sp>
      <p:sp>
        <p:nvSpPr>
          <p:cNvPr id="50178" name="Content Placeholder 2">
            <a:extLst>
              <a:ext uri="{FF2B5EF4-FFF2-40B4-BE49-F238E27FC236}">
                <a16:creationId xmlns:a16="http://schemas.microsoft.com/office/drawing/2014/main" id="{B56576B1-65BF-40FF-AF21-C48B1F3375B4}"/>
              </a:ext>
            </a:extLst>
          </p:cNvPr>
          <p:cNvSpPr>
            <a:spLocks noGrp="1"/>
          </p:cNvSpPr>
          <p:nvPr>
            <p:ph idx="1"/>
          </p:nvPr>
        </p:nvSpPr>
        <p:spPr/>
        <p:txBody>
          <a:bodyPr/>
          <a:lstStyle/>
          <a:p>
            <a:r>
              <a:rPr lang="en-CA" dirty="0"/>
              <a:t>The accounting standards related to measuring and reporting of inventories by Canadian private enterprises are very similar to those included in IAS 2—Inventories, which Canadian publicly accountable enterprises must use. </a:t>
            </a:r>
          </a:p>
          <a:p>
            <a:endParaRPr lang="en-CA" sz="1000" dirty="0"/>
          </a:p>
          <a:p>
            <a:r>
              <a:rPr lang="en-CA" dirty="0"/>
              <a:t>Accounting Standards for Private Enterprises (ASPE) do not allow, however, the reversal of a write-down to inventory.</a:t>
            </a:r>
            <a:endParaRPr lang="en-US" altLang="en-US" dirty="0"/>
          </a:p>
        </p:txBody>
      </p:sp>
    </p:spTree>
    <p:extLst>
      <p:ext uri="{BB962C8B-B14F-4D97-AF65-F5344CB8AC3E}">
        <p14:creationId xmlns:p14="http://schemas.microsoft.com/office/powerpoint/2010/main" val="160334573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A38DA59A-DAD0-481A-9A9F-4DEEBDF52588}"/>
              </a:ext>
            </a:extLst>
          </p:cNvPr>
          <p:cNvSpPr>
            <a:spLocks noGrp="1"/>
          </p:cNvSpPr>
          <p:nvPr>
            <p:ph type="title"/>
          </p:nvPr>
        </p:nvSpPr>
        <p:spPr>
          <a:xfrm>
            <a:off x="457200" y="198437"/>
            <a:ext cx="8229600" cy="792163"/>
          </a:xfrm>
        </p:spPr>
        <p:txBody>
          <a:bodyPr/>
          <a:lstStyle/>
          <a:p>
            <a:r>
              <a:rPr lang="en-US" altLang="en-US" dirty="0"/>
              <a:t>Appendix 6A: Cost Flow Assumptions – Periodic Inventory System</a:t>
            </a:r>
          </a:p>
        </p:txBody>
      </p:sp>
      <p:sp>
        <p:nvSpPr>
          <p:cNvPr id="50178" name="Content Placeholder 2">
            <a:extLst>
              <a:ext uri="{FF2B5EF4-FFF2-40B4-BE49-F238E27FC236}">
                <a16:creationId xmlns:a16="http://schemas.microsoft.com/office/drawing/2014/main" id="{B56576B1-65BF-40FF-AF21-C48B1F3375B4}"/>
              </a:ext>
            </a:extLst>
          </p:cNvPr>
          <p:cNvSpPr>
            <a:spLocks noGrp="1"/>
          </p:cNvSpPr>
          <p:nvPr>
            <p:ph idx="1"/>
          </p:nvPr>
        </p:nvSpPr>
        <p:spPr/>
        <p:txBody>
          <a:bodyPr/>
          <a:lstStyle/>
          <a:p>
            <a:r>
              <a:rPr lang="en-CA" altLang="en-US" dirty="0"/>
              <a:t>When a periodic inventory system is used, the cost of merchandise sold is not recorded every time a sale is made. </a:t>
            </a:r>
          </a:p>
          <a:p>
            <a:endParaRPr lang="en-CA" altLang="en-US" sz="200" dirty="0"/>
          </a:p>
          <a:p>
            <a:r>
              <a:rPr lang="en-CA" altLang="en-US" dirty="0"/>
              <a:t>Instead, the cost of all the goods sold during the period is recorded at year-end. </a:t>
            </a:r>
          </a:p>
          <a:p>
            <a:endParaRPr lang="en-CA" altLang="en-US" sz="200" dirty="0"/>
          </a:p>
          <a:p>
            <a:r>
              <a:rPr lang="en-CA" altLang="en-US" dirty="0"/>
              <a:t>The cost of ending inventory is first determined based on an actual physical count of the number of units of each type of merchandise on hand, multiplied by their unit cost. </a:t>
            </a:r>
          </a:p>
          <a:p>
            <a:endParaRPr lang="en-CA" altLang="en-US" sz="200" dirty="0"/>
          </a:p>
          <a:p>
            <a:r>
              <a:rPr lang="en-CA" altLang="en-US" dirty="0"/>
              <a:t>The cost of sales equation is then used to calculate the cost of sales.</a:t>
            </a:r>
            <a:endParaRPr lang="en-US" altLang="en-US" dirty="0"/>
          </a:p>
        </p:txBody>
      </p:sp>
    </p:spTree>
    <p:extLst>
      <p:ext uri="{BB962C8B-B14F-4D97-AF65-F5344CB8AC3E}">
        <p14:creationId xmlns:p14="http://schemas.microsoft.com/office/powerpoint/2010/main" val="413409196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742030E9-06A0-4B79-832F-72E7BD8A4CF0}"/>
              </a:ext>
            </a:extLst>
          </p:cNvPr>
          <p:cNvSpPr>
            <a:spLocks noGrp="1"/>
          </p:cNvSpPr>
          <p:nvPr>
            <p:ph type="title"/>
          </p:nvPr>
        </p:nvSpPr>
        <p:spPr>
          <a:xfrm>
            <a:off x="457200" y="198437"/>
            <a:ext cx="8229600" cy="792163"/>
          </a:xfrm>
        </p:spPr>
        <p:txBody>
          <a:bodyPr/>
          <a:lstStyle/>
          <a:p>
            <a:r>
              <a:rPr lang="en-US" altLang="en-US" dirty="0"/>
              <a:t>Appendix 6A: Comparison of Perpetual and Periodic Inventory Systems: Exhibit 6A.3</a:t>
            </a:r>
          </a:p>
        </p:txBody>
      </p:sp>
      <p:graphicFrame>
        <p:nvGraphicFramePr>
          <p:cNvPr id="4" name="Content Placeholder 3">
            <a:extLst>
              <a:ext uri="{FF2B5EF4-FFF2-40B4-BE49-F238E27FC236}">
                <a16:creationId xmlns:a16="http://schemas.microsoft.com/office/drawing/2014/main" id="{F3C74960-547D-4AFF-90A0-4525257C6BF7}"/>
              </a:ext>
            </a:extLst>
          </p:cNvPr>
          <p:cNvGraphicFramePr>
            <a:graphicFrameLocks noGrp="1"/>
          </p:cNvGraphicFramePr>
          <p:nvPr>
            <p:ph idx="1"/>
          </p:nvPr>
        </p:nvGraphicFramePr>
        <p:xfrm>
          <a:off x="457200" y="969963"/>
          <a:ext cx="8229600" cy="5492750"/>
        </p:xfrm>
        <a:graphic>
          <a:graphicData uri="http://schemas.openxmlformats.org/drawingml/2006/table">
            <a:tbl>
              <a:tblPr/>
              <a:tblGrid>
                <a:gridCol w="381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3733800">
                  <a:extLst>
                    <a:ext uri="{9D8B030D-6E8A-4147-A177-3AD203B41FA5}">
                      <a16:colId xmlns:a16="http://schemas.microsoft.com/office/drawing/2014/main" val="20003"/>
                    </a:ext>
                  </a:extLst>
                </a:gridCol>
              </a:tblGrid>
              <a:tr h="384681">
                <a:tc gridSpan="2">
                  <a:txBody>
                    <a:bodyPr/>
                    <a:lstStyle/>
                    <a:p>
                      <a:pPr fontAlgn="base"/>
                      <a:r>
                        <a:rPr lang="en-CA" sz="2000" b="1">
                          <a:effectLst/>
                          <a:latin typeface="+mn-lt"/>
                        </a:rPr>
                        <a:t>Perpetual</a:t>
                      </a:r>
                      <a:endParaRPr lang="en-CA" sz="2000" b="0">
                        <a:effectLst/>
                        <a:latin typeface="+mn-lt"/>
                      </a:endParaRPr>
                    </a:p>
                  </a:txBody>
                  <a:tcPr marL="122818" marR="61409" marT="61417" marB="18425"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gridSpan="2">
                  <a:txBody>
                    <a:bodyPr/>
                    <a:lstStyle/>
                    <a:p>
                      <a:pPr fontAlgn="base"/>
                      <a:r>
                        <a:rPr lang="en-CA" sz="2000" b="1">
                          <a:effectLst/>
                          <a:latin typeface="+mn-lt"/>
                        </a:rPr>
                        <a:t>Periodic</a:t>
                      </a:r>
                      <a:endParaRPr lang="en-CA" sz="2000" b="0">
                        <a:effectLst/>
                        <a:latin typeface="+mn-lt"/>
                      </a:endParaRPr>
                    </a:p>
                  </a:txBody>
                  <a:tcPr marL="61409" marR="122818" marT="61417" marB="18425"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964247">
                <a:tc>
                  <a:txBody>
                    <a:bodyPr/>
                    <a:lstStyle/>
                    <a:p>
                      <a:pPr algn="ctr" fontAlgn="base"/>
                      <a:r>
                        <a:rPr lang="en-CA" sz="2000" b="0">
                          <a:effectLst/>
                          <a:latin typeface="+mn-lt"/>
                        </a:rPr>
                        <a:t> </a:t>
                      </a:r>
                    </a:p>
                  </a:txBody>
                  <a:tcPr marL="122818" marR="61409" marT="61417" marB="18425"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2000" b="0">
                          <a:effectLst/>
                          <a:latin typeface="+mn-lt"/>
                        </a:rPr>
                        <a:t>Beginning inventory (carried over from prior period)</a:t>
                      </a:r>
                    </a:p>
                  </a:txBody>
                  <a:tcPr marL="61409" marR="61409" marT="61417" marB="18425"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2000" b="0">
                          <a:effectLst/>
                          <a:latin typeface="+mn-lt"/>
                        </a:rPr>
                        <a:t> </a:t>
                      </a:r>
                    </a:p>
                  </a:txBody>
                  <a:tcPr marL="61409" marR="61409" marT="61417" marB="18425"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2000" b="0">
                          <a:effectLst/>
                          <a:latin typeface="+mn-lt"/>
                        </a:rPr>
                        <a:t>Beginning inventory (carried over from prior period)</a:t>
                      </a:r>
                    </a:p>
                  </a:txBody>
                  <a:tcPr marL="61409" marR="122818" marT="61417" marB="18425" anchor="ctr">
                    <a:lnL>
                      <a:noFill/>
                    </a:lnL>
                    <a:lnR>
                      <a:noFill/>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994359">
                <a:tc>
                  <a:txBody>
                    <a:bodyPr/>
                    <a:lstStyle/>
                    <a:p>
                      <a:pPr fontAlgn="base"/>
                      <a:r>
                        <a:rPr lang="en-CA" sz="2000" b="0">
                          <a:effectLst/>
                          <a:latin typeface="+mn-lt"/>
                        </a:rPr>
                        <a:t>+</a:t>
                      </a:r>
                    </a:p>
                  </a:txBody>
                  <a:tcPr marL="122818"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Purchases for the period (accumulated in an </a:t>
                      </a:r>
                      <a:r>
                        <a:rPr lang="en-CA" sz="2000" b="0" i="1">
                          <a:effectLst/>
                          <a:latin typeface="+mn-lt"/>
                        </a:rPr>
                        <a:t>inventory</a:t>
                      </a:r>
                      <a:r>
                        <a:rPr lang="en-CA" sz="2000" b="0">
                          <a:effectLst/>
                          <a:latin typeface="+mn-lt"/>
                        </a:rPr>
                        <a:t> account)</a:t>
                      </a:r>
                    </a:p>
                  </a:txBody>
                  <a:tcPr marL="61409"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a:t>
                      </a:r>
                    </a:p>
                  </a:txBody>
                  <a:tcPr marL="61409"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Purchases for the period (accumulated in a </a:t>
                      </a:r>
                      <a:r>
                        <a:rPr lang="en-CA" sz="2000" b="0" i="1">
                          <a:effectLst/>
                          <a:latin typeface="+mn-lt"/>
                        </a:rPr>
                        <a:t>purchases</a:t>
                      </a:r>
                      <a:r>
                        <a:rPr lang="en-CA" sz="2000" b="0">
                          <a:effectLst/>
                          <a:latin typeface="+mn-lt"/>
                        </a:rPr>
                        <a:t> account)</a:t>
                      </a:r>
                    </a:p>
                  </a:txBody>
                  <a:tcPr marL="61409" marR="122818" marT="61417" marB="18425" anchor="ctr">
                    <a:lnL>
                      <a:noFill/>
                    </a:lnL>
                    <a:lnR>
                      <a:noFill/>
                    </a:lnR>
                    <a:lnT>
                      <a:noFill/>
                    </a:lnT>
                    <a:lnB>
                      <a:noFill/>
                    </a:lnB>
                    <a:solidFill>
                      <a:srgbClr val="FFFFFF"/>
                    </a:solidFill>
                  </a:tcPr>
                </a:tc>
                <a:extLst>
                  <a:ext uri="{0D108BD9-81ED-4DB2-BD59-A6C34878D82A}">
                    <a16:rowId xmlns:a16="http://schemas.microsoft.com/office/drawing/2014/main" val="10002"/>
                  </a:ext>
                </a:extLst>
              </a:tr>
              <a:tr h="610485">
                <a:tc>
                  <a:txBody>
                    <a:bodyPr/>
                    <a:lstStyle/>
                    <a:p>
                      <a:pPr fontAlgn="base"/>
                      <a:r>
                        <a:rPr lang="en-CA" sz="2000" b="0">
                          <a:effectLst/>
                          <a:latin typeface="+mn-lt"/>
                        </a:rPr>
                        <a:t>=</a:t>
                      </a:r>
                    </a:p>
                  </a:txBody>
                  <a:tcPr marL="122818"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Cost of goods available for sale</a:t>
                      </a:r>
                    </a:p>
                  </a:txBody>
                  <a:tcPr marL="61409"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a:t>
                      </a:r>
                    </a:p>
                  </a:txBody>
                  <a:tcPr marL="61409"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Cost of goods available for sale</a:t>
                      </a:r>
                    </a:p>
                  </a:txBody>
                  <a:tcPr marL="61409" marR="122818" marT="61417" marB="18425" anchor="ctr">
                    <a:lnL>
                      <a:noFill/>
                    </a:lnL>
                    <a:lnR>
                      <a:noFill/>
                    </a:lnR>
                    <a:lnT>
                      <a:noFill/>
                    </a:lnT>
                    <a:lnB>
                      <a:noFill/>
                    </a:lnB>
                    <a:solidFill>
                      <a:srgbClr val="FFFFFF"/>
                    </a:solidFill>
                  </a:tcPr>
                </a:tc>
                <a:extLst>
                  <a:ext uri="{0D108BD9-81ED-4DB2-BD59-A6C34878D82A}">
                    <a16:rowId xmlns:a16="http://schemas.microsoft.com/office/drawing/2014/main" val="10003"/>
                  </a:ext>
                </a:extLst>
              </a:tr>
              <a:tr h="1141127">
                <a:tc>
                  <a:txBody>
                    <a:bodyPr/>
                    <a:lstStyle/>
                    <a:p>
                      <a:pPr fontAlgn="base"/>
                      <a:r>
                        <a:rPr lang="en-CA" sz="2000" b="0">
                          <a:effectLst/>
                          <a:latin typeface="+mn-lt"/>
                        </a:rPr>
                        <a:t>−</a:t>
                      </a:r>
                    </a:p>
                  </a:txBody>
                  <a:tcPr marL="122818" marR="61409" marT="61417" marB="18425" anchor="ctr">
                    <a:lnL>
                      <a:noFill/>
                    </a:lnL>
                    <a:lnR>
                      <a:noFill/>
                    </a:lnR>
                    <a:lnT>
                      <a:noFill/>
                    </a:lnT>
                    <a:lnB>
                      <a:noFill/>
                    </a:lnB>
                    <a:solidFill>
                      <a:srgbClr val="FFFFFF"/>
                    </a:solidFill>
                  </a:tcPr>
                </a:tc>
                <a:tc>
                  <a:txBody>
                    <a:bodyPr/>
                    <a:lstStyle/>
                    <a:p>
                      <a:pPr fontAlgn="base"/>
                      <a:r>
                        <a:rPr lang="en-CA" sz="2000" b="0" i="1">
                          <a:effectLst/>
                          <a:latin typeface="+mn-lt"/>
                        </a:rPr>
                        <a:t>Cost of sales (measured at every sale, based on perpetual record)</a:t>
                      </a:r>
                      <a:endParaRPr lang="en-CA" sz="2000" b="0">
                        <a:effectLst/>
                        <a:latin typeface="+mn-lt"/>
                      </a:endParaRPr>
                    </a:p>
                  </a:txBody>
                  <a:tcPr marL="61409"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a:t>
                      </a:r>
                    </a:p>
                  </a:txBody>
                  <a:tcPr marL="61409" marR="61409" marT="61417" marB="18425" anchor="ctr">
                    <a:lnL>
                      <a:noFill/>
                    </a:lnL>
                    <a:lnR>
                      <a:noFill/>
                    </a:lnR>
                    <a:lnT>
                      <a:noFill/>
                    </a:lnT>
                    <a:lnB>
                      <a:noFill/>
                    </a:lnB>
                    <a:solidFill>
                      <a:srgbClr val="FFFFFF"/>
                    </a:solidFill>
                  </a:tcPr>
                </a:tc>
                <a:tc>
                  <a:txBody>
                    <a:bodyPr/>
                    <a:lstStyle/>
                    <a:p>
                      <a:pPr fontAlgn="base"/>
                      <a:r>
                        <a:rPr lang="en-CA" sz="2000" b="0" i="1">
                          <a:effectLst/>
                          <a:latin typeface="+mn-lt"/>
                        </a:rPr>
                        <a:t>Ending inventory (measured at end of period, based on physical inventory count)</a:t>
                      </a:r>
                      <a:endParaRPr lang="en-CA" sz="2000" b="0">
                        <a:effectLst/>
                        <a:latin typeface="+mn-lt"/>
                      </a:endParaRPr>
                    </a:p>
                  </a:txBody>
                  <a:tcPr marL="61409" marR="122818" marT="61417" marB="18425" anchor="ctr">
                    <a:lnL>
                      <a:noFill/>
                    </a:lnL>
                    <a:lnR>
                      <a:noFill/>
                    </a:lnR>
                    <a:lnT>
                      <a:noFill/>
                    </a:lnT>
                    <a:lnB>
                      <a:noFill/>
                    </a:lnB>
                    <a:solidFill>
                      <a:srgbClr val="FFFFFF"/>
                    </a:solidFill>
                  </a:tcPr>
                </a:tc>
                <a:extLst>
                  <a:ext uri="{0D108BD9-81ED-4DB2-BD59-A6C34878D82A}">
                    <a16:rowId xmlns:a16="http://schemas.microsoft.com/office/drawing/2014/main" val="10004"/>
                  </a:ext>
                </a:extLst>
              </a:tr>
              <a:tr h="964247">
                <a:tc>
                  <a:txBody>
                    <a:bodyPr/>
                    <a:lstStyle/>
                    <a:p>
                      <a:pPr fontAlgn="base"/>
                      <a:r>
                        <a:rPr lang="en-CA" sz="2000" b="0">
                          <a:effectLst/>
                          <a:latin typeface="+mn-lt"/>
                        </a:rPr>
                        <a:t>=</a:t>
                      </a:r>
                    </a:p>
                  </a:txBody>
                  <a:tcPr marL="122818" marR="61409" marT="61417" marB="18425" anchor="ctr">
                    <a:lnL>
                      <a:noFill/>
                    </a:lnL>
                    <a:lnR>
                      <a:noFill/>
                    </a:lnR>
                    <a:lnT>
                      <a:noFill/>
                    </a:lnT>
                    <a:lnB>
                      <a:noFill/>
                    </a:lnB>
                    <a:solidFill>
                      <a:srgbClr val="FFFFFF"/>
                    </a:solidFill>
                  </a:tcPr>
                </a:tc>
                <a:tc>
                  <a:txBody>
                    <a:bodyPr/>
                    <a:lstStyle/>
                    <a:p>
                      <a:pPr fontAlgn="base"/>
                      <a:r>
                        <a:rPr lang="en-CA" sz="2000" b="0" i="1">
                          <a:effectLst/>
                          <a:latin typeface="+mn-lt"/>
                        </a:rPr>
                        <a:t>Ending inventory (perpetual record updated at every sale)</a:t>
                      </a:r>
                      <a:endParaRPr lang="en-CA" sz="2000" b="0">
                        <a:effectLst/>
                        <a:latin typeface="+mn-lt"/>
                      </a:endParaRPr>
                    </a:p>
                  </a:txBody>
                  <a:tcPr marL="61409" marR="61409" marT="61417" marB="18425" anchor="ctr">
                    <a:lnL>
                      <a:noFill/>
                    </a:lnL>
                    <a:lnR>
                      <a:noFill/>
                    </a:lnR>
                    <a:lnT>
                      <a:noFill/>
                    </a:lnT>
                    <a:lnB>
                      <a:noFill/>
                    </a:lnB>
                    <a:solidFill>
                      <a:srgbClr val="FFFFFF"/>
                    </a:solidFill>
                  </a:tcPr>
                </a:tc>
                <a:tc>
                  <a:txBody>
                    <a:bodyPr/>
                    <a:lstStyle/>
                    <a:p>
                      <a:pPr fontAlgn="base"/>
                      <a:r>
                        <a:rPr lang="en-CA" sz="2000" b="0">
                          <a:effectLst/>
                          <a:latin typeface="+mn-lt"/>
                        </a:rPr>
                        <a:t>=</a:t>
                      </a:r>
                    </a:p>
                  </a:txBody>
                  <a:tcPr marL="61409" marR="61409" marT="61417" marB="18425" anchor="ctr">
                    <a:lnL>
                      <a:noFill/>
                    </a:lnL>
                    <a:lnR>
                      <a:noFill/>
                    </a:lnR>
                    <a:lnT>
                      <a:noFill/>
                    </a:lnT>
                    <a:lnB>
                      <a:noFill/>
                    </a:lnB>
                    <a:solidFill>
                      <a:srgbClr val="FFFFFF"/>
                    </a:solidFill>
                  </a:tcPr>
                </a:tc>
                <a:tc>
                  <a:txBody>
                    <a:bodyPr/>
                    <a:lstStyle/>
                    <a:p>
                      <a:pPr fontAlgn="base"/>
                      <a:r>
                        <a:rPr lang="en-CA" sz="2000" b="0" i="1">
                          <a:effectLst/>
                          <a:latin typeface="+mn-lt"/>
                        </a:rPr>
                        <a:t>Cost of sales (computed as a residual amount)</a:t>
                      </a:r>
                      <a:endParaRPr lang="en-CA" sz="2000" b="0">
                        <a:effectLst/>
                        <a:latin typeface="+mn-lt"/>
                      </a:endParaRPr>
                    </a:p>
                  </a:txBody>
                  <a:tcPr marL="61409" marR="122818" marT="61417" marB="18425" anchor="ctr">
                    <a:lnL>
                      <a:noFill/>
                    </a:lnL>
                    <a:lnR>
                      <a:noFill/>
                    </a:lnR>
                    <a:lnT>
                      <a:noFill/>
                    </a:lnT>
                    <a:lnB>
                      <a:noFill/>
                    </a:lnB>
                    <a:solidFill>
                      <a:srgbClr val="FFFFFF"/>
                    </a:solidFill>
                  </a:tcPr>
                </a:tc>
                <a:extLst>
                  <a:ext uri="{0D108BD9-81ED-4DB2-BD59-A6C34878D82A}">
                    <a16:rowId xmlns:a16="http://schemas.microsoft.com/office/drawing/2014/main" val="10005"/>
                  </a:ext>
                </a:extLst>
              </a:tr>
              <a:tr h="433604">
                <a:tc>
                  <a:txBody>
                    <a:bodyPr/>
                    <a:lstStyle/>
                    <a:p>
                      <a:pPr algn="ctr" fontAlgn="base"/>
                      <a:r>
                        <a:rPr lang="en-CA" sz="2000" b="0">
                          <a:effectLst/>
                          <a:latin typeface="+mn-lt"/>
                        </a:rPr>
                        <a:t> </a:t>
                      </a:r>
                    </a:p>
                  </a:txBody>
                  <a:tcPr marL="122818" marR="61409" marT="61417" marB="18425"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2000" b="0">
                          <a:effectLst/>
                          <a:latin typeface="+mn-lt"/>
                        </a:rPr>
                        <a:t>EI = BI + PUR − COS</a:t>
                      </a:r>
                    </a:p>
                  </a:txBody>
                  <a:tcPr marL="61409" marR="61409" marT="61417" marB="18425"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r>
                        <a:rPr lang="en-CA" sz="2000" b="0">
                          <a:effectLst/>
                          <a:latin typeface="+mn-lt"/>
                        </a:rPr>
                        <a:t> </a:t>
                      </a:r>
                    </a:p>
                  </a:txBody>
                  <a:tcPr marL="61409" marR="61409" marT="61417" marB="18425"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2000" b="0" dirty="0">
                          <a:effectLst/>
                          <a:latin typeface="+mn-lt"/>
                        </a:rPr>
                        <a:t>COS = BI + PUR − EI</a:t>
                      </a:r>
                    </a:p>
                  </a:txBody>
                  <a:tcPr marL="61409" marR="122818" marT="61417" marB="18425" anchor="ctr">
                    <a:lnL>
                      <a:noFill/>
                    </a:lnL>
                    <a:lnR>
                      <a:noFill/>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6E18B8BC-AE01-40AD-8AF1-C1805E89CA57}"/>
              </a:ext>
            </a:extLst>
          </p:cNvPr>
          <p:cNvSpPr>
            <a:spLocks noGrp="1"/>
          </p:cNvSpPr>
          <p:nvPr>
            <p:ph type="title"/>
          </p:nvPr>
        </p:nvSpPr>
        <p:spPr/>
        <p:txBody>
          <a:bodyPr/>
          <a:lstStyle/>
          <a:p>
            <a:r>
              <a:rPr lang="en-US" altLang="en-US"/>
              <a:t>End of Chapter Summary</a:t>
            </a:r>
          </a:p>
        </p:txBody>
      </p:sp>
      <p:sp>
        <p:nvSpPr>
          <p:cNvPr id="19458" name="Content Placeholder 2">
            <a:extLst>
              <a:ext uri="{FF2B5EF4-FFF2-40B4-BE49-F238E27FC236}">
                <a16:creationId xmlns:a16="http://schemas.microsoft.com/office/drawing/2014/main" id="{A01FD22B-B190-4543-98A4-460F6D627CE9}"/>
              </a:ext>
            </a:extLst>
          </p:cNvPr>
          <p:cNvSpPr>
            <a:spLocks noGrp="1"/>
          </p:cNvSpPr>
          <p:nvPr>
            <p:ph idx="1"/>
          </p:nvPr>
        </p:nvSpPr>
        <p:spPr/>
        <p:txBody>
          <a:bodyPr/>
          <a:lstStyle/>
          <a:p>
            <a:r>
              <a:rPr lang="en-CA" altLang="en-US"/>
              <a:t>Inventory should include all of the items owned that are held for resale. Costs flow into inventory when goods are purchased or manufactured.</a:t>
            </a:r>
          </a:p>
          <a:p>
            <a:r>
              <a:rPr lang="en-CA" altLang="en-US"/>
              <a:t>A company can keep track of the ending inventory and cost of sales for the period using (1) the perpetual inventory system, which is based on the maintenance of detailed and continuous inventory records, and (2) the periodic inventory system, which is based on a physical count of ending inventory and uses of the cost of sales equation to determine cost of sales.</a:t>
            </a:r>
          </a:p>
          <a:p>
            <a:r>
              <a:rPr lang="en-CA" altLang="en-US"/>
              <a:t>The three inventory costing methods are specific identification, FIFO, and weighted-average cost.</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70ABDB40-EEC4-46A5-869E-4DB59F3A98EC}"/>
              </a:ext>
            </a:extLst>
          </p:cNvPr>
          <p:cNvSpPr>
            <a:spLocks noGrp="1"/>
          </p:cNvSpPr>
          <p:nvPr>
            <p:ph type="title"/>
          </p:nvPr>
        </p:nvSpPr>
        <p:spPr/>
        <p:txBody>
          <a:bodyPr/>
          <a:lstStyle/>
          <a:p>
            <a:r>
              <a:rPr lang="en-US" altLang="en-US"/>
              <a:t>End of Chapter Summary Continued</a:t>
            </a:r>
          </a:p>
        </p:txBody>
      </p:sp>
      <p:sp>
        <p:nvSpPr>
          <p:cNvPr id="20482" name="Content Placeholder 2">
            <a:extLst>
              <a:ext uri="{FF2B5EF4-FFF2-40B4-BE49-F238E27FC236}">
                <a16:creationId xmlns:a16="http://schemas.microsoft.com/office/drawing/2014/main" id="{EB4191DD-BBB7-478E-82DF-FD4A628D55AD}"/>
              </a:ext>
            </a:extLst>
          </p:cNvPr>
          <p:cNvSpPr>
            <a:spLocks noGrp="1"/>
          </p:cNvSpPr>
          <p:nvPr>
            <p:ph idx="1"/>
          </p:nvPr>
        </p:nvSpPr>
        <p:spPr/>
        <p:txBody>
          <a:bodyPr/>
          <a:lstStyle/>
          <a:p>
            <a:r>
              <a:rPr lang="en-CA" altLang="en-US"/>
              <a:t>Ending inventory should be measured based on the lower of actual cost and net realizable value (LC&amp;NRV basis). </a:t>
            </a:r>
          </a:p>
          <a:p>
            <a:r>
              <a:rPr lang="en-CA" altLang="en-US"/>
              <a:t>Various control procedures can limit inventory theft or mismanagement. </a:t>
            </a:r>
          </a:p>
          <a:p>
            <a:r>
              <a:rPr lang="en-CA" altLang="en-US"/>
              <a:t>An error in the measurement of ending inventory affects the cost of sales on the current period’s statement of earnings and ending inventory on the statement of financial position. It also affects the cost of sales in the following period by the same amount, but in the opposite direction, because this year’s ending inventory becomes next year’s beginning inventory. </a:t>
            </a:r>
          </a:p>
          <a:p>
            <a:r>
              <a:rPr lang="en-CA" altLang="en-US"/>
              <a:t>These relationships can be seen through the cost of sales equation, BI + P − EI = COS.</a:t>
            </a:r>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45E534FE17E0498B5AA208AC78CF6A" ma:contentTypeVersion="16" ma:contentTypeDescription="Create a new document." ma:contentTypeScope="" ma:versionID="e978fa9dc7787f32c80b944f2d01c92e">
  <xsd:schema xmlns:xsd="http://www.w3.org/2001/XMLSchema" xmlns:xs="http://www.w3.org/2001/XMLSchema" xmlns:p="http://schemas.microsoft.com/office/2006/metadata/properties" xmlns:ns3="94d99304-37c6-4b99-a998-6f4649dca8ad" xmlns:ns4="7afb0f48-51fa-41e1-ad8e-6ca091b04b7b" targetNamespace="http://schemas.microsoft.com/office/2006/metadata/properties" ma:root="true" ma:fieldsID="f6274db4facb29a2f99df06f804b3acd" ns3:_="" ns4:_="">
    <xsd:import namespace="94d99304-37c6-4b99-a998-6f4649dca8ad"/>
    <xsd:import namespace="7afb0f48-51fa-41e1-ad8e-6ca091b04b7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4:SharedWithUsers" minOccurs="0"/>
                <xsd:element ref="ns4:SharedWithDetails" minOccurs="0"/>
                <xsd:element ref="ns4:SharingHintHash" minOccurs="0"/>
                <xsd:element ref="ns3:MediaServiceLocation"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d99304-37c6-4b99-a998-6f4649dca8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fb0f48-51fa-41e1-ad8e-6ca091b04b7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4B9EA3-C5E1-42AA-847C-9CDDE579F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4d99304-37c6-4b99-a998-6f4649dca8ad"/>
    <ds:schemaRef ds:uri="7afb0f48-51fa-41e1-ad8e-6ca091b04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A55ECD-FF31-4F80-BAEA-7FA79CA049F2}">
  <ds:schemaRefs>
    <ds:schemaRef ds:uri="http://schemas.microsoft.com/office/2006/metadata/properties"/>
    <ds:schemaRef ds:uri="7afb0f48-51fa-41e1-ad8e-6ca091b04b7b"/>
    <ds:schemaRef ds:uri="http://www.w3.org/XML/1998/namespace"/>
    <ds:schemaRef ds:uri="94d99304-37c6-4b99-a998-6f4649dca8ad"/>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 ds:uri="http://purl.org/dc/elements/1.1/"/>
  </ds:schemaRefs>
</ds:datastoreItem>
</file>

<file path=customXml/itemProps3.xml><?xml version="1.0" encoding="utf-8"?>
<ds:datastoreItem xmlns:ds="http://schemas.openxmlformats.org/officeDocument/2006/customXml" ds:itemID="{4985E348-D508-4614-95FD-A7A00EBE4F6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Business design slides</Template>
  <TotalTime>4381</TotalTime>
  <Words>4586</Words>
  <Application>Microsoft Office PowerPoint</Application>
  <PresentationFormat>On-screen Show (4:3)</PresentationFormat>
  <Paragraphs>565</Paragraphs>
  <Slides>54</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54</vt:i4>
      </vt:variant>
    </vt:vector>
  </HeadingPairs>
  <TitlesOfParts>
    <vt:vector size="63" baseType="lpstr">
      <vt:lpstr>Arial</vt:lpstr>
      <vt:lpstr>Calibri</vt:lpstr>
      <vt:lpstr>inherit</vt:lpstr>
      <vt:lpstr>Tahoma</vt:lpstr>
      <vt:lpstr>Times New Roman</vt:lpstr>
      <vt:lpstr>Wingdings</vt:lpstr>
      <vt:lpstr>Wingdings 3</vt:lpstr>
      <vt:lpstr>1_Origin</vt:lpstr>
      <vt:lpstr>Origin</vt:lpstr>
      <vt:lpstr>PowerPoint Presentation</vt:lpstr>
      <vt:lpstr>Learning Objectives</vt:lpstr>
      <vt:lpstr>Learning Objectives Continued</vt:lpstr>
      <vt:lpstr>Understanding the Business</vt:lpstr>
      <vt:lpstr>Inventory</vt:lpstr>
      <vt:lpstr>Items Included in Inventory</vt:lpstr>
      <vt:lpstr>Manufacturing Types of Inventory</vt:lpstr>
      <vt:lpstr>Environmental, Social, and Governance Reporting</vt:lpstr>
      <vt:lpstr>Costs Included in Inventory Purchases</vt:lpstr>
      <vt:lpstr>Flow of Inventory Costs</vt:lpstr>
      <vt:lpstr>Flow of Inventory Costs – Exhibit 6.2</vt:lpstr>
      <vt:lpstr>Cost of Sales Equation Part 1</vt:lpstr>
      <vt:lpstr>Cost of Sales Equation Part 2</vt:lpstr>
      <vt:lpstr>Cost of Sales Equation Part 3</vt:lpstr>
      <vt:lpstr>Cost of Sales Equation Part 4</vt:lpstr>
      <vt:lpstr>Nature of Cost of Sales for Merchandise Inventory</vt:lpstr>
      <vt:lpstr>Perpetual and Periodic Inventory Systems</vt:lpstr>
      <vt:lpstr>Perpetual Inventory System Part 1</vt:lpstr>
      <vt:lpstr>Perpetual Inventory System Part 2</vt:lpstr>
      <vt:lpstr>Periodic Inventory System Part 1</vt:lpstr>
      <vt:lpstr>Periodic Inventory System Part 2</vt:lpstr>
      <vt:lpstr>Recording Inventory Transactions in a Perpetual System Part 1</vt:lpstr>
      <vt:lpstr>Recording Inventory Transactions in a Perpetual System Part 2</vt:lpstr>
      <vt:lpstr>Inventory Purchases</vt:lpstr>
      <vt:lpstr>Purchase Returns and Allowances</vt:lpstr>
      <vt:lpstr>Purchase Discounts</vt:lpstr>
      <vt:lpstr>Inventory Costing Methods</vt:lpstr>
      <vt:lpstr>Specific Identification Method Part 1</vt:lpstr>
      <vt:lpstr>Specific Identification Method Part 2</vt:lpstr>
      <vt:lpstr>Cost Flow Assumptions</vt:lpstr>
      <vt:lpstr>FIFO Inventory Flows – Perpetual Inventory System; Exhibit 6.5 Part 1</vt:lpstr>
      <vt:lpstr>FIFO Inventory Flows – Perpetual Inventory System; Exhibit 6.5 Part 2</vt:lpstr>
      <vt:lpstr>Weighted-Average Cost Method</vt:lpstr>
      <vt:lpstr>Average Cost Inventory Flows – Perpetual Inventory System; </vt:lpstr>
      <vt:lpstr>Financial Statement Effects of Inventory Costing Methods</vt:lpstr>
      <vt:lpstr>Consistency in Use of Inventory Costing Methods Part 1</vt:lpstr>
      <vt:lpstr>Consistency in Use of Inventory Costing Methods Part 2</vt:lpstr>
      <vt:lpstr>Managers’ Choice of Inventory Costing Methods Part 1</vt:lpstr>
      <vt:lpstr>Managers’ Choice of Inventory Costing Methods Part 2</vt:lpstr>
      <vt:lpstr>Valuation at Lower of Cost and Net Realizable Value Part 1</vt:lpstr>
      <vt:lpstr>Valuation at Lower of Cost and Net Realizable Value Part 2</vt:lpstr>
      <vt:lpstr>Valuation at Lower of Cost and Net Realizable Value Part 3</vt:lpstr>
      <vt:lpstr>Internal Control of Inventory</vt:lpstr>
      <vt:lpstr>Errors in Measuring Ending Inventory Part 1</vt:lpstr>
      <vt:lpstr>Errors in Measuring Ending Inventory Part 2</vt:lpstr>
      <vt:lpstr>Errors in Measuring Ending Inventory – Exhibit 6.8</vt:lpstr>
      <vt:lpstr>Key Ratio Analysis – Inventory Turnover Ratio</vt:lpstr>
      <vt:lpstr>Key Ratio Analysis – Average Days to Sell Inventory</vt:lpstr>
      <vt:lpstr>Inventory and Cash Flows</vt:lpstr>
      <vt:lpstr>Accounting Standards for Private Enterprises</vt:lpstr>
      <vt:lpstr>Appendix 6A: Cost Flow Assumptions – Periodic Inventory System</vt:lpstr>
      <vt:lpstr>Appendix 6A: Comparison of Perpetual and Periodic Inventory Systems: Exhibit 6A.3</vt:lpstr>
      <vt:lpstr>End of Chapter Summary</vt:lpstr>
      <vt:lpstr>End of Chapter Summary Continued</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7: Reporting and Interpreting Cost of Sales and Inventory</dc:subject>
  <dc:creator>Robert G. Ducharme, MAcc, CPA, CA - University of Waterloo, School of Accounting and Finance</dc:creator>
  <cp:lastModifiedBy>James Moore</cp:lastModifiedBy>
  <cp:revision>62</cp:revision>
  <dcterms:created xsi:type="dcterms:W3CDTF">2010-03-30T15:03:05Z</dcterms:created>
  <dcterms:modified xsi:type="dcterms:W3CDTF">2023-11-01T19:02:21Z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0x010100A745E534FE17E0498B5AA208AC78CF6A</vt:lpwstr>
  </property>
</Properties>
</file>
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4"/>
    <p:sldMasterId id="2147483768" r:id="rId5"/>
  </p:sldMasterIdLst>
  <p:notesMasterIdLst>
    <p:notesMasterId r:id="rId44"/>
  </p:notesMasterIdLst>
  <p:handoutMasterIdLst>
    <p:handoutMasterId r:id="rId45"/>
  </p:handoutMasterIdLst>
  <p:sldIdLst>
    <p:sldId id="341" r:id="rId6"/>
    <p:sldId id="446" r:id="rId7"/>
    <p:sldId id="449" r:id="rId8"/>
    <p:sldId id="448" r:id="rId9"/>
    <p:sldId id="480" r:id="rId10"/>
    <p:sldId id="450" r:id="rId11"/>
    <p:sldId id="451" r:id="rId12"/>
    <p:sldId id="454" r:id="rId13"/>
    <p:sldId id="481" r:id="rId14"/>
    <p:sldId id="453" r:id="rId15"/>
    <p:sldId id="482" r:id="rId16"/>
    <p:sldId id="458" r:id="rId17"/>
    <p:sldId id="459" r:id="rId18"/>
    <p:sldId id="461" r:id="rId19"/>
    <p:sldId id="462" r:id="rId20"/>
    <p:sldId id="463" r:id="rId21"/>
    <p:sldId id="460" r:id="rId22"/>
    <p:sldId id="464" r:id="rId23"/>
    <p:sldId id="467" r:id="rId24"/>
    <p:sldId id="465" r:id="rId25"/>
    <p:sldId id="483" r:id="rId26"/>
    <p:sldId id="468" r:id="rId27"/>
    <p:sldId id="469" r:id="rId28"/>
    <p:sldId id="470" r:id="rId29"/>
    <p:sldId id="471" r:id="rId30"/>
    <p:sldId id="472" r:id="rId31"/>
    <p:sldId id="473" r:id="rId32"/>
    <p:sldId id="474" r:id="rId33"/>
    <p:sldId id="475" r:id="rId34"/>
    <p:sldId id="484" r:id="rId35"/>
    <p:sldId id="485" r:id="rId36"/>
    <p:sldId id="476" r:id="rId37"/>
    <p:sldId id="477" r:id="rId38"/>
    <p:sldId id="487" r:id="rId39"/>
    <p:sldId id="488" r:id="rId40"/>
    <p:sldId id="478" r:id="rId41"/>
    <p:sldId id="447" r:id="rId42"/>
    <p:sldId id="479" r:id="rId43"/>
  </p:sldIdLst>
  <p:sldSz cx="9144000" cy="6858000" type="screen4x3"/>
  <p:notesSz cx="6858000" cy="9144000"/>
  <p:defaultTex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28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28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28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2800"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08">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D1D0"/>
    <a:srgbClr val="0056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EDE07D-EAB3-48C0-B430-C76DC952FFA0}" v="3" dt="2023-01-12T15:15:50.4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6667" autoAdjust="0"/>
    <p:restoredTop sz="85229" autoAdjust="0"/>
  </p:normalViewPr>
  <p:slideViewPr>
    <p:cSldViewPr>
      <p:cViewPr varScale="1">
        <p:scale>
          <a:sx n="115" d="100"/>
          <a:sy n="115" d="100"/>
        </p:scale>
        <p:origin x="1434" y="96"/>
      </p:cViewPr>
      <p:guideLst>
        <p:guide orient="horz" pos="220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36"/>
    </p:cViewPr>
  </p:sorterViewPr>
  <p:notesViewPr>
    <p:cSldViewPr>
      <p:cViewPr varScale="1">
        <p:scale>
          <a:sx n="52" d="100"/>
          <a:sy n="52" d="100"/>
        </p:scale>
        <p:origin x="-1194"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heme" Target="theme/theme1.xml"/><Relationship Id="rId8" Type="http://schemas.openxmlformats.org/officeDocument/2006/relationships/slide" Target="slides/slide3.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wartz, Stephanie" userId="aa8fa799-5957-4a86-b1b1-233f34a2fe0c" providerId="ADAL" clId="{56EDE07D-EAB3-48C0-B430-C76DC952FFA0}"/>
    <pc:docChg chg="modMainMaster">
      <pc:chgData name="Schwartz, Stephanie" userId="aa8fa799-5957-4a86-b1b1-233f34a2fe0c" providerId="ADAL" clId="{56EDE07D-EAB3-48C0-B430-C76DC952FFA0}" dt="2023-01-12T15:16:36.875" v="3" actId="20577"/>
      <pc:docMkLst>
        <pc:docMk/>
      </pc:docMkLst>
      <pc:sldMasterChg chg="modSp mod">
        <pc:chgData name="Schwartz, Stephanie" userId="aa8fa799-5957-4a86-b1b1-233f34a2fe0c" providerId="ADAL" clId="{56EDE07D-EAB3-48C0-B430-C76DC952FFA0}" dt="2023-01-12T15:16:28.410" v="1" actId="20577"/>
        <pc:sldMasterMkLst>
          <pc:docMk/>
          <pc:sldMasterMk cId="0" sldId="2147483767"/>
        </pc:sldMasterMkLst>
        <pc:spChg chg="mod">
          <ac:chgData name="Schwartz, Stephanie" userId="aa8fa799-5957-4a86-b1b1-233f34a2fe0c" providerId="ADAL" clId="{56EDE07D-EAB3-48C0-B430-C76DC952FFA0}" dt="2023-01-12T15:16:28.410" v="1" actId="20577"/>
          <ac:spMkLst>
            <pc:docMk/>
            <pc:sldMasterMk cId="0" sldId="2147483767"/>
            <ac:spMk id="14" creationId="{CD2F8248-7B55-F042-BB6C-A2844C70D0BC}"/>
          </ac:spMkLst>
        </pc:spChg>
      </pc:sldMasterChg>
      <pc:sldMasterChg chg="modSp mod">
        <pc:chgData name="Schwartz, Stephanie" userId="aa8fa799-5957-4a86-b1b1-233f34a2fe0c" providerId="ADAL" clId="{56EDE07D-EAB3-48C0-B430-C76DC952FFA0}" dt="2023-01-12T15:16:36.875" v="3" actId="20577"/>
        <pc:sldMasterMkLst>
          <pc:docMk/>
          <pc:sldMasterMk cId="0" sldId="2147483768"/>
        </pc:sldMasterMkLst>
        <pc:spChg chg="mod">
          <ac:chgData name="Schwartz, Stephanie" userId="aa8fa799-5957-4a86-b1b1-233f34a2fe0c" providerId="ADAL" clId="{56EDE07D-EAB3-48C0-B430-C76DC952FFA0}" dt="2023-01-12T15:16:36.875" v="3" actId="20577"/>
          <ac:spMkLst>
            <pc:docMk/>
            <pc:sldMasterMk cId="0" sldId="2147483768"/>
            <ac:spMk id="8" creationId="{71982481-1DBE-BE4B-A997-190ED43946E4}"/>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DFA2605-B607-E14E-80AB-6D80749A680A}"/>
              </a:ext>
            </a:extLst>
          </p:cNvPr>
          <p:cNvSpPr>
            <a:spLocks noGrp="1"/>
          </p:cNvSpPr>
          <p:nvPr>
            <p:ph type="sldNum" sz="quarter" idx="3"/>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4-</a:t>
            </a:r>
            <a:fld id="{2DF89AF0-29CB-4AF0-ABE9-F64F53219B2E}" type="slidenum">
              <a:rPr lang="en-US" altLang="en-US" smtClean="0"/>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85552EB7-EAA1-EE40-9B0C-8EC4D3C3F6C2}"/>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3C38247B-A29E-4D4B-9C50-46B9E4A18D90}"/>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a:extLst>
              <a:ext uri="{FF2B5EF4-FFF2-40B4-BE49-F238E27FC236}">
                <a16:creationId xmlns:a16="http://schemas.microsoft.com/office/drawing/2014/main" id="{0CC71BC6-7DA0-6F40-8475-D0665BE2BD76}"/>
              </a:ext>
            </a:extLst>
          </p:cNvPr>
          <p:cNvSpPr>
            <a:spLocks noGrp="1"/>
          </p:cNvSpPr>
          <p:nvPr>
            <p:ph type="sldNum" sz="quarter" idx="5"/>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4-</a:t>
            </a:r>
            <a:fld id="{2B4607EA-0AC6-49DD-8B98-824C5044FF54}"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Slide Image Placeholder 1">
            <a:extLst>
              <a:ext uri="{FF2B5EF4-FFF2-40B4-BE49-F238E27FC236}">
                <a16:creationId xmlns:a16="http://schemas.microsoft.com/office/drawing/2014/main" id="{77EA4DC6-86A0-445B-B765-4FC33906FE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6" name="Notes Placeholder 2">
            <a:extLst>
              <a:ext uri="{FF2B5EF4-FFF2-40B4-BE49-F238E27FC236}">
                <a16:creationId xmlns:a16="http://schemas.microsoft.com/office/drawing/2014/main" id="{633D88AE-0CEC-4CF3-B9B4-32A39C2FDC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sz="1100"/>
          </a:p>
        </p:txBody>
      </p:sp>
      <p:sp>
        <p:nvSpPr>
          <p:cNvPr id="6147" name="Slide Number Placeholder 3">
            <a:extLst>
              <a:ext uri="{FF2B5EF4-FFF2-40B4-BE49-F238E27FC236}">
                <a16:creationId xmlns:a16="http://schemas.microsoft.com/office/drawing/2014/main" id="{257CC9A1-5BB0-486F-BBB9-D7F01871073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FB100C4-5D6E-4277-B18A-1EAD39C7F0CE}" type="slidenum">
              <a:rPr lang="en-US" altLang="en-US" smtClean="0"/>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r>
              <a:rPr lang="en-US" altLang="en-US"/>
              <a:t>4-</a:t>
            </a:r>
            <a:fld id="{2B4607EA-0AC6-49DD-8B98-824C5044FF54}" type="slidenum">
              <a:rPr lang="en-US" altLang="en-US" smtClean="0"/>
              <a:pPr>
                <a:defRPr/>
              </a:pPr>
              <a:t>10</a:t>
            </a:fld>
            <a:endParaRPr lang="en-US" altLang="en-US"/>
          </a:p>
        </p:txBody>
      </p:sp>
    </p:spTree>
    <p:extLst>
      <p:ext uri="{BB962C8B-B14F-4D97-AF65-F5344CB8AC3E}">
        <p14:creationId xmlns:p14="http://schemas.microsoft.com/office/powerpoint/2010/main" val="1418872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lvl1pPr>
              <a:defRPr>
                <a:solidFill>
                  <a:srgbClr val="005655"/>
                </a:solidFill>
              </a:defRPr>
            </a:lvl1p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1414135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5"/>
                </a:solidFill>
              </a:defRPr>
            </a:lvl1pPr>
          </a:lstStyle>
          <a:p>
            <a:r>
              <a:rPr lang="en-US" dirty="0"/>
              <a:t>Click to edit Master title style</a:t>
            </a:r>
            <a:endParaRPr lang="en-CA" dirty="0"/>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1083356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solidFill>
                  <a:srgbClr val="005655"/>
                </a:solidFill>
              </a:defRPr>
            </a:lvl1pPr>
          </a:lstStyle>
          <a:p>
            <a:r>
              <a:rPr lang="en-US" dirty="0"/>
              <a:t>Click to edit Master title style</a:t>
            </a:r>
            <a:endParaRPr lang="en-CA" dirty="0"/>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81758773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5"/>
                </a:solidFill>
              </a:defRPr>
            </a:lvl1p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59209614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5"/>
                </a:solidFill>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41780216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5"/>
                </a:solidFill>
              </a:defRPr>
            </a:lvl1pPr>
          </a:lstStyle>
          <a:p>
            <a:r>
              <a:rPr lang="en-US" dirty="0"/>
              <a:t>Click to edit Master title style</a:t>
            </a:r>
            <a:endParaRPr lang="en-CA" dirty="0"/>
          </a:p>
        </p:txBody>
      </p:sp>
    </p:spTree>
    <p:extLst>
      <p:ext uri="{BB962C8B-B14F-4D97-AF65-F5344CB8AC3E}">
        <p14:creationId xmlns:p14="http://schemas.microsoft.com/office/powerpoint/2010/main" val="163130604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87006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solidFill>
                  <a:srgbClr val="005655"/>
                </a:solidFill>
              </a:defRPr>
            </a:lvl1pPr>
          </a:lstStyle>
          <a:p>
            <a:r>
              <a:rPr lang="en-US" dirty="0"/>
              <a:t>Click to edit Master title style</a:t>
            </a:r>
            <a:endParaRPr lang="en-CA" dirty="0"/>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3575500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solidFill>
                  <a:srgbClr val="005655"/>
                </a:solidFill>
              </a:defRPr>
            </a:lvl1pPr>
          </a:lstStyle>
          <a:p>
            <a:r>
              <a:rPr lang="en-US" dirty="0"/>
              <a:t>Click to edit Master title style</a:t>
            </a:r>
            <a:endParaRPr lang="en-CA" dirty="0"/>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0965553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5"/>
                </a:solidFill>
              </a:defRPr>
            </a:lvl1pPr>
          </a:lstStyle>
          <a:p>
            <a:r>
              <a:rPr lang="en-US"/>
              <a:t>Click to edit Master title style</a:t>
            </a:r>
            <a:endParaRPr lang="en-CA"/>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4822049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lvl1pPr>
              <a:defRPr>
                <a:solidFill>
                  <a:srgbClr val="005655"/>
                </a:solidFill>
              </a:defRPr>
            </a:lvl1pPr>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97196302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264073531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161567001"/>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8577089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16726931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92008758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183563589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971599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0477847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38476038"/>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15765780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2400"/>
            <a:ext cx="2057400" cy="6324600"/>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152400"/>
            <a:ext cx="601980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553422121"/>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3"/>
          </a:xfrm>
        </p:spPr>
        <p:txBody>
          <a:bodyPr/>
          <a:lstStyle/>
          <a:p>
            <a:r>
              <a:rPr lang="en-US"/>
              <a:t>Click to edit Master title style</a:t>
            </a:r>
            <a:endParaRPr lang="en-CA"/>
          </a:p>
        </p:txBody>
      </p:sp>
      <p:sp>
        <p:nvSpPr>
          <p:cNvPr id="3" name="Text Placeholder 2"/>
          <p:cNvSpPr>
            <a:spLocks noGrp="1"/>
          </p:cNvSpPr>
          <p:nvPr>
            <p:ph type="body" sz="half" idx="1"/>
          </p:nvPr>
        </p:nvSpPr>
        <p:spPr>
          <a:xfrm>
            <a:off x="457200" y="1143000"/>
            <a:ext cx="4038600" cy="53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lipArt Placeholder 3"/>
          <p:cNvSpPr>
            <a:spLocks noGrp="1"/>
          </p:cNvSpPr>
          <p:nvPr>
            <p:ph type="clipArt" sz="half" idx="2"/>
          </p:nvPr>
        </p:nvSpPr>
        <p:spPr>
          <a:xfrm>
            <a:off x="4648200" y="1143000"/>
            <a:ext cx="4038600" cy="5334000"/>
          </a:xfrm>
        </p:spPr>
        <p:txBody>
          <a:bodyPr/>
          <a:lstStyle/>
          <a:p>
            <a:pPr lvl="0"/>
            <a:endParaRPr lang="en-CA" noProof="0"/>
          </a:p>
        </p:txBody>
      </p:sp>
    </p:spTree>
    <p:extLst>
      <p:ext uri="{BB962C8B-B14F-4D97-AF65-F5344CB8AC3E}">
        <p14:creationId xmlns:p14="http://schemas.microsoft.com/office/powerpoint/2010/main" val="160056191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15">
            <a:extLst>
              <a:ext uri="{FF2B5EF4-FFF2-40B4-BE49-F238E27FC236}">
                <a16:creationId xmlns:a16="http://schemas.microsoft.com/office/drawing/2014/main" id="{041B4E5C-86AB-4CA4-9D9F-8BC1448C44C9}"/>
              </a:ext>
            </a:extLst>
          </p:cNvPr>
          <p:cNvGrpSpPr>
            <a:grpSpLocks/>
          </p:cNvGrpSpPr>
          <p:nvPr userDrawn="1"/>
        </p:nvGrpSpPr>
        <p:grpSpPr bwMode="auto">
          <a:xfrm>
            <a:off x="914400" y="3352800"/>
            <a:ext cx="7315200" cy="1289050"/>
            <a:chOff x="576" y="2112"/>
            <a:chExt cx="4608" cy="812"/>
          </a:xfrm>
        </p:grpSpPr>
        <p:sp>
          <p:nvSpPr>
            <p:cNvPr id="1036" name="Rectangle 8">
              <a:extLst>
                <a:ext uri="{FF2B5EF4-FFF2-40B4-BE49-F238E27FC236}">
                  <a16:creationId xmlns:a16="http://schemas.microsoft.com/office/drawing/2014/main" id="{036EA212-50D3-0147-9DC6-C60FDAE5A1E9}"/>
                </a:ext>
              </a:extLst>
            </p:cNvPr>
            <p:cNvSpPr>
              <a:spLocks noChangeArrowheads="1"/>
            </p:cNvSpPr>
            <p:nvPr/>
          </p:nvSpPr>
          <p:spPr bwMode="auto">
            <a:xfrm>
              <a:off x="576" y="2112"/>
              <a:ext cx="4608" cy="806"/>
            </a:xfrm>
            <a:prstGeom prst="rect">
              <a:avLst/>
            </a:prstGeom>
            <a:noFill/>
            <a:ln w="6350" cap="rnd"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sz="2800">
                  <a:solidFill>
                    <a:schemeClr val="tx1"/>
                  </a:solidFill>
                  <a:latin typeface="Arial" panose="020B0604020202020204" pitchFamily="34" charset="0"/>
                  <a:cs typeface="Arial" panose="020B0604020202020204" pitchFamily="34" charset="0"/>
                </a:defRPr>
              </a:lvl1pPr>
              <a:lvl2pPr marL="742950" indent="-285750" eaLnBrk="0" hangingPunct="0">
                <a:defRPr sz="2800">
                  <a:solidFill>
                    <a:schemeClr val="tx1"/>
                  </a:solidFill>
                  <a:latin typeface="Arial" panose="020B0604020202020204" pitchFamily="34" charset="0"/>
                  <a:cs typeface="Arial" panose="020B0604020202020204" pitchFamily="34" charset="0"/>
                </a:defRPr>
              </a:lvl2pPr>
              <a:lvl3pPr marL="1143000" indent="-228600" eaLnBrk="0" hangingPunct="0">
                <a:defRPr sz="2800">
                  <a:solidFill>
                    <a:schemeClr val="tx1"/>
                  </a:solidFill>
                  <a:latin typeface="Arial" panose="020B0604020202020204" pitchFamily="34" charset="0"/>
                  <a:cs typeface="Arial" panose="020B0604020202020204" pitchFamily="34" charset="0"/>
                </a:defRPr>
              </a:lvl3pPr>
              <a:lvl4pPr marL="1600200" indent="-228600" eaLnBrk="0" hangingPunct="0">
                <a:defRPr sz="2800">
                  <a:solidFill>
                    <a:schemeClr val="tx1"/>
                  </a:solidFill>
                  <a:latin typeface="Arial" panose="020B0604020202020204" pitchFamily="34" charset="0"/>
                  <a:cs typeface="Arial" panose="020B0604020202020204" pitchFamily="34" charset="0"/>
                </a:defRPr>
              </a:lvl4pPr>
              <a:lvl5pPr marL="2057400" indent="-228600" eaLnBrk="0" hangingPunct="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1800">
                <a:solidFill>
                  <a:srgbClr val="FFFFFF"/>
                </a:solidFill>
                <a:latin typeface="Calibri" panose="020F0502020204030204" pitchFamily="34" charset="0"/>
              </a:endParaRPr>
            </a:p>
          </p:txBody>
        </p:sp>
        <p:sp>
          <p:nvSpPr>
            <p:cNvPr id="1037" name="Rectangle 11">
              <a:extLst>
                <a:ext uri="{FF2B5EF4-FFF2-40B4-BE49-F238E27FC236}">
                  <a16:creationId xmlns:a16="http://schemas.microsoft.com/office/drawing/2014/main" id="{B35CE0BC-91C8-8E48-B580-884A8E8C39B1}"/>
                </a:ext>
              </a:extLst>
            </p:cNvPr>
            <p:cNvSpPr>
              <a:spLocks noChangeArrowheads="1"/>
            </p:cNvSpPr>
            <p:nvPr/>
          </p:nvSpPr>
          <p:spPr bwMode="auto">
            <a:xfrm>
              <a:off x="582" y="2118"/>
              <a:ext cx="144" cy="806"/>
            </a:xfrm>
            <a:prstGeom prst="rect">
              <a:avLst/>
            </a:prstGeom>
            <a:solidFill>
              <a:srgbClr val="005655"/>
            </a:solidFill>
            <a:ln>
              <a:noFill/>
            </a:ln>
            <a:extLst>
              <a:ext uri="{91240B29-F687-4F45-9708-019B960494DF}">
                <a14:hiddenLine xmlns:a14="http://schemas.microsoft.com/office/drawing/2010/main" w="6350" cap="rnd" algn="ctr">
                  <a:solidFill>
                    <a:srgbClr val="000000"/>
                  </a:solidFill>
                  <a:miter lim="800000"/>
                  <a:headEnd/>
                  <a:tailEnd/>
                </a14:hiddenLine>
              </a:ext>
            </a:extLst>
          </p:spPr>
          <p:txBody>
            <a:bodyPr anchor="ctr"/>
            <a:lstStyle>
              <a:lvl1pPr eaLnBrk="0" hangingPunct="0">
                <a:defRPr sz="2800">
                  <a:solidFill>
                    <a:schemeClr val="tx1"/>
                  </a:solidFill>
                  <a:latin typeface="Arial" panose="020B0604020202020204" pitchFamily="34" charset="0"/>
                  <a:cs typeface="Arial" panose="020B0604020202020204" pitchFamily="34" charset="0"/>
                </a:defRPr>
              </a:lvl1pPr>
              <a:lvl2pPr marL="742950" indent="-285750" eaLnBrk="0" hangingPunct="0">
                <a:defRPr sz="2800">
                  <a:solidFill>
                    <a:schemeClr val="tx1"/>
                  </a:solidFill>
                  <a:latin typeface="Arial" panose="020B0604020202020204" pitchFamily="34" charset="0"/>
                  <a:cs typeface="Arial" panose="020B0604020202020204" pitchFamily="34" charset="0"/>
                </a:defRPr>
              </a:lvl2pPr>
              <a:lvl3pPr marL="1143000" indent="-228600" eaLnBrk="0" hangingPunct="0">
                <a:defRPr sz="2800">
                  <a:solidFill>
                    <a:schemeClr val="tx1"/>
                  </a:solidFill>
                  <a:latin typeface="Arial" panose="020B0604020202020204" pitchFamily="34" charset="0"/>
                  <a:cs typeface="Arial" panose="020B0604020202020204" pitchFamily="34" charset="0"/>
                </a:defRPr>
              </a:lvl3pPr>
              <a:lvl4pPr marL="1600200" indent="-228600" eaLnBrk="0" hangingPunct="0">
                <a:defRPr sz="2800">
                  <a:solidFill>
                    <a:schemeClr val="tx1"/>
                  </a:solidFill>
                  <a:latin typeface="Arial" panose="020B0604020202020204" pitchFamily="34" charset="0"/>
                  <a:cs typeface="Arial" panose="020B0604020202020204" pitchFamily="34" charset="0"/>
                </a:defRPr>
              </a:lvl4pPr>
              <a:lvl5pPr marL="2057400" indent="-228600" eaLnBrk="0" hangingPunct="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1800">
                <a:solidFill>
                  <a:srgbClr val="FFFFFF"/>
                </a:solidFill>
                <a:latin typeface="Calibri" panose="020F0502020204030204" pitchFamily="34" charset="0"/>
              </a:endParaRPr>
            </a:p>
          </p:txBody>
        </p:sp>
      </p:grpSp>
      <p:grpSp>
        <p:nvGrpSpPr>
          <p:cNvPr id="1027" name="Group 15">
            <a:extLst>
              <a:ext uri="{FF2B5EF4-FFF2-40B4-BE49-F238E27FC236}">
                <a16:creationId xmlns:a16="http://schemas.microsoft.com/office/drawing/2014/main" id="{61C5B0F1-810D-460E-8D07-16CA9E805E6B}"/>
              </a:ext>
            </a:extLst>
          </p:cNvPr>
          <p:cNvGrpSpPr>
            <a:grpSpLocks/>
          </p:cNvGrpSpPr>
          <p:nvPr userDrawn="1"/>
        </p:nvGrpSpPr>
        <p:grpSpPr bwMode="auto">
          <a:xfrm>
            <a:off x="914400" y="4724400"/>
            <a:ext cx="7315200" cy="685800"/>
            <a:chOff x="576" y="2976"/>
            <a:chExt cx="4608" cy="432"/>
          </a:xfrm>
        </p:grpSpPr>
        <p:sp>
          <p:nvSpPr>
            <p:cNvPr id="1034" name="Rectangle 10">
              <a:extLst>
                <a:ext uri="{FF2B5EF4-FFF2-40B4-BE49-F238E27FC236}">
                  <a16:creationId xmlns:a16="http://schemas.microsoft.com/office/drawing/2014/main" id="{793E469B-1B46-CE47-8726-C1982635A8FF}"/>
                </a:ext>
              </a:extLst>
            </p:cNvPr>
            <p:cNvSpPr>
              <a:spLocks noChangeArrowheads="1"/>
            </p:cNvSpPr>
            <p:nvPr/>
          </p:nvSpPr>
          <p:spPr bwMode="auto">
            <a:xfrm>
              <a:off x="576" y="2976"/>
              <a:ext cx="4608" cy="432"/>
            </a:xfrm>
            <a:prstGeom prst="rect">
              <a:avLst/>
            </a:prstGeom>
            <a:noFill/>
            <a:ln w="6350" cap="rnd" algn="ctr">
              <a:solidFill>
                <a:schemeClr val="bg1">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sz="2800">
                  <a:solidFill>
                    <a:schemeClr val="tx1"/>
                  </a:solidFill>
                  <a:latin typeface="Arial" panose="020B0604020202020204" pitchFamily="34" charset="0"/>
                  <a:cs typeface="Arial" panose="020B0604020202020204" pitchFamily="34" charset="0"/>
                </a:defRPr>
              </a:lvl1pPr>
              <a:lvl2pPr marL="742950" indent="-285750" eaLnBrk="0" hangingPunct="0">
                <a:defRPr sz="2800">
                  <a:solidFill>
                    <a:schemeClr val="tx1"/>
                  </a:solidFill>
                  <a:latin typeface="Arial" panose="020B0604020202020204" pitchFamily="34" charset="0"/>
                  <a:cs typeface="Arial" panose="020B0604020202020204" pitchFamily="34" charset="0"/>
                </a:defRPr>
              </a:lvl2pPr>
              <a:lvl3pPr marL="1143000" indent="-228600" eaLnBrk="0" hangingPunct="0">
                <a:defRPr sz="2800">
                  <a:solidFill>
                    <a:schemeClr val="tx1"/>
                  </a:solidFill>
                  <a:latin typeface="Arial" panose="020B0604020202020204" pitchFamily="34" charset="0"/>
                  <a:cs typeface="Arial" panose="020B0604020202020204" pitchFamily="34" charset="0"/>
                </a:defRPr>
              </a:lvl3pPr>
              <a:lvl4pPr marL="1600200" indent="-228600" eaLnBrk="0" hangingPunct="0">
                <a:defRPr sz="2800">
                  <a:solidFill>
                    <a:schemeClr val="tx1"/>
                  </a:solidFill>
                  <a:latin typeface="Arial" panose="020B0604020202020204" pitchFamily="34" charset="0"/>
                  <a:cs typeface="Arial" panose="020B0604020202020204" pitchFamily="34" charset="0"/>
                </a:defRPr>
              </a:lvl4pPr>
              <a:lvl5pPr marL="2057400" indent="-228600" eaLnBrk="0" hangingPunct="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sp>
          <p:nvSpPr>
            <p:cNvPr id="1035" name="Rectangle 12">
              <a:extLst>
                <a:ext uri="{FF2B5EF4-FFF2-40B4-BE49-F238E27FC236}">
                  <a16:creationId xmlns:a16="http://schemas.microsoft.com/office/drawing/2014/main" id="{916FC6DC-D4FB-0F45-AA49-8201E9088989}"/>
                </a:ext>
              </a:extLst>
            </p:cNvPr>
            <p:cNvSpPr>
              <a:spLocks noChangeArrowheads="1"/>
            </p:cNvSpPr>
            <p:nvPr/>
          </p:nvSpPr>
          <p:spPr bwMode="auto">
            <a:xfrm>
              <a:off x="576" y="2976"/>
              <a:ext cx="144" cy="432"/>
            </a:xfrm>
            <a:prstGeom prst="rect">
              <a:avLst/>
            </a:prstGeom>
            <a:solidFill>
              <a:srgbClr val="45D1D0"/>
            </a:solidFill>
            <a:ln w="6350" cap="rnd" algn="ctr">
              <a:solidFill>
                <a:schemeClr val="bg1">
                  <a:lumMod val="50000"/>
                </a:schemeClr>
              </a:solidFill>
              <a:miter lim="800000"/>
              <a:headEnd/>
              <a:tailEnd/>
            </a:ln>
          </p:spPr>
          <p:txBody>
            <a:bodyPr anchor="ctr"/>
            <a:lstStyle>
              <a:lvl1pPr eaLnBrk="0" hangingPunct="0">
                <a:defRPr sz="2800">
                  <a:solidFill>
                    <a:schemeClr val="tx1"/>
                  </a:solidFill>
                  <a:latin typeface="Arial" panose="020B0604020202020204" pitchFamily="34" charset="0"/>
                  <a:cs typeface="Arial" panose="020B0604020202020204" pitchFamily="34" charset="0"/>
                </a:defRPr>
              </a:lvl1pPr>
              <a:lvl2pPr marL="742950" indent="-285750" eaLnBrk="0" hangingPunct="0">
                <a:defRPr sz="2800">
                  <a:solidFill>
                    <a:schemeClr val="tx1"/>
                  </a:solidFill>
                  <a:latin typeface="Arial" panose="020B0604020202020204" pitchFamily="34" charset="0"/>
                  <a:cs typeface="Arial" panose="020B0604020202020204" pitchFamily="34" charset="0"/>
                </a:defRPr>
              </a:lvl2pPr>
              <a:lvl3pPr marL="1143000" indent="-228600" eaLnBrk="0" hangingPunct="0">
                <a:defRPr sz="2800">
                  <a:solidFill>
                    <a:schemeClr val="tx1"/>
                  </a:solidFill>
                  <a:latin typeface="Arial" panose="020B0604020202020204" pitchFamily="34" charset="0"/>
                  <a:cs typeface="Arial" panose="020B0604020202020204" pitchFamily="34" charset="0"/>
                </a:defRPr>
              </a:lvl3pPr>
              <a:lvl4pPr marL="1600200" indent="-228600" eaLnBrk="0" hangingPunct="0">
                <a:defRPr sz="2800">
                  <a:solidFill>
                    <a:schemeClr val="tx1"/>
                  </a:solidFill>
                  <a:latin typeface="Arial" panose="020B0604020202020204" pitchFamily="34" charset="0"/>
                  <a:cs typeface="Arial" panose="020B0604020202020204" pitchFamily="34" charset="0"/>
                </a:defRPr>
              </a:lvl4pPr>
              <a:lvl5pPr marL="2057400" indent="-228600" eaLnBrk="0" hangingPunct="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grpSp>
      <p:sp>
        <p:nvSpPr>
          <p:cNvPr id="1028" name="Freeform 9">
            <a:extLst>
              <a:ext uri="{FF2B5EF4-FFF2-40B4-BE49-F238E27FC236}">
                <a16:creationId xmlns:a16="http://schemas.microsoft.com/office/drawing/2014/main" id="{20AF82E3-E3D3-46E3-AEB8-E58126EBCEF4}"/>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5"/>
          </a:solidFill>
          <a:ln>
            <a:noFill/>
          </a:ln>
        </p:spPr>
        <p:txBody>
          <a:bodyPr/>
          <a:lstStyle/>
          <a:p>
            <a:endParaRPr lang="en-US"/>
          </a:p>
        </p:txBody>
      </p:sp>
      <p:sp>
        <p:nvSpPr>
          <p:cNvPr id="14" name="Rectangle 8">
            <a:extLst>
              <a:ext uri="{FF2B5EF4-FFF2-40B4-BE49-F238E27FC236}">
                <a16:creationId xmlns:a16="http://schemas.microsoft.com/office/drawing/2014/main" id="{CD2F8248-7B55-F042-BB6C-A2844C70D0BC}"/>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
        <p:nvSpPr>
          <p:cNvPr id="16" name="Rectangle 13">
            <a:extLst>
              <a:ext uri="{FF2B5EF4-FFF2-40B4-BE49-F238E27FC236}">
                <a16:creationId xmlns:a16="http://schemas.microsoft.com/office/drawing/2014/main" id="{76E4FDEA-C467-9A46-AFD0-8D469366F50F}"/>
              </a:ext>
            </a:extLst>
          </p:cNvPr>
          <p:cNvSpPr>
            <a:spLocks noChangeArrowheads="1"/>
          </p:cNvSpPr>
          <p:nvPr userDrawn="1"/>
        </p:nvSpPr>
        <p:spPr bwMode="auto">
          <a:xfrm>
            <a:off x="2743200" y="76200"/>
            <a:ext cx="6172200" cy="2971800"/>
          </a:xfrm>
          <a:prstGeom prst="rect">
            <a:avLst/>
          </a:prstGeom>
          <a:noFill/>
          <a:ln>
            <a:noFill/>
          </a:ln>
          <a:effectLst>
            <a:outerShdw dist="35921" dir="2700000" algn="ctr" rotWithShape="0">
              <a:schemeClr val="bg2"/>
            </a:outerShdw>
          </a:effec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4400" dirty="0">
                <a:solidFill>
                  <a:srgbClr val="005655"/>
                </a:solidFill>
                <a:latin typeface="Calibri" panose="020F0502020204030204" pitchFamily="34" charset="0"/>
              </a:rPr>
              <a:t>FINANCIAL ACCOUNTING</a:t>
            </a:r>
            <a:br>
              <a:rPr lang="en-US" altLang="en-US" sz="3200" dirty="0">
                <a:solidFill>
                  <a:srgbClr val="003366"/>
                </a:solidFill>
                <a:latin typeface="Calibri" panose="020F0502020204030204" pitchFamily="34" charset="0"/>
              </a:rPr>
            </a:br>
            <a:br>
              <a:rPr lang="en-US" altLang="en-US" sz="1600" dirty="0">
                <a:solidFill>
                  <a:srgbClr val="003366"/>
                </a:solidFill>
                <a:latin typeface="Calibri" panose="020F0502020204030204" pitchFamily="34" charset="0"/>
              </a:rPr>
            </a:br>
            <a:r>
              <a:rPr lang="en-US" altLang="en-US" sz="2000" dirty="0">
                <a:solidFill>
                  <a:schemeClr val="tx1"/>
                </a:solidFill>
                <a:latin typeface="Calibri" panose="020F0502020204030204" pitchFamily="34" charset="0"/>
              </a:rPr>
              <a:t>Eighth Canadian Edition</a:t>
            </a:r>
            <a:br>
              <a:rPr lang="en-US" altLang="en-US" sz="2000" dirty="0">
                <a:solidFill>
                  <a:schemeClr val="tx1"/>
                </a:solidFill>
                <a:latin typeface="Calibri" panose="020F0502020204030204" pitchFamily="34" charset="0"/>
              </a:rPr>
            </a:br>
            <a:br>
              <a:rPr lang="en-US" altLang="en-US" sz="2000" dirty="0">
                <a:solidFill>
                  <a:schemeClr val="tx1"/>
                </a:solidFill>
                <a:latin typeface="Calibri" panose="020F0502020204030204" pitchFamily="34" charset="0"/>
              </a:rPr>
            </a:br>
            <a:r>
              <a:rPr lang="en-US" altLang="en-US" sz="2000" b="1" dirty="0">
                <a:solidFill>
                  <a:schemeClr val="tx1"/>
                </a:solidFill>
                <a:latin typeface="Calibri" panose="020F0502020204030204" pitchFamily="34" charset="0"/>
              </a:rPr>
              <a:t>LIBBY, LIBBY, HODGE, KANAAN, STERLING</a:t>
            </a:r>
            <a:r>
              <a:rPr lang="en-US" altLang="en-US" sz="2000" dirty="0">
                <a:solidFill>
                  <a:schemeClr val="tx1"/>
                </a:solidFill>
                <a:latin typeface="Calibri" panose="020F0502020204030204" pitchFamily="34" charset="0"/>
              </a:rPr>
              <a:t> </a:t>
            </a:r>
            <a:br>
              <a:rPr lang="en-US" altLang="en-US" dirty="0">
                <a:solidFill>
                  <a:srgbClr val="003366"/>
                </a:solidFill>
                <a:latin typeface="Calibri" panose="020F0502020204030204" pitchFamily="34" charset="0"/>
              </a:rPr>
            </a:br>
            <a:endParaRPr lang="en-US" altLang="en-US" dirty="0">
              <a:solidFill>
                <a:srgbClr val="003366"/>
              </a:solidFill>
              <a:latin typeface="Calibri" panose="020F0502020204030204" pitchFamily="34" charset="0"/>
            </a:endParaRPr>
          </a:p>
        </p:txBody>
      </p:sp>
      <p:pic>
        <p:nvPicPr>
          <p:cNvPr id="17" name="Picture 16" descr="A picture containing text, electronics, sign, green&#10;&#10;Description automatically generated">
            <a:extLst>
              <a:ext uri="{FF2B5EF4-FFF2-40B4-BE49-F238E27FC236}">
                <a16:creationId xmlns:a16="http://schemas.microsoft.com/office/drawing/2014/main" id="{EB05006A-9B1C-B742-993B-D2B6E165A52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81468" y="188842"/>
            <a:ext cx="2300890" cy="2987722"/>
          </a:xfrm>
          <a:prstGeom prst="rect">
            <a:avLst/>
          </a:prstGeom>
        </p:spPr>
      </p:pic>
      <p:sp>
        <p:nvSpPr>
          <p:cNvPr id="18" name="Rectangle 12">
            <a:extLst>
              <a:ext uri="{FF2B5EF4-FFF2-40B4-BE49-F238E27FC236}">
                <a16:creationId xmlns:a16="http://schemas.microsoft.com/office/drawing/2014/main" id="{7D3BAA75-ED49-D245-B277-8C5E63E54E13}"/>
              </a:ext>
            </a:extLst>
          </p:cNvPr>
          <p:cNvSpPr>
            <a:spLocks noChangeArrowheads="1"/>
          </p:cNvSpPr>
          <p:nvPr userDrawn="1"/>
        </p:nvSpPr>
        <p:spPr bwMode="auto">
          <a:xfrm>
            <a:off x="1331913" y="5486400"/>
            <a:ext cx="6629400" cy="1025525"/>
          </a:xfrm>
          <a:prstGeom prst="rect">
            <a:avLst/>
          </a:prstGeom>
          <a:no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en-US" altLang="en-US" sz="1200" i="1" dirty="0">
              <a:solidFill>
                <a:schemeClr val="tx1"/>
              </a:solidFill>
              <a:latin typeface="Tahoma" panose="020B0604030504040204" pitchFamily="34" charset="0"/>
            </a:endParaRPr>
          </a:p>
          <a:p>
            <a:pPr algn="ctr">
              <a:defRPr/>
            </a:pPr>
            <a:r>
              <a:rPr lang="en-US" altLang="en-US" sz="1600" dirty="0">
                <a:solidFill>
                  <a:schemeClr val="tx1"/>
                </a:solidFill>
                <a:latin typeface="Tahoma" panose="020B0604030504040204" pitchFamily="34" charset="0"/>
              </a:rPr>
              <a:t>Prepared by </a:t>
            </a:r>
            <a:r>
              <a:rPr lang="en-US" altLang="en-US" sz="1600" i="1" dirty="0">
                <a:solidFill>
                  <a:schemeClr val="tx1"/>
                </a:solidFill>
                <a:latin typeface="Tahoma" panose="020B0604030504040204" pitchFamily="34" charset="0"/>
              </a:rPr>
              <a:t>Shannon Butler, CPA, CA, MEd</a:t>
            </a:r>
            <a:br>
              <a:rPr lang="en-US" altLang="en-US" sz="1600" dirty="0">
                <a:solidFill>
                  <a:schemeClr val="tx1"/>
                </a:solidFill>
                <a:latin typeface="Tahoma" panose="020B0604030504040204" pitchFamily="34" charset="0"/>
              </a:rPr>
            </a:br>
            <a:r>
              <a:rPr lang="en-US" altLang="en-US" sz="1600" i="1" dirty="0">
                <a:solidFill>
                  <a:schemeClr val="tx1"/>
                </a:solidFill>
                <a:latin typeface="Tahoma" panose="020B0604030504040204" pitchFamily="34" charset="0"/>
              </a:rPr>
              <a:t>Carleton University, </a:t>
            </a:r>
            <a:r>
              <a:rPr lang="en-US" altLang="en-US" sz="1600" i="1" dirty="0" err="1">
                <a:solidFill>
                  <a:schemeClr val="tx1"/>
                </a:solidFill>
                <a:latin typeface="Tahoma" panose="020B0604030504040204" pitchFamily="34" charset="0"/>
              </a:rPr>
              <a:t>Sprott</a:t>
            </a:r>
            <a:r>
              <a:rPr lang="en-US" altLang="en-US" sz="1600" i="1" dirty="0">
                <a:solidFill>
                  <a:schemeClr val="tx1"/>
                </a:solidFill>
                <a:latin typeface="Tahoma" panose="020B0604030504040204" pitchFamily="34" charset="0"/>
              </a:rPr>
              <a:t> School of Business</a:t>
            </a:r>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pitchFamily="34" charset="0"/>
        </a:defRPr>
      </a:lvl2pPr>
      <a:lvl3pPr algn="l" rtl="0" eaLnBrk="0" fontAlgn="base" hangingPunct="0">
        <a:spcBef>
          <a:spcPct val="0"/>
        </a:spcBef>
        <a:spcAft>
          <a:spcPct val="0"/>
        </a:spcAft>
        <a:defRPr sz="3200">
          <a:solidFill>
            <a:schemeClr val="tx2"/>
          </a:solidFill>
          <a:latin typeface="Calibri" pitchFamily="34" charset="0"/>
          <a:cs typeface="Arial" pitchFamily="34" charset="0"/>
        </a:defRPr>
      </a:lvl3pPr>
      <a:lvl4pPr algn="l" rtl="0" eaLnBrk="0" fontAlgn="base" hangingPunct="0">
        <a:spcBef>
          <a:spcPct val="0"/>
        </a:spcBef>
        <a:spcAft>
          <a:spcPct val="0"/>
        </a:spcAft>
        <a:defRPr sz="3200">
          <a:solidFill>
            <a:schemeClr val="tx2"/>
          </a:solidFill>
          <a:latin typeface="Calibri" pitchFamily="34" charset="0"/>
          <a:cs typeface="Arial" pitchFamily="34" charset="0"/>
        </a:defRPr>
      </a:lvl4pPr>
      <a:lvl5pPr algn="l" rtl="0" eaLnBrk="0" fontAlgn="base" hangingPunct="0">
        <a:spcBef>
          <a:spcPct val="0"/>
        </a:spcBef>
        <a:spcAft>
          <a:spcPct val="0"/>
        </a:spcAft>
        <a:defRPr sz="3200">
          <a:solidFill>
            <a:schemeClr val="tx2"/>
          </a:solidFill>
          <a:latin typeface="Calibri" pitchFamily="34" charset="0"/>
          <a:cs typeface="Arial" pitchFamily="34" charset="0"/>
        </a:defRPr>
      </a:lvl5pPr>
      <a:lvl6pPr marL="457200" algn="l" rtl="0" fontAlgn="base">
        <a:spcBef>
          <a:spcPct val="0"/>
        </a:spcBef>
        <a:spcAft>
          <a:spcPct val="0"/>
        </a:spcAft>
        <a:defRPr sz="3200">
          <a:solidFill>
            <a:schemeClr val="tx2"/>
          </a:solidFill>
          <a:latin typeface="Calibri" pitchFamily="34" charset="0"/>
          <a:cs typeface="Arial" pitchFamily="34" charset="0"/>
        </a:defRPr>
      </a:lvl6pPr>
      <a:lvl7pPr marL="914400" algn="l" rtl="0" fontAlgn="base">
        <a:spcBef>
          <a:spcPct val="0"/>
        </a:spcBef>
        <a:spcAft>
          <a:spcPct val="0"/>
        </a:spcAft>
        <a:defRPr sz="3200">
          <a:solidFill>
            <a:schemeClr val="tx2"/>
          </a:solidFill>
          <a:latin typeface="Calibri" pitchFamily="34" charset="0"/>
          <a:cs typeface="Arial" pitchFamily="34" charset="0"/>
        </a:defRPr>
      </a:lvl7pPr>
      <a:lvl8pPr marL="1371600" algn="l" rtl="0" fontAlgn="base">
        <a:spcBef>
          <a:spcPct val="0"/>
        </a:spcBef>
        <a:spcAft>
          <a:spcPct val="0"/>
        </a:spcAft>
        <a:defRPr sz="3200">
          <a:solidFill>
            <a:schemeClr val="tx2"/>
          </a:solidFill>
          <a:latin typeface="Calibri" pitchFamily="34" charset="0"/>
          <a:cs typeface="Arial" pitchFamily="34" charset="0"/>
        </a:defRPr>
      </a:lvl8pPr>
      <a:lvl9pPr marL="1828800" algn="l" rtl="0" fontAlgn="base">
        <a:spcBef>
          <a:spcPct val="0"/>
        </a:spcBef>
        <a:spcAft>
          <a:spcPct val="0"/>
        </a:spcAft>
        <a:defRPr sz="3200">
          <a:solidFill>
            <a:schemeClr val="tx2"/>
          </a:solidFill>
          <a:latin typeface="Calibri" pitchFamily="34" charset="0"/>
          <a:cs typeface="Arial" pitchFamily="34" charset="0"/>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a:solidFill>
            <a:schemeClr val="tx2"/>
          </a:solidFill>
          <a:latin typeface="+mn-lt"/>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A94543"/>
        </a:buClr>
        <a:buSzPct val="70000"/>
        <a:buFont typeface="Wingdings" panose="05000000000000000000" pitchFamily="2" charset="2"/>
        <a:buChar char=""/>
        <a:defRPr sz="2000">
          <a:solidFill>
            <a:schemeClr val="tx1"/>
          </a:solidFill>
          <a:latin typeface="+mn-lt"/>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21">
            <a:extLst>
              <a:ext uri="{FF2B5EF4-FFF2-40B4-BE49-F238E27FC236}">
                <a16:creationId xmlns:a16="http://schemas.microsoft.com/office/drawing/2014/main" id="{16199DC6-5E19-450C-9779-F576AC8A8CE9}"/>
              </a:ext>
            </a:extLst>
          </p:cNvPr>
          <p:cNvSpPr>
            <a:spLocks noGrp="1"/>
          </p:cNvSpPr>
          <p:nvPr>
            <p:ph type="title"/>
          </p:nvPr>
        </p:nvSpPr>
        <p:spPr bwMode="auto">
          <a:xfrm>
            <a:off x="457200" y="152400"/>
            <a:ext cx="8229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CA" altLang="en-US" dirty="0"/>
              <a:t>Click to edit Master title style</a:t>
            </a:r>
          </a:p>
        </p:txBody>
      </p:sp>
      <p:sp>
        <p:nvSpPr>
          <p:cNvPr id="2051" name="Text Placeholder 12">
            <a:extLst>
              <a:ext uri="{FF2B5EF4-FFF2-40B4-BE49-F238E27FC236}">
                <a16:creationId xmlns:a16="http://schemas.microsoft.com/office/drawing/2014/main" id="{86956DCE-01C2-4D05-8879-3D6C90E4A608}"/>
              </a:ext>
            </a:extLst>
          </p:cNvPr>
          <p:cNvSpPr>
            <a:spLocks noGrp="1"/>
          </p:cNvSpPr>
          <p:nvPr>
            <p:ph type="body" idx="1"/>
          </p:nvPr>
        </p:nvSpPr>
        <p:spPr bwMode="auto">
          <a:xfrm>
            <a:off x="457200" y="1143000"/>
            <a:ext cx="8229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CA" altLang="en-US" dirty="0"/>
              <a:t>Click to edit Master text styles</a:t>
            </a:r>
          </a:p>
          <a:p>
            <a:pPr lvl="1"/>
            <a:r>
              <a:rPr lang="en-CA" altLang="en-US" dirty="0"/>
              <a:t>Second level</a:t>
            </a:r>
          </a:p>
          <a:p>
            <a:pPr lvl="2"/>
            <a:r>
              <a:rPr lang="en-CA" altLang="en-US" dirty="0"/>
              <a:t>Third level</a:t>
            </a:r>
          </a:p>
          <a:p>
            <a:pPr lvl="3"/>
            <a:r>
              <a:rPr lang="en-CA" altLang="en-US" dirty="0"/>
              <a:t>Fourth level</a:t>
            </a:r>
          </a:p>
          <a:p>
            <a:pPr lvl="4"/>
            <a:r>
              <a:rPr lang="en-CA" altLang="en-US" dirty="0"/>
              <a:t>Fifth level</a:t>
            </a:r>
          </a:p>
        </p:txBody>
      </p:sp>
      <p:sp>
        <p:nvSpPr>
          <p:cNvPr id="2052" name="Straight Connector 28">
            <a:extLst>
              <a:ext uri="{FF2B5EF4-FFF2-40B4-BE49-F238E27FC236}">
                <a16:creationId xmlns:a16="http://schemas.microsoft.com/office/drawing/2014/main" id="{7B59DAE5-F985-43CD-8855-3A989E8FA3A6}"/>
              </a:ext>
            </a:extLst>
          </p:cNvPr>
          <p:cNvSpPr>
            <a:spLocks noChangeShapeType="1"/>
          </p:cNvSpPr>
          <p:nvPr/>
        </p:nvSpPr>
        <p:spPr bwMode="auto">
          <a:xfrm>
            <a:off x="457200" y="990600"/>
            <a:ext cx="8229600" cy="0"/>
          </a:xfrm>
          <a:prstGeom prst="line">
            <a:avLst/>
          </a:prstGeom>
          <a:noFill/>
          <a:ln w="9525" algn="ctr">
            <a:solidFill>
              <a:srgbClr val="0033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53" name="Freeform 9">
            <a:extLst>
              <a:ext uri="{FF2B5EF4-FFF2-40B4-BE49-F238E27FC236}">
                <a16:creationId xmlns:a16="http://schemas.microsoft.com/office/drawing/2014/main" id="{AC9D06AE-9787-40AE-8C86-BA2F9DB0DD8D}"/>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5"/>
          </a:solidFill>
          <a:ln>
            <a:noFill/>
          </a:ln>
        </p:spPr>
        <p:txBody>
          <a:bodyPr/>
          <a:lstStyle/>
          <a:p>
            <a:endParaRPr lang="en-US"/>
          </a:p>
        </p:txBody>
      </p:sp>
      <p:sp>
        <p:nvSpPr>
          <p:cNvPr id="2055" name="Text Box 9">
            <a:extLst>
              <a:ext uri="{FF2B5EF4-FFF2-40B4-BE49-F238E27FC236}">
                <a16:creationId xmlns:a16="http://schemas.microsoft.com/office/drawing/2014/main" id="{7F0E982D-51D3-8A44-989E-A7290EFAD16A}"/>
              </a:ext>
            </a:extLst>
          </p:cNvPr>
          <p:cNvSpPr txBox="1">
            <a:spLocks noChangeArrowheads="1"/>
          </p:cNvSpPr>
          <p:nvPr userDrawn="1"/>
        </p:nvSpPr>
        <p:spPr bwMode="auto">
          <a:xfrm>
            <a:off x="8229600" y="6546850"/>
            <a:ext cx="8985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cs typeface="Arial" panose="020B0604020202020204" pitchFamily="34" charset="0"/>
              </a:defRPr>
            </a:lvl1pPr>
            <a:lvl2pPr marL="742950" indent="-285750" eaLnBrk="0" hangingPunct="0">
              <a:defRPr sz="2800">
                <a:solidFill>
                  <a:schemeClr val="tx1"/>
                </a:solidFill>
                <a:latin typeface="Arial" panose="020B0604020202020204" pitchFamily="34" charset="0"/>
                <a:cs typeface="Arial" panose="020B0604020202020204" pitchFamily="34" charset="0"/>
              </a:defRPr>
            </a:lvl2pPr>
            <a:lvl3pPr marL="1143000" indent="-228600" eaLnBrk="0" hangingPunct="0">
              <a:defRPr sz="2800">
                <a:solidFill>
                  <a:schemeClr val="tx1"/>
                </a:solidFill>
                <a:latin typeface="Arial" panose="020B0604020202020204" pitchFamily="34" charset="0"/>
                <a:cs typeface="Arial" panose="020B0604020202020204" pitchFamily="34" charset="0"/>
              </a:defRPr>
            </a:lvl3pPr>
            <a:lvl4pPr marL="1600200" indent="-228600" eaLnBrk="0" hangingPunct="0">
              <a:defRPr sz="2800">
                <a:solidFill>
                  <a:schemeClr val="tx1"/>
                </a:solidFill>
                <a:latin typeface="Arial" panose="020B0604020202020204" pitchFamily="34" charset="0"/>
                <a:cs typeface="Arial" panose="020B0604020202020204" pitchFamily="34" charset="0"/>
              </a:defRPr>
            </a:lvl4pPr>
            <a:lvl5pPr marL="2057400" indent="-228600" eaLnBrk="0" hangingPunct="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000" dirty="0">
                <a:solidFill>
                  <a:schemeClr val="bg1"/>
                </a:solidFill>
              </a:rPr>
              <a:t>4-</a:t>
            </a:r>
            <a:fld id="{DC3F5952-B5CE-4C2E-B4CC-FD465FE5AFF1}" type="slidenum">
              <a:rPr lang="en-US" altLang="en-US" sz="1000" smtClean="0">
                <a:solidFill>
                  <a:schemeClr val="bg1"/>
                </a:solidFill>
              </a:rPr>
              <a:pPr algn="r" eaLnBrk="1" hangingPunct="1">
                <a:defRPr/>
              </a:pPr>
              <a:t>‹#›</a:t>
            </a:fld>
            <a:endParaRPr lang="en-CA" altLang="en-US" dirty="0"/>
          </a:p>
        </p:txBody>
      </p:sp>
      <p:sp>
        <p:nvSpPr>
          <p:cNvPr id="8" name="Rectangle 7">
            <a:extLst>
              <a:ext uri="{FF2B5EF4-FFF2-40B4-BE49-F238E27FC236}">
                <a16:creationId xmlns:a16="http://schemas.microsoft.com/office/drawing/2014/main" id="{71982481-1DBE-BE4B-A997-190ED43946E4}"/>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a:t>
            </a:r>
            <a:r>
              <a:rPr lang="en-CA" sz="1000"/>
              <a:t>2023 McGraw Hill </a:t>
            </a:r>
            <a:r>
              <a:rPr lang="en-CA" sz="1000" dirty="0"/>
              <a:t>Limited</a:t>
            </a:r>
            <a:endParaRPr lang="en-US" altLang="en-US" sz="1000" dirty="0">
              <a:solidFill>
                <a:srgbClr val="003366"/>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Lst>
  <p:transition/>
  <p:txStyles>
    <p:titleStyle>
      <a:lvl1pPr algn="l" rtl="0" eaLnBrk="0" fontAlgn="base" hangingPunct="0">
        <a:spcBef>
          <a:spcPct val="0"/>
        </a:spcBef>
        <a:spcAft>
          <a:spcPct val="0"/>
        </a:spcAft>
        <a:defRPr sz="3200">
          <a:solidFill>
            <a:srgbClr val="005655"/>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pitchFamily="34" charset="0"/>
        </a:defRPr>
      </a:lvl2pPr>
      <a:lvl3pPr algn="l" rtl="0" eaLnBrk="0" fontAlgn="base" hangingPunct="0">
        <a:spcBef>
          <a:spcPct val="0"/>
        </a:spcBef>
        <a:spcAft>
          <a:spcPct val="0"/>
        </a:spcAft>
        <a:defRPr sz="3200">
          <a:solidFill>
            <a:schemeClr val="tx2"/>
          </a:solidFill>
          <a:latin typeface="Calibri" pitchFamily="34" charset="0"/>
          <a:cs typeface="Arial" pitchFamily="34" charset="0"/>
        </a:defRPr>
      </a:lvl3pPr>
      <a:lvl4pPr algn="l" rtl="0" eaLnBrk="0" fontAlgn="base" hangingPunct="0">
        <a:spcBef>
          <a:spcPct val="0"/>
        </a:spcBef>
        <a:spcAft>
          <a:spcPct val="0"/>
        </a:spcAft>
        <a:defRPr sz="3200">
          <a:solidFill>
            <a:schemeClr val="tx2"/>
          </a:solidFill>
          <a:latin typeface="Calibri" pitchFamily="34" charset="0"/>
          <a:cs typeface="Arial" pitchFamily="34" charset="0"/>
        </a:defRPr>
      </a:lvl4pPr>
      <a:lvl5pPr algn="l" rtl="0" eaLnBrk="0" fontAlgn="base" hangingPunct="0">
        <a:spcBef>
          <a:spcPct val="0"/>
        </a:spcBef>
        <a:spcAft>
          <a:spcPct val="0"/>
        </a:spcAft>
        <a:defRPr sz="3200">
          <a:solidFill>
            <a:schemeClr val="tx2"/>
          </a:solidFill>
          <a:latin typeface="Calibri" pitchFamily="34" charset="0"/>
          <a:cs typeface="Arial" pitchFamily="34" charset="0"/>
        </a:defRPr>
      </a:lvl5pPr>
      <a:lvl6pPr marL="457200" algn="l" rtl="0" fontAlgn="base">
        <a:spcBef>
          <a:spcPct val="0"/>
        </a:spcBef>
        <a:spcAft>
          <a:spcPct val="0"/>
        </a:spcAft>
        <a:defRPr sz="3200">
          <a:solidFill>
            <a:schemeClr val="tx2"/>
          </a:solidFill>
          <a:latin typeface="Calibri" pitchFamily="34" charset="0"/>
          <a:cs typeface="Arial" pitchFamily="34" charset="0"/>
        </a:defRPr>
      </a:lvl6pPr>
      <a:lvl7pPr marL="914400" algn="l" rtl="0" fontAlgn="base">
        <a:spcBef>
          <a:spcPct val="0"/>
        </a:spcBef>
        <a:spcAft>
          <a:spcPct val="0"/>
        </a:spcAft>
        <a:defRPr sz="3200">
          <a:solidFill>
            <a:schemeClr val="tx2"/>
          </a:solidFill>
          <a:latin typeface="Calibri" pitchFamily="34" charset="0"/>
          <a:cs typeface="Arial" pitchFamily="34" charset="0"/>
        </a:defRPr>
      </a:lvl7pPr>
      <a:lvl8pPr marL="1371600" algn="l" rtl="0" fontAlgn="base">
        <a:spcBef>
          <a:spcPct val="0"/>
        </a:spcBef>
        <a:spcAft>
          <a:spcPct val="0"/>
        </a:spcAft>
        <a:defRPr sz="3200">
          <a:solidFill>
            <a:schemeClr val="tx2"/>
          </a:solidFill>
          <a:latin typeface="Calibri" pitchFamily="34" charset="0"/>
          <a:cs typeface="Arial" pitchFamily="34" charset="0"/>
        </a:defRPr>
      </a:lvl8pPr>
      <a:lvl9pPr marL="1828800" algn="l" rtl="0" fontAlgn="base">
        <a:spcBef>
          <a:spcPct val="0"/>
        </a:spcBef>
        <a:spcAft>
          <a:spcPct val="0"/>
        </a:spcAft>
        <a:defRPr sz="3200">
          <a:solidFill>
            <a:schemeClr val="tx2"/>
          </a:solidFill>
          <a:latin typeface="Calibri" pitchFamily="34" charset="0"/>
          <a:cs typeface="Arial" pitchFamily="34" charset="0"/>
        </a:defRPr>
      </a:lvl9pPr>
    </p:titleStyle>
    <p:bodyStyle>
      <a:lvl1pPr marL="273050" indent="-273050" algn="l" rtl="0" eaLnBrk="0" fontAlgn="base" hangingPunct="0">
        <a:spcBef>
          <a:spcPts val="600"/>
        </a:spcBef>
        <a:spcAft>
          <a:spcPct val="0"/>
        </a:spcAft>
        <a:buClr>
          <a:srgbClr val="45D1D0"/>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rgbClr val="45D1D0"/>
        </a:buClr>
        <a:buSzPct val="76000"/>
        <a:buFont typeface="Wingdings 3" panose="05040102010807070707" pitchFamily="18" charset="2"/>
        <a:buChar char=""/>
        <a:defRPr sz="2300">
          <a:solidFill>
            <a:schemeClr val="tx1"/>
          </a:solidFill>
          <a:latin typeface="+mn-lt"/>
          <a:cs typeface="+mn-cs"/>
        </a:defRPr>
      </a:lvl2pPr>
      <a:lvl3pPr marL="822325" indent="-228600" algn="l" rtl="0" eaLnBrk="0" fontAlgn="base" hangingPunct="0">
        <a:spcBef>
          <a:spcPts val="500"/>
        </a:spcBef>
        <a:spcAft>
          <a:spcPct val="0"/>
        </a:spcAft>
        <a:buClr>
          <a:srgbClr val="45D1D0"/>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45D1D0"/>
        </a:buClr>
        <a:buSzPct val="70000"/>
        <a:buFont typeface="Arial" panose="020B0604020202020204" pitchFamily="34" charset="0"/>
        <a:buChar char="•"/>
        <a:defRPr sz="2000">
          <a:solidFill>
            <a:schemeClr val="tx1"/>
          </a:solidFill>
          <a:latin typeface="+mn-lt"/>
          <a:cs typeface="+mn-cs"/>
        </a:defRPr>
      </a:lvl4pPr>
      <a:lvl5pPr marL="1371600" indent="-228600" algn="l" rtl="0" eaLnBrk="0" fontAlgn="base" hangingPunct="0">
        <a:spcBef>
          <a:spcPts val="300"/>
        </a:spcBef>
        <a:spcAft>
          <a:spcPct val="0"/>
        </a:spcAft>
        <a:buClr>
          <a:srgbClr val="45D1D0"/>
        </a:buClr>
        <a:buSzPct val="70000"/>
        <a:buFont typeface="Arial" panose="020B0604020202020204" pitchFamily="34" charset="0"/>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3">
            <a:extLst>
              <a:ext uri="{FF2B5EF4-FFF2-40B4-BE49-F238E27FC236}">
                <a16:creationId xmlns:a16="http://schemas.microsoft.com/office/drawing/2014/main" id="{E4EED4C5-6110-4718-A786-9A25719A3EAE}"/>
              </a:ext>
            </a:extLst>
          </p:cNvPr>
          <p:cNvSpPr>
            <a:spLocks/>
          </p:cNvSpPr>
          <p:nvPr/>
        </p:nvSpPr>
        <p:spPr bwMode="auto">
          <a:xfrm>
            <a:off x="1143000" y="3352800"/>
            <a:ext cx="701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r" eaLnBrk="1" hangingPunct="1"/>
            <a:r>
              <a:rPr lang="en-CA" altLang="en-US" b="1" dirty="0">
                <a:solidFill>
                  <a:srgbClr val="005655"/>
                </a:solidFill>
                <a:latin typeface="Calibri" panose="020F0502020204030204" pitchFamily="34" charset="0"/>
              </a:rPr>
              <a:t>Adjustments, Financial Statements,</a:t>
            </a:r>
            <a:br>
              <a:rPr lang="en-CA" altLang="en-US" b="1" dirty="0">
                <a:solidFill>
                  <a:srgbClr val="005655"/>
                </a:solidFill>
                <a:latin typeface="Calibri" panose="020F0502020204030204" pitchFamily="34" charset="0"/>
              </a:rPr>
            </a:br>
            <a:r>
              <a:rPr lang="en-CA" altLang="en-US" b="1" dirty="0">
                <a:solidFill>
                  <a:srgbClr val="005655"/>
                </a:solidFill>
                <a:latin typeface="Calibri" panose="020F0502020204030204" pitchFamily="34" charset="0"/>
              </a:rPr>
              <a:t> and the Closing Process</a:t>
            </a:r>
          </a:p>
        </p:txBody>
      </p:sp>
      <p:sp>
        <p:nvSpPr>
          <p:cNvPr id="5122" name="Subtitle 4">
            <a:extLst>
              <a:ext uri="{FF2B5EF4-FFF2-40B4-BE49-F238E27FC236}">
                <a16:creationId xmlns:a16="http://schemas.microsoft.com/office/drawing/2014/main" id="{F48D5F1C-A583-4F42-9BA3-553788327277}"/>
              </a:ext>
            </a:extLst>
          </p:cNvPr>
          <p:cNvSpPr>
            <a:spLocks/>
          </p:cNvSpPr>
          <p:nvPr/>
        </p:nvSpPr>
        <p:spPr bwMode="auto">
          <a:xfrm>
            <a:off x="1295400" y="4800600"/>
            <a:ext cx="685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Arial" panose="020B0604020202020204" pitchFamily="34" charset="0"/>
                <a:cs typeface="Arial" panose="020B0604020202020204" pitchFamily="34" charset="0"/>
              </a:defRPr>
            </a:lvl1pPr>
            <a:lvl2pPr marL="742950" indent="-285750">
              <a:defRPr sz="2800">
                <a:solidFill>
                  <a:schemeClr val="tx1"/>
                </a:solidFill>
                <a:latin typeface="Arial" panose="020B0604020202020204" pitchFamily="34" charset="0"/>
                <a:cs typeface="Arial" panose="020B0604020202020204" pitchFamily="34" charset="0"/>
              </a:defRPr>
            </a:lvl2pPr>
            <a:lvl3pPr marL="1143000" indent="-228600">
              <a:defRPr sz="2800">
                <a:solidFill>
                  <a:schemeClr val="tx1"/>
                </a:solidFill>
                <a:latin typeface="Arial" panose="020B0604020202020204" pitchFamily="34" charset="0"/>
                <a:cs typeface="Arial" panose="020B0604020202020204" pitchFamily="34" charset="0"/>
              </a:defRPr>
            </a:lvl3pPr>
            <a:lvl4pPr marL="1600200" indent="-228600">
              <a:defRPr sz="2800">
                <a:solidFill>
                  <a:schemeClr val="tx1"/>
                </a:solidFill>
                <a:latin typeface="Arial" panose="020B0604020202020204" pitchFamily="34" charset="0"/>
                <a:cs typeface="Arial" panose="020B0604020202020204" pitchFamily="34" charset="0"/>
              </a:defRPr>
            </a:lvl4pPr>
            <a:lvl5pPr marL="2057400" indent="-228600">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9pPr>
          </a:lstStyle>
          <a:p>
            <a:pPr algn="r" eaLnBrk="1" hangingPunct="1">
              <a:spcBef>
                <a:spcPts val="600"/>
              </a:spcBef>
              <a:buClr>
                <a:schemeClr val="accent1"/>
              </a:buClr>
              <a:buSzPct val="76000"/>
              <a:buFont typeface="Wingdings 3" panose="05040102010807070707" pitchFamily="18" charset="2"/>
              <a:buNone/>
            </a:pPr>
            <a:r>
              <a:rPr lang="en-CA" altLang="en-US" b="1">
                <a:solidFill>
                  <a:srgbClr val="45D1D0"/>
                </a:solidFill>
                <a:latin typeface="Calibri" panose="020F0502020204030204" pitchFamily="34" charset="0"/>
              </a:rPr>
              <a:t>Chapter 4</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31A0B357-5961-4DDE-801C-0D94F8ABFDE4}"/>
              </a:ext>
            </a:extLst>
          </p:cNvPr>
          <p:cNvSpPr>
            <a:spLocks noGrp="1"/>
          </p:cNvSpPr>
          <p:nvPr>
            <p:ph type="title"/>
          </p:nvPr>
        </p:nvSpPr>
        <p:spPr/>
        <p:txBody>
          <a:bodyPr/>
          <a:lstStyle/>
          <a:p>
            <a:r>
              <a:rPr lang="en-US" altLang="en-US"/>
              <a:t>Learning Objectives</a:t>
            </a:r>
          </a:p>
        </p:txBody>
      </p:sp>
      <p:sp>
        <p:nvSpPr>
          <p:cNvPr id="16386" name="Content Placeholder 2">
            <a:extLst>
              <a:ext uri="{FF2B5EF4-FFF2-40B4-BE49-F238E27FC236}">
                <a16:creationId xmlns:a16="http://schemas.microsoft.com/office/drawing/2014/main" id="{0747A850-D106-4C46-A705-0DF724E1676E}"/>
              </a:ext>
            </a:extLst>
          </p:cNvPr>
          <p:cNvSpPr>
            <a:spLocks noGrp="1"/>
          </p:cNvSpPr>
          <p:nvPr>
            <p:ph idx="1"/>
          </p:nvPr>
        </p:nvSpPr>
        <p:spPr/>
        <p:txBody>
          <a:bodyPr/>
          <a:lstStyle/>
          <a:p>
            <a:r>
              <a:rPr lang="en-CA" altLang="en-US" b="1"/>
              <a:t>LO4-1 </a:t>
            </a:r>
            <a:r>
              <a:rPr lang="en-CA" altLang="en-US"/>
              <a:t>Explain the purpose of adjusting entries and analyze the adjustments necessary at the end of the period to update revenues and expenses and related statement of financial position accounts.</a:t>
            </a:r>
          </a:p>
          <a:p>
            <a:r>
              <a:rPr lang="en-CA" altLang="en-US" b="1"/>
              <a:t>LO4-2 </a:t>
            </a:r>
            <a:r>
              <a:rPr lang="en-CA" altLang="en-US"/>
              <a:t>Prepare a statement of earnings with earnings per share, a statement of changes in equity, and a statement of financial position.</a:t>
            </a:r>
          </a:p>
          <a:p>
            <a:r>
              <a:rPr lang="en-CA" altLang="en-US" b="1"/>
              <a:t>LO4-3 </a:t>
            </a:r>
            <a:r>
              <a:rPr lang="en-CA" altLang="en-US"/>
              <a:t>Compute and interpret the net profit margin ratio and the return on equity.</a:t>
            </a:r>
          </a:p>
          <a:p>
            <a:r>
              <a:rPr lang="en-CA" altLang="en-US" b="1"/>
              <a:t>LO4-4 </a:t>
            </a:r>
            <a:r>
              <a:rPr lang="en-CA" altLang="en-US"/>
              <a:t>Explain the closing process at the end of the period.</a:t>
            </a:r>
          </a:p>
          <a:p>
            <a:endParaRPr lang="en-US"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F03F1CDD-188C-40DA-9AD7-173666A96F65}"/>
              </a:ext>
            </a:extLst>
          </p:cNvPr>
          <p:cNvSpPr>
            <a:spLocks noGrp="1"/>
          </p:cNvSpPr>
          <p:nvPr>
            <p:ph type="title"/>
          </p:nvPr>
        </p:nvSpPr>
        <p:spPr/>
        <p:txBody>
          <a:bodyPr/>
          <a:lstStyle/>
          <a:p>
            <a:r>
              <a:rPr lang="en-US" altLang="en-US" dirty="0"/>
              <a:t>The Accounting Cycle Part 1</a:t>
            </a:r>
          </a:p>
        </p:txBody>
      </p:sp>
      <p:sp>
        <p:nvSpPr>
          <p:cNvPr id="18434" name="Content Placeholder 2">
            <a:extLst>
              <a:ext uri="{FF2B5EF4-FFF2-40B4-BE49-F238E27FC236}">
                <a16:creationId xmlns:a16="http://schemas.microsoft.com/office/drawing/2014/main" id="{25CB982F-BD93-421D-B97D-161C10115A78}"/>
              </a:ext>
            </a:extLst>
          </p:cNvPr>
          <p:cNvSpPr>
            <a:spLocks noGrp="1"/>
          </p:cNvSpPr>
          <p:nvPr>
            <p:ph idx="1"/>
          </p:nvPr>
        </p:nvSpPr>
        <p:spPr/>
        <p:txBody>
          <a:bodyPr/>
          <a:lstStyle/>
          <a:p>
            <a:r>
              <a:rPr lang="en-CA" altLang="en-US" sz="2400"/>
              <a:t>The </a:t>
            </a:r>
            <a:r>
              <a:rPr lang="en-CA" altLang="en-US" sz="2400" b="1"/>
              <a:t>accounting cycle</a:t>
            </a:r>
            <a:r>
              <a:rPr lang="en-CA" altLang="en-US" sz="2400"/>
              <a:t> is the process used by entities to analyze and record transactions, adjust the records to provide reliable account balances at the end of the period, prepare financial statements, and prepare the records for the next cycle. </a:t>
            </a:r>
          </a:p>
          <a:p>
            <a:r>
              <a:rPr lang="en-CA" altLang="en-US" sz="2400" i="1"/>
              <a:t>During</a:t>
            </a:r>
            <a:r>
              <a:rPr lang="en-CA" altLang="en-US" sz="2400"/>
              <a:t> the accounting period, transactions that result in exchanges of benefits and obligations between the company and other external parties are analyzed and recorded in the general journal in chronological order (journal entries), and the related accounts are updated in the general ledger (T-accounts). </a:t>
            </a:r>
          </a:p>
          <a:p>
            <a:r>
              <a:rPr lang="en-CA" altLang="en-US" sz="2400"/>
              <a:t>The </a:t>
            </a:r>
            <a:r>
              <a:rPr lang="en-CA" altLang="en-US" sz="2400" i="1"/>
              <a:t>end-of-period</a:t>
            </a:r>
            <a:r>
              <a:rPr lang="en-CA" altLang="en-US" sz="2400"/>
              <a:t> steps focus primarily on adjustments to record revenues and expenses in the proper period and to update the statement of financial position accounts for reporting purposes.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09F923AB-7D28-4B34-86D2-867DD2888D29}"/>
              </a:ext>
            </a:extLst>
          </p:cNvPr>
          <p:cNvSpPr>
            <a:spLocks noGrp="1"/>
          </p:cNvSpPr>
          <p:nvPr>
            <p:ph type="title"/>
          </p:nvPr>
        </p:nvSpPr>
        <p:spPr/>
        <p:txBody>
          <a:bodyPr/>
          <a:lstStyle/>
          <a:p>
            <a:r>
              <a:rPr lang="en-US" altLang="en-US" dirty="0"/>
              <a:t>The Accounting Cycle Part 2</a:t>
            </a:r>
          </a:p>
        </p:txBody>
      </p:sp>
      <p:pic>
        <p:nvPicPr>
          <p:cNvPr id="2" name="Picture 1">
            <a:extLst>
              <a:ext uri="{FF2B5EF4-FFF2-40B4-BE49-F238E27FC236}">
                <a16:creationId xmlns:a16="http://schemas.microsoft.com/office/drawing/2014/main" id="{C9C54EA2-DC1E-724B-BF94-858C08374F1E}"/>
              </a:ext>
            </a:extLst>
          </p:cNvPr>
          <p:cNvPicPr>
            <a:picLocks noChangeAspect="1"/>
          </p:cNvPicPr>
          <p:nvPr/>
        </p:nvPicPr>
        <p:blipFill>
          <a:blip r:embed="rId2"/>
          <a:stretch>
            <a:fillRect/>
          </a:stretch>
        </p:blipFill>
        <p:spPr>
          <a:xfrm>
            <a:off x="457200" y="1219200"/>
            <a:ext cx="8229600" cy="4690872"/>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09F923AB-7D28-4B34-86D2-867DD2888D29}"/>
              </a:ext>
            </a:extLst>
          </p:cNvPr>
          <p:cNvSpPr>
            <a:spLocks noGrp="1"/>
          </p:cNvSpPr>
          <p:nvPr>
            <p:ph type="title"/>
          </p:nvPr>
        </p:nvSpPr>
        <p:spPr/>
        <p:txBody>
          <a:bodyPr/>
          <a:lstStyle/>
          <a:p>
            <a:r>
              <a:rPr lang="en-US" altLang="en-US" dirty="0"/>
              <a:t>Four Types of Adjustments</a:t>
            </a:r>
          </a:p>
        </p:txBody>
      </p:sp>
      <p:pic>
        <p:nvPicPr>
          <p:cNvPr id="3" name="Picture 2">
            <a:extLst>
              <a:ext uri="{FF2B5EF4-FFF2-40B4-BE49-F238E27FC236}">
                <a16:creationId xmlns:a16="http://schemas.microsoft.com/office/drawing/2014/main" id="{8DE36BDA-B2F8-9949-A541-96102D675A03}"/>
              </a:ext>
            </a:extLst>
          </p:cNvPr>
          <p:cNvPicPr>
            <a:picLocks noChangeAspect="1"/>
          </p:cNvPicPr>
          <p:nvPr/>
        </p:nvPicPr>
        <p:blipFill>
          <a:blip r:embed="rId2"/>
          <a:stretch>
            <a:fillRect/>
          </a:stretch>
        </p:blipFill>
        <p:spPr>
          <a:xfrm>
            <a:off x="457200" y="1295400"/>
            <a:ext cx="8188271" cy="4831080"/>
          </a:xfrm>
          <a:prstGeom prst="rect">
            <a:avLst/>
          </a:prstGeom>
        </p:spPr>
      </p:pic>
    </p:spTree>
    <p:extLst>
      <p:ext uri="{BB962C8B-B14F-4D97-AF65-F5344CB8AC3E}">
        <p14:creationId xmlns:p14="http://schemas.microsoft.com/office/powerpoint/2010/main" val="254687888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F554F700-D6A3-4BE5-83B7-48F5FD519AE2}"/>
              </a:ext>
            </a:extLst>
          </p:cNvPr>
          <p:cNvSpPr>
            <a:spLocks noGrp="1"/>
          </p:cNvSpPr>
          <p:nvPr>
            <p:ph type="title"/>
          </p:nvPr>
        </p:nvSpPr>
        <p:spPr/>
        <p:txBody>
          <a:bodyPr/>
          <a:lstStyle/>
          <a:p>
            <a:r>
              <a:rPr lang="en-US" altLang="en-US" dirty="0"/>
              <a:t>Purpose of Adjustments Part 1</a:t>
            </a:r>
          </a:p>
        </p:txBody>
      </p:sp>
      <p:sp>
        <p:nvSpPr>
          <p:cNvPr id="19458" name="Content Placeholder 2">
            <a:extLst>
              <a:ext uri="{FF2B5EF4-FFF2-40B4-BE49-F238E27FC236}">
                <a16:creationId xmlns:a16="http://schemas.microsoft.com/office/drawing/2014/main" id="{A84B567C-F2EC-4260-8D37-A3043078E90D}"/>
              </a:ext>
            </a:extLst>
          </p:cNvPr>
          <p:cNvSpPr>
            <a:spLocks noGrp="1"/>
          </p:cNvSpPr>
          <p:nvPr>
            <p:ph idx="1"/>
          </p:nvPr>
        </p:nvSpPr>
        <p:spPr/>
        <p:txBody>
          <a:bodyPr/>
          <a:lstStyle/>
          <a:p>
            <a:r>
              <a:rPr lang="en-CA" altLang="en-US" b="1" dirty="0"/>
              <a:t>Adjusting entries </a:t>
            </a:r>
            <a:r>
              <a:rPr lang="en-CA" altLang="en-US" dirty="0"/>
              <a:t>are recorded at the end of every accounting period, so that</a:t>
            </a:r>
          </a:p>
          <a:p>
            <a:pPr lvl="1"/>
            <a:r>
              <a:rPr lang="en-CA" altLang="en-US" sz="2400" dirty="0">
                <a:solidFill>
                  <a:schemeClr val="tx1"/>
                </a:solidFill>
              </a:rPr>
              <a:t>Revenues are recorded when earned (the </a:t>
            </a:r>
            <a:r>
              <a:rPr lang="en-CA" altLang="en-US" sz="2400" i="1" dirty="0">
                <a:solidFill>
                  <a:schemeClr val="tx1"/>
                </a:solidFill>
              </a:rPr>
              <a:t>revenue recognition principle</a:t>
            </a:r>
            <a:r>
              <a:rPr lang="en-CA" altLang="en-US" sz="2400" dirty="0">
                <a:solidFill>
                  <a:schemeClr val="tx1"/>
                </a:solidFill>
              </a:rPr>
              <a:t>).</a:t>
            </a:r>
          </a:p>
          <a:p>
            <a:pPr lvl="1"/>
            <a:r>
              <a:rPr lang="en-CA" altLang="en-US" sz="2400" dirty="0">
                <a:solidFill>
                  <a:schemeClr val="tx1"/>
                </a:solidFill>
              </a:rPr>
              <a:t>Expenses are recorded when incurred to generate revenue during the same period (</a:t>
            </a:r>
            <a:r>
              <a:rPr lang="en-CA" altLang="en-US" sz="2400" dirty="0"/>
              <a:t>the </a:t>
            </a:r>
            <a:r>
              <a:rPr lang="en-CA" altLang="en-US" sz="2400" i="1" dirty="0"/>
              <a:t>expense recognition principle</a:t>
            </a:r>
            <a:r>
              <a:rPr lang="en-CA" altLang="en-US" sz="2400" dirty="0">
                <a:solidFill>
                  <a:schemeClr val="tx1"/>
                </a:solidFill>
              </a:rPr>
              <a:t>).</a:t>
            </a:r>
          </a:p>
          <a:p>
            <a:pPr lvl="1"/>
            <a:r>
              <a:rPr lang="en-CA" altLang="en-US" sz="2400" i="1" dirty="0">
                <a:solidFill>
                  <a:schemeClr val="tx1"/>
                </a:solidFill>
              </a:rPr>
              <a:t>Assets</a:t>
            </a:r>
            <a:r>
              <a:rPr lang="en-CA" altLang="en-US" sz="2400" dirty="0">
                <a:solidFill>
                  <a:schemeClr val="tx1"/>
                </a:solidFill>
              </a:rPr>
              <a:t> are reported at amounts that represent the probable future benefits remaining at the end of the period.</a:t>
            </a:r>
          </a:p>
          <a:p>
            <a:pPr lvl="1"/>
            <a:r>
              <a:rPr lang="en-CA" altLang="en-US" sz="2400" i="1" dirty="0">
                <a:solidFill>
                  <a:schemeClr val="tx1"/>
                </a:solidFill>
              </a:rPr>
              <a:t>Liabilities</a:t>
            </a:r>
            <a:r>
              <a:rPr lang="en-CA" altLang="en-US" sz="2400" dirty="0">
                <a:solidFill>
                  <a:schemeClr val="tx1"/>
                </a:solidFill>
              </a:rPr>
              <a:t> are reported at amounts that represent the probable future sacrifices of assets or services owed at the end of the period.</a:t>
            </a:r>
          </a:p>
          <a:p>
            <a:endParaRPr lang="en-US"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7F07F824-E4A4-4106-8D04-09A31CC3FBD5}"/>
              </a:ext>
            </a:extLst>
          </p:cNvPr>
          <p:cNvSpPr>
            <a:spLocks noGrp="1"/>
          </p:cNvSpPr>
          <p:nvPr>
            <p:ph type="title"/>
          </p:nvPr>
        </p:nvSpPr>
        <p:spPr/>
        <p:txBody>
          <a:bodyPr/>
          <a:lstStyle/>
          <a:p>
            <a:r>
              <a:rPr lang="en-US" altLang="en-US" dirty="0"/>
              <a:t>Purpose of Adjustments Part 2</a:t>
            </a:r>
          </a:p>
        </p:txBody>
      </p:sp>
      <p:sp>
        <p:nvSpPr>
          <p:cNvPr id="20482" name="Content Placeholder 2">
            <a:extLst>
              <a:ext uri="{FF2B5EF4-FFF2-40B4-BE49-F238E27FC236}">
                <a16:creationId xmlns:a16="http://schemas.microsoft.com/office/drawing/2014/main" id="{B8398D63-8CA0-4688-8645-0D0A2DB509FD}"/>
              </a:ext>
            </a:extLst>
          </p:cNvPr>
          <p:cNvSpPr>
            <a:spLocks noGrp="1"/>
          </p:cNvSpPr>
          <p:nvPr>
            <p:ph idx="1"/>
          </p:nvPr>
        </p:nvSpPr>
        <p:spPr/>
        <p:txBody>
          <a:bodyPr/>
          <a:lstStyle/>
          <a:p>
            <a:r>
              <a:rPr lang="en-CA" altLang="en-US" dirty="0"/>
              <a:t>Companies wait until </a:t>
            </a:r>
            <a:r>
              <a:rPr lang="en-CA" altLang="en-US" i="1" dirty="0"/>
              <a:t>the end of the accounting period</a:t>
            </a:r>
            <a:r>
              <a:rPr lang="en-CA" altLang="en-US" dirty="0"/>
              <a:t> to adjust their accounts, because adjusting the records daily would be very costly and time-consuming. </a:t>
            </a:r>
          </a:p>
          <a:p>
            <a:endParaRPr lang="en-CA" altLang="en-US" sz="800" dirty="0"/>
          </a:p>
          <a:p>
            <a:r>
              <a:rPr lang="en-CA" altLang="en-US" dirty="0"/>
              <a:t>Adjusting entries are required every time a company wants to prepare financial statements for external users.</a:t>
            </a:r>
          </a:p>
          <a:p>
            <a:endParaRPr lang="en-US"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29F7125E-AD3E-4308-BD90-4F29AAC627F2}"/>
              </a:ext>
            </a:extLst>
          </p:cNvPr>
          <p:cNvSpPr>
            <a:spLocks noGrp="1"/>
          </p:cNvSpPr>
          <p:nvPr>
            <p:ph type="title"/>
          </p:nvPr>
        </p:nvSpPr>
        <p:spPr/>
        <p:txBody>
          <a:bodyPr/>
          <a:lstStyle/>
          <a:p>
            <a:r>
              <a:rPr lang="en-US" altLang="en-US" dirty="0"/>
              <a:t>Adjustment Process Part 1</a:t>
            </a:r>
          </a:p>
        </p:txBody>
      </p:sp>
      <p:sp>
        <p:nvSpPr>
          <p:cNvPr id="3" name="Content Placeholder 2">
            <a:extLst>
              <a:ext uri="{FF2B5EF4-FFF2-40B4-BE49-F238E27FC236}">
                <a16:creationId xmlns:a16="http://schemas.microsoft.com/office/drawing/2014/main" id="{8974F52C-4A78-AA4B-B4C7-C310A4AEFAC4}"/>
              </a:ext>
            </a:extLst>
          </p:cNvPr>
          <p:cNvSpPr>
            <a:spLocks noGrp="1"/>
          </p:cNvSpPr>
          <p:nvPr>
            <p:ph idx="1"/>
          </p:nvPr>
        </p:nvSpPr>
        <p:spPr/>
        <p:txBody>
          <a:bodyPr/>
          <a:lstStyle/>
          <a:p>
            <a:pPr>
              <a:buFont typeface="Wingdings 3" pitchFamily="2" charset="2"/>
              <a:buChar char=""/>
              <a:defRPr/>
            </a:pPr>
            <a:r>
              <a:rPr lang="en-CA" sz="2000" b="1" dirty="0">
                <a:solidFill>
                  <a:srgbClr val="FF0000"/>
                </a:solidFill>
              </a:rPr>
              <a:t>Step 1: </a:t>
            </a:r>
            <a:r>
              <a:rPr lang="en-CA" sz="2000" b="1" dirty="0"/>
              <a:t>Ask:</a:t>
            </a:r>
            <a:r>
              <a:rPr lang="en-CA" sz="2000" dirty="0"/>
              <a:t> </a:t>
            </a:r>
            <a:r>
              <a:rPr lang="en-CA" sz="2000" b="1" dirty="0"/>
              <a:t>Was revenue earned that is not yet recorded?</a:t>
            </a:r>
            <a:br>
              <a:rPr lang="en-CA" sz="2000" dirty="0"/>
            </a:br>
            <a:r>
              <a:rPr lang="en-CA" sz="1800" dirty="0"/>
              <a:t>If the answer is YES, increase the revenue account —credit the revenue account in the adjusting entry.</a:t>
            </a:r>
          </a:p>
          <a:p>
            <a:pPr>
              <a:buFont typeface="Wingdings 3" pitchFamily="2" charset="2"/>
              <a:buChar char=""/>
              <a:defRPr/>
            </a:pPr>
            <a:r>
              <a:rPr lang="en-CA" sz="2000" b="1" dirty="0">
                <a:solidFill>
                  <a:srgbClr val="FF0000"/>
                </a:solidFill>
              </a:rPr>
              <a:t>Step 2: </a:t>
            </a:r>
            <a:r>
              <a:rPr lang="en-CA" sz="2000" b="1" dirty="0"/>
              <a:t>Ask:</a:t>
            </a:r>
            <a:r>
              <a:rPr lang="en-CA" sz="2000" dirty="0"/>
              <a:t> </a:t>
            </a:r>
            <a:r>
              <a:rPr lang="en-CA" sz="2000" b="1" dirty="0"/>
              <a:t>Was the related cash received in the past or will it be received in the future?</a:t>
            </a:r>
            <a:endParaRPr lang="en-CA" sz="2000" dirty="0"/>
          </a:p>
          <a:p>
            <a:pPr>
              <a:buFont typeface="Wingdings 3" pitchFamily="2" charset="2"/>
              <a:buChar char=""/>
              <a:defRPr/>
            </a:pPr>
            <a:r>
              <a:rPr lang="en-CA" sz="1800" dirty="0"/>
              <a:t>If cash </a:t>
            </a:r>
            <a:r>
              <a:rPr lang="en-CA" sz="1800" i="1" dirty="0"/>
              <a:t>was received</a:t>
            </a:r>
            <a:r>
              <a:rPr lang="en-CA" sz="1800" dirty="0"/>
              <a:t> in the past, a deferred revenue (liability) account was recorded in the past ⟶ now, reduce (debit) the liability account (usually deferred revenue) that was recorded when cash was received, because the company has fulfilled its obligations to the customer and decreased all or part of its liability.</a:t>
            </a:r>
          </a:p>
          <a:p>
            <a:pPr>
              <a:buFont typeface="Wingdings 3" pitchFamily="2" charset="2"/>
              <a:buChar char=""/>
              <a:defRPr/>
            </a:pPr>
            <a:r>
              <a:rPr lang="en-CA" sz="1800" dirty="0"/>
              <a:t>If cash </a:t>
            </a:r>
            <a:r>
              <a:rPr lang="en-CA" sz="1800" i="1" dirty="0"/>
              <a:t>will be received</a:t>
            </a:r>
            <a:r>
              <a:rPr lang="en-CA" sz="1800" dirty="0"/>
              <a:t> in the future ⟶ increase (debit) the receivable account (such as interest receivable or rent receivable) to record what is owed by others to the company (creates accrued revenue).</a:t>
            </a:r>
          </a:p>
          <a:p>
            <a:pPr>
              <a:buFont typeface="Wingdings 3" pitchFamily="2" charset="2"/>
              <a:buChar char=""/>
              <a:defRPr/>
            </a:pPr>
            <a:r>
              <a:rPr lang="en-CA" sz="2000" b="1" dirty="0">
                <a:solidFill>
                  <a:srgbClr val="FF0000"/>
                </a:solidFill>
              </a:rPr>
              <a:t>Step 3: </a:t>
            </a:r>
            <a:r>
              <a:rPr lang="en-CA" sz="2000" b="1" dirty="0"/>
              <a:t>Compute the amount of revenue earned and record the adjusting entry.</a:t>
            </a:r>
            <a:endParaRPr lang="en-CA" sz="2000" dirty="0"/>
          </a:p>
          <a:p>
            <a:pPr>
              <a:buFont typeface="Wingdings 3" pitchFamily="2" charset="2"/>
              <a:buChar char=""/>
              <a:defRPr/>
            </a:pPr>
            <a:r>
              <a:rPr lang="en-CA" sz="1800" dirty="0"/>
              <a:t>Sometimes the amount is given or known. At other times it must be computed, or sometimes estimated.</a:t>
            </a:r>
          </a:p>
          <a:p>
            <a:pPr>
              <a:buFont typeface="Wingdings 3" pitchFamily="2" charset="2"/>
              <a:buChar char=""/>
              <a:defRPr/>
            </a:pPr>
            <a:endParaRPr lang="en-CA" sz="2000" dirty="0"/>
          </a:p>
          <a:p>
            <a:pPr marL="0" indent="0">
              <a:buFont typeface="Wingdings 3" pitchFamily="2" charset="2"/>
              <a:buNone/>
              <a:defRPr/>
            </a:pPr>
            <a:endParaRPr lang="en-US" sz="2000"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29F7125E-AD3E-4308-BD90-4F29AAC627F2}"/>
              </a:ext>
            </a:extLst>
          </p:cNvPr>
          <p:cNvSpPr>
            <a:spLocks noGrp="1"/>
          </p:cNvSpPr>
          <p:nvPr>
            <p:ph type="title"/>
          </p:nvPr>
        </p:nvSpPr>
        <p:spPr/>
        <p:txBody>
          <a:bodyPr/>
          <a:lstStyle/>
          <a:p>
            <a:r>
              <a:rPr lang="en-US" altLang="en-US" dirty="0"/>
              <a:t>Adjustment Process Part 2</a:t>
            </a:r>
          </a:p>
        </p:txBody>
      </p:sp>
      <p:sp>
        <p:nvSpPr>
          <p:cNvPr id="3" name="Content Placeholder 2">
            <a:extLst>
              <a:ext uri="{FF2B5EF4-FFF2-40B4-BE49-F238E27FC236}">
                <a16:creationId xmlns:a16="http://schemas.microsoft.com/office/drawing/2014/main" id="{8974F52C-4A78-AA4B-B4C7-C310A4AEFAC4}"/>
              </a:ext>
            </a:extLst>
          </p:cNvPr>
          <p:cNvSpPr>
            <a:spLocks noGrp="1"/>
          </p:cNvSpPr>
          <p:nvPr>
            <p:ph idx="1"/>
          </p:nvPr>
        </p:nvSpPr>
        <p:spPr/>
        <p:txBody>
          <a:bodyPr/>
          <a:lstStyle/>
          <a:p>
            <a:pPr>
              <a:buFont typeface="Wingdings 3" pitchFamily="2" charset="2"/>
              <a:buChar char=""/>
              <a:defRPr/>
            </a:pPr>
            <a:r>
              <a:rPr lang="en-CA" sz="2000" b="1" dirty="0">
                <a:solidFill>
                  <a:srgbClr val="FF0000"/>
                </a:solidFill>
              </a:rPr>
              <a:t>Step 1: </a:t>
            </a:r>
            <a:r>
              <a:rPr lang="en-CA" sz="2000" b="1" dirty="0"/>
              <a:t>Ask:</a:t>
            </a:r>
            <a:r>
              <a:rPr lang="en-CA" sz="2000" dirty="0"/>
              <a:t> </a:t>
            </a:r>
            <a:r>
              <a:rPr lang="en-CA" sz="2000" b="1" dirty="0"/>
              <a:t>Was an expense incurred that is not yet recorded?</a:t>
            </a:r>
          </a:p>
          <a:p>
            <a:pPr>
              <a:buFont typeface="Wingdings 3" pitchFamily="2" charset="2"/>
              <a:buChar char=""/>
              <a:defRPr/>
            </a:pPr>
            <a:r>
              <a:rPr lang="en-CA" sz="1800" dirty="0"/>
              <a:t>If the answer is YES, increase the expense account—debit the expense account in the adjusting entry.</a:t>
            </a:r>
          </a:p>
          <a:p>
            <a:pPr>
              <a:buFont typeface="Wingdings 3" pitchFamily="2" charset="2"/>
              <a:buChar char=""/>
              <a:defRPr/>
            </a:pPr>
            <a:r>
              <a:rPr lang="en-CA" sz="2000" b="1" dirty="0">
                <a:solidFill>
                  <a:srgbClr val="FF0000"/>
                </a:solidFill>
              </a:rPr>
              <a:t>Step 2: </a:t>
            </a:r>
            <a:r>
              <a:rPr lang="en-CA" sz="2000" b="1" dirty="0"/>
              <a:t>Ask:</a:t>
            </a:r>
            <a:r>
              <a:rPr lang="en-CA" sz="2000" dirty="0"/>
              <a:t> </a:t>
            </a:r>
            <a:r>
              <a:rPr lang="en-CA" sz="2000" b="1" dirty="0"/>
              <a:t>Was the related cash paid in the past or will it be paid in the future?</a:t>
            </a:r>
          </a:p>
          <a:p>
            <a:pPr>
              <a:buFont typeface="Wingdings 3" pitchFamily="2" charset="2"/>
              <a:buChar char=""/>
              <a:defRPr/>
            </a:pPr>
            <a:r>
              <a:rPr lang="en-CA" sz="1800" dirty="0"/>
              <a:t>If cash </a:t>
            </a:r>
            <a:r>
              <a:rPr lang="en-CA" sz="1800" i="1" dirty="0"/>
              <a:t>was paid</a:t>
            </a:r>
            <a:r>
              <a:rPr lang="en-CA" sz="1800" dirty="0"/>
              <a:t> in the past, a deferred expense account (asset) was recorded in the past ⟶ now, reduce (credit) the asset account (such as supplies or prepaid expenses) that was recorded in the past because the entire asset or part of it has been used since then. (A variation of this concept will be illustrated for the use of buildings, equipment, and some intangible assets.)</a:t>
            </a:r>
          </a:p>
          <a:p>
            <a:pPr>
              <a:buFont typeface="Wingdings 3" pitchFamily="2" charset="2"/>
              <a:buChar char=""/>
              <a:defRPr/>
            </a:pPr>
            <a:r>
              <a:rPr lang="en-CA" sz="1800" dirty="0"/>
              <a:t>If cash </a:t>
            </a:r>
            <a:r>
              <a:rPr lang="en-CA" sz="1800" i="1" dirty="0"/>
              <a:t>will be paid</a:t>
            </a:r>
            <a:r>
              <a:rPr lang="en-CA" sz="1800" dirty="0"/>
              <a:t> in the future ⟶ increase (credit) the payable account (such as interest payable or wages payable) to record what is owed by the company to others (creates an accrued expense).</a:t>
            </a:r>
          </a:p>
          <a:p>
            <a:pPr>
              <a:buFont typeface="Wingdings 3" pitchFamily="2" charset="2"/>
              <a:buChar char=""/>
              <a:defRPr/>
            </a:pPr>
            <a:r>
              <a:rPr lang="en-CA" sz="2000" b="1" dirty="0">
                <a:solidFill>
                  <a:srgbClr val="FF0000"/>
                </a:solidFill>
              </a:rPr>
              <a:t>Step 3: </a:t>
            </a:r>
            <a:r>
              <a:rPr lang="en-CA" sz="2000" b="1" dirty="0"/>
              <a:t>Compute the amount of expense incurred and record the adjusting entry.</a:t>
            </a:r>
          </a:p>
          <a:p>
            <a:pPr>
              <a:buFont typeface="Wingdings 3" pitchFamily="2" charset="2"/>
              <a:buChar char=""/>
              <a:defRPr/>
            </a:pPr>
            <a:r>
              <a:rPr lang="en-CA" sz="1800" dirty="0"/>
              <a:t>Sometimes the amount is given or known. At other times it must be computed, or sometimes estimated.</a:t>
            </a:r>
          </a:p>
          <a:p>
            <a:pPr marL="0" indent="0">
              <a:buFont typeface="Wingdings 3" pitchFamily="2" charset="2"/>
              <a:buNone/>
              <a:defRPr/>
            </a:pPr>
            <a:endParaRPr lang="en-US" sz="2000" dirty="0"/>
          </a:p>
        </p:txBody>
      </p:sp>
    </p:spTree>
    <p:extLst>
      <p:ext uri="{BB962C8B-B14F-4D97-AF65-F5344CB8AC3E}">
        <p14:creationId xmlns:p14="http://schemas.microsoft.com/office/powerpoint/2010/main" val="255758812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96DA77B-0B0D-4ADD-85F5-47ED6ADFF979}"/>
              </a:ext>
            </a:extLst>
          </p:cNvPr>
          <p:cNvSpPr>
            <a:spLocks noGrp="1"/>
          </p:cNvSpPr>
          <p:nvPr>
            <p:ph type="title"/>
          </p:nvPr>
        </p:nvSpPr>
        <p:spPr/>
        <p:txBody>
          <a:bodyPr/>
          <a:lstStyle/>
          <a:p>
            <a:r>
              <a:rPr lang="en-US" altLang="en-US"/>
              <a:t>Adjusting Entries Summary</a:t>
            </a:r>
          </a:p>
        </p:txBody>
      </p:sp>
      <p:graphicFrame>
        <p:nvGraphicFramePr>
          <p:cNvPr id="4" name="Content Placeholder 3">
            <a:extLst>
              <a:ext uri="{FF2B5EF4-FFF2-40B4-BE49-F238E27FC236}">
                <a16:creationId xmlns:a16="http://schemas.microsoft.com/office/drawing/2014/main" id="{0DEBB687-3BEE-5A43-8C4F-E5EDB0C18113}"/>
              </a:ext>
            </a:extLst>
          </p:cNvPr>
          <p:cNvGraphicFramePr>
            <a:graphicFrameLocks noGrp="1"/>
          </p:cNvGraphicFramePr>
          <p:nvPr>
            <p:ph idx="1"/>
            <p:extLst>
              <p:ext uri="{D42A27DB-BD31-4B8C-83A1-F6EECF244321}">
                <p14:modId xmlns:p14="http://schemas.microsoft.com/office/powerpoint/2010/main" val="3119775934"/>
              </p:ext>
            </p:extLst>
          </p:nvPr>
        </p:nvGraphicFramePr>
        <p:xfrm>
          <a:off x="533400" y="1143000"/>
          <a:ext cx="8153401" cy="5438775"/>
        </p:xfrm>
        <a:graphic>
          <a:graphicData uri="http://schemas.openxmlformats.org/drawingml/2006/table">
            <a:tbl>
              <a:tblPr/>
              <a:tblGrid>
                <a:gridCol w="2819400">
                  <a:extLst>
                    <a:ext uri="{9D8B030D-6E8A-4147-A177-3AD203B41FA5}">
                      <a16:colId xmlns:a16="http://schemas.microsoft.com/office/drawing/2014/main" val="2302834832"/>
                    </a:ext>
                  </a:extLst>
                </a:gridCol>
                <a:gridCol w="457200">
                  <a:extLst>
                    <a:ext uri="{9D8B030D-6E8A-4147-A177-3AD203B41FA5}">
                      <a16:colId xmlns:a16="http://schemas.microsoft.com/office/drawing/2014/main" val="2411590500"/>
                    </a:ext>
                  </a:extLst>
                </a:gridCol>
                <a:gridCol w="381000">
                  <a:extLst>
                    <a:ext uri="{9D8B030D-6E8A-4147-A177-3AD203B41FA5}">
                      <a16:colId xmlns:a16="http://schemas.microsoft.com/office/drawing/2014/main" val="3995492206"/>
                    </a:ext>
                  </a:extLst>
                </a:gridCol>
                <a:gridCol w="228600">
                  <a:extLst>
                    <a:ext uri="{9D8B030D-6E8A-4147-A177-3AD203B41FA5}">
                      <a16:colId xmlns:a16="http://schemas.microsoft.com/office/drawing/2014/main" val="150654801"/>
                    </a:ext>
                  </a:extLst>
                </a:gridCol>
                <a:gridCol w="3276600">
                  <a:extLst>
                    <a:ext uri="{9D8B030D-6E8A-4147-A177-3AD203B41FA5}">
                      <a16:colId xmlns:a16="http://schemas.microsoft.com/office/drawing/2014/main" val="2021773613"/>
                    </a:ext>
                  </a:extLst>
                </a:gridCol>
                <a:gridCol w="533400">
                  <a:extLst>
                    <a:ext uri="{9D8B030D-6E8A-4147-A177-3AD203B41FA5}">
                      <a16:colId xmlns:a16="http://schemas.microsoft.com/office/drawing/2014/main" val="1948594500"/>
                    </a:ext>
                  </a:extLst>
                </a:gridCol>
                <a:gridCol w="457201">
                  <a:extLst>
                    <a:ext uri="{9D8B030D-6E8A-4147-A177-3AD203B41FA5}">
                      <a16:colId xmlns:a16="http://schemas.microsoft.com/office/drawing/2014/main" val="3342309914"/>
                    </a:ext>
                  </a:extLst>
                </a:gridCol>
              </a:tblGrid>
              <a:tr h="485924">
                <a:tc>
                  <a:txBody>
                    <a:bodyPr/>
                    <a:lstStyle/>
                    <a:p>
                      <a:pPr fontAlgn="base"/>
                      <a:r>
                        <a:rPr lang="en-CA" sz="1400" b="1">
                          <a:effectLst/>
                          <a:latin typeface="inherit"/>
                        </a:rPr>
                        <a:t>When revenue is earned</a:t>
                      </a:r>
                      <a:endParaRPr lang="en-CA" sz="1400">
                        <a:effectLst/>
                        <a:latin typeface="Times New Roman" panose="02020603050405020304" pitchFamily="18" charset="0"/>
                      </a:endParaRPr>
                    </a:p>
                  </a:txBody>
                  <a:tcPr marL="75799" marR="37900" marT="37904" marB="11371">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b="1">
                          <a:effectLst/>
                          <a:latin typeface="inherit"/>
                        </a:rPr>
                        <a:t>When expense is incurred</a:t>
                      </a:r>
                      <a:endParaRPr lang="en-CA" sz="1400">
                        <a:effectLst/>
                        <a:latin typeface="Times New Roman" panose="02020603050405020304" pitchFamily="18" charset="0"/>
                      </a:endParaRPr>
                    </a:p>
                  </a:txBody>
                  <a:tcPr marL="37900" marR="37900" marT="37904" marB="11371">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75799" marT="37904" marB="11371">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615230454"/>
                  </a:ext>
                </a:extLst>
              </a:tr>
              <a:tr h="376762">
                <a:tc>
                  <a:txBody>
                    <a:bodyPr/>
                    <a:lstStyle/>
                    <a:p>
                      <a:pPr fontAlgn="base"/>
                      <a:r>
                        <a:rPr lang="en-CA" sz="1400" b="1">
                          <a:solidFill>
                            <a:srgbClr val="DC081D"/>
                          </a:solidFill>
                          <a:effectLst/>
                          <a:latin typeface="inherit"/>
                        </a:rPr>
                        <a:t>DEFERRED REVENUE</a:t>
                      </a:r>
                      <a:endParaRPr lang="en-CA" sz="1400">
                        <a:effectLst/>
                        <a:latin typeface="Times New Roman" panose="02020603050405020304" pitchFamily="18" charset="0"/>
                      </a:endParaRPr>
                    </a:p>
                  </a:txBody>
                  <a:tcPr marL="75799" marR="37900" marT="37904" marB="11371">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a:noFill/>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a:noFill/>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b="1">
                          <a:solidFill>
                            <a:srgbClr val="DC081D"/>
                          </a:solidFill>
                          <a:effectLst/>
                          <a:latin typeface="inherit"/>
                        </a:rPr>
                        <a:t>DEFERRED EXPENSE</a:t>
                      </a:r>
                      <a:endParaRPr lang="en-CA" sz="1400">
                        <a:effectLst/>
                        <a:latin typeface="Times New Roman" panose="02020603050405020304" pitchFamily="18" charset="0"/>
                      </a:endParaRPr>
                    </a:p>
                  </a:txBody>
                  <a:tcPr marL="37900" marR="37900" marT="37904" marB="11371">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a:noFill/>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75799" marT="37904" marB="11371">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833269394"/>
                  </a:ext>
                </a:extLst>
              </a:tr>
              <a:tr h="704249">
                <a:tc>
                  <a:txBody>
                    <a:bodyPr/>
                    <a:lstStyle/>
                    <a:p>
                      <a:pPr fontAlgn="base"/>
                      <a:r>
                        <a:rPr lang="en-CA" sz="1400" b="1">
                          <a:solidFill>
                            <a:srgbClr val="17864D"/>
                          </a:solidFill>
                          <a:effectLst/>
                          <a:latin typeface="inherit"/>
                        </a:rPr>
                        <a:t>If cash was received and previously recorded</a:t>
                      </a:r>
                      <a:endParaRPr lang="en-CA" sz="1400">
                        <a:effectLst/>
                        <a:latin typeface="Times New Roman" panose="02020603050405020304" pitchFamily="18" charset="0"/>
                      </a:endParaRPr>
                    </a:p>
                  </a:txBody>
                  <a:tcPr marL="75799" marR="37900" marT="37904" marB="11371">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a:noFill/>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a:noFill/>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b="1">
                          <a:solidFill>
                            <a:srgbClr val="17864D"/>
                          </a:solidFill>
                          <a:effectLst/>
                          <a:latin typeface="inherit"/>
                        </a:rPr>
                        <a:t>If cash was paid and previously recorded</a:t>
                      </a:r>
                      <a:endParaRPr lang="en-CA" sz="1400">
                        <a:effectLst/>
                        <a:latin typeface="Times New Roman" panose="02020603050405020304" pitchFamily="18" charset="0"/>
                      </a:endParaRPr>
                    </a:p>
                  </a:txBody>
                  <a:tcPr marL="37900" marR="37900" marT="37904" marB="11371">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a:noFill/>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75799" marT="37904" marB="11371">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054730520"/>
                  </a:ext>
                </a:extLst>
              </a:tr>
              <a:tr h="376762">
                <a:tc>
                  <a:txBody>
                    <a:bodyPr/>
                    <a:lstStyle/>
                    <a:p>
                      <a:pPr fontAlgn="base"/>
                      <a:r>
                        <a:rPr lang="en-CA" sz="1400">
                          <a:effectLst/>
                          <a:latin typeface="Times New Roman" panose="02020603050405020304" pitchFamily="18" charset="0"/>
                        </a:rPr>
                        <a:t>Cash (+A)</a:t>
                      </a:r>
                    </a:p>
                  </a:txBody>
                  <a:tcPr marL="75799" marR="37900" marT="37904" marB="11371">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1400" dirty="0">
                          <a:effectLst/>
                          <a:latin typeface="Times New Roman" panose="02020603050405020304" pitchFamily="18" charset="0"/>
                        </a:rPr>
                        <a:t>xx</a:t>
                      </a:r>
                    </a:p>
                  </a:txBody>
                  <a:tcPr marL="37900" marR="37900" marT="37904" marB="11371">
                    <a:lnL>
                      <a:noFill/>
                    </a:lnL>
                    <a:lnR>
                      <a:noFill/>
                    </a:lnR>
                    <a:lnT>
                      <a:noFill/>
                    </a:lnT>
                    <a:lnB>
                      <a:noFill/>
                    </a:lnB>
                    <a:solidFill>
                      <a:srgbClr val="FFFFFF"/>
                    </a:solidFill>
                  </a:tcPr>
                </a:tc>
                <a:tc>
                  <a:txBody>
                    <a:bodyPr/>
                    <a:lstStyle/>
                    <a:p>
                      <a:pPr algn="ctr" fontAlgn="base"/>
                      <a:r>
                        <a:rPr lang="en-CA" sz="1400">
                          <a:effectLst/>
                          <a:latin typeface="Times New Roman" panose="02020603050405020304" pitchFamily="18" charset="0"/>
                        </a:rPr>
                        <a:t> </a:t>
                      </a:r>
                    </a:p>
                  </a:txBody>
                  <a:tcPr marL="37900" marR="37900" marT="37904" marB="11371">
                    <a:lnL>
                      <a:noFill/>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a:effectLst/>
                          <a:latin typeface="Times New Roman" panose="02020603050405020304" pitchFamily="18" charset="0"/>
                        </a:rPr>
                        <a:t>Prepaid expense (+A)</a:t>
                      </a:r>
                    </a:p>
                  </a:txBody>
                  <a:tcPr marL="37900" marR="37900" marT="37904" marB="11371">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1400" dirty="0">
                          <a:effectLst/>
                          <a:latin typeface="Times New Roman" panose="02020603050405020304" pitchFamily="18" charset="0"/>
                        </a:rPr>
                        <a:t>xx</a:t>
                      </a:r>
                    </a:p>
                  </a:txBody>
                  <a:tcPr marL="37900" marR="37900" marT="37904" marB="11371">
                    <a:lnL>
                      <a:noFill/>
                    </a:lnL>
                    <a:lnR>
                      <a:noFill/>
                    </a:lnR>
                    <a:lnT>
                      <a:noFill/>
                    </a:lnT>
                    <a:lnB>
                      <a:noFill/>
                    </a:lnB>
                    <a:solidFill>
                      <a:srgbClr val="FFFFFF"/>
                    </a:solidFill>
                  </a:tcPr>
                </a:tc>
                <a:tc>
                  <a:txBody>
                    <a:bodyPr/>
                    <a:lstStyle/>
                    <a:p>
                      <a:pPr algn="ctr" fontAlgn="base"/>
                      <a:r>
                        <a:rPr lang="en-CA" sz="1400">
                          <a:effectLst/>
                          <a:latin typeface="Times New Roman" panose="02020603050405020304" pitchFamily="18" charset="0"/>
                        </a:rPr>
                        <a:t> </a:t>
                      </a:r>
                    </a:p>
                  </a:txBody>
                  <a:tcPr marL="37900" marR="75799" marT="37904" marB="11371">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444618455"/>
                  </a:ext>
                </a:extLst>
              </a:tr>
              <a:tr h="267600">
                <a:tc>
                  <a:txBody>
                    <a:bodyPr/>
                    <a:lstStyle/>
                    <a:p>
                      <a:pPr fontAlgn="base"/>
                      <a:r>
                        <a:rPr lang="en-CA" sz="1400" dirty="0">
                          <a:effectLst/>
                          <a:latin typeface="Times New Roman" panose="02020603050405020304" pitchFamily="18" charset="0"/>
                        </a:rPr>
                        <a:t>     Deferred revenue (+L)</a:t>
                      </a:r>
                    </a:p>
                  </a:txBody>
                  <a:tcPr marL="75799" marR="37900" marT="37904" marB="11371">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1400" dirty="0">
                          <a:effectLst/>
                          <a:latin typeface="Times New Roman" panose="02020603050405020304" pitchFamily="18" charset="0"/>
                        </a:rPr>
                        <a:t> </a:t>
                      </a:r>
                    </a:p>
                  </a:txBody>
                  <a:tcPr marL="37900" marR="37900" marT="37904" marB="11371">
                    <a:lnL>
                      <a:noFill/>
                    </a:lnL>
                    <a:lnR>
                      <a:noFill/>
                    </a:lnR>
                    <a:lnT>
                      <a:noFill/>
                    </a:lnT>
                    <a:lnB>
                      <a:noFill/>
                    </a:lnB>
                    <a:solidFill>
                      <a:srgbClr val="FFFFFF"/>
                    </a:solidFill>
                  </a:tcPr>
                </a:tc>
                <a:tc>
                  <a:txBody>
                    <a:bodyPr/>
                    <a:lstStyle/>
                    <a:p>
                      <a:pPr algn="ctr" fontAlgn="base"/>
                      <a:r>
                        <a:rPr lang="en-CA" sz="1400">
                          <a:effectLst/>
                          <a:latin typeface="Times New Roman" panose="02020603050405020304" pitchFamily="18" charset="0"/>
                        </a:rPr>
                        <a:t>xx</a:t>
                      </a:r>
                    </a:p>
                  </a:txBody>
                  <a:tcPr marL="37900" marR="37900" marT="37904" marB="11371">
                    <a:lnL>
                      <a:noFill/>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dirty="0">
                          <a:effectLst/>
                          <a:latin typeface="Times New Roman" panose="02020603050405020304" pitchFamily="18" charset="0"/>
                        </a:rPr>
                        <a:t>     Cash (–A)</a:t>
                      </a:r>
                    </a:p>
                  </a:txBody>
                  <a:tcPr marL="37900" marR="37900" marT="37904" marB="11371">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1400" dirty="0">
                          <a:effectLst/>
                          <a:latin typeface="Times New Roman" panose="02020603050405020304" pitchFamily="18" charset="0"/>
                        </a:rPr>
                        <a:t> </a:t>
                      </a:r>
                    </a:p>
                  </a:txBody>
                  <a:tcPr marL="37900" marR="37900" marT="37904" marB="11371">
                    <a:lnL>
                      <a:noFill/>
                    </a:lnL>
                    <a:lnR>
                      <a:noFill/>
                    </a:lnR>
                    <a:lnT>
                      <a:noFill/>
                    </a:lnT>
                    <a:lnB>
                      <a:noFill/>
                    </a:lnB>
                    <a:solidFill>
                      <a:srgbClr val="FFFFFF"/>
                    </a:solidFill>
                  </a:tcPr>
                </a:tc>
                <a:tc>
                  <a:txBody>
                    <a:bodyPr/>
                    <a:lstStyle/>
                    <a:p>
                      <a:pPr algn="ctr" fontAlgn="base"/>
                      <a:r>
                        <a:rPr lang="en-CA" sz="1400">
                          <a:effectLst/>
                          <a:latin typeface="Times New Roman" panose="02020603050405020304" pitchFamily="18" charset="0"/>
                        </a:rPr>
                        <a:t>xx</a:t>
                      </a:r>
                    </a:p>
                  </a:txBody>
                  <a:tcPr marL="37900" marR="75799" marT="37904" marB="11371">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455794871"/>
                  </a:ext>
                </a:extLst>
              </a:tr>
              <a:tr h="485924">
                <a:tc>
                  <a:txBody>
                    <a:bodyPr/>
                    <a:lstStyle/>
                    <a:p>
                      <a:pPr fontAlgn="base"/>
                      <a:r>
                        <a:rPr lang="en-CA" sz="1400" b="1">
                          <a:solidFill>
                            <a:srgbClr val="17864D"/>
                          </a:solidFill>
                          <a:effectLst/>
                          <a:latin typeface="inherit"/>
                        </a:rPr>
                        <a:t>the adjusting entry is</a:t>
                      </a:r>
                      <a:endParaRPr lang="en-CA" sz="1400">
                        <a:effectLst/>
                        <a:latin typeface="Times New Roman" panose="02020603050405020304" pitchFamily="18" charset="0"/>
                      </a:endParaRPr>
                    </a:p>
                  </a:txBody>
                  <a:tcPr marL="75799" marR="37900" marT="37904" marB="11371">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1400" dirty="0">
                          <a:effectLst/>
                          <a:latin typeface="Times New Roman" panose="02020603050405020304" pitchFamily="18" charset="0"/>
                        </a:rPr>
                        <a:t> </a:t>
                      </a:r>
                    </a:p>
                  </a:txBody>
                  <a:tcPr marL="37900" marR="37900" marT="37904" marB="11371">
                    <a:lnL>
                      <a:noFill/>
                    </a:lnL>
                    <a:lnR>
                      <a:noFill/>
                    </a:lnR>
                    <a:lnT>
                      <a:noFill/>
                    </a:lnT>
                    <a:lnB>
                      <a:noFill/>
                    </a:lnB>
                    <a:solidFill>
                      <a:srgbClr val="FFFFFF"/>
                    </a:solidFill>
                  </a:tcPr>
                </a:tc>
                <a:tc>
                  <a:txBody>
                    <a:bodyPr/>
                    <a:lstStyle/>
                    <a:p>
                      <a:pPr algn="ctr" fontAlgn="base"/>
                      <a:r>
                        <a:rPr lang="en-CA" sz="1400" dirty="0">
                          <a:effectLst/>
                          <a:latin typeface="Times New Roman" panose="02020603050405020304" pitchFamily="18" charset="0"/>
                        </a:rPr>
                        <a:t> </a:t>
                      </a:r>
                    </a:p>
                  </a:txBody>
                  <a:tcPr marL="37900" marR="37900" marT="37904" marB="11371">
                    <a:lnL>
                      <a:noFill/>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b="1">
                          <a:solidFill>
                            <a:srgbClr val="17864D"/>
                          </a:solidFill>
                          <a:effectLst/>
                          <a:latin typeface="inherit"/>
                        </a:rPr>
                        <a:t>the adjusting entry is</a:t>
                      </a:r>
                      <a:endParaRPr lang="en-CA" sz="1400">
                        <a:effectLst/>
                        <a:latin typeface="Times New Roman" panose="02020603050405020304" pitchFamily="18" charset="0"/>
                      </a:endParaRPr>
                    </a:p>
                  </a:txBody>
                  <a:tcPr marL="37900" marR="37900" marT="37904" marB="11371">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1400" dirty="0">
                          <a:effectLst/>
                          <a:latin typeface="Times New Roman" panose="02020603050405020304" pitchFamily="18" charset="0"/>
                        </a:rPr>
                        <a:t> </a:t>
                      </a:r>
                    </a:p>
                  </a:txBody>
                  <a:tcPr marL="37900" marR="37900" marT="37904" marB="11371">
                    <a:lnL>
                      <a:noFill/>
                    </a:lnL>
                    <a:lnR>
                      <a:noFill/>
                    </a:lnR>
                    <a:lnT>
                      <a:noFill/>
                    </a:lnT>
                    <a:lnB>
                      <a:noFill/>
                    </a:lnB>
                    <a:solidFill>
                      <a:srgbClr val="FFFFFF"/>
                    </a:solidFill>
                  </a:tcPr>
                </a:tc>
                <a:tc>
                  <a:txBody>
                    <a:bodyPr/>
                    <a:lstStyle/>
                    <a:p>
                      <a:pPr algn="ctr" fontAlgn="base"/>
                      <a:r>
                        <a:rPr lang="en-CA" sz="1400" dirty="0">
                          <a:effectLst/>
                          <a:latin typeface="Times New Roman" panose="02020603050405020304" pitchFamily="18" charset="0"/>
                        </a:rPr>
                        <a:t> </a:t>
                      </a:r>
                    </a:p>
                  </a:txBody>
                  <a:tcPr marL="37900" marR="75799" marT="37904" marB="11371">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43165175"/>
                  </a:ext>
                </a:extLst>
              </a:tr>
              <a:tr h="376762">
                <a:tc>
                  <a:txBody>
                    <a:bodyPr/>
                    <a:lstStyle/>
                    <a:p>
                      <a:pPr fontAlgn="base"/>
                      <a:r>
                        <a:rPr lang="en-CA" sz="1400">
                          <a:effectLst/>
                          <a:latin typeface="Times New Roman" panose="02020603050405020304" pitchFamily="18" charset="0"/>
                        </a:rPr>
                        <a:t>Deferred revenue (–L)</a:t>
                      </a:r>
                    </a:p>
                  </a:txBody>
                  <a:tcPr marL="75799" marR="37900" marT="37904" marB="11371">
                    <a:lnL w="9525" cap="flat" cmpd="sng" algn="ctr">
                      <a:solidFill>
                        <a:srgbClr val="333333"/>
                      </a:solidFill>
                      <a:prstDash val="solid"/>
                      <a:round/>
                      <a:headEnd type="none" w="med" len="med"/>
                      <a:tailEnd type="none" w="med" len="med"/>
                    </a:lnL>
                    <a:lnR>
                      <a:noFill/>
                    </a:lnR>
                    <a:lnT>
                      <a:noFill/>
                    </a:lnT>
                    <a:lnB>
                      <a:noFill/>
                    </a:lnB>
                    <a:solidFill>
                      <a:srgbClr val="EEDCC5"/>
                    </a:solidFill>
                  </a:tcPr>
                </a:tc>
                <a:tc>
                  <a:txBody>
                    <a:bodyPr/>
                    <a:lstStyle/>
                    <a:p>
                      <a:pPr algn="ctr" fontAlgn="base"/>
                      <a:r>
                        <a:rPr lang="en-CA" sz="1400">
                          <a:effectLst/>
                          <a:latin typeface="Times New Roman" panose="02020603050405020304" pitchFamily="18" charset="0"/>
                        </a:rPr>
                        <a:t>xx</a:t>
                      </a:r>
                    </a:p>
                  </a:txBody>
                  <a:tcPr marL="37900" marR="37900" marT="37904" marB="11371">
                    <a:lnL>
                      <a:noFill/>
                    </a:lnL>
                    <a:lnR>
                      <a:noFill/>
                    </a:lnR>
                    <a:lnT>
                      <a:noFill/>
                    </a:lnT>
                    <a:lnB>
                      <a:noFill/>
                    </a:lnB>
                    <a:solidFill>
                      <a:srgbClr val="EEDCC5"/>
                    </a:solidFill>
                  </a:tcPr>
                </a:tc>
                <a:tc>
                  <a:txBody>
                    <a:bodyPr/>
                    <a:lstStyle/>
                    <a:p>
                      <a:pPr algn="ctr" fontAlgn="base"/>
                      <a:r>
                        <a:rPr lang="en-CA" sz="1400" dirty="0">
                          <a:effectLst/>
                          <a:latin typeface="Times New Roman" panose="02020603050405020304" pitchFamily="18" charset="0"/>
                        </a:rPr>
                        <a:t> </a:t>
                      </a:r>
                    </a:p>
                  </a:txBody>
                  <a:tcPr marL="37900" marR="37900" marT="37904" marB="11371">
                    <a:lnL>
                      <a:noFill/>
                    </a:lnL>
                    <a:lnR w="9525" cap="flat" cmpd="sng" algn="ctr">
                      <a:solidFill>
                        <a:srgbClr val="333333"/>
                      </a:solidFill>
                      <a:prstDash val="solid"/>
                      <a:round/>
                      <a:headEnd type="none" w="med" len="med"/>
                      <a:tailEnd type="none" w="med" len="med"/>
                    </a:lnR>
                    <a:lnT>
                      <a:noFill/>
                    </a:lnT>
                    <a:lnB>
                      <a:noFill/>
                    </a:lnB>
                    <a:solidFill>
                      <a:srgbClr val="EEDCC5"/>
                    </a:solidFill>
                  </a:tcPr>
                </a:tc>
                <a:tc>
                  <a:txBody>
                    <a:bodyPr/>
                    <a:lstStyle/>
                    <a:p>
                      <a:pPr fontAlgn="base"/>
                      <a:r>
                        <a:rPr lang="en-CA" sz="1400">
                          <a:effectLst/>
                          <a:latin typeface="Times New Roman" panose="02020603050405020304" pitchFamily="18" charset="0"/>
                        </a:rPr>
                        <a:t> </a:t>
                      </a:r>
                    </a:p>
                  </a:txBody>
                  <a:tcPr marL="37900" marR="37900"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a:effectLst/>
                          <a:latin typeface="Times New Roman" panose="02020603050405020304" pitchFamily="18" charset="0"/>
                        </a:rPr>
                        <a:t>Expense (+E, –SE)    </a:t>
                      </a:r>
                    </a:p>
                  </a:txBody>
                  <a:tcPr marL="37900" marR="37900" marT="37904" marB="11371">
                    <a:lnL w="9525" cap="flat" cmpd="sng" algn="ctr">
                      <a:solidFill>
                        <a:srgbClr val="333333"/>
                      </a:solidFill>
                      <a:prstDash val="solid"/>
                      <a:round/>
                      <a:headEnd type="none" w="med" len="med"/>
                      <a:tailEnd type="none" w="med" len="med"/>
                    </a:lnL>
                    <a:lnR>
                      <a:noFill/>
                    </a:lnR>
                    <a:lnT>
                      <a:noFill/>
                    </a:lnT>
                    <a:lnB>
                      <a:noFill/>
                    </a:lnB>
                    <a:solidFill>
                      <a:srgbClr val="EEDCC5"/>
                    </a:solidFill>
                  </a:tcPr>
                </a:tc>
                <a:tc>
                  <a:txBody>
                    <a:bodyPr/>
                    <a:lstStyle/>
                    <a:p>
                      <a:pPr algn="ctr" fontAlgn="base"/>
                      <a:r>
                        <a:rPr lang="en-CA" sz="1400">
                          <a:effectLst/>
                          <a:latin typeface="Times New Roman" panose="02020603050405020304" pitchFamily="18" charset="0"/>
                        </a:rPr>
                        <a:t>xx</a:t>
                      </a:r>
                    </a:p>
                  </a:txBody>
                  <a:tcPr marL="37900" marR="37900" marT="37904" marB="11371">
                    <a:lnL>
                      <a:noFill/>
                    </a:lnL>
                    <a:lnR>
                      <a:noFill/>
                    </a:lnR>
                    <a:lnT>
                      <a:noFill/>
                    </a:lnT>
                    <a:lnB>
                      <a:noFill/>
                    </a:lnB>
                    <a:solidFill>
                      <a:srgbClr val="EEDCC5"/>
                    </a:solidFill>
                  </a:tcPr>
                </a:tc>
                <a:tc>
                  <a:txBody>
                    <a:bodyPr/>
                    <a:lstStyle/>
                    <a:p>
                      <a:pPr algn="ctr" fontAlgn="base"/>
                      <a:r>
                        <a:rPr lang="en-CA" sz="1400" dirty="0">
                          <a:effectLst/>
                          <a:latin typeface="Times New Roman" panose="02020603050405020304" pitchFamily="18" charset="0"/>
                        </a:rPr>
                        <a:t> </a:t>
                      </a:r>
                    </a:p>
                  </a:txBody>
                  <a:tcPr marL="37900" marR="75799" marT="37904" marB="11371">
                    <a:lnL>
                      <a:noFill/>
                    </a:lnL>
                    <a:lnR w="9525" cap="flat" cmpd="sng" algn="ctr">
                      <a:solidFill>
                        <a:srgbClr val="333333"/>
                      </a:solidFill>
                      <a:prstDash val="solid"/>
                      <a:round/>
                      <a:headEnd type="none" w="med" len="med"/>
                      <a:tailEnd type="none" w="med" len="med"/>
                    </a:lnR>
                    <a:lnT>
                      <a:noFill/>
                    </a:lnT>
                    <a:lnB>
                      <a:noFill/>
                    </a:lnB>
                    <a:solidFill>
                      <a:srgbClr val="EEDCC5"/>
                    </a:solidFill>
                  </a:tcPr>
                </a:tc>
                <a:extLst>
                  <a:ext uri="{0D108BD9-81ED-4DB2-BD59-A6C34878D82A}">
                    <a16:rowId xmlns:a16="http://schemas.microsoft.com/office/drawing/2014/main" val="3671254292"/>
                  </a:ext>
                </a:extLst>
              </a:tr>
              <a:tr h="376762">
                <a:tc>
                  <a:txBody>
                    <a:bodyPr/>
                    <a:lstStyle/>
                    <a:p>
                      <a:pPr fontAlgn="base"/>
                      <a:r>
                        <a:rPr lang="en-CA" sz="1400" dirty="0">
                          <a:effectLst/>
                          <a:latin typeface="Times New Roman" panose="02020603050405020304" pitchFamily="18" charset="0"/>
                        </a:rPr>
                        <a:t>     Revenue (+R, +SE)</a:t>
                      </a:r>
                    </a:p>
                  </a:txBody>
                  <a:tcPr marL="75799" marR="37900" marT="37904" marB="11371">
                    <a:lnL w="9525" cap="flat" cmpd="sng" algn="ctr">
                      <a:solidFill>
                        <a:srgbClr val="333333"/>
                      </a:solidFill>
                      <a:prstDash val="solid"/>
                      <a:round/>
                      <a:headEnd type="none" w="med" len="med"/>
                      <a:tailEnd type="none" w="med" len="med"/>
                    </a:lnL>
                    <a:lnR>
                      <a:noFill/>
                    </a:lnR>
                    <a:lnT>
                      <a:noFill/>
                    </a:lnT>
                    <a:lnB>
                      <a:noFill/>
                    </a:lnB>
                    <a:solidFill>
                      <a:srgbClr val="EEDCC5"/>
                    </a:solidFill>
                  </a:tcPr>
                </a:tc>
                <a:tc>
                  <a:txBody>
                    <a:bodyPr/>
                    <a:lstStyle/>
                    <a:p>
                      <a:pPr algn="ctr" fontAlgn="base"/>
                      <a:r>
                        <a:rPr lang="en-CA" sz="1400" dirty="0">
                          <a:effectLst/>
                          <a:latin typeface="Times New Roman" panose="02020603050405020304" pitchFamily="18" charset="0"/>
                        </a:rPr>
                        <a:t> </a:t>
                      </a:r>
                    </a:p>
                  </a:txBody>
                  <a:tcPr marL="37900" marR="37900" marT="37904" marB="11371">
                    <a:lnL>
                      <a:noFill/>
                    </a:lnL>
                    <a:lnR>
                      <a:noFill/>
                    </a:lnR>
                    <a:lnT>
                      <a:noFill/>
                    </a:lnT>
                    <a:lnB>
                      <a:noFill/>
                    </a:lnB>
                    <a:solidFill>
                      <a:srgbClr val="EEDCC5"/>
                    </a:solidFill>
                  </a:tcPr>
                </a:tc>
                <a:tc>
                  <a:txBody>
                    <a:bodyPr/>
                    <a:lstStyle/>
                    <a:p>
                      <a:pPr algn="ctr" fontAlgn="base"/>
                      <a:r>
                        <a:rPr lang="en-CA" sz="1400" dirty="0">
                          <a:effectLst/>
                          <a:latin typeface="Times New Roman" panose="02020603050405020304" pitchFamily="18" charset="0"/>
                        </a:rPr>
                        <a:t>xx</a:t>
                      </a:r>
                    </a:p>
                  </a:txBody>
                  <a:tcPr marL="37900" marR="37900" marT="37904" marB="11371">
                    <a:lnL>
                      <a:noFill/>
                    </a:lnL>
                    <a:lnR w="9525" cap="flat" cmpd="sng" algn="ctr">
                      <a:solidFill>
                        <a:srgbClr val="333333"/>
                      </a:solidFill>
                      <a:prstDash val="solid"/>
                      <a:round/>
                      <a:headEnd type="none" w="med" len="med"/>
                      <a:tailEnd type="none" w="med" len="med"/>
                    </a:lnR>
                    <a:lnT>
                      <a:noFill/>
                    </a:lnT>
                    <a:lnB>
                      <a:noFill/>
                    </a:lnB>
                    <a:solidFill>
                      <a:srgbClr val="EEDCC5"/>
                    </a:solidFill>
                  </a:tcPr>
                </a:tc>
                <a:tc>
                  <a:txBody>
                    <a:bodyPr/>
                    <a:lstStyle/>
                    <a:p>
                      <a:pPr fontAlgn="base"/>
                      <a:r>
                        <a:rPr lang="en-CA" sz="1400" dirty="0">
                          <a:effectLst/>
                          <a:latin typeface="Times New Roman" panose="02020603050405020304" pitchFamily="18" charset="0"/>
                        </a:rPr>
                        <a:t> </a:t>
                      </a:r>
                    </a:p>
                  </a:txBody>
                  <a:tcPr marL="37900" marR="37900"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dirty="0">
                          <a:effectLst/>
                          <a:latin typeface="Times New Roman" panose="02020603050405020304" pitchFamily="18" charset="0"/>
                        </a:rPr>
                        <a:t>     Prepaid expense (–A)</a:t>
                      </a:r>
                    </a:p>
                  </a:txBody>
                  <a:tcPr marL="37900" marR="37900" marT="37904" marB="11371">
                    <a:lnL w="9525" cap="flat" cmpd="sng" algn="ctr">
                      <a:solidFill>
                        <a:srgbClr val="333333"/>
                      </a:solidFill>
                      <a:prstDash val="solid"/>
                      <a:round/>
                      <a:headEnd type="none" w="med" len="med"/>
                      <a:tailEnd type="none" w="med" len="med"/>
                    </a:lnL>
                    <a:lnR>
                      <a:noFill/>
                    </a:lnR>
                    <a:lnT>
                      <a:noFill/>
                    </a:lnT>
                    <a:lnB>
                      <a:noFill/>
                    </a:lnB>
                    <a:solidFill>
                      <a:srgbClr val="EEDCC5"/>
                    </a:solidFill>
                  </a:tcPr>
                </a:tc>
                <a:tc>
                  <a:txBody>
                    <a:bodyPr/>
                    <a:lstStyle/>
                    <a:p>
                      <a:pPr algn="ctr" fontAlgn="base"/>
                      <a:r>
                        <a:rPr lang="en-CA" sz="1400" dirty="0">
                          <a:effectLst/>
                          <a:latin typeface="Times New Roman" panose="02020603050405020304" pitchFamily="18" charset="0"/>
                        </a:rPr>
                        <a:t> </a:t>
                      </a:r>
                    </a:p>
                  </a:txBody>
                  <a:tcPr marL="37900" marR="37900" marT="37904" marB="11371">
                    <a:lnL>
                      <a:noFill/>
                    </a:lnL>
                    <a:lnR>
                      <a:noFill/>
                    </a:lnR>
                    <a:lnT>
                      <a:noFill/>
                    </a:lnT>
                    <a:lnB>
                      <a:noFill/>
                    </a:lnB>
                    <a:solidFill>
                      <a:srgbClr val="EEDCC5"/>
                    </a:solidFill>
                  </a:tcPr>
                </a:tc>
                <a:tc>
                  <a:txBody>
                    <a:bodyPr/>
                    <a:lstStyle/>
                    <a:p>
                      <a:pPr algn="ctr" fontAlgn="base"/>
                      <a:r>
                        <a:rPr lang="en-CA" sz="1400" dirty="0">
                          <a:effectLst/>
                          <a:latin typeface="Times New Roman" panose="02020603050405020304" pitchFamily="18" charset="0"/>
                        </a:rPr>
                        <a:t>xx</a:t>
                      </a:r>
                    </a:p>
                  </a:txBody>
                  <a:tcPr marL="37900" marR="75799" marT="37904" marB="11371">
                    <a:lnL>
                      <a:noFill/>
                    </a:lnL>
                    <a:lnR w="9525" cap="flat" cmpd="sng" algn="ctr">
                      <a:solidFill>
                        <a:srgbClr val="333333"/>
                      </a:solidFill>
                      <a:prstDash val="solid"/>
                      <a:round/>
                      <a:headEnd type="none" w="med" len="med"/>
                      <a:tailEnd type="none" w="med" len="med"/>
                    </a:lnR>
                    <a:lnT>
                      <a:noFill/>
                    </a:lnT>
                    <a:lnB>
                      <a:noFill/>
                    </a:lnB>
                    <a:solidFill>
                      <a:srgbClr val="EEDCC5"/>
                    </a:solidFill>
                  </a:tcPr>
                </a:tc>
                <a:extLst>
                  <a:ext uri="{0D108BD9-81ED-4DB2-BD59-A6C34878D82A}">
                    <a16:rowId xmlns:a16="http://schemas.microsoft.com/office/drawing/2014/main" val="3959147379"/>
                  </a:ext>
                </a:extLst>
              </a:tr>
              <a:tr h="262657">
                <a:tc gridSpan="3">
                  <a:txBody>
                    <a:bodyPr/>
                    <a:lstStyle/>
                    <a:p>
                      <a:pPr algn="ctr" fontAlgn="base"/>
                      <a:r>
                        <a:rPr lang="en-CA" sz="1400" b="1" dirty="0">
                          <a:effectLst/>
                          <a:latin typeface="inherit"/>
                        </a:rPr>
                        <a:t>OR</a:t>
                      </a:r>
                      <a:endParaRPr lang="en-CA" sz="1400" dirty="0">
                        <a:effectLst/>
                        <a:latin typeface="Times New Roman" panose="02020603050405020304" pitchFamily="18" charset="0"/>
                      </a:endParaRPr>
                    </a:p>
                  </a:txBody>
                  <a:tcPr marL="75799" marR="37900"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hMerge="1">
                  <a:txBody>
                    <a:bodyPr/>
                    <a:lstStyle/>
                    <a:p>
                      <a:endParaRPr lang="en-US"/>
                    </a:p>
                  </a:txBody>
                  <a:tcPr>
                    <a:lnL w="9525" cap="flat" cmpd="sng" algn="ctr">
                      <a:solidFill>
                        <a:srgbClr val="333333"/>
                      </a:solidFill>
                      <a:prstDash val="solid"/>
                      <a:round/>
                      <a:headEnd type="none" w="med" len="med"/>
                      <a:tailEnd type="none" w="med" len="med"/>
                    </a:lnL>
                    <a:lnT w="12700" cmpd="sng">
                      <a:noFill/>
                      <a:prstDash val="solid"/>
                    </a:lnT>
                  </a:tcPr>
                </a:tc>
                <a:tc hMerge="1">
                  <a:txBody>
                    <a:bodyPr/>
                    <a:lstStyle/>
                    <a:p>
                      <a:pPr algn="ctr" fontAlgn="base"/>
                      <a:endParaRPr lang="en-CA" sz="1400">
                        <a:effectLst/>
                        <a:latin typeface="Times New Roman" panose="02020603050405020304" pitchFamily="18" charset="0"/>
                      </a:endParaRPr>
                    </a:p>
                  </a:txBody>
                  <a:tcPr marL="75799" marR="37900" marT="37900" marB="11370">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gridSpan="3">
                  <a:txBody>
                    <a:bodyPr/>
                    <a:lstStyle/>
                    <a:p>
                      <a:pPr algn="ctr" fontAlgn="base"/>
                      <a:r>
                        <a:rPr lang="en-CA" sz="1400" b="1" dirty="0">
                          <a:effectLst/>
                          <a:latin typeface="inherit"/>
                        </a:rPr>
                        <a:t>OR</a:t>
                      </a:r>
                      <a:endParaRPr lang="en-CA" sz="1400" dirty="0">
                        <a:effectLst/>
                        <a:latin typeface="Times New Roman" panose="02020603050405020304" pitchFamily="18" charset="0"/>
                      </a:endParaRPr>
                    </a:p>
                  </a:txBody>
                  <a:tcPr marL="37900" marR="75799"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hMerge="1">
                  <a:txBody>
                    <a:bodyPr/>
                    <a:lstStyle/>
                    <a:p>
                      <a:endParaRPr lang="en-US"/>
                    </a:p>
                  </a:txBody>
                  <a:tcPr>
                    <a:lnL w="9525" cap="flat" cmpd="sng" algn="ctr">
                      <a:solidFill>
                        <a:srgbClr val="333333"/>
                      </a:solidFill>
                      <a:prstDash val="solid"/>
                      <a:round/>
                      <a:headEnd type="none" w="med" len="med"/>
                      <a:tailEnd type="none" w="med" len="med"/>
                    </a:lnL>
                    <a:lnT w="12700" cmpd="sng">
                      <a:noFill/>
                      <a:prstDash val="solid"/>
                    </a:lnT>
                  </a:tcPr>
                </a:tc>
                <a:tc hMerge="1">
                  <a:txBody>
                    <a:bodyPr/>
                    <a:lstStyle/>
                    <a:p>
                      <a:pPr algn="ctr" fontAlgn="base"/>
                      <a:endParaRPr lang="en-CA" sz="1400">
                        <a:effectLst/>
                        <a:latin typeface="Times New Roman" panose="02020603050405020304" pitchFamily="18" charset="0"/>
                      </a:endParaRPr>
                    </a:p>
                  </a:txBody>
                  <a:tcPr marL="37900" marR="75799" marT="37900" marB="11370">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069443034"/>
                  </a:ext>
                </a:extLst>
              </a:tr>
              <a:tr h="376762">
                <a:tc>
                  <a:txBody>
                    <a:bodyPr/>
                    <a:lstStyle/>
                    <a:p>
                      <a:pPr fontAlgn="base"/>
                      <a:r>
                        <a:rPr lang="en-CA" sz="1400" b="1">
                          <a:solidFill>
                            <a:srgbClr val="DC081D"/>
                          </a:solidFill>
                          <a:effectLst/>
                          <a:latin typeface="inherit"/>
                        </a:rPr>
                        <a:t>ACCRUED REVENUE</a:t>
                      </a:r>
                      <a:endParaRPr lang="en-CA" sz="1400">
                        <a:effectLst/>
                        <a:latin typeface="Times New Roman" panose="02020603050405020304" pitchFamily="18" charset="0"/>
                      </a:endParaRPr>
                    </a:p>
                  </a:txBody>
                  <a:tcPr marL="75799" marR="37900" marT="37904" marB="11371">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a:r>
                        <a:rPr lang="en-CA" sz="1400">
                          <a:effectLst/>
                          <a:latin typeface="Times New Roman" panose="02020603050405020304" pitchFamily="18" charset="0"/>
                        </a:rPr>
                        <a:t> </a:t>
                      </a:r>
                      <a:endParaRPr lang="en-US" sz="1800"/>
                    </a:p>
                  </a:txBody>
                  <a:tcPr marL="37900" marR="37900" marT="37904" marB="11371">
                    <a:lnL>
                      <a:noFill/>
                    </a:lnL>
                    <a:lnR>
                      <a:noFill/>
                    </a:lnR>
                    <a:lnB>
                      <a:noFill/>
                    </a:lnB>
                    <a:solidFill>
                      <a:srgbClr val="FFFFFF"/>
                    </a:solidFill>
                  </a:tcPr>
                </a:tc>
                <a:tc>
                  <a:txBody>
                    <a:bodyPr/>
                    <a:lstStyle/>
                    <a:p>
                      <a:pPr algn="ctr" fontAlgn="base"/>
                      <a:r>
                        <a:rPr lang="en-CA" sz="1400" dirty="0">
                          <a:effectLst/>
                          <a:latin typeface="Times New Roman" panose="02020603050405020304" pitchFamily="18" charset="0"/>
                        </a:rPr>
                        <a:t> </a:t>
                      </a:r>
                    </a:p>
                  </a:txBody>
                  <a:tcPr marL="37900" marR="37900" marT="37904" marB="11371">
                    <a:lnL>
                      <a:noFill/>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b="1">
                          <a:solidFill>
                            <a:srgbClr val="DC081D"/>
                          </a:solidFill>
                          <a:effectLst/>
                          <a:latin typeface="inherit"/>
                        </a:rPr>
                        <a:t>ACCRUED EXPENSE</a:t>
                      </a:r>
                      <a:endParaRPr lang="en-CA" sz="1400">
                        <a:effectLst/>
                        <a:latin typeface="Times New Roman" panose="02020603050405020304" pitchFamily="18" charset="0"/>
                      </a:endParaRPr>
                    </a:p>
                  </a:txBody>
                  <a:tcPr marL="37900" marR="37900" marT="37904" marB="11371">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1400">
                          <a:effectLst/>
                          <a:latin typeface="Times New Roman" panose="02020603050405020304" pitchFamily="18" charset="0"/>
                        </a:rPr>
                        <a:t> </a:t>
                      </a:r>
                    </a:p>
                  </a:txBody>
                  <a:tcPr marL="37900" marR="37900" marT="37904" marB="11371">
                    <a:lnL>
                      <a:noFill/>
                    </a:lnL>
                    <a:lnR>
                      <a:noFill/>
                    </a:lnR>
                    <a:lnB>
                      <a:noFill/>
                    </a:lnB>
                    <a:solidFill>
                      <a:srgbClr val="FFFFFF"/>
                    </a:solidFill>
                  </a:tcPr>
                </a:tc>
                <a:tc>
                  <a:txBody>
                    <a:bodyPr/>
                    <a:lstStyle/>
                    <a:p>
                      <a:pPr algn="ctr" fontAlgn="base"/>
                      <a:r>
                        <a:rPr lang="en-CA" sz="1400" dirty="0">
                          <a:effectLst/>
                          <a:latin typeface="Times New Roman" panose="02020603050405020304" pitchFamily="18" charset="0"/>
                        </a:rPr>
                        <a:t> </a:t>
                      </a:r>
                    </a:p>
                  </a:txBody>
                  <a:tcPr marL="37900" marR="75799" marT="37904" marB="11371">
                    <a:lnL>
                      <a:noFill/>
                    </a:lnL>
                    <a:lnR w="9525" cap="flat" cmpd="sng" algn="ctr">
                      <a:no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858691028"/>
                  </a:ext>
                </a:extLst>
              </a:tr>
              <a:tr h="704249">
                <a:tc>
                  <a:txBody>
                    <a:bodyPr/>
                    <a:lstStyle/>
                    <a:p>
                      <a:pPr fontAlgn="base"/>
                      <a:r>
                        <a:rPr lang="en-CA" sz="1400" b="1">
                          <a:solidFill>
                            <a:srgbClr val="17864D"/>
                          </a:solidFill>
                          <a:effectLst/>
                          <a:latin typeface="inherit"/>
                        </a:rPr>
                        <a:t>If cash will be received, the adjusting entry is</a:t>
                      </a:r>
                      <a:endParaRPr lang="en-CA" sz="1400">
                        <a:effectLst/>
                        <a:latin typeface="Times New Roman" panose="02020603050405020304" pitchFamily="18" charset="0"/>
                      </a:endParaRPr>
                    </a:p>
                  </a:txBody>
                  <a:tcPr marL="75799" marR="37900" marT="37904" marB="11371">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a:r>
                        <a:rPr lang="en-CA" sz="1400">
                          <a:effectLst/>
                          <a:latin typeface="Times New Roman" panose="02020603050405020304" pitchFamily="18" charset="0"/>
                        </a:rPr>
                        <a:t> </a:t>
                      </a:r>
                      <a:endParaRPr lang="en-US" sz="1800"/>
                    </a:p>
                  </a:txBody>
                  <a:tcPr marL="37900" marR="37900" marT="37904" marB="11371">
                    <a:lnL>
                      <a:noFill/>
                    </a:lnL>
                    <a:lnR>
                      <a:noFill/>
                    </a:lnR>
                    <a:lnT>
                      <a:noFill/>
                    </a:lnT>
                    <a:lnB>
                      <a:noFill/>
                    </a:lnB>
                    <a:solidFill>
                      <a:srgbClr val="FFFFFF"/>
                    </a:solidFill>
                  </a:tcPr>
                </a:tc>
                <a:tc>
                  <a:txBody>
                    <a:bodyPr/>
                    <a:lstStyle/>
                    <a:p>
                      <a:pPr algn="ctr" fontAlgn="base"/>
                      <a:r>
                        <a:rPr lang="en-CA" sz="1400" dirty="0">
                          <a:effectLst/>
                          <a:latin typeface="Times New Roman" panose="02020603050405020304" pitchFamily="18" charset="0"/>
                        </a:rPr>
                        <a:t> </a:t>
                      </a:r>
                    </a:p>
                  </a:txBody>
                  <a:tcPr marL="37900" marR="37900" marT="37904" marB="11371">
                    <a:lnL>
                      <a:noFill/>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37900" marR="37900"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b="1">
                          <a:solidFill>
                            <a:srgbClr val="17864D"/>
                          </a:solidFill>
                          <a:effectLst/>
                          <a:latin typeface="inherit"/>
                        </a:rPr>
                        <a:t>If cash will be paid, the adjusting entry is</a:t>
                      </a:r>
                      <a:endParaRPr lang="en-CA" sz="1400">
                        <a:effectLst/>
                        <a:latin typeface="Times New Roman" panose="02020603050405020304" pitchFamily="18" charset="0"/>
                      </a:endParaRPr>
                    </a:p>
                  </a:txBody>
                  <a:tcPr marL="37900" marR="37900" marT="37904" marB="11371">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1400">
                          <a:effectLst/>
                          <a:latin typeface="Times New Roman" panose="02020603050405020304" pitchFamily="18" charset="0"/>
                        </a:rPr>
                        <a:t> </a:t>
                      </a:r>
                    </a:p>
                  </a:txBody>
                  <a:tcPr marL="37900" marR="37900" marT="37904" marB="11371">
                    <a:lnL>
                      <a:noFill/>
                    </a:lnL>
                    <a:lnR>
                      <a:noFill/>
                    </a:lnR>
                    <a:lnT>
                      <a:noFill/>
                    </a:lnT>
                    <a:lnB>
                      <a:noFill/>
                    </a:lnB>
                    <a:solidFill>
                      <a:srgbClr val="FFFFFF"/>
                    </a:solidFill>
                  </a:tcPr>
                </a:tc>
                <a:tc>
                  <a:txBody>
                    <a:bodyPr/>
                    <a:lstStyle/>
                    <a:p>
                      <a:pPr algn="ctr" fontAlgn="base"/>
                      <a:r>
                        <a:rPr lang="en-CA" sz="1400" dirty="0">
                          <a:effectLst/>
                          <a:latin typeface="Times New Roman" panose="02020603050405020304" pitchFamily="18" charset="0"/>
                        </a:rPr>
                        <a:t> </a:t>
                      </a:r>
                    </a:p>
                  </a:txBody>
                  <a:tcPr marL="37900" marR="75799" marT="37904" marB="11371">
                    <a:lnL>
                      <a:noFill/>
                    </a:lnL>
                    <a:lnR w="9525" cap="flat" cmpd="sng" algn="ctr">
                      <a:no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797654547"/>
                  </a:ext>
                </a:extLst>
              </a:tr>
              <a:tr h="376762">
                <a:tc>
                  <a:txBody>
                    <a:bodyPr/>
                    <a:lstStyle/>
                    <a:p>
                      <a:pPr fontAlgn="base"/>
                      <a:r>
                        <a:rPr lang="en-CA" sz="1400">
                          <a:effectLst/>
                          <a:latin typeface="Times New Roman" panose="02020603050405020304" pitchFamily="18" charset="0"/>
                        </a:rPr>
                        <a:t>Accounts receivable (+A)</a:t>
                      </a:r>
                    </a:p>
                  </a:txBody>
                  <a:tcPr marL="75799" marR="37900" marT="37904" marB="11371">
                    <a:lnL w="9525" cap="flat" cmpd="sng" algn="ctr">
                      <a:solidFill>
                        <a:srgbClr val="333333"/>
                      </a:solidFill>
                      <a:prstDash val="solid"/>
                      <a:round/>
                      <a:headEnd type="none" w="med" len="med"/>
                      <a:tailEnd type="none" w="med" len="med"/>
                    </a:lnL>
                    <a:lnR>
                      <a:noFill/>
                    </a:lnR>
                    <a:lnT>
                      <a:noFill/>
                    </a:lnT>
                    <a:lnB>
                      <a:noFill/>
                    </a:lnB>
                    <a:solidFill>
                      <a:srgbClr val="EEDCC5"/>
                    </a:solidFill>
                  </a:tcPr>
                </a:tc>
                <a:tc>
                  <a:txBody>
                    <a:bodyPr/>
                    <a:lstStyle/>
                    <a:p>
                      <a:pPr algn="ctr"/>
                      <a:r>
                        <a:rPr lang="en-CA" sz="1400">
                          <a:effectLst/>
                          <a:latin typeface="Times New Roman" panose="02020603050405020304" pitchFamily="18" charset="0"/>
                        </a:rPr>
                        <a:t>xx</a:t>
                      </a:r>
                      <a:endParaRPr lang="en-US" sz="1800"/>
                    </a:p>
                  </a:txBody>
                  <a:tcPr marL="37900" marR="37900" marT="37904" marB="11371">
                    <a:lnL>
                      <a:noFill/>
                    </a:lnL>
                    <a:lnR>
                      <a:noFill/>
                    </a:lnR>
                    <a:lnT>
                      <a:noFill/>
                    </a:lnT>
                    <a:lnB>
                      <a:noFill/>
                    </a:lnB>
                    <a:solidFill>
                      <a:srgbClr val="EEDCC5"/>
                    </a:solidFill>
                  </a:tcPr>
                </a:tc>
                <a:tc>
                  <a:txBody>
                    <a:bodyPr/>
                    <a:lstStyle/>
                    <a:p>
                      <a:pPr algn="ctr" fontAlgn="base"/>
                      <a:r>
                        <a:rPr lang="en-CA" sz="1400" dirty="0">
                          <a:effectLst/>
                          <a:latin typeface="Times New Roman" panose="02020603050405020304" pitchFamily="18" charset="0"/>
                        </a:rPr>
                        <a:t> </a:t>
                      </a:r>
                    </a:p>
                  </a:txBody>
                  <a:tcPr marL="37900" marR="37900" marT="37904" marB="11371">
                    <a:lnL>
                      <a:noFill/>
                    </a:lnL>
                    <a:lnR w="9525" cap="flat" cmpd="sng" algn="ctr">
                      <a:solidFill>
                        <a:srgbClr val="333333"/>
                      </a:solidFill>
                      <a:prstDash val="solid"/>
                      <a:round/>
                      <a:headEnd type="none" w="med" len="med"/>
                      <a:tailEnd type="none" w="med" len="med"/>
                    </a:lnR>
                    <a:lnT>
                      <a:noFill/>
                    </a:lnT>
                    <a:lnB>
                      <a:noFill/>
                    </a:lnB>
                    <a:solidFill>
                      <a:srgbClr val="EEDCC5"/>
                    </a:solidFill>
                  </a:tcPr>
                </a:tc>
                <a:tc>
                  <a:txBody>
                    <a:bodyPr/>
                    <a:lstStyle/>
                    <a:p>
                      <a:pPr fontAlgn="base"/>
                      <a:r>
                        <a:rPr lang="en-CA" sz="1400">
                          <a:effectLst/>
                          <a:latin typeface="Times New Roman" panose="02020603050405020304" pitchFamily="18" charset="0"/>
                        </a:rPr>
                        <a:t> </a:t>
                      </a:r>
                    </a:p>
                  </a:txBody>
                  <a:tcPr marL="37900" marR="37900"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a:effectLst/>
                          <a:latin typeface="Times New Roman" panose="02020603050405020304" pitchFamily="18" charset="0"/>
                        </a:rPr>
                        <a:t>Expense (+E, –SE)</a:t>
                      </a:r>
                    </a:p>
                  </a:txBody>
                  <a:tcPr marL="37900" marR="37900" marT="37904" marB="11371">
                    <a:lnL w="9525" cap="flat" cmpd="sng" algn="ctr">
                      <a:solidFill>
                        <a:srgbClr val="333333"/>
                      </a:solidFill>
                      <a:prstDash val="solid"/>
                      <a:round/>
                      <a:headEnd type="none" w="med" len="med"/>
                      <a:tailEnd type="none" w="med" len="med"/>
                    </a:lnL>
                    <a:lnR>
                      <a:noFill/>
                    </a:lnR>
                    <a:lnT>
                      <a:noFill/>
                    </a:lnT>
                    <a:lnB>
                      <a:noFill/>
                    </a:lnB>
                    <a:solidFill>
                      <a:srgbClr val="EEDCC5"/>
                    </a:solidFill>
                  </a:tcPr>
                </a:tc>
                <a:tc>
                  <a:txBody>
                    <a:bodyPr/>
                    <a:lstStyle/>
                    <a:p>
                      <a:pPr algn="ctr" fontAlgn="base"/>
                      <a:r>
                        <a:rPr lang="en-CA" sz="1400">
                          <a:effectLst/>
                          <a:latin typeface="Times New Roman" panose="02020603050405020304" pitchFamily="18" charset="0"/>
                        </a:rPr>
                        <a:t>xx</a:t>
                      </a:r>
                    </a:p>
                  </a:txBody>
                  <a:tcPr marL="37900" marR="37900" marT="37904" marB="11371">
                    <a:lnL>
                      <a:noFill/>
                    </a:lnL>
                    <a:lnR>
                      <a:noFill/>
                    </a:lnR>
                    <a:lnT>
                      <a:noFill/>
                    </a:lnT>
                    <a:lnB>
                      <a:noFill/>
                    </a:lnB>
                    <a:solidFill>
                      <a:srgbClr val="EEDCC5"/>
                    </a:solidFill>
                  </a:tcPr>
                </a:tc>
                <a:tc>
                  <a:txBody>
                    <a:bodyPr/>
                    <a:lstStyle/>
                    <a:p>
                      <a:pPr algn="ctr" fontAlgn="base"/>
                      <a:r>
                        <a:rPr lang="en-CA" sz="1400" dirty="0">
                          <a:effectLst/>
                          <a:latin typeface="Times New Roman" panose="02020603050405020304" pitchFamily="18" charset="0"/>
                        </a:rPr>
                        <a:t> </a:t>
                      </a:r>
                    </a:p>
                  </a:txBody>
                  <a:tcPr marL="37900" marR="75799" marT="37904" marB="11371">
                    <a:lnL>
                      <a:noFill/>
                    </a:lnL>
                    <a:lnR w="9525" cap="flat" cmpd="sng" algn="ctr">
                      <a:noFill/>
                      <a:prstDash val="solid"/>
                      <a:round/>
                      <a:headEnd type="none" w="med" len="med"/>
                      <a:tailEnd type="none" w="med" len="med"/>
                    </a:lnR>
                    <a:lnT>
                      <a:noFill/>
                    </a:lnT>
                    <a:lnB>
                      <a:noFill/>
                    </a:lnB>
                    <a:solidFill>
                      <a:srgbClr val="EEDCC5"/>
                    </a:solidFill>
                  </a:tcPr>
                </a:tc>
                <a:extLst>
                  <a:ext uri="{0D108BD9-81ED-4DB2-BD59-A6C34878D82A}">
                    <a16:rowId xmlns:a16="http://schemas.microsoft.com/office/drawing/2014/main" val="1214756930"/>
                  </a:ext>
                </a:extLst>
              </a:tr>
              <a:tr h="267600">
                <a:tc>
                  <a:txBody>
                    <a:bodyPr/>
                    <a:lstStyle/>
                    <a:p>
                      <a:pPr fontAlgn="base"/>
                      <a:r>
                        <a:rPr lang="en-CA" sz="1400" dirty="0">
                          <a:effectLst/>
                          <a:latin typeface="Times New Roman" panose="02020603050405020304" pitchFamily="18" charset="0"/>
                        </a:rPr>
                        <a:t>     Revenue (+R, +SE)</a:t>
                      </a:r>
                    </a:p>
                  </a:txBody>
                  <a:tcPr marL="75799" marR="37900" marT="37904" marB="11371">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EEDCC5"/>
                    </a:solidFill>
                  </a:tcPr>
                </a:tc>
                <a:tc>
                  <a:txBody>
                    <a:bodyPr/>
                    <a:lstStyle/>
                    <a:p>
                      <a:pPr algn="ctr"/>
                      <a:r>
                        <a:rPr lang="en-CA" sz="1400" dirty="0">
                          <a:effectLst/>
                          <a:latin typeface="Times New Roman" panose="02020603050405020304" pitchFamily="18" charset="0"/>
                        </a:rPr>
                        <a:t> </a:t>
                      </a:r>
                      <a:endParaRPr lang="en-US" sz="1800" dirty="0"/>
                    </a:p>
                  </a:txBody>
                  <a:tcPr marL="37900" marR="37900" marT="37904" marB="11371">
                    <a:lnL>
                      <a:noFill/>
                    </a:lnL>
                    <a:lnR>
                      <a:noFill/>
                    </a:lnR>
                    <a:lnT>
                      <a:noFill/>
                    </a:lnT>
                    <a:lnB w="9525" cap="flat" cmpd="sng" algn="ctr">
                      <a:solidFill>
                        <a:srgbClr val="000000"/>
                      </a:solidFill>
                      <a:prstDash val="solid"/>
                      <a:round/>
                      <a:headEnd type="none" w="med" len="med"/>
                      <a:tailEnd type="none" w="med" len="med"/>
                    </a:lnB>
                    <a:solidFill>
                      <a:srgbClr val="EEDCC5"/>
                    </a:solidFill>
                  </a:tcPr>
                </a:tc>
                <a:tc>
                  <a:txBody>
                    <a:bodyPr/>
                    <a:lstStyle/>
                    <a:p>
                      <a:pPr algn="ctr" fontAlgn="base"/>
                      <a:r>
                        <a:rPr lang="en-CA" sz="1400" dirty="0">
                          <a:effectLst/>
                          <a:latin typeface="Times New Roman" panose="02020603050405020304" pitchFamily="18" charset="0"/>
                        </a:rPr>
                        <a:t>xx</a:t>
                      </a:r>
                    </a:p>
                  </a:txBody>
                  <a:tcPr marL="37900" marR="37900" marT="37904" marB="11371">
                    <a:lnL>
                      <a:noFill/>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EEDCC5"/>
                    </a:solidFill>
                  </a:tcPr>
                </a:tc>
                <a:tc>
                  <a:txBody>
                    <a:bodyPr/>
                    <a:lstStyle/>
                    <a:p>
                      <a:pPr fontAlgn="base"/>
                      <a:r>
                        <a:rPr lang="en-CA" sz="1400" dirty="0">
                          <a:effectLst/>
                          <a:latin typeface="Times New Roman" panose="02020603050405020304" pitchFamily="18" charset="0"/>
                        </a:rPr>
                        <a:t> </a:t>
                      </a:r>
                    </a:p>
                  </a:txBody>
                  <a:tcPr marL="37900" marR="37900" marT="37904" marB="11371">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tc>
                  <a:txBody>
                    <a:bodyPr/>
                    <a:lstStyle/>
                    <a:p>
                      <a:pPr fontAlgn="base"/>
                      <a:r>
                        <a:rPr lang="en-CA" sz="1400" dirty="0">
                          <a:effectLst/>
                          <a:latin typeface="Times New Roman" panose="02020603050405020304" pitchFamily="18" charset="0"/>
                        </a:rPr>
                        <a:t>     Payable (+L)</a:t>
                      </a:r>
                    </a:p>
                  </a:txBody>
                  <a:tcPr marL="37900" marR="37900" marT="37904" marB="11371">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EEDCC5"/>
                    </a:solidFill>
                  </a:tcPr>
                </a:tc>
                <a:tc>
                  <a:txBody>
                    <a:bodyPr/>
                    <a:lstStyle/>
                    <a:p>
                      <a:pPr algn="ctr" fontAlgn="base"/>
                      <a:r>
                        <a:rPr lang="en-CA" sz="1400" dirty="0">
                          <a:effectLst/>
                          <a:latin typeface="Times New Roman" panose="02020603050405020304" pitchFamily="18" charset="0"/>
                        </a:rPr>
                        <a:t> </a:t>
                      </a:r>
                    </a:p>
                  </a:txBody>
                  <a:tcPr marL="37900" marR="37900" marT="37904" marB="11371">
                    <a:lnL>
                      <a:noFill/>
                    </a:lnL>
                    <a:lnR>
                      <a:noFill/>
                    </a:lnR>
                    <a:lnT>
                      <a:noFill/>
                    </a:lnT>
                    <a:lnB w="9525" cap="flat" cmpd="sng" algn="ctr">
                      <a:solidFill>
                        <a:srgbClr val="000000"/>
                      </a:solidFill>
                      <a:prstDash val="solid"/>
                      <a:round/>
                      <a:headEnd type="none" w="med" len="med"/>
                      <a:tailEnd type="none" w="med" len="med"/>
                    </a:lnB>
                    <a:solidFill>
                      <a:srgbClr val="EEDCC5"/>
                    </a:solidFill>
                  </a:tcPr>
                </a:tc>
                <a:tc>
                  <a:txBody>
                    <a:bodyPr/>
                    <a:lstStyle/>
                    <a:p>
                      <a:pPr algn="ctr" fontAlgn="base"/>
                      <a:r>
                        <a:rPr lang="en-CA" sz="1400" dirty="0">
                          <a:effectLst/>
                          <a:latin typeface="Times New Roman" panose="02020603050405020304" pitchFamily="18" charset="0"/>
                        </a:rPr>
                        <a:t>xx</a:t>
                      </a:r>
                    </a:p>
                  </a:txBody>
                  <a:tcPr marL="37900" marR="75799" marT="37904" marB="11371">
                    <a:lnL>
                      <a:noFill/>
                    </a:lnL>
                    <a:lnR w="9525" cap="flat" cmpd="sng" algn="ctr">
                      <a:no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EEDCC5"/>
                    </a:solidFill>
                  </a:tcPr>
                </a:tc>
                <a:extLst>
                  <a:ext uri="{0D108BD9-81ED-4DB2-BD59-A6C34878D82A}">
                    <a16:rowId xmlns:a16="http://schemas.microsoft.com/office/drawing/2014/main" val="2835803859"/>
                  </a:ext>
                </a:extLst>
              </a:tr>
            </a:tbl>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40CFA5F2-D6DF-48D1-A7A7-75434D639A1E}"/>
              </a:ext>
            </a:extLst>
          </p:cNvPr>
          <p:cNvSpPr>
            <a:spLocks noGrp="1"/>
          </p:cNvSpPr>
          <p:nvPr>
            <p:ph type="title"/>
          </p:nvPr>
        </p:nvSpPr>
        <p:spPr/>
        <p:txBody>
          <a:bodyPr/>
          <a:lstStyle/>
          <a:p>
            <a:r>
              <a:rPr lang="en-US" altLang="en-US"/>
              <a:t>Deferred Revenues</a:t>
            </a:r>
          </a:p>
        </p:txBody>
      </p:sp>
      <p:sp>
        <p:nvSpPr>
          <p:cNvPr id="25602" name="Content Placeholder 2">
            <a:extLst>
              <a:ext uri="{FF2B5EF4-FFF2-40B4-BE49-F238E27FC236}">
                <a16:creationId xmlns:a16="http://schemas.microsoft.com/office/drawing/2014/main" id="{8C2AD8A1-3D7B-40E6-BBFA-1071A3651329}"/>
              </a:ext>
            </a:extLst>
          </p:cNvPr>
          <p:cNvSpPr>
            <a:spLocks noGrp="1"/>
          </p:cNvSpPr>
          <p:nvPr>
            <p:ph idx="1"/>
          </p:nvPr>
        </p:nvSpPr>
        <p:spPr/>
        <p:txBody>
          <a:bodyPr/>
          <a:lstStyle/>
          <a:p>
            <a:r>
              <a:rPr lang="en-CA" altLang="en-US" dirty="0"/>
              <a:t>When a customer pays for goods or services before the company delivers them, the company records the amount of cash received in a deferred revenue account. </a:t>
            </a:r>
          </a:p>
          <a:p>
            <a:r>
              <a:rPr lang="en-CA" altLang="en-US" b="1" dirty="0"/>
              <a:t>Deferred revenue</a:t>
            </a:r>
            <a:r>
              <a:rPr lang="en-CA" altLang="en-US" dirty="0"/>
              <a:t> is a liability representing the company’s promise to perform or deliver the goods or services in the future. </a:t>
            </a:r>
          </a:p>
          <a:p>
            <a:r>
              <a:rPr lang="en-CA" altLang="en-US" dirty="0"/>
              <a:t>Recognition of (recording) the revenue is deferred (postponed) until the company meets its obligation.</a:t>
            </a:r>
          </a:p>
          <a:p>
            <a:r>
              <a:rPr lang="en-CA" altLang="en-US" dirty="0"/>
              <a:t>Examples include rent received in advance, magazine subscriptions, season tickets to sporting events, plays, and concerts, and airline tickets sold in advance.</a:t>
            </a:r>
          </a:p>
          <a:p>
            <a:r>
              <a:rPr lang="en-CA" altLang="en-US" b="1" dirty="0"/>
              <a:t>Adjusting Entry: </a:t>
            </a:r>
            <a:r>
              <a:rPr lang="en-CA" altLang="en-US" dirty="0"/>
              <a:t>Decrease Liability and Increase Revenue</a:t>
            </a:r>
            <a:endParaRPr lang="en-US" altLang="en-US" dirty="0"/>
          </a:p>
        </p:txBody>
      </p:sp>
    </p:spTree>
    <p:extLst>
      <p:ext uri="{BB962C8B-B14F-4D97-AF65-F5344CB8AC3E}">
        <p14:creationId xmlns:p14="http://schemas.microsoft.com/office/powerpoint/2010/main" val="327829595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EB131937-16BE-4C7C-93EE-CD6187223746}"/>
              </a:ext>
            </a:extLst>
          </p:cNvPr>
          <p:cNvSpPr>
            <a:spLocks noGrp="1"/>
          </p:cNvSpPr>
          <p:nvPr>
            <p:ph type="title"/>
          </p:nvPr>
        </p:nvSpPr>
        <p:spPr/>
        <p:txBody>
          <a:bodyPr/>
          <a:lstStyle/>
          <a:p>
            <a:r>
              <a:rPr lang="en-US" altLang="en-US"/>
              <a:t>Accrued Revenues</a:t>
            </a:r>
          </a:p>
        </p:txBody>
      </p:sp>
      <p:sp>
        <p:nvSpPr>
          <p:cNvPr id="26626" name="Content Placeholder 2">
            <a:extLst>
              <a:ext uri="{FF2B5EF4-FFF2-40B4-BE49-F238E27FC236}">
                <a16:creationId xmlns:a16="http://schemas.microsoft.com/office/drawing/2014/main" id="{1D6B54CA-71C3-44FE-B2C6-B19F7F15676E}"/>
              </a:ext>
            </a:extLst>
          </p:cNvPr>
          <p:cNvSpPr>
            <a:spLocks noGrp="1"/>
          </p:cNvSpPr>
          <p:nvPr>
            <p:ph idx="1"/>
          </p:nvPr>
        </p:nvSpPr>
        <p:spPr/>
        <p:txBody>
          <a:bodyPr/>
          <a:lstStyle/>
          <a:p>
            <a:r>
              <a:rPr lang="en-CA" altLang="en-US" dirty="0"/>
              <a:t>Sometimes, companies perform services or provide goods (i.e., earn revenue) before customers pay. </a:t>
            </a:r>
          </a:p>
          <a:p>
            <a:r>
              <a:rPr lang="en-CA" altLang="en-US" dirty="0"/>
              <a:t>Because the cash that is owed for these goods has not yet been received, the revenue that was earned has not been recorded. </a:t>
            </a:r>
          </a:p>
          <a:p>
            <a:r>
              <a:rPr lang="en-CA" altLang="en-US" dirty="0"/>
              <a:t>Revenues that have been recognized (earned) but have not yet been realized in cash and recorded at the end of the accounting period are called </a:t>
            </a:r>
            <a:r>
              <a:rPr lang="en-CA" altLang="en-US" b="1" dirty="0"/>
              <a:t>accrued revenues</a:t>
            </a:r>
            <a:r>
              <a:rPr lang="en-CA" altLang="en-US" dirty="0"/>
              <a:t>.</a:t>
            </a:r>
          </a:p>
          <a:p>
            <a:r>
              <a:rPr lang="en-CA" altLang="en-US" dirty="0"/>
              <a:t>Examples include interest on notes receivable and rent of facilities that have not been received in cash by the end of the accounting period.</a:t>
            </a:r>
          </a:p>
          <a:p>
            <a:r>
              <a:rPr lang="en-CA" altLang="en-US" b="1" dirty="0"/>
              <a:t>Adjusting Entry: </a:t>
            </a:r>
            <a:r>
              <a:rPr lang="en-CA" altLang="en-US" dirty="0"/>
              <a:t>Increase Asset and Increase Revenue</a:t>
            </a:r>
            <a:endParaRPr lang="en-US" alt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C1748F4D-7E2C-4F43-96B1-4B5814154AD0}"/>
              </a:ext>
            </a:extLst>
          </p:cNvPr>
          <p:cNvSpPr>
            <a:spLocks noGrp="1"/>
          </p:cNvSpPr>
          <p:nvPr>
            <p:ph type="title"/>
          </p:nvPr>
        </p:nvSpPr>
        <p:spPr/>
        <p:txBody>
          <a:bodyPr/>
          <a:lstStyle/>
          <a:p>
            <a:r>
              <a:rPr lang="en-US" altLang="en-US"/>
              <a:t>Deferred Expenses</a:t>
            </a:r>
          </a:p>
        </p:txBody>
      </p:sp>
      <p:sp>
        <p:nvSpPr>
          <p:cNvPr id="27650" name="Content Placeholder 2">
            <a:extLst>
              <a:ext uri="{FF2B5EF4-FFF2-40B4-BE49-F238E27FC236}">
                <a16:creationId xmlns:a16="http://schemas.microsoft.com/office/drawing/2014/main" id="{1ADE01E6-3DD1-47FB-8F2B-9FDE0D12343E}"/>
              </a:ext>
            </a:extLst>
          </p:cNvPr>
          <p:cNvSpPr>
            <a:spLocks noGrp="1"/>
          </p:cNvSpPr>
          <p:nvPr>
            <p:ph idx="1"/>
          </p:nvPr>
        </p:nvSpPr>
        <p:spPr/>
        <p:txBody>
          <a:bodyPr/>
          <a:lstStyle/>
          <a:p>
            <a:r>
              <a:rPr lang="en-CA" altLang="en-US" dirty="0"/>
              <a:t>Assets represent resources with probable future benefits to the company. Many assets are used over time to generate revenues, including supplies, prepaid rent, prepaid insurance, buildings, equipment, and intangible assets, such as patents and copyrights. These assets are </a:t>
            </a:r>
            <a:r>
              <a:rPr lang="en-CA" altLang="en-US" b="1" dirty="0"/>
              <a:t>deferred expenses</a:t>
            </a:r>
            <a:r>
              <a:rPr lang="en-CA" altLang="en-US" dirty="0"/>
              <a:t>. </a:t>
            </a:r>
          </a:p>
          <a:p>
            <a:r>
              <a:rPr lang="en-CA" altLang="en-US" dirty="0"/>
              <a:t>At the end of every period, an adjustment must be made to record the amount of the asset that was used during the period.</a:t>
            </a:r>
          </a:p>
          <a:p>
            <a:r>
              <a:rPr lang="en-CA" altLang="en-US" dirty="0"/>
              <a:t>Examples include supplies, prepaid expenses (e.g., rent, insurance) and buildings and equipment.</a:t>
            </a:r>
          </a:p>
          <a:p>
            <a:r>
              <a:rPr lang="en-CA" altLang="en-US" b="1" dirty="0"/>
              <a:t>Adjusting Entry: </a:t>
            </a:r>
            <a:r>
              <a:rPr lang="en-CA" altLang="en-US" dirty="0"/>
              <a:t>Increase Expense and Decrease Asset</a:t>
            </a:r>
            <a:endParaRPr lang="en-US" alt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D7E1BC3B-DA8E-4B46-95D8-B5DC53A87BDF}"/>
              </a:ext>
            </a:extLst>
          </p:cNvPr>
          <p:cNvSpPr>
            <a:spLocks noGrp="1"/>
          </p:cNvSpPr>
          <p:nvPr>
            <p:ph type="title"/>
          </p:nvPr>
        </p:nvSpPr>
        <p:spPr/>
        <p:txBody>
          <a:bodyPr/>
          <a:lstStyle/>
          <a:p>
            <a:r>
              <a:rPr lang="en-US" altLang="en-US"/>
              <a:t>Property, Plant, and Equipment Part 1</a:t>
            </a:r>
          </a:p>
        </p:txBody>
      </p:sp>
      <p:sp>
        <p:nvSpPr>
          <p:cNvPr id="29698" name="Content Placeholder 2">
            <a:extLst>
              <a:ext uri="{FF2B5EF4-FFF2-40B4-BE49-F238E27FC236}">
                <a16:creationId xmlns:a16="http://schemas.microsoft.com/office/drawing/2014/main" id="{70B9CFD4-2DDE-439C-AF16-D28E93E612A3}"/>
              </a:ext>
            </a:extLst>
          </p:cNvPr>
          <p:cNvSpPr>
            <a:spLocks noGrp="1"/>
          </p:cNvSpPr>
          <p:nvPr>
            <p:ph idx="1"/>
          </p:nvPr>
        </p:nvSpPr>
        <p:spPr/>
        <p:txBody>
          <a:bodyPr/>
          <a:lstStyle/>
          <a:p>
            <a:r>
              <a:rPr lang="en-CA" altLang="en-US" dirty="0"/>
              <a:t>Property, plant, and equipment increases when assets are </a:t>
            </a:r>
            <a:r>
              <a:rPr lang="en-CA" altLang="en-US" i="1" dirty="0"/>
              <a:t>acquired</a:t>
            </a:r>
            <a:r>
              <a:rPr lang="en-CA" altLang="en-US" dirty="0"/>
              <a:t> and decreases when they are </a:t>
            </a:r>
            <a:r>
              <a:rPr lang="en-CA" altLang="en-US" i="1" dirty="0"/>
              <a:t>sold </a:t>
            </a:r>
            <a:r>
              <a:rPr lang="en-CA" altLang="en-US" dirty="0"/>
              <a:t>or disposed of. </a:t>
            </a:r>
          </a:p>
          <a:p>
            <a:endParaRPr lang="en-CA" altLang="en-US" sz="800" dirty="0"/>
          </a:p>
          <a:p>
            <a:r>
              <a:rPr lang="en-CA" altLang="en-US" dirty="0"/>
              <a:t>However, these assets are also </a:t>
            </a:r>
            <a:r>
              <a:rPr lang="en-CA" altLang="en-US" i="1" dirty="0"/>
              <a:t>used</a:t>
            </a:r>
            <a:r>
              <a:rPr lang="en-CA" altLang="en-US" dirty="0"/>
              <a:t> over time to generate revenue. Thus, a part of their cost should be expensed in the same period (following the expense recognition principle).</a:t>
            </a:r>
          </a:p>
          <a:p>
            <a:endParaRPr lang="en-CA" altLang="en-US" sz="800" dirty="0"/>
          </a:p>
          <a:p>
            <a:r>
              <a:rPr lang="en-CA" altLang="en-US" dirty="0"/>
              <a:t>These assets depreciate over time as they are used. In accounting, </a:t>
            </a:r>
            <a:r>
              <a:rPr lang="en-CA" altLang="en-US" i="1" dirty="0"/>
              <a:t>depreciation is an allocation of an asset’s cost over its estimated useful life to the organization</a:t>
            </a:r>
            <a:r>
              <a:rPr lang="en-CA" altLang="en-US" dirty="0"/>
              <a:t>.</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34E8DB19-DD45-4557-AB47-4BF312916A47}"/>
              </a:ext>
            </a:extLst>
          </p:cNvPr>
          <p:cNvSpPr>
            <a:spLocks noGrp="1"/>
          </p:cNvSpPr>
          <p:nvPr>
            <p:ph type="title"/>
          </p:nvPr>
        </p:nvSpPr>
        <p:spPr/>
        <p:txBody>
          <a:bodyPr/>
          <a:lstStyle/>
          <a:p>
            <a:r>
              <a:rPr lang="en-US" altLang="en-US"/>
              <a:t>Property, Plant, and Equipment Part 2</a:t>
            </a:r>
          </a:p>
        </p:txBody>
      </p:sp>
      <p:sp>
        <p:nvSpPr>
          <p:cNvPr id="30722" name="Content Placeholder 2">
            <a:extLst>
              <a:ext uri="{FF2B5EF4-FFF2-40B4-BE49-F238E27FC236}">
                <a16:creationId xmlns:a16="http://schemas.microsoft.com/office/drawing/2014/main" id="{A7CEE857-35EC-42A7-9F15-997BA7EADC12}"/>
              </a:ext>
            </a:extLst>
          </p:cNvPr>
          <p:cNvSpPr>
            <a:spLocks noGrp="1"/>
          </p:cNvSpPr>
          <p:nvPr>
            <p:ph idx="1"/>
          </p:nvPr>
        </p:nvSpPr>
        <p:spPr/>
        <p:txBody>
          <a:bodyPr/>
          <a:lstStyle/>
          <a:p>
            <a:r>
              <a:rPr lang="en-CA" altLang="en-US"/>
              <a:t>To keep track of the asset’s historical cost, the amount that has been used is not subtracted directly from the asset account. Instead, it is accumulated in a new kind of account called a contra account. </a:t>
            </a:r>
          </a:p>
          <a:p>
            <a:r>
              <a:rPr lang="en-CA" altLang="en-US"/>
              <a:t>A </a:t>
            </a:r>
            <a:r>
              <a:rPr lang="en-CA" altLang="en-US" b="1"/>
              <a:t>contra account</a:t>
            </a:r>
            <a:r>
              <a:rPr lang="en-CA" altLang="en-US"/>
              <a:t> is an account that is an offset to, or reduction of, the primary account. It is </a:t>
            </a:r>
            <a:r>
              <a:rPr lang="en-CA" altLang="en-US" i="1"/>
              <a:t>directly related to another account, but has a balance on the opposite side of the T-account</a:t>
            </a:r>
            <a:r>
              <a:rPr lang="en-CA" altLang="en-US"/>
              <a:t>. </a:t>
            </a:r>
          </a:p>
          <a:p>
            <a:r>
              <a:rPr lang="en-CA" altLang="en-US"/>
              <a:t>As a contra account increases, the net amount (the account balance less the contra-account balance) decreases. For property, plant, and equipment, the contra account is called </a:t>
            </a:r>
            <a:r>
              <a:rPr lang="en-CA" altLang="en-US" i="1"/>
              <a:t>accumulated depreciation</a:t>
            </a:r>
            <a:r>
              <a:rPr lang="en-CA" altLang="en-US"/>
              <a:t>.</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477305D8-E4D6-49A7-B25E-47BFE3C84C0D}"/>
              </a:ext>
            </a:extLst>
          </p:cNvPr>
          <p:cNvSpPr>
            <a:spLocks noGrp="1"/>
          </p:cNvSpPr>
          <p:nvPr>
            <p:ph type="title"/>
          </p:nvPr>
        </p:nvSpPr>
        <p:spPr/>
        <p:txBody>
          <a:bodyPr/>
          <a:lstStyle/>
          <a:p>
            <a:r>
              <a:rPr lang="en-US" altLang="en-US"/>
              <a:t>Property, Plant, and Equipment Part 3</a:t>
            </a:r>
          </a:p>
        </p:txBody>
      </p:sp>
      <p:sp>
        <p:nvSpPr>
          <p:cNvPr id="31746" name="Content Placeholder 2">
            <a:extLst>
              <a:ext uri="{FF2B5EF4-FFF2-40B4-BE49-F238E27FC236}">
                <a16:creationId xmlns:a16="http://schemas.microsoft.com/office/drawing/2014/main" id="{B9FBC08C-BD58-4F28-AA65-4F75F9E2B1B5}"/>
              </a:ext>
            </a:extLst>
          </p:cNvPr>
          <p:cNvSpPr>
            <a:spLocks noGrp="1"/>
          </p:cNvSpPr>
          <p:nvPr>
            <p:ph idx="1"/>
          </p:nvPr>
        </p:nvSpPr>
        <p:spPr/>
        <p:txBody>
          <a:bodyPr/>
          <a:lstStyle/>
          <a:p>
            <a:r>
              <a:rPr lang="en-CA" altLang="en-US" dirty="0"/>
              <a:t>Since assets have debit balances, accumulated depreciation has a credit balance.</a:t>
            </a:r>
          </a:p>
          <a:p>
            <a:endParaRPr lang="en-CA" altLang="en-US" sz="800" dirty="0"/>
          </a:p>
          <a:p>
            <a:r>
              <a:rPr lang="en-CA" altLang="en-US" dirty="0"/>
              <a:t>On the statement of financial position, the amount that is reported for property, plant, and equipment is its </a:t>
            </a:r>
            <a:r>
              <a:rPr lang="en-CA" altLang="en-US" b="1" dirty="0"/>
              <a:t>carrying amount (book value or net book value)</a:t>
            </a:r>
            <a:r>
              <a:rPr lang="en-CA" altLang="en-US" dirty="0"/>
              <a:t>, which equals the ending balance in the property, plant, and equipment account minus the ending balance in the accumulated depreciation account. </a:t>
            </a:r>
            <a:endParaRPr lang="en-US" alt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88B22170-B093-4BF8-AD53-4562CB8F09A8}"/>
              </a:ext>
            </a:extLst>
          </p:cNvPr>
          <p:cNvSpPr>
            <a:spLocks noGrp="1"/>
          </p:cNvSpPr>
          <p:nvPr>
            <p:ph type="title"/>
          </p:nvPr>
        </p:nvSpPr>
        <p:spPr/>
        <p:txBody>
          <a:bodyPr/>
          <a:lstStyle/>
          <a:p>
            <a:r>
              <a:rPr lang="en-US" altLang="en-US"/>
              <a:t>Accrued Expenses</a:t>
            </a:r>
          </a:p>
        </p:txBody>
      </p:sp>
      <p:sp>
        <p:nvSpPr>
          <p:cNvPr id="28674" name="Content Placeholder 2">
            <a:extLst>
              <a:ext uri="{FF2B5EF4-FFF2-40B4-BE49-F238E27FC236}">
                <a16:creationId xmlns:a16="http://schemas.microsoft.com/office/drawing/2014/main" id="{2EB420B6-5123-4DB8-9643-DA75893383AD}"/>
              </a:ext>
            </a:extLst>
          </p:cNvPr>
          <p:cNvSpPr>
            <a:spLocks noGrp="1"/>
          </p:cNvSpPr>
          <p:nvPr>
            <p:ph idx="1"/>
          </p:nvPr>
        </p:nvSpPr>
        <p:spPr>
          <a:xfrm>
            <a:off x="457200" y="1066800"/>
            <a:ext cx="8229600" cy="5334000"/>
          </a:xfrm>
        </p:spPr>
        <p:txBody>
          <a:bodyPr/>
          <a:lstStyle/>
          <a:p>
            <a:r>
              <a:rPr lang="en-CA" altLang="en-US" dirty="0"/>
              <a:t>Numerous expenses are incurred in the current period without being paid for until the next period. </a:t>
            </a:r>
          </a:p>
          <a:p>
            <a:r>
              <a:rPr lang="en-CA" altLang="en-US" dirty="0"/>
              <a:t>Common examples include interest expense incurred on debt, wages expense for the wages owed to employees, and utilities expense for water, gas, and electricity used during the period for which the company has not yet received a bill. </a:t>
            </a:r>
          </a:p>
          <a:p>
            <a:r>
              <a:rPr lang="en-CA" altLang="en-US" dirty="0"/>
              <a:t>These </a:t>
            </a:r>
            <a:r>
              <a:rPr lang="en-CA" altLang="en-US" b="1" dirty="0"/>
              <a:t>accrued expenses</a:t>
            </a:r>
            <a:r>
              <a:rPr lang="en-CA" altLang="en-US" dirty="0"/>
              <a:t> accumulate (accrue) over time but are not recognized until the end of the period in an adjusting entry.</a:t>
            </a:r>
          </a:p>
          <a:p>
            <a:r>
              <a:rPr lang="en-CA" altLang="en-US" dirty="0"/>
              <a:t>Examples include interest payable, wages payable, and property taxes payable.</a:t>
            </a:r>
          </a:p>
          <a:p>
            <a:r>
              <a:rPr lang="en-CA" altLang="en-US" b="1" dirty="0"/>
              <a:t>Adjusting Entry:</a:t>
            </a:r>
            <a:r>
              <a:rPr lang="en-CA" altLang="en-US" dirty="0"/>
              <a:t> Increase Expense and Increase Liability</a:t>
            </a:r>
            <a:endParaRPr lang="en-US" altLang="en-US"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B32A4D09-370B-42CE-A249-53500445DD11}"/>
              </a:ext>
            </a:extLst>
          </p:cNvPr>
          <p:cNvSpPr>
            <a:spLocks noGrp="1"/>
          </p:cNvSpPr>
          <p:nvPr>
            <p:ph type="title"/>
          </p:nvPr>
        </p:nvSpPr>
        <p:spPr/>
        <p:txBody>
          <a:bodyPr/>
          <a:lstStyle/>
          <a:p>
            <a:r>
              <a:rPr lang="en-US" altLang="en-US"/>
              <a:t>Materiality and Adjusting Entries</a:t>
            </a:r>
          </a:p>
        </p:txBody>
      </p:sp>
      <p:sp>
        <p:nvSpPr>
          <p:cNvPr id="32770" name="Content Placeholder 2">
            <a:extLst>
              <a:ext uri="{FF2B5EF4-FFF2-40B4-BE49-F238E27FC236}">
                <a16:creationId xmlns:a16="http://schemas.microsoft.com/office/drawing/2014/main" id="{0B002386-7AC0-4344-BFD0-628EBED1BDAF}"/>
              </a:ext>
            </a:extLst>
          </p:cNvPr>
          <p:cNvSpPr>
            <a:spLocks noGrp="1"/>
          </p:cNvSpPr>
          <p:nvPr>
            <p:ph idx="1"/>
          </p:nvPr>
        </p:nvSpPr>
        <p:spPr>
          <a:xfrm>
            <a:off x="457200" y="1066800"/>
            <a:ext cx="8229600" cy="5334000"/>
          </a:xfrm>
        </p:spPr>
        <p:txBody>
          <a:bodyPr/>
          <a:lstStyle/>
          <a:p>
            <a:r>
              <a:rPr lang="en-CA" altLang="en-US" dirty="0"/>
              <a:t>The term “materiality” describes the relative significance of financial statement information in influencing economic decisions made by financial statement users. </a:t>
            </a:r>
          </a:p>
          <a:p>
            <a:r>
              <a:rPr lang="en-CA" altLang="en-US" b="1" dirty="0"/>
              <a:t>Materiality</a:t>
            </a:r>
            <a:r>
              <a:rPr lang="en-CA" altLang="en-US" dirty="0"/>
              <a:t> suggests that minor items that would not influence the decisions of financial statement users are to be treated in the most cost-beneficial way in compliance with the accounting standards. </a:t>
            </a:r>
          </a:p>
          <a:p>
            <a:r>
              <a:rPr lang="en-CA" altLang="en-US" dirty="0"/>
              <a:t>Materiality is a qualitative factor in the conceptual framework providing scope for accountants to apply the pervasive constraint that benefit to users must outweigh the cost of reporting accounting information when they record the effects of transactions and prepare financial disclosure.</a:t>
            </a:r>
            <a:endParaRPr lang="en-US" altLang="en-US"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5D52110A-03FC-4B6D-81D4-AF70DF9A1FCB}"/>
              </a:ext>
            </a:extLst>
          </p:cNvPr>
          <p:cNvSpPr>
            <a:spLocks noGrp="1"/>
          </p:cNvSpPr>
          <p:nvPr>
            <p:ph type="title"/>
          </p:nvPr>
        </p:nvSpPr>
        <p:spPr/>
        <p:txBody>
          <a:bodyPr/>
          <a:lstStyle/>
          <a:p>
            <a:r>
              <a:rPr lang="en-US" altLang="en-US" dirty="0"/>
              <a:t>Preparing Financial Statements</a:t>
            </a:r>
          </a:p>
        </p:txBody>
      </p:sp>
      <p:sp>
        <p:nvSpPr>
          <p:cNvPr id="35842" name="Content Placeholder 2">
            <a:extLst>
              <a:ext uri="{FF2B5EF4-FFF2-40B4-BE49-F238E27FC236}">
                <a16:creationId xmlns:a16="http://schemas.microsoft.com/office/drawing/2014/main" id="{AA810D83-F4FE-440D-9241-D9B8FA4767C7}"/>
              </a:ext>
            </a:extLst>
          </p:cNvPr>
          <p:cNvSpPr>
            <a:spLocks noGrp="1"/>
          </p:cNvSpPr>
          <p:nvPr>
            <p:ph idx="1"/>
          </p:nvPr>
        </p:nvSpPr>
        <p:spPr/>
        <p:txBody>
          <a:bodyPr/>
          <a:lstStyle/>
          <a:p>
            <a:r>
              <a:rPr lang="en-CA" altLang="en-US" dirty="0"/>
              <a:t>Financial statements are interrelated; that is, the numbers from one statement flow into the next statement.</a:t>
            </a:r>
          </a:p>
          <a:p>
            <a:r>
              <a:rPr lang="en-CA" dirty="0"/>
              <a:t>The adjusted balances in the trial balance is what is used to prepare the statement of earnings, the statement of changes in equity (which includes a column for retained earnings), and then the statement of financial position.</a:t>
            </a:r>
          </a:p>
          <a:p>
            <a:r>
              <a:rPr lang="en-CA" altLang="en-US" dirty="0"/>
              <a:t>Exhibit 4.4 highlights the interconnections </a:t>
            </a:r>
            <a:r>
              <a:rPr lang="en-CA" dirty="0"/>
              <a:t>among the statements using the fundamental accounting equation, followed by a summary structure of each statement highlighting relationships.  This is shown on the next slide.</a:t>
            </a:r>
            <a:endParaRPr lang="en-CA" alt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77405301-CE64-4D35-8F17-B272BF607C7C}"/>
              </a:ext>
            </a:extLst>
          </p:cNvPr>
          <p:cNvSpPr>
            <a:spLocks noGrp="1"/>
          </p:cNvSpPr>
          <p:nvPr>
            <p:ph type="title"/>
          </p:nvPr>
        </p:nvSpPr>
        <p:spPr/>
        <p:txBody>
          <a:bodyPr/>
          <a:lstStyle/>
          <a:p>
            <a:r>
              <a:rPr lang="en-US" altLang="en-US" dirty="0"/>
              <a:t>Interrelationships of Financial Statements</a:t>
            </a:r>
          </a:p>
        </p:txBody>
      </p:sp>
      <p:pic>
        <p:nvPicPr>
          <p:cNvPr id="2" name="Picture 1">
            <a:extLst>
              <a:ext uri="{FF2B5EF4-FFF2-40B4-BE49-F238E27FC236}">
                <a16:creationId xmlns:a16="http://schemas.microsoft.com/office/drawing/2014/main" id="{9D4EE1B8-B788-434F-84F4-8C843EDCC93D}"/>
              </a:ext>
            </a:extLst>
          </p:cNvPr>
          <p:cNvPicPr>
            <a:picLocks noChangeAspect="1"/>
          </p:cNvPicPr>
          <p:nvPr/>
        </p:nvPicPr>
        <p:blipFill>
          <a:blip r:embed="rId2"/>
          <a:stretch>
            <a:fillRect/>
          </a:stretch>
        </p:blipFill>
        <p:spPr>
          <a:xfrm>
            <a:off x="342900" y="1295400"/>
            <a:ext cx="8458200" cy="4719675"/>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5D52110A-03FC-4B6D-81D4-AF70DF9A1FCB}"/>
              </a:ext>
            </a:extLst>
          </p:cNvPr>
          <p:cNvSpPr>
            <a:spLocks noGrp="1"/>
          </p:cNvSpPr>
          <p:nvPr>
            <p:ph type="title"/>
          </p:nvPr>
        </p:nvSpPr>
        <p:spPr/>
        <p:txBody>
          <a:bodyPr/>
          <a:lstStyle/>
          <a:p>
            <a:r>
              <a:rPr lang="en-US" altLang="en-US"/>
              <a:t>Statement of Earnings</a:t>
            </a:r>
          </a:p>
        </p:txBody>
      </p:sp>
      <p:sp>
        <p:nvSpPr>
          <p:cNvPr id="35842" name="Content Placeholder 2">
            <a:extLst>
              <a:ext uri="{FF2B5EF4-FFF2-40B4-BE49-F238E27FC236}">
                <a16:creationId xmlns:a16="http://schemas.microsoft.com/office/drawing/2014/main" id="{AA810D83-F4FE-440D-9241-D9B8FA4767C7}"/>
              </a:ext>
            </a:extLst>
          </p:cNvPr>
          <p:cNvSpPr>
            <a:spLocks noGrp="1"/>
          </p:cNvSpPr>
          <p:nvPr>
            <p:ph idx="1"/>
          </p:nvPr>
        </p:nvSpPr>
        <p:spPr/>
        <p:txBody>
          <a:bodyPr/>
          <a:lstStyle/>
          <a:p>
            <a:r>
              <a:rPr lang="en-CA" altLang="en-US" dirty="0"/>
              <a:t>The statement of earnings is prepared first, because net earnings is a component of retained earnings, which is reported on the statement of changes in equity. </a:t>
            </a:r>
          </a:p>
          <a:p>
            <a:endParaRPr lang="en-CA" altLang="en-US" sz="800" dirty="0"/>
          </a:p>
          <a:p>
            <a:r>
              <a:rPr lang="en-CA" altLang="en-US" dirty="0"/>
              <a:t>The earnings per share (EPS) ratio is reported on the statement of earnings. It is widely used in evaluating the operating performance and profitability of a company and is the only ratio required to be disclosed on the statement or in the notes to the financial statements. </a:t>
            </a:r>
          </a:p>
        </p:txBody>
      </p:sp>
    </p:spTree>
    <p:extLst>
      <p:ext uri="{BB962C8B-B14F-4D97-AF65-F5344CB8AC3E}">
        <p14:creationId xmlns:p14="http://schemas.microsoft.com/office/powerpoint/2010/main" val="398439163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2E8CEC92-A29A-4D48-B12D-C69644EF1B00}"/>
              </a:ext>
            </a:extLst>
          </p:cNvPr>
          <p:cNvSpPr>
            <a:spLocks noGrp="1"/>
          </p:cNvSpPr>
          <p:nvPr>
            <p:ph type="title"/>
          </p:nvPr>
        </p:nvSpPr>
        <p:spPr/>
        <p:txBody>
          <a:bodyPr/>
          <a:lstStyle/>
          <a:p>
            <a:r>
              <a:rPr lang="en-US" altLang="en-US"/>
              <a:t>Earnings Per Share (EPS)</a:t>
            </a:r>
          </a:p>
        </p:txBody>
      </p:sp>
      <p:sp>
        <p:nvSpPr>
          <p:cNvPr id="36866" name="Content Placeholder 2">
            <a:extLst>
              <a:ext uri="{FF2B5EF4-FFF2-40B4-BE49-F238E27FC236}">
                <a16:creationId xmlns:a16="http://schemas.microsoft.com/office/drawing/2014/main" id="{E4090683-B1C5-48F6-A887-F9AC4884DF7B}"/>
              </a:ext>
            </a:extLst>
          </p:cNvPr>
          <p:cNvSpPr>
            <a:spLocks noGrp="1"/>
          </p:cNvSpPr>
          <p:nvPr>
            <p:ph idx="1"/>
          </p:nvPr>
        </p:nvSpPr>
        <p:spPr/>
        <p:txBody>
          <a:bodyPr/>
          <a:lstStyle/>
          <a:p>
            <a:r>
              <a:rPr lang="en-CA" altLang="en-US" dirty="0"/>
              <a:t>The actual calculation for EPS is quite complex and appropriate for intermediate accounting courses; however, in this text we simplify the earnings per share calculation to be:</a:t>
            </a:r>
          </a:p>
          <a:p>
            <a:endParaRPr lang="en-CA" altLang="en-US" dirty="0"/>
          </a:p>
          <a:p>
            <a:pPr marL="0" indent="0">
              <a:buNone/>
            </a:pPr>
            <a:r>
              <a:rPr lang="en-CA" altLang="en-US" dirty="0"/>
              <a:t> Earnings per share  = </a:t>
            </a:r>
            <a:endParaRPr lang="en-US" altLang="en-US" dirty="0"/>
          </a:p>
        </p:txBody>
      </p:sp>
      <p:sp>
        <p:nvSpPr>
          <p:cNvPr id="6" name="TextBox 5">
            <a:extLst>
              <a:ext uri="{FF2B5EF4-FFF2-40B4-BE49-F238E27FC236}">
                <a16:creationId xmlns:a16="http://schemas.microsoft.com/office/drawing/2014/main" id="{CD154007-268E-DB49-92D5-4CC948B3D286}"/>
              </a:ext>
            </a:extLst>
          </p:cNvPr>
          <p:cNvSpPr txBox="1"/>
          <p:nvPr/>
        </p:nvSpPr>
        <p:spPr>
          <a:xfrm>
            <a:off x="4876800" y="3124200"/>
            <a:ext cx="1906099" cy="492443"/>
          </a:xfrm>
          <a:prstGeom prst="rect">
            <a:avLst/>
          </a:prstGeom>
          <a:noFill/>
        </p:spPr>
        <p:txBody>
          <a:bodyPr wrap="none" rtlCol="0">
            <a:spAutoFit/>
          </a:bodyPr>
          <a:lstStyle/>
          <a:p>
            <a:r>
              <a:rPr lang="en-US" sz="2600" dirty="0">
                <a:latin typeface="+mn-lt"/>
              </a:rPr>
              <a:t>Net earnings</a:t>
            </a:r>
          </a:p>
        </p:txBody>
      </p:sp>
      <p:sp>
        <p:nvSpPr>
          <p:cNvPr id="7" name="TextBox 6">
            <a:extLst>
              <a:ext uri="{FF2B5EF4-FFF2-40B4-BE49-F238E27FC236}">
                <a16:creationId xmlns:a16="http://schemas.microsoft.com/office/drawing/2014/main" id="{475DA4AE-DCB8-2441-A6C2-B32EF8703081}"/>
              </a:ext>
            </a:extLst>
          </p:cNvPr>
          <p:cNvSpPr txBox="1"/>
          <p:nvPr/>
        </p:nvSpPr>
        <p:spPr>
          <a:xfrm>
            <a:off x="3523548" y="3527048"/>
            <a:ext cx="4994701" cy="892552"/>
          </a:xfrm>
          <a:prstGeom prst="rect">
            <a:avLst/>
          </a:prstGeom>
          <a:noFill/>
        </p:spPr>
        <p:txBody>
          <a:bodyPr wrap="none" rtlCol="0">
            <a:spAutoFit/>
          </a:bodyPr>
          <a:lstStyle/>
          <a:p>
            <a:pPr algn="ctr"/>
            <a:r>
              <a:rPr lang="en-US" sz="2600" dirty="0">
                <a:latin typeface="+mn-lt"/>
              </a:rPr>
              <a:t>Average number of common shares</a:t>
            </a:r>
          </a:p>
          <a:p>
            <a:pPr algn="ctr"/>
            <a:r>
              <a:rPr lang="en-US" sz="2600" dirty="0">
                <a:latin typeface="+mn-lt"/>
              </a:rPr>
              <a:t>Outstanding during the period</a:t>
            </a:r>
          </a:p>
        </p:txBody>
      </p:sp>
      <p:cxnSp>
        <p:nvCxnSpPr>
          <p:cNvPr id="4" name="Straight Connector 3">
            <a:extLst>
              <a:ext uri="{FF2B5EF4-FFF2-40B4-BE49-F238E27FC236}">
                <a16:creationId xmlns:a16="http://schemas.microsoft.com/office/drawing/2014/main" id="{6740135A-340A-FC42-9EC5-0A9C523A9E2C}"/>
              </a:ext>
            </a:extLst>
          </p:cNvPr>
          <p:cNvCxnSpPr/>
          <p:nvPr/>
        </p:nvCxnSpPr>
        <p:spPr>
          <a:xfrm>
            <a:off x="3581400" y="3581400"/>
            <a:ext cx="493684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40D901BC-CD86-482C-9A23-5D7754B299AD}"/>
              </a:ext>
            </a:extLst>
          </p:cNvPr>
          <p:cNvSpPr>
            <a:spLocks noGrp="1"/>
          </p:cNvSpPr>
          <p:nvPr>
            <p:ph type="title"/>
          </p:nvPr>
        </p:nvSpPr>
        <p:spPr/>
        <p:txBody>
          <a:bodyPr/>
          <a:lstStyle/>
          <a:p>
            <a:r>
              <a:rPr lang="en-US" altLang="en-US"/>
              <a:t>Statement of Changes in Equity</a:t>
            </a:r>
          </a:p>
        </p:txBody>
      </p:sp>
      <p:sp>
        <p:nvSpPr>
          <p:cNvPr id="37890" name="Content Placeholder 2">
            <a:extLst>
              <a:ext uri="{FF2B5EF4-FFF2-40B4-BE49-F238E27FC236}">
                <a16:creationId xmlns:a16="http://schemas.microsoft.com/office/drawing/2014/main" id="{F996A86F-454C-4C0E-924B-68777513550D}"/>
              </a:ext>
            </a:extLst>
          </p:cNvPr>
          <p:cNvSpPr>
            <a:spLocks noGrp="1"/>
          </p:cNvSpPr>
          <p:nvPr>
            <p:ph idx="1"/>
          </p:nvPr>
        </p:nvSpPr>
        <p:spPr/>
        <p:txBody>
          <a:bodyPr/>
          <a:lstStyle/>
          <a:p>
            <a:r>
              <a:rPr lang="en-CA" altLang="en-US" dirty="0"/>
              <a:t>The final amount from the statement of earnings, net earnings, is </a:t>
            </a:r>
            <a:r>
              <a:rPr lang="en-CA" altLang="en-US" i="1" dirty="0"/>
              <a:t>carried forward</a:t>
            </a:r>
            <a:r>
              <a:rPr lang="en-CA" altLang="en-US" dirty="0"/>
              <a:t> to the retained earnings column of the statement of changes in equity. </a:t>
            </a:r>
          </a:p>
          <a:p>
            <a:endParaRPr lang="en-CA" altLang="en-US" sz="800" dirty="0"/>
          </a:p>
          <a:p>
            <a:r>
              <a:rPr lang="en-CA" altLang="en-US" dirty="0"/>
              <a:t>Net earnings is an increase in Retained Earnings.</a:t>
            </a:r>
          </a:p>
          <a:p>
            <a:endParaRPr lang="en-CA" altLang="en-US" sz="800" dirty="0"/>
          </a:p>
          <a:p>
            <a:r>
              <a:rPr lang="en-CA" altLang="en-US" dirty="0"/>
              <a:t>Dividends declared during the period are deducted to arrive at the ending balance. The issuance of additional shares is added to the beginning balance of contributed capital. </a:t>
            </a:r>
            <a:endParaRPr lang="en-US" alt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C7B9E869-6966-4FDF-BE99-D377F0BCE84D}"/>
              </a:ext>
            </a:extLst>
          </p:cNvPr>
          <p:cNvSpPr>
            <a:spLocks noGrp="1"/>
          </p:cNvSpPr>
          <p:nvPr>
            <p:ph type="title"/>
          </p:nvPr>
        </p:nvSpPr>
        <p:spPr/>
        <p:txBody>
          <a:bodyPr/>
          <a:lstStyle/>
          <a:p>
            <a:r>
              <a:rPr lang="en-US" altLang="en-US"/>
              <a:t>Statement of Financial Position</a:t>
            </a:r>
          </a:p>
        </p:txBody>
      </p:sp>
      <p:sp>
        <p:nvSpPr>
          <p:cNvPr id="38914" name="Content Placeholder 2">
            <a:extLst>
              <a:ext uri="{FF2B5EF4-FFF2-40B4-BE49-F238E27FC236}">
                <a16:creationId xmlns:a16="http://schemas.microsoft.com/office/drawing/2014/main" id="{7436DF96-8CD4-492E-A476-04D959E82E2C}"/>
              </a:ext>
            </a:extLst>
          </p:cNvPr>
          <p:cNvSpPr>
            <a:spLocks noGrp="1"/>
          </p:cNvSpPr>
          <p:nvPr>
            <p:ph idx="1"/>
          </p:nvPr>
        </p:nvSpPr>
        <p:spPr/>
        <p:txBody>
          <a:bodyPr/>
          <a:lstStyle/>
          <a:p>
            <a:r>
              <a:rPr lang="en-CA" altLang="en-US" dirty="0"/>
              <a:t>The ending balances under the headings contributed capital, retained earnings, and other components on the statement of changes in equity are included on the statement of financial position.</a:t>
            </a:r>
          </a:p>
          <a:p>
            <a:endParaRPr lang="en-CA" altLang="en-US" sz="800" dirty="0"/>
          </a:p>
          <a:p>
            <a:r>
              <a:rPr lang="en-CA" altLang="en-US" dirty="0"/>
              <a:t>Assets are listed in order of liquidity, while liabilities are listed in order of time to maturity. </a:t>
            </a:r>
          </a:p>
          <a:p>
            <a:endParaRPr lang="en-CA" altLang="en-US" sz="800" dirty="0"/>
          </a:p>
          <a:p>
            <a:r>
              <a:rPr lang="en-CA" altLang="en-US" dirty="0"/>
              <a:t>Current assets are those used or turned into cash within one year. Current liabilities are obligations to be settled within one year.</a:t>
            </a:r>
          </a:p>
          <a:p>
            <a:endParaRPr lang="en-US" alt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AC9021B3-5DDD-4232-ADC3-1278E8E09C4F}"/>
              </a:ext>
            </a:extLst>
          </p:cNvPr>
          <p:cNvSpPr>
            <a:spLocks noGrp="1"/>
          </p:cNvSpPr>
          <p:nvPr>
            <p:ph type="title"/>
          </p:nvPr>
        </p:nvSpPr>
        <p:spPr/>
        <p:txBody>
          <a:bodyPr/>
          <a:lstStyle/>
          <a:p>
            <a:r>
              <a:rPr lang="en-US" altLang="en-US"/>
              <a:t>Net Profit Margin Ratio</a:t>
            </a:r>
          </a:p>
        </p:txBody>
      </p:sp>
      <p:sp>
        <p:nvSpPr>
          <p:cNvPr id="3" name="Content Placeholder 2">
            <a:extLst>
              <a:ext uri="{FF2B5EF4-FFF2-40B4-BE49-F238E27FC236}">
                <a16:creationId xmlns:a16="http://schemas.microsoft.com/office/drawing/2014/main" id="{6711ABC4-DBDD-6A42-8792-90487683792A}"/>
              </a:ext>
            </a:extLst>
          </p:cNvPr>
          <p:cNvSpPr>
            <a:spLocks noGrp="1"/>
          </p:cNvSpPr>
          <p:nvPr>
            <p:ph idx="1"/>
          </p:nvPr>
        </p:nvSpPr>
        <p:spPr/>
        <p:txBody>
          <a:bodyPr/>
          <a:lstStyle/>
          <a:p>
            <a:pPr>
              <a:buFont typeface="Wingdings 3" pitchFamily="2" charset="2"/>
              <a:buChar char=""/>
              <a:defRPr/>
            </a:pPr>
            <a:r>
              <a:rPr lang="en-CA" dirty="0"/>
              <a:t>The net profit margin ratio compares net earnings to the revenues generated during the period. </a:t>
            </a:r>
          </a:p>
          <a:p>
            <a:pPr marL="0" indent="0">
              <a:buFont typeface="Wingdings 3" pitchFamily="2" charset="2"/>
              <a:buNone/>
              <a:defRPr/>
            </a:pPr>
            <a:endParaRPr lang="en-CA" sz="1000" b="1" cap="all" dirty="0"/>
          </a:p>
          <a:p>
            <a:pPr marL="0" indent="0">
              <a:buFont typeface="Wingdings 3" pitchFamily="2" charset="2"/>
              <a:buNone/>
              <a:defRPr/>
            </a:pPr>
            <a:r>
              <a:rPr lang="en-CA" b="1" dirty="0"/>
              <a:t>ANALYTICAL QUESTION</a:t>
            </a:r>
            <a:r>
              <a:rPr lang="en-CA" dirty="0"/>
              <a:t> → How effective is management at controlling revenues and expenses to generate more earnings?</a:t>
            </a:r>
          </a:p>
          <a:p>
            <a:pPr marL="0" indent="0">
              <a:buFont typeface="Wingdings 3" pitchFamily="2" charset="2"/>
              <a:buNone/>
              <a:defRPr/>
            </a:pPr>
            <a:r>
              <a:rPr lang="en-CA" b="1" dirty="0"/>
              <a:t>RATIO AND COMPARISONS</a:t>
            </a:r>
            <a:r>
              <a:rPr lang="en-CA" dirty="0"/>
              <a:t> → The net profit margin ratio is useful in answering this question. It is computed as follows:</a:t>
            </a:r>
          </a:p>
          <a:p>
            <a:pPr marL="0" indent="0">
              <a:buFont typeface="Wingdings 3" pitchFamily="2" charset="2"/>
              <a:buNone/>
              <a:defRPr/>
            </a:pPr>
            <a:endParaRPr lang="en-CA" dirty="0"/>
          </a:p>
          <a:p>
            <a:pPr marL="0" indent="0">
              <a:buFont typeface="Wingdings 3" pitchFamily="2" charset="2"/>
              <a:buNone/>
              <a:defRPr/>
            </a:pPr>
            <a:endParaRPr lang="en-CA" dirty="0"/>
          </a:p>
          <a:p>
            <a:pPr marL="0" indent="0">
              <a:buFont typeface="Wingdings 3" pitchFamily="2" charset="2"/>
              <a:buNone/>
              <a:defRPr/>
            </a:pPr>
            <a:endParaRPr lang="en-CA" sz="1200" dirty="0"/>
          </a:p>
          <a:p>
            <a:pPr marL="0" indent="0">
              <a:buFont typeface="Wingdings 3" pitchFamily="2" charset="2"/>
              <a:buNone/>
              <a:defRPr/>
            </a:pPr>
            <a:r>
              <a:rPr lang="en-CA" dirty="0"/>
              <a:t>*</a:t>
            </a:r>
            <a:r>
              <a:rPr lang="en-CA" sz="1800" dirty="0"/>
              <a:t>Net sales is sales revenue less any returns from customers, and other reductions. For companies in the service industry, total operating revenues equals net sales.</a:t>
            </a:r>
          </a:p>
        </p:txBody>
      </p:sp>
      <p:sp>
        <p:nvSpPr>
          <p:cNvPr id="14339" name="Rectangle 7">
            <a:extLst>
              <a:ext uri="{FF2B5EF4-FFF2-40B4-BE49-F238E27FC236}">
                <a16:creationId xmlns:a16="http://schemas.microsoft.com/office/drawing/2014/main" id="{54A66033-143E-4779-91BD-5CE02CA08323}"/>
              </a:ext>
            </a:extLst>
          </p:cNvPr>
          <p:cNvSpPr>
            <a:spLocks noChangeArrowheads="1"/>
          </p:cNvSpPr>
          <p:nvPr/>
        </p:nvSpPr>
        <p:spPr bwMode="auto">
          <a:xfrm>
            <a:off x="3505200" y="4572000"/>
            <a:ext cx="5486400"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eaLnBrk="1" hangingPunct="1">
              <a:spcBef>
                <a:spcPct val="0"/>
              </a:spcBef>
              <a:buClrTx/>
              <a:buSzTx/>
              <a:buFontTx/>
              <a:buNone/>
            </a:pPr>
            <a:r>
              <a:rPr lang="en-CA" altLang="en-US" b="1" dirty="0">
                <a:solidFill>
                  <a:srgbClr val="000000"/>
                </a:solidFill>
                <a:latin typeface="+mn-lt"/>
              </a:rPr>
              <a:t>                Net Earnings</a:t>
            </a:r>
            <a:br>
              <a:rPr lang="en-CA" altLang="en-US" b="1" dirty="0">
                <a:solidFill>
                  <a:srgbClr val="000000"/>
                </a:solidFill>
                <a:latin typeface="+mn-lt"/>
              </a:rPr>
            </a:br>
            <a:r>
              <a:rPr lang="en-CA" altLang="en-US" b="1" dirty="0">
                <a:solidFill>
                  <a:srgbClr val="000000"/>
                </a:solidFill>
                <a:latin typeface="+mn-lt"/>
              </a:rPr>
              <a:t>Net Sales (or Operating revenues)*</a:t>
            </a:r>
            <a:endParaRPr lang="en-CA" altLang="en-US" dirty="0">
              <a:latin typeface="+mn-lt"/>
            </a:endParaRPr>
          </a:p>
        </p:txBody>
      </p:sp>
      <p:sp>
        <p:nvSpPr>
          <p:cNvPr id="14340" name="Rectangle 9">
            <a:extLst>
              <a:ext uri="{FF2B5EF4-FFF2-40B4-BE49-F238E27FC236}">
                <a16:creationId xmlns:a16="http://schemas.microsoft.com/office/drawing/2014/main" id="{01F185DD-7DF6-4142-8E06-DBC66A0D08EC}"/>
              </a:ext>
            </a:extLst>
          </p:cNvPr>
          <p:cNvSpPr>
            <a:spLocks noChangeArrowheads="1"/>
          </p:cNvSpPr>
          <p:nvPr/>
        </p:nvSpPr>
        <p:spPr bwMode="auto">
          <a:xfrm>
            <a:off x="1182669" y="4572000"/>
            <a:ext cx="1868525"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ClrTx/>
              <a:buSzTx/>
              <a:buFontTx/>
              <a:buNone/>
            </a:pPr>
            <a:r>
              <a:rPr lang="en-CA" altLang="en-US" b="1" dirty="0">
                <a:solidFill>
                  <a:srgbClr val="000000"/>
                </a:solidFill>
                <a:latin typeface="+mn-lt"/>
              </a:rPr>
              <a:t>Net Profit</a:t>
            </a:r>
          </a:p>
          <a:p>
            <a:pPr algn="ctr" eaLnBrk="1" hangingPunct="1">
              <a:spcBef>
                <a:spcPct val="0"/>
              </a:spcBef>
              <a:buClrTx/>
              <a:buSzTx/>
              <a:buFontTx/>
              <a:buNone/>
            </a:pPr>
            <a:r>
              <a:rPr lang="en-CA" altLang="en-US" b="1" dirty="0">
                <a:solidFill>
                  <a:srgbClr val="000000"/>
                </a:solidFill>
                <a:latin typeface="+mn-lt"/>
              </a:rPr>
              <a:t>Margin Ratio </a:t>
            </a:r>
            <a:endParaRPr lang="en-CA" altLang="en-US" dirty="0">
              <a:latin typeface="+mn-lt"/>
            </a:endParaRPr>
          </a:p>
        </p:txBody>
      </p:sp>
      <p:sp>
        <p:nvSpPr>
          <p:cNvPr id="14341" name="Rectangle 11">
            <a:extLst>
              <a:ext uri="{FF2B5EF4-FFF2-40B4-BE49-F238E27FC236}">
                <a16:creationId xmlns:a16="http://schemas.microsoft.com/office/drawing/2014/main" id="{ECD0A9BF-890F-49C3-A1CC-5EC2AE4FBA4E}"/>
              </a:ext>
            </a:extLst>
          </p:cNvPr>
          <p:cNvSpPr>
            <a:spLocks noChangeArrowheads="1"/>
          </p:cNvSpPr>
          <p:nvPr/>
        </p:nvSpPr>
        <p:spPr bwMode="auto">
          <a:xfrm>
            <a:off x="3048000" y="4800600"/>
            <a:ext cx="2619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eaLnBrk="1" hangingPunct="1">
              <a:spcBef>
                <a:spcPct val="0"/>
              </a:spcBef>
              <a:buClrTx/>
              <a:buSzTx/>
              <a:buFontTx/>
              <a:buNone/>
            </a:pPr>
            <a:r>
              <a:rPr lang="en-CA" altLang="en-US" sz="2400" b="1" dirty="0">
                <a:solidFill>
                  <a:srgbClr val="000000"/>
                </a:solidFill>
                <a:latin typeface="Arial" panose="020B0604020202020204" pitchFamily="34" charset="0"/>
              </a:rPr>
              <a:t> =</a:t>
            </a:r>
            <a:endParaRPr lang="en-CA" altLang="en-US" sz="2400" dirty="0">
              <a:latin typeface="Arial" panose="020B0604020202020204" pitchFamily="34" charset="0"/>
            </a:endParaRPr>
          </a:p>
        </p:txBody>
      </p:sp>
      <p:sp>
        <p:nvSpPr>
          <p:cNvPr id="14342" name="Rectangle 15">
            <a:extLst>
              <a:ext uri="{FF2B5EF4-FFF2-40B4-BE49-F238E27FC236}">
                <a16:creationId xmlns:a16="http://schemas.microsoft.com/office/drawing/2014/main" id="{D8FE6D85-19A5-4C4E-914F-13413F5A94E7}"/>
              </a:ext>
            </a:extLst>
          </p:cNvPr>
          <p:cNvSpPr>
            <a:spLocks noChangeArrowheads="1"/>
          </p:cNvSpPr>
          <p:nvPr/>
        </p:nvSpPr>
        <p:spPr bwMode="auto">
          <a:xfrm>
            <a:off x="3505200" y="4953000"/>
            <a:ext cx="4876800" cy="460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eaLnBrk="1" hangingPunct="1">
              <a:spcBef>
                <a:spcPct val="0"/>
              </a:spcBef>
              <a:buClrTx/>
              <a:buSzTx/>
              <a:buFontTx/>
              <a:buNone/>
            </a:pPr>
            <a:endParaRPr lang="en-CA" altLang="en-US" sz="2400">
              <a:latin typeface="Arial" panose="020B0604020202020204" pitchFamily="34"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A68564B6-F167-417D-9E19-369D295BA046}"/>
              </a:ext>
            </a:extLst>
          </p:cNvPr>
          <p:cNvSpPr>
            <a:spLocks noGrp="1"/>
          </p:cNvSpPr>
          <p:nvPr>
            <p:ph type="title"/>
          </p:nvPr>
        </p:nvSpPr>
        <p:spPr/>
        <p:txBody>
          <a:bodyPr/>
          <a:lstStyle/>
          <a:p>
            <a:r>
              <a:rPr lang="en-US" altLang="en-US"/>
              <a:t>Net Profit Margin Ratio Interpretations</a:t>
            </a:r>
          </a:p>
        </p:txBody>
      </p:sp>
      <p:sp>
        <p:nvSpPr>
          <p:cNvPr id="39938" name="Content Placeholder 2">
            <a:extLst>
              <a:ext uri="{FF2B5EF4-FFF2-40B4-BE49-F238E27FC236}">
                <a16:creationId xmlns:a16="http://schemas.microsoft.com/office/drawing/2014/main" id="{4EEC8D3B-F382-4F97-9FC6-58277FE0A472}"/>
              </a:ext>
            </a:extLst>
          </p:cNvPr>
          <p:cNvSpPr>
            <a:spLocks noGrp="1"/>
          </p:cNvSpPr>
          <p:nvPr>
            <p:ph idx="1"/>
          </p:nvPr>
        </p:nvSpPr>
        <p:spPr/>
        <p:txBody>
          <a:bodyPr/>
          <a:lstStyle/>
          <a:p>
            <a:r>
              <a:rPr lang="en-CA" altLang="en-US" dirty="0"/>
              <a:t>The net profit ratio margin measures how much profit is earned as a percentage of revenues generated during the period. </a:t>
            </a:r>
          </a:p>
          <a:p>
            <a:endParaRPr lang="en-CA" altLang="en-US" sz="800" dirty="0"/>
          </a:p>
          <a:p>
            <a:r>
              <a:rPr lang="en-CA" altLang="en-US" dirty="0"/>
              <a:t>A rising net profit margin ratio signals more efficient management of sales and expenses. </a:t>
            </a:r>
          </a:p>
          <a:p>
            <a:endParaRPr lang="en-CA" altLang="en-US" sz="800" dirty="0"/>
          </a:p>
          <a:p>
            <a:r>
              <a:rPr lang="en-CA" altLang="en-US" dirty="0"/>
              <a:t>Financial analysts expect well-run businesses to maintain or improve their net profit margin ratio over time. </a:t>
            </a:r>
            <a:endParaRPr lang="en-US" alt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F10F54F5-760C-4603-BD39-3E3B44B0FD85}"/>
              </a:ext>
            </a:extLst>
          </p:cNvPr>
          <p:cNvSpPr>
            <a:spLocks noGrp="1"/>
          </p:cNvSpPr>
          <p:nvPr>
            <p:ph type="title"/>
          </p:nvPr>
        </p:nvSpPr>
        <p:spPr/>
        <p:txBody>
          <a:bodyPr/>
          <a:lstStyle/>
          <a:p>
            <a:r>
              <a:rPr lang="en-US" altLang="en-US"/>
              <a:t>Return on Equity (ROE)</a:t>
            </a:r>
          </a:p>
        </p:txBody>
      </p:sp>
      <p:sp>
        <p:nvSpPr>
          <p:cNvPr id="3" name="Content Placeholder 2">
            <a:extLst>
              <a:ext uri="{FF2B5EF4-FFF2-40B4-BE49-F238E27FC236}">
                <a16:creationId xmlns:a16="http://schemas.microsoft.com/office/drawing/2014/main" id="{E5EF47C0-4612-EB4F-9F9F-CE3DCFDCCE3E}"/>
              </a:ext>
            </a:extLst>
          </p:cNvPr>
          <p:cNvSpPr>
            <a:spLocks noGrp="1"/>
          </p:cNvSpPr>
          <p:nvPr>
            <p:ph idx="1"/>
          </p:nvPr>
        </p:nvSpPr>
        <p:spPr/>
        <p:txBody>
          <a:bodyPr/>
          <a:lstStyle/>
          <a:p>
            <a:pPr>
              <a:buFont typeface="Wingdings 3" pitchFamily="2" charset="2"/>
              <a:buChar char=""/>
              <a:defRPr/>
            </a:pPr>
            <a:r>
              <a:rPr lang="en-CA" dirty="0"/>
              <a:t>The return on equity relates net earnings to shareholders’ investment in the business. </a:t>
            </a:r>
          </a:p>
          <a:p>
            <a:pPr marL="0" indent="0">
              <a:buFont typeface="Wingdings 3" pitchFamily="2" charset="2"/>
              <a:buNone/>
              <a:defRPr/>
            </a:pPr>
            <a:r>
              <a:rPr lang="en-CA" b="1" dirty="0"/>
              <a:t>ANALYTICAL QUESTION</a:t>
            </a:r>
            <a:r>
              <a:rPr lang="en-CA" dirty="0"/>
              <a:t> → How well has management used shareholder investment to generate net earnings during the period?</a:t>
            </a:r>
          </a:p>
          <a:p>
            <a:pPr marL="0" indent="0">
              <a:buFont typeface="Wingdings 3" pitchFamily="2" charset="2"/>
              <a:buNone/>
              <a:defRPr/>
            </a:pPr>
            <a:r>
              <a:rPr lang="en-CA" b="1" dirty="0"/>
              <a:t>RATIO AND COMPARISONS</a:t>
            </a:r>
            <a:r>
              <a:rPr lang="en-CA" dirty="0"/>
              <a:t> → The return on equity (ROE) helps in answering this question. It is computed as follows:</a:t>
            </a:r>
          </a:p>
          <a:p>
            <a:pPr marL="0" indent="0">
              <a:buFont typeface="Wingdings 3" pitchFamily="2" charset="2"/>
              <a:buNone/>
              <a:defRPr/>
            </a:pPr>
            <a:r>
              <a:rPr lang="en-CA" dirty="0"/>
              <a:t>​​</a:t>
            </a:r>
          </a:p>
          <a:p>
            <a:pPr marL="0" indent="0">
              <a:buFont typeface="Wingdings 3" pitchFamily="2" charset="2"/>
              <a:buNone/>
              <a:defRPr/>
            </a:pPr>
            <a:endParaRPr lang="en-CA" dirty="0"/>
          </a:p>
          <a:p>
            <a:pPr marL="0" indent="0">
              <a:buFont typeface="Wingdings 3" pitchFamily="2" charset="2"/>
              <a:buNone/>
              <a:defRPr/>
            </a:pPr>
            <a:br>
              <a:rPr lang="en-CA" dirty="0"/>
            </a:br>
            <a:r>
              <a:rPr lang="en-CA" sz="1800" dirty="0"/>
              <a:t>*Average shareholders’ equity = (Beginning shareholders’ equity + Ending shareholders’ equity) ÷ 2</a:t>
            </a:r>
            <a:br>
              <a:rPr lang="en-CA" dirty="0"/>
            </a:br>
            <a:endParaRPr lang="en-US" dirty="0"/>
          </a:p>
        </p:txBody>
      </p:sp>
      <p:grpSp>
        <p:nvGrpSpPr>
          <p:cNvPr id="15363" name="Group 4">
            <a:extLst>
              <a:ext uri="{FF2B5EF4-FFF2-40B4-BE49-F238E27FC236}">
                <a16:creationId xmlns:a16="http://schemas.microsoft.com/office/drawing/2014/main" id="{2213CCBF-91DE-40DD-B2DC-BFD741AB99DF}"/>
              </a:ext>
            </a:extLst>
          </p:cNvPr>
          <p:cNvGrpSpPr>
            <a:grpSpLocks/>
          </p:cNvGrpSpPr>
          <p:nvPr/>
        </p:nvGrpSpPr>
        <p:grpSpPr bwMode="auto">
          <a:xfrm>
            <a:off x="914400" y="4365625"/>
            <a:ext cx="7315200" cy="892175"/>
            <a:chOff x="336" y="3470"/>
            <a:chExt cx="4608" cy="562"/>
          </a:xfrm>
        </p:grpSpPr>
        <p:sp>
          <p:nvSpPr>
            <p:cNvPr id="15364" name="Text Box 6">
              <a:extLst>
                <a:ext uri="{FF2B5EF4-FFF2-40B4-BE49-F238E27FC236}">
                  <a16:creationId xmlns:a16="http://schemas.microsoft.com/office/drawing/2014/main" id="{C8BC956C-D9E3-495B-B3EC-98F2A95832A8}"/>
                </a:ext>
              </a:extLst>
            </p:cNvPr>
            <p:cNvSpPr txBox="1">
              <a:spLocks noChangeArrowheads="1"/>
            </p:cNvSpPr>
            <p:nvPr/>
          </p:nvSpPr>
          <p:spPr bwMode="auto">
            <a:xfrm>
              <a:off x="336" y="3470"/>
              <a:ext cx="1104"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b="1" dirty="0">
                  <a:latin typeface="+mn-lt"/>
                </a:rPr>
                <a:t>Return on</a:t>
              </a:r>
              <a:br>
                <a:rPr lang="en-CA" altLang="en-US" b="1" dirty="0">
                  <a:latin typeface="+mn-lt"/>
                </a:rPr>
              </a:br>
              <a:r>
                <a:rPr lang="en-CA" altLang="en-US" b="1" dirty="0">
                  <a:latin typeface="+mn-lt"/>
                </a:rPr>
                <a:t>Equity</a:t>
              </a:r>
            </a:p>
          </p:txBody>
        </p:sp>
        <p:sp>
          <p:nvSpPr>
            <p:cNvPr id="15365" name="Text Box 7">
              <a:extLst>
                <a:ext uri="{FF2B5EF4-FFF2-40B4-BE49-F238E27FC236}">
                  <a16:creationId xmlns:a16="http://schemas.microsoft.com/office/drawing/2014/main" id="{972D78B6-6209-4AD7-B34F-F6170363C349}"/>
                </a:ext>
              </a:extLst>
            </p:cNvPr>
            <p:cNvSpPr txBox="1">
              <a:spLocks noChangeArrowheads="1"/>
            </p:cNvSpPr>
            <p:nvPr/>
          </p:nvSpPr>
          <p:spPr bwMode="auto">
            <a:xfrm>
              <a:off x="1440" y="3602"/>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50000"/>
                </a:spcBef>
                <a:buClrTx/>
                <a:buSzTx/>
                <a:buFontTx/>
                <a:buNone/>
              </a:pPr>
              <a:r>
                <a:rPr lang="en-CA" altLang="en-US" b="1" dirty="0">
                  <a:latin typeface="+mn-lt"/>
                </a:rPr>
                <a:t>=</a:t>
              </a:r>
            </a:p>
          </p:txBody>
        </p:sp>
        <p:sp>
          <p:nvSpPr>
            <p:cNvPr id="15366" name="Text Box 8">
              <a:extLst>
                <a:ext uri="{FF2B5EF4-FFF2-40B4-BE49-F238E27FC236}">
                  <a16:creationId xmlns:a16="http://schemas.microsoft.com/office/drawing/2014/main" id="{1333B69C-30EE-4543-AFEF-23FCE1B9B64E}"/>
                </a:ext>
              </a:extLst>
            </p:cNvPr>
            <p:cNvSpPr txBox="1">
              <a:spLocks noChangeArrowheads="1"/>
            </p:cNvSpPr>
            <p:nvPr/>
          </p:nvSpPr>
          <p:spPr bwMode="auto">
            <a:xfrm>
              <a:off x="2544" y="3482"/>
              <a:ext cx="144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50000"/>
                </a:spcBef>
                <a:buClrTx/>
                <a:buSzTx/>
                <a:buFontTx/>
                <a:buNone/>
              </a:pPr>
              <a:r>
                <a:rPr lang="en-CA" altLang="en-US" b="1" dirty="0">
                  <a:latin typeface="+mn-lt"/>
                </a:rPr>
                <a:t>Net Earnings</a:t>
              </a:r>
            </a:p>
          </p:txBody>
        </p:sp>
        <p:sp>
          <p:nvSpPr>
            <p:cNvPr id="15367" name="Text Box 9">
              <a:extLst>
                <a:ext uri="{FF2B5EF4-FFF2-40B4-BE49-F238E27FC236}">
                  <a16:creationId xmlns:a16="http://schemas.microsoft.com/office/drawing/2014/main" id="{8E2536AE-18D1-43E7-A547-C92E952911DA}"/>
                </a:ext>
              </a:extLst>
            </p:cNvPr>
            <p:cNvSpPr txBox="1">
              <a:spLocks noChangeArrowheads="1"/>
            </p:cNvSpPr>
            <p:nvPr/>
          </p:nvSpPr>
          <p:spPr bwMode="auto">
            <a:xfrm>
              <a:off x="1776" y="3722"/>
              <a:ext cx="316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50000"/>
                </a:spcBef>
                <a:buClrTx/>
                <a:buSzTx/>
                <a:buFontTx/>
                <a:buNone/>
              </a:pPr>
              <a:r>
                <a:rPr lang="en-CA" altLang="en-US" b="1" dirty="0">
                  <a:latin typeface="+mn-lt"/>
                </a:rPr>
                <a:t>Average Shareholders’ Equity</a:t>
              </a:r>
              <a:r>
                <a:rPr lang="en-CA" altLang="en-US" b="1" baseline="30000" dirty="0">
                  <a:latin typeface="+mn-lt"/>
                </a:rPr>
                <a:t>*</a:t>
              </a:r>
              <a:r>
                <a:rPr lang="en-CA" altLang="en-US" b="1" dirty="0">
                  <a:latin typeface="+mn-lt"/>
                </a:rPr>
                <a:t> </a:t>
              </a:r>
            </a:p>
          </p:txBody>
        </p:sp>
        <p:sp>
          <p:nvSpPr>
            <p:cNvPr id="15368" name="Line 10">
              <a:extLst>
                <a:ext uri="{FF2B5EF4-FFF2-40B4-BE49-F238E27FC236}">
                  <a16:creationId xmlns:a16="http://schemas.microsoft.com/office/drawing/2014/main" id="{D3540460-4599-45E3-A897-670F74042543}"/>
                </a:ext>
              </a:extLst>
            </p:cNvPr>
            <p:cNvSpPr>
              <a:spLocks noChangeShapeType="1"/>
            </p:cNvSpPr>
            <p:nvPr/>
          </p:nvSpPr>
          <p:spPr bwMode="auto">
            <a:xfrm>
              <a:off x="1680" y="3762"/>
              <a:ext cx="30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dirty="0"/>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0EE717EE-19D2-427A-B86A-95ADEE6B71DB}"/>
              </a:ext>
            </a:extLst>
          </p:cNvPr>
          <p:cNvSpPr>
            <a:spLocks noGrp="1"/>
          </p:cNvSpPr>
          <p:nvPr>
            <p:ph type="title"/>
          </p:nvPr>
        </p:nvSpPr>
        <p:spPr/>
        <p:txBody>
          <a:bodyPr/>
          <a:lstStyle/>
          <a:p>
            <a:r>
              <a:rPr lang="en-US" altLang="en-US"/>
              <a:t>Return on Equity Interpretations</a:t>
            </a:r>
          </a:p>
        </p:txBody>
      </p:sp>
      <p:sp>
        <p:nvSpPr>
          <p:cNvPr id="40962" name="Content Placeholder 2">
            <a:extLst>
              <a:ext uri="{FF2B5EF4-FFF2-40B4-BE49-F238E27FC236}">
                <a16:creationId xmlns:a16="http://schemas.microsoft.com/office/drawing/2014/main" id="{FF72F229-8AFD-43F2-BAD4-FF4F68B18F02}"/>
              </a:ext>
            </a:extLst>
          </p:cNvPr>
          <p:cNvSpPr>
            <a:spLocks noGrp="1"/>
          </p:cNvSpPr>
          <p:nvPr>
            <p:ph idx="1"/>
          </p:nvPr>
        </p:nvSpPr>
        <p:spPr/>
        <p:txBody>
          <a:bodyPr/>
          <a:lstStyle/>
          <a:p>
            <a:r>
              <a:rPr lang="en-CA" dirty="0"/>
              <a:t>ROE measures how much the firm earned, on average, for every dollar invested by shareholders.</a:t>
            </a:r>
          </a:p>
          <a:p>
            <a:endParaRPr lang="en-CA" altLang="en-US" sz="800" dirty="0"/>
          </a:p>
          <a:p>
            <a:r>
              <a:rPr lang="en-CA" altLang="en-US" dirty="0"/>
              <a:t>In the long run, firms with higher ROE are expected to have higher share prices than firms with lower ROE, all other things being equal. </a:t>
            </a:r>
          </a:p>
          <a:p>
            <a:endParaRPr lang="en-CA" altLang="en-US" sz="800" dirty="0"/>
          </a:p>
          <a:p>
            <a:r>
              <a:rPr lang="en-CA" altLang="en-US" dirty="0"/>
              <a:t>Managers, analysts, and creditors use this ratio to assess the effectiveness of the company’s overall business strategy (its operating, investing, and financing strategies).</a:t>
            </a:r>
            <a:endParaRPr lang="en-US" alt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858241F7-7C02-405B-B6F6-42570F2F238B}"/>
              </a:ext>
            </a:extLst>
          </p:cNvPr>
          <p:cNvSpPr>
            <a:spLocks noGrp="1"/>
          </p:cNvSpPr>
          <p:nvPr>
            <p:ph type="title"/>
          </p:nvPr>
        </p:nvSpPr>
        <p:spPr/>
        <p:txBody>
          <a:bodyPr/>
          <a:lstStyle/>
          <a:p>
            <a:r>
              <a:rPr lang="en-US" altLang="en-US" dirty="0"/>
              <a:t>How Transactions Affect Ratios</a:t>
            </a:r>
          </a:p>
        </p:txBody>
      </p:sp>
      <p:sp>
        <p:nvSpPr>
          <p:cNvPr id="41986" name="Content Placeholder 2">
            <a:extLst>
              <a:ext uri="{FF2B5EF4-FFF2-40B4-BE49-F238E27FC236}">
                <a16:creationId xmlns:a16="http://schemas.microsoft.com/office/drawing/2014/main" id="{CCBDFE5D-5517-4E8E-BEFA-29ED1B969CD3}"/>
              </a:ext>
            </a:extLst>
          </p:cNvPr>
          <p:cNvSpPr>
            <a:spLocks noGrp="1"/>
          </p:cNvSpPr>
          <p:nvPr>
            <p:ph idx="1"/>
          </p:nvPr>
        </p:nvSpPr>
        <p:spPr/>
        <p:txBody>
          <a:bodyPr/>
          <a:lstStyle/>
          <a:p>
            <a:r>
              <a:rPr lang="en-CA" dirty="0"/>
              <a:t>Investors and creditors follow companies key financial ratios closely, therefore, company managers closely follow the effects of their own actual and planned transactions on these same key financial ratios. </a:t>
            </a:r>
          </a:p>
          <a:p>
            <a:r>
              <a:rPr lang="en-CA" dirty="0"/>
              <a:t>The following three-step process helps compute the effects of transactions on ratios:</a:t>
            </a:r>
          </a:p>
          <a:p>
            <a:pPr lvl="1">
              <a:buFont typeface="+mj-lt"/>
              <a:buAutoNum type="arabicPeriod"/>
            </a:pPr>
            <a:r>
              <a:rPr lang="en-CA" dirty="0"/>
              <a:t>Journalize the transaction to determine its effects on various accounts.</a:t>
            </a:r>
          </a:p>
          <a:p>
            <a:pPr lvl="1">
              <a:buFont typeface="+mj-lt"/>
              <a:buAutoNum type="arabicPeriod"/>
            </a:pPr>
            <a:r>
              <a:rPr lang="en-CA" dirty="0"/>
              <a:t>Determine which accounts belong to the financial statement subtotals or totals in the numerator (top) and denominator (bottom) of the ratio and the direction of their effects.</a:t>
            </a:r>
          </a:p>
          <a:p>
            <a:pPr lvl="1">
              <a:buFont typeface="+mj-lt"/>
              <a:buAutoNum type="arabicPeriod"/>
            </a:pPr>
            <a:r>
              <a:rPr lang="en-CA" dirty="0"/>
              <a:t>Evaluate the combined effects from step 2 on the ratio.</a:t>
            </a:r>
          </a:p>
          <a:p>
            <a:endParaRPr lang="en-US" alt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858241F7-7C02-405B-B6F6-42570F2F238B}"/>
              </a:ext>
            </a:extLst>
          </p:cNvPr>
          <p:cNvSpPr>
            <a:spLocks noGrp="1"/>
          </p:cNvSpPr>
          <p:nvPr>
            <p:ph type="title"/>
          </p:nvPr>
        </p:nvSpPr>
        <p:spPr/>
        <p:txBody>
          <a:bodyPr/>
          <a:lstStyle/>
          <a:p>
            <a:r>
              <a:rPr lang="en-US" altLang="en-US" dirty="0"/>
              <a:t>Closing the Books</a:t>
            </a:r>
          </a:p>
        </p:txBody>
      </p:sp>
      <p:sp>
        <p:nvSpPr>
          <p:cNvPr id="41986" name="Content Placeholder 2">
            <a:extLst>
              <a:ext uri="{FF2B5EF4-FFF2-40B4-BE49-F238E27FC236}">
                <a16:creationId xmlns:a16="http://schemas.microsoft.com/office/drawing/2014/main" id="{CCBDFE5D-5517-4E8E-BEFA-29ED1B969CD3}"/>
              </a:ext>
            </a:extLst>
          </p:cNvPr>
          <p:cNvSpPr>
            <a:spLocks noGrp="1"/>
          </p:cNvSpPr>
          <p:nvPr>
            <p:ph idx="1"/>
          </p:nvPr>
        </p:nvSpPr>
        <p:spPr/>
        <p:txBody>
          <a:bodyPr/>
          <a:lstStyle/>
          <a:p>
            <a:r>
              <a:rPr lang="en-CA" dirty="0"/>
              <a:t>All adjusting entries are recorded and posted to update the accounts and then the financial statements are prepared. </a:t>
            </a:r>
          </a:p>
          <a:p>
            <a:endParaRPr lang="en-CA" sz="800" dirty="0"/>
          </a:p>
          <a:p>
            <a:r>
              <a:rPr lang="en-CA" dirty="0"/>
              <a:t>A </a:t>
            </a:r>
            <a:r>
              <a:rPr lang="en-CA" i="1" dirty="0"/>
              <a:t>closing process</a:t>
            </a:r>
            <a:r>
              <a:rPr lang="en-CA" dirty="0"/>
              <a:t> is needed as the last step in the accounting cycle to mark the end of the current period and the beginning of the next. </a:t>
            </a:r>
          </a:p>
        </p:txBody>
      </p:sp>
    </p:spTree>
    <p:extLst>
      <p:ext uri="{BB962C8B-B14F-4D97-AF65-F5344CB8AC3E}">
        <p14:creationId xmlns:p14="http://schemas.microsoft.com/office/powerpoint/2010/main" val="370669231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858241F7-7C02-405B-B6F6-42570F2F238B}"/>
              </a:ext>
            </a:extLst>
          </p:cNvPr>
          <p:cNvSpPr>
            <a:spLocks noGrp="1"/>
          </p:cNvSpPr>
          <p:nvPr>
            <p:ph type="title"/>
          </p:nvPr>
        </p:nvSpPr>
        <p:spPr/>
        <p:txBody>
          <a:bodyPr/>
          <a:lstStyle/>
          <a:p>
            <a:r>
              <a:rPr lang="en-US" altLang="en-US" dirty="0"/>
              <a:t>End of the Accounting Cycle</a:t>
            </a:r>
          </a:p>
        </p:txBody>
      </p:sp>
      <p:sp>
        <p:nvSpPr>
          <p:cNvPr id="41986" name="Content Placeholder 2">
            <a:extLst>
              <a:ext uri="{FF2B5EF4-FFF2-40B4-BE49-F238E27FC236}">
                <a16:creationId xmlns:a16="http://schemas.microsoft.com/office/drawing/2014/main" id="{CCBDFE5D-5517-4E8E-BEFA-29ED1B969CD3}"/>
              </a:ext>
            </a:extLst>
          </p:cNvPr>
          <p:cNvSpPr>
            <a:spLocks noGrp="1"/>
          </p:cNvSpPr>
          <p:nvPr>
            <p:ph idx="1"/>
          </p:nvPr>
        </p:nvSpPr>
        <p:spPr/>
        <p:txBody>
          <a:bodyPr/>
          <a:lstStyle/>
          <a:p>
            <a:r>
              <a:rPr lang="en-CA" altLang="en-US"/>
              <a:t>Statement of financial position accounts are </a:t>
            </a:r>
            <a:r>
              <a:rPr lang="en-CA" altLang="en-US" b="1"/>
              <a:t>permanent (real) accounts </a:t>
            </a:r>
            <a:r>
              <a:rPr lang="en-CA" altLang="en-US"/>
              <a:t>and are not reduced to zero at the end of the accounting period. The ending balance for the current accounting period becomes the beginning account balance for the next accounting period.</a:t>
            </a:r>
          </a:p>
          <a:p>
            <a:r>
              <a:rPr lang="en-CA" altLang="en-US"/>
              <a:t>However, revenue, expense, gain, loss, and dividend accounts are used to accumulate transaction effects for the </a:t>
            </a:r>
            <a:r>
              <a:rPr lang="en-CA" altLang="en-US" i="1"/>
              <a:t>current accounting period only</a:t>
            </a:r>
            <a:r>
              <a:rPr lang="en-CA" altLang="en-US"/>
              <a:t>; they are called </a:t>
            </a:r>
            <a:r>
              <a:rPr lang="en-CA" altLang="en-US" b="1"/>
              <a:t>temporary (nominal) accounts</a:t>
            </a:r>
            <a:r>
              <a:rPr lang="en-CA" altLang="en-US"/>
              <a:t>. </a:t>
            </a:r>
          </a:p>
          <a:p>
            <a:r>
              <a:rPr lang="en-CA" altLang="en-US"/>
              <a:t>At the end of each period, the balances in the temporary accounts are transferred, or closed, to the retained earnings account by recording </a:t>
            </a:r>
            <a:r>
              <a:rPr lang="en-CA" altLang="en-US" b="1"/>
              <a:t>closing entries</a:t>
            </a:r>
            <a:r>
              <a:rPr lang="en-CA" altLang="en-US"/>
              <a:t>.</a:t>
            </a:r>
          </a:p>
          <a:p>
            <a:endParaRPr lang="en-US" altLang="en-US"/>
          </a:p>
        </p:txBody>
      </p:sp>
    </p:spTree>
    <p:extLst>
      <p:ext uri="{BB962C8B-B14F-4D97-AF65-F5344CB8AC3E}">
        <p14:creationId xmlns:p14="http://schemas.microsoft.com/office/powerpoint/2010/main" val="225787351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88126140-125F-4516-95A9-B98C3A81D6FD}"/>
              </a:ext>
            </a:extLst>
          </p:cNvPr>
          <p:cNvSpPr>
            <a:spLocks noGrp="1"/>
          </p:cNvSpPr>
          <p:nvPr>
            <p:ph type="title"/>
          </p:nvPr>
        </p:nvSpPr>
        <p:spPr/>
        <p:txBody>
          <a:bodyPr/>
          <a:lstStyle/>
          <a:p>
            <a:r>
              <a:rPr lang="en-US" altLang="en-US"/>
              <a:t>Closing Entries</a:t>
            </a:r>
          </a:p>
        </p:txBody>
      </p:sp>
      <p:sp>
        <p:nvSpPr>
          <p:cNvPr id="3" name="Content Placeholder 2">
            <a:extLst>
              <a:ext uri="{FF2B5EF4-FFF2-40B4-BE49-F238E27FC236}">
                <a16:creationId xmlns:a16="http://schemas.microsoft.com/office/drawing/2014/main" id="{C105E31F-BB98-184D-9358-702981E881EE}"/>
              </a:ext>
            </a:extLst>
          </p:cNvPr>
          <p:cNvSpPr>
            <a:spLocks noGrp="1"/>
          </p:cNvSpPr>
          <p:nvPr>
            <p:ph idx="1"/>
          </p:nvPr>
        </p:nvSpPr>
        <p:spPr/>
        <p:txBody>
          <a:bodyPr/>
          <a:lstStyle/>
          <a:p>
            <a:pPr>
              <a:buFont typeface="Wingdings 3" pitchFamily="2" charset="2"/>
              <a:buChar char=""/>
              <a:defRPr/>
            </a:pPr>
            <a:r>
              <a:rPr lang="en-CA" dirty="0"/>
              <a:t>The closing entries have two purposes:</a:t>
            </a:r>
          </a:p>
          <a:p>
            <a:pPr>
              <a:buFont typeface="Wingdings 3" pitchFamily="2" charset="2"/>
              <a:buChar char=""/>
              <a:defRPr/>
            </a:pPr>
            <a:endParaRPr lang="en-CA" sz="800" dirty="0"/>
          </a:p>
          <a:p>
            <a:pPr marL="514350" indent="-514350">
              <a:buFont typeface="+mj-lt"/>
              <a:buAutoNum type="arabicPeriod"/>
              <a:defRPr/>
            </a:pPr>
            <a:r>
              <a:rPr lang="en-CA" dirty="0"/>
              <a:t>To transfer the balances in the temporary accounts to retained earnings.</a:t>
            </a:r>
          </a:p>
          <a:p>
            <a:pPr marL="514350" indent="-514350">
              <a:buFont typeface="+mj-lt"/>
              <a:buAutoNum type="arabicPeriod"/>
              <a:defRPr/>
            </a:pPr>
            <a:r>
              <a:rPr lang="en-CA" dirty="0"/>
              <a:t>To establish a zero balance in each of the temporary accounts to start the accumulation in the next accounting period.</a:t>
            </a:r>
          </a:p>
          <a:p>
            <a:pPr>
              <a:buFont typeface="Wingdings 3" pitchFamily="2" charset="2"/>
              <a:buChar char=""/>
              <a:defRPr/>
            </a:pPr>
            <a:endParaRPr lang="en-US"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C5A22EDC-4F65-4907-BBC5-A04A7F4B923C}"/>
              </a:ext>
            </a:extLst>
          </p:cNvPr>
          <p:cNvSpPr>
            <a:spLocks noGrp="1"/>
          </p:cNvSpPr>
          <p:nvPr>
            <p:ph type="title"/>
          </p:nvPr>
        </p:nvSpPr>
        <p:spPr/>
        <p:txBody>
          <a:bodyPr/>
          <a:lstStyle/>
          <a:p>
            <a:r>
              <a:rPr lang="en-US" altLang="en-US" dirty="0"/>
              <a:t>Steps for Closing Entries Part 1</a:t>
            </a:r>
          </a:p>
        </p:txBody>
      </p:sp>
      <p:sp>
        <p:nvSpPr>
          <p:cNvPr id="44034" name="Content Placeholder 2">
            <a:extLst>
              <a:ext uri="{FF2B5EF4-FFF2-40B4-BE49-F238E27FC236}">
                <a16:creationId xmlns:a16="http://schemas.microsoft.com/office/drawing/2014/main" id="{2556B684-7C01-46B1-8E2C-C4DFFA5C220F}"/>
              </a:ext>
            </a:extLst>
          </p:cNvPr>
          <p:cNvSpPr>
            <a:spLocks noGrp="1"/>
          </p:cNvSpPr>
          <p:nvPr>
            <p:ph idx="1"/>
          </p:nvPr>
        </p:nvSpPr>
        <p:spPr/>
        <p:txBody>
          <a:bodyPr/>
          <a:lstStyle/>
          <a:p>
            <a:r>
              <a:rPr lang="en-CA" dirty="0"/>
              <a:t>The closing process requires three journal entries: </a:t>
            </a:r>
          </a:p>
          <a:p>
            <a:pPr lvl="1"/>
            <a:r>
              <a:rPr lang="en-CA" sz="2600" dirty="0"/>
              <a:t>one entry to close the revenue and gain accounts, </a:t>
            </a:r>
          </a:p>
          <a:p>
            <a:pPr lvl="1"/>
            <a:r>
              <a:rPr lang="en-CA" sz="2600" dirty="0"/>
              <a:t>another entry to close the expense and loss accounts, and </a:t>
            </a:r>
          </a:p>
          <a:p>
            <a:pPr lvl="1"/>
            <a:r>
              <a:rPr lang="en-CA" sz="2600" dirty="0"/>
              <a:t>a final entry to close the dividends declared account. </a:t>
            </a:r>
          </a:p>
          <a:p>
            <a:endParaRPr lang="en-CA" dirty="0"/>
          </a:p>
          <a:p>
            <a:r>
              <a:rPr lang="en-CA" b="1" dirty="0"/>
              <a:t>Income Summary</a:t>
            </a:r>
            <a:r>
              <a:rPr lang="en-CA" dirty="0"/>
              <a:t>, is a temporary account used only during the closing process to facilitate closing temporary accounts.</a:t>
            </a:r>
          </a:p>
          <a:p>
            <a:pPr lvl="1"/>
            <a:endParaRPr lang="en-CA"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C5A22EDC-4F65-4907-BBC5-A04A7F4B923C}"/>
              </a:ext>
            </a:extLst>
          </p:cNvPr>
          <p:cNvSpPr>
            <a:spLocks noGrp="1"/>
          </p:cNvSpPr>
          <p:nvPr>
            <p:ph type="title"/>
          </p:nvPr>
        </p:nvSpPr>
        <p:spPr/>
        <p:txBody>
          <a:bodyPr/>
          <a:lstStyle/>
          <a:p>
            <a:r>
              <a:rPr lang="en-US" altLang="en-US" dirty="0"/>
              <a:t>Steps for Closing Entries Part 2</a:t>
            </a:r>
          </a:p>
        </p:txBody>
      </p:sp>
      <p:sp>
        <p:nvSpPr>
          <p:cNvPr id="44034" name="Content Placeholder 2">
            <a:extLst>
              <a:ext uri="{FF2B5EF4-FFF2-40B4-BE49-F238E27FC236}">
                <a16:creationId xmlns:a16="http://schemas.microsoft.com/office/drawing/2014/main" id="{2556B684-7C01-46B1-8E2C-C4DFFA5C220F}"/>
              </a:ext>
            </a:extLst>
          </p:cNvPr>
          <p:cNvSpPr>
            <a:spLocks noGrp="1"/>
          </p:cNvSpPr>
          <p:nvPr>
            <p:ph idx="1"/>
          </p:nvPr>
        </p:nvSpPr>
        <p:spPr/>
        <p:txBody>
          <a:bodyPr/>
          <a:lstStyle/>
          <a:p>
            <a:r>
              <a:rPr lang="en-CA" dirty="0"/>
              <a:t>Revenue and gain accounts, which have credit balances, are closed by debiting each account for the account balance and crediting the total amount to income summary.</a:t>
            </a:r>
          </a:p>
          <a:p>
            <a:endParaRPr lang="en-CA" sz="800" dirty="0"/>
          </a:p>
          <a:p>
            <a:r>
              <a:rPr lang="en-CA" dirty="0"/>
              <a:t>Expense and loss accounts, which have debit balances, are closed by crediting each account for the account balance and debiting the total amount to income summary. </a:t>
            </a:r>
          </a:p>
        </p:txBody>
      </p:sp>
    </p:spTree>
    <p:extLst>
      <p:ext uri="{BB962C8B-B14F-4D97-AF65-F5344CB8AC3E}">
        <p14:creationId xmlns:p14="http://schemas.microsoft.com/office/powerpoint/2010/main" val="55226820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C5A22EDC-4F65-4907-BBC5-A04A7F4B923C}"/>
              </a:ext>
            </a:extLst>
          </p:cNvPr>
          <p:cNvSpPr>
            <a:spLocks noGrp="1"/>
          </p:cNvSpPr>
          <p:nvPr>
            <p:ph type="title"/>
          </p:nvPr>
        </p:nvSpPr>
        <p:spPr/>
        <p:txBody>
          <a:bodyPr/>
          <a:lstStyle/>
          <a:p>
            <a:r>
              <a:rPr lang="en-US" altLang="en-US" dirty="0"/>
              <a:t>Steps for Closing Entries Part 3</a:t>
            </a:r>
          </a:p>
        </p:txBody>
      </p:sp>
      <p:sp>
        <p:nvSpPr>
          <p:cNvPr id="44034" name="Content Placeholder 2">
            <a:extLst>
              <a:ext uri="{FF2B5EF4-FFF2-40B4-BE49-F238E27FC236}">
                <a16:creationId xmlns:a16="http://schemas.microsoft.com/office/drawing/2014/main" id="{2556B684-7C01-46B1-8E2C-C4DFFA5C220F}"/>
              </a:ext>
            </a:extLst>
          </p:cNvPr>
          <p:cNvSpPr>
            <a:spLocks noGrp="1"/>
          </p:cNvSpPr>
          <p:nvPr>
            <p:ph idx="1"/>
          </p:nvPr>
        </p:nvSpPr>
        <p:spPr/>
        <p:txBody>
          <a:bodyPr/>
          <a:lstStyle/>
          <a:p>
            <a:r>
              <a:rPr lang="en-CA" dirty="0"/>
              <a:t>The balance of the income summary account reflects the net earnings (loss) and is then closed to the retained earnings account. </a:t>
            </a:r>
          </a:p>
          <a:p>
            <a:endParaRPr lang="en-CA" sz="800" dirty="0"/>
          </a:p>
          <a:p>
            <a:r>
              <a:rPr lang="en-CA" dirty="0"/>
              <a:t>The statement of earnings accounts are again ready for their temporary accumulation function for the next period.</a:t>
            </a:r>
          </a:p>
          <a:p>
            <a:endParaRPr lang="en-CA" sz="800" dirty="0"/>
          </a:p>
          <a:p>
            <a:r>
              <a:rPr lang="en-CA" dirty="0"/>
              <a:t>Closing entries are dated the last day of the accounting period, entered in the usual format in the journal, and immediately posted to the ledger (or T-accounts). </a:t>
            </a:r>
            <a:endParaRPr lang="en-US" altLang="en-US" dirty="0"/>
          </a:p>
        </p:txBody>
      </p:sp>
    </p:spTree>
    <p:extLst>
      <p:ext uri="{BB962C8B-B14F-4D97-AF65-F5344CB8AC3E}">
        <p14:creationId xmlns:p14="http://schemas.microsoft.com/office/powerpoint/2010/main" val="90355811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260BAB90-D01D-4746-8457-671BBC4CE454}"/>
              </a:ext>
            </a:extLst>
          </p:cNvPr>
          <p:cNvSpPr>
            <a:spLocks noGrp="1"/>
          </p:cNvSpPr>
          <p:nvPr>
            <p:ph type="title"/>
          </p:nvPr>
        </p:nvSpPr>
        <p:spPr/>
        <p:txBody>
          <a:bodyPr/>
          <a:lstStyle/>
          <a:p>
            <a:r>
              <a:rPr lang="en-US" altLang="en-US"/>
              <a:t>Post-Closing Trial Balance</a:t>
            </a:r>
          </a:p>
        </p:txBody>
      </p:sp>
      <p:sp>
        <p:nvSpPr>
          <p:cNvPr id="45058" name="Content Placeholder 2">
            <a:extLst>
              <a:ext uri="{FF2B5EF4-FFF2-40B4-BE49-F238E27FC236}">
                <a16:creationId xmlns:a16="http://schemas.microsoft.com/office/drawing/2014/main" id="{249802C6-20BE-4D24-A598-588D37272736}"/>
              </a:ext>
            </a:extLst>
          </p:cNvPr>
          <p:cNvSpPr>
            <a:spLocks noGrp="1"/>
          </p:cNvSpPr>
          <p:nvPr>
            <p:ph idx="1"/>
          </p:nvPr>
        </p:nvSpPr>
        <p:spPr/>
        <p:txBody>
          <a:bodyPr/>
          <a:lstStyle/>
          <a:p>
            <a:r>
              <a:rPr lang="en-CA" dirty="0"/>
              <a:t>After the closing process is complete, all of the statement of earnings accounts have a zero balance. These accounts are ready for recording the effects of transactions that generate revenues and incur expenses in the new accounting period. </a:t>
            </a:r>
          </a:p>
          <a:p>
            <a:endParaRPr lang="en-CA" sz="800" dirty="0"/>
          </a:p>
          <a:p>
            <a:r>
              <a:rPr lang="en-CA" dirty="0"/>
              <a:t>The ending balance in retained earnings is now up to date and is carried forward as the beginning balance for the next period. </a:t>
            </a:r>
          </a:p>
          <a:p>
            <a:endParaRPr lang="en-CA" sz="800" dirty="0"/>
          </a:p>
          <a:p>
            <a:r>
              <a:rPr lang="en-CA" dirty="0"/>
              <a:t>A </a:t>
            </a:r>
            <a:r>
              <a:rPr lang="en-CA" i="1" dirty="0"/>
              <a:t>post-closing trial balance</a:t>
            </a:r>
            <a:r>
              <a:rPr lang="en-CA" dirty="0"/>
              <a:t> should be prepared as the last step of the accounting cycle to check that debits equal credits and that all temporary accounts have been closed.</a:t>
            </a:r>
          </a:p>
          <a:p>
            <a:endParaRPr lang="en-US" altLang="en-US"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44C98D9C-98DE-4C55-AB58-9670881DDA55}"/>
              </a:ext>
            </a:extLst>
          </p:cNvPr>
          <p:cNvSpPr>
            <a:spLocks noGrp="1"/>
          </p:cNvSpPr>
          <p:nvPr>
            <p:ph type="title"/>
          </p:nvPr>
        </p:nvSpPr>
        <p:spPr/>
        <p:txBody>
          <a:bodyPr/>
          <a:lstStyle/>
          <a:p>
            <a:r>
              <a:rPr lang="en-US" altLang="en-US" dirty="0"/>
              <a:t>End of Chapter Summary Part 1</a:t>
            </a:r>
          </a:p>
        </p:txBody>
      </p:sp>
      <p:sp>
        <p:nvSpPr>
          <p:cNvPr id="46082" name="Content Placeholder 2">
            <a:extLst>
              <a:ext uri="{FF2B5EF4-FFF2-40B4-BE49-F238E27FC236}">
                <a16:creationId xmlns:a16="http://schemas.microsoft.com/office/drawing/2014/main" id="{A601936D-5240-4617-B034-25C6CCA9726C}"/>
              </a:ext>
            </a:extLst>
          </p:cNvPr>
          <p:cNvSpPr>
            <a:spLocks noGrp="1"/>
          </p:cNvSpPr>
          <p:nvPr>
            <p:ph idx="1"/>
          </p:nvPr>
        </p:nvSpPr>
        <p:spPr/>
        <p:txBody>
          <a:bodyPr/>
          <a:lstStyle/>
          <a:p>
            <a:r>
              <a:rPr lang="en-CA" altLang="en-US" dirty="0"/>
              <a:t>Adjusting entries are necessary at the end of the accounting period to measure earnings properly, correct errors, and provide for adequate valuation of financial statement accounts.</a:t>
            </a:r>
          </a:p>
          <a:p>
            <a:endParaRPr lang="en-CA" altLang="en-US" sz="800" dirty="0"/>
          </a:p>
          <a:p>
            <a:r>
              <a:rPr lang="en-CA" dirty="0"/>
              <a:t>There are four types of adjustments:</a:t>
            </a:r>
          </a:p>
          <a:p>
            <a:pPr lvl="1">
              <a:buFont typeface="+mj-lt"/>
              <a:buAutoNum type="arabicPeriod"/>
            </a:pPr>
            <a:r>
              <a:rPr lang="en-CA" sz="2600" dirty="0"/>
              <a:t>Deferred revenues</a:t>
            </a:r>
          </a:p>
          <a:p>
            <a:pPr lvl="1">
              <a:buFont typeface="+mj-lt"/>
              <a:buAutoNum type="arabicPeriod"/>
            </a:pPr>
            <a:r>
              <a:rPr lang="en-CA" sz="2600" dirty="0"/>
              <a:t>Accrued revenues</a:t>
            </a:r>
          </a:p>
          <a:p>
            <a:pPr lvl="1">
              <a:buFont typeface="+mj-lt"/>
              <a:buAutoNum type="arabicPeriod"/>
            </a:pPr>
            <a:r>
              <a:rPr lang="en-CA" sz="2600" dirty="0"/>
              <a:t>Deferred expenses</a:t>
            </a:r>
          </a:p>
          <a:p>
            <a:pPr lvl="1">
              <a:buFont typeface="+mj-lt"/>
              <a:buAutoNum type="arabicPeriod"/>
            </a:pPr>
            <a:r>
              <a:rPr lang="en-CA" sz="2600" dirty="0"/>
              <a:t>Accrued expenses</a:t>
            </a:r>
          </a:p>
          <a:p>
            <a:endParaRPr lang="en-CA" altLang="en-US"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219CD546-4AE2-454E-B2D0-C115CE97030A}"/>
              </a:ext>
            </a:extLst>
          </p:cNvPr>
          <p:cNvSpPr>
            <a:spLocks noGrp="1"/>
          </p:cNvSpPr>
          <p:nvPr>
            <p:ph type="title"/>
          </p:nvPr>
        </p:nvSpPr>
        <p:spPr/>
        <p:txBody>
          <a:bodyPr/>
          <a:lstStyle/>
          <a:p>
            <a:r>
              <a:rPr lang="en-US" altLang="en-US" dirty="0"/>
              <a:t>End of Chapter Summary Part 2</a:t>
            </a:r>
          </a:p>
        </p:txBody>
      </p:sp>
      <p:sp>
        <p:nvSpPr>
          <p:cNvPr id="47106" name="Content Placeholder 2">
            <a:extLst>
              <a:ext uri="{FF2B5EF4-FFF2-40B4-BE49-F238E27FC236}">
                <a16:creationId xmlns:a16="http://schemas.microsoft.com/office/drawing/2014/main" id="{F448E2D3-ADE7-471D-8BD6-560B8C4145F5}"/>
              </a:ext>
            </a:extLst>
          </p:cNvPr>
          <p:cNvSpPr>
            <a:spLocks noGrp="1"/>
          </p:cNvSpPr>
          <p:nvPr>
            <p:ph idx="1"/>
          </p:nvPr>
        </p:nvSpPr>
        <p:spPr/>
        <p:txBody>
          <a:bodyPr/>
          <a:lstStyle/>
          <a:p>
            <a:r>
              <a:rPr lang="en-CA" altLang="en-US" dirty="0"/>
              <a:t>A rising net profit margin ratio signals more efficient management of revenues and expenses. </a:t>
            </a:r>
          </a:p>
          <a:p>
            <a:endParaRPr lang="en-CA" altLang="en-US" sz="800" dirty="0"/>
          </a:p>
          <a:p>
            <a:r>
              <a:rPr lang="en-CA" altLang="en-US" dirty="0"/>
              <a:t>Managers, analysts, and creditors use the ROE ratio to assess the effectiveness of the company’s overall business strategy.</a:t>
            </a:r>
          </a:p>
          <a:p>
            <a:endParaRPr lang="en-CA" altLang="en-US" sz="800" dirty="0"/>
          </a:p>
          <a:p>
            <a:r>
              <a:rPr lang="en-CA" altLang="en-US" dirty="0"/>
              <a:t>Temporary accounts (revenues, expenses, gains, and losses) are closed to a zero balance at the end of the accounting period to allow for the accumulation of these items in the following period and to update retained earnings for the period’s net earnings.</a:t>
            </a:r>
            <a:endParaRPr lang="en-US" altLang="en-US" dirty="0"/>
          </a:p>
        </p:txBody>
      </p:sp>
    </p:spTree>
  </p:cSld>
  <p:clrMapOvr>
    <a:masterClrMapping/>
  </p:clrMapOvr>
  <p:transition/>
</p:sld>
</file>

<file path=ppt/theme/theme1.xml><?xml version="1.0" encoding="utf-8"?>
<a:theme xmlns:a="http://schemas.openxmlformats.org/drawingml/2006/main" name="1_Origin">
  <a:themeElements>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igin">
  <a:themeElements>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AF903EFA6F1304185B8B76D382796C3" ma:contentTypeVersion="12" ma:contentTypeDescription="Create a new document." ma:contentTypeScope="" ma:versionID="8327e696ad964eaa8757dd69c911c21b">
  <xsd:schema xmlns:xsd="http://www.w3.org/2001/XMLSchema" xmlns:xs="http://www.w3.org/2001/XMLSchema" xmlns:p="http://schemas.microsoft.com/office/2006/metadata/properties" xmlns:ns2="ae52743f-d902-49b8-9d67-4e33f635a226" xmlns:ns3="c565d9a4-9658-4688-95dd-39b4aa857904" targetNamespace="http://schemas.microsoft.com/office/2006/metadata/properties" ma:root="true" ma:fieldsID="9bdd7b4fa1f3b16ad4a21c7811265856" ns2:_="" ns3:_="">
    <xsd:import namespace="ae52743f-d902-49b8-9d67-4e33f635a226"/>
    <xsd:import namespace="c565d9a4-9658-4688-95dd-39b4aa85790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52743f-d902-49b8-9d67-4e33f635a2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db8617a1-beef-4e24-867f-51551f54cfe0"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565d9a4-9658-4688-95dd-39b4aa85790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147f1666-22d5-4ad8-96bb-8851b0759287}" ma:internalName="TaxCatchAll" ma:showField="CatchAllData" ma:web="c565d9a4-9658-4688-95dd-39b4aa857904">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565d9a4-9658-4688-95dd-39b4aa857904" xsi:nil="true"/>
    <lcf76f155ced4ddcb4097134ff3c332f xmlns="ae52743f-d902-49b8-9d67-4e33f635a22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D4597BF-2AE9-42A0-A2C1-DA50767ADAE8}">
  <ds:schemaRefs>
    <ds:schemaRef ds:uri="http://schemas.microsoft.com/sharepoint/v3/contenttype/forms"/>
  </ds:schemaRefs>
</ds:datastoreItem>
</file>

<file path=customXml/itemProps2.xml><?xml version="1.0" encoding="utf-8"?>
<ds:datastoreItem xmlns:ds="http://schemas.openxmlformats.org/officeDocument/2006/customXml" ds:itemID="{0128C1D4-680D-4490-8B3D-3EAD1593B1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52743f-d902-49b8-9d67-4e33f635a226"/>
    <ds:schemaRef ds:uri="c565d9a4-9658-4688-95dd-39b4aa8579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73455C-AFC9-4A39-9865-59311C6D5D64}">
  <ds:schemaRefs>
    <ds:schemaRef ds:uri="http://schemas.microsoft.com/office/2006/metadata/properties"/>
    <ds:schemaRef ds:uri="http://schemas.microsoft.com/office/infopath/2007/PartnerControls"/>
    <ds:schemaRef ds:uri="c565d9a4-9658-4688-95dd-39b4aa857904"/>
    <ds:schemaRef ds:uri="ae52743f-d902-49b8-9d67-4e33f635a226"/>
  </ds:schemaRefs>
</ds:datastoreItem>
</file>

<file path=docProps/app.xml><?xml version="1.0" encoding="utf-8"?>
<Properties xmlns="http://schemas.openxmlformats.org/officeDocument/2006/extended-properties" xmlns:vt="http://schemas.openxmlformats.org/officeDocument/2006/docPropsVTypes">
  <Template>Business design slides</Template>
  <TotalTime>11631</TotalTime>
  <Words>3281</Words>
  <Application>Microsoft Office PowerPoint</Application>
  <PresentationFormat>On-screen Show (4:3)</PresentationFormat>
  <Paragraphs>289</Paragraphs>
  <Slides>38</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38</vt:i4>
      </vt:variant>
    </vt:vector>
  </HeadingPairs>
  <TitlesOfParts>
    <vt:vector size="47" baseType="lpstr">
      <vt:lpstr>Arial</vt:lpstr>
      <vt:lpstr>Calibri</vt:lpstr>
      <vt:lpstr>inherit</vt:lpstr>
      <vt:lpstr>Tahoma</vt:lpstr>
      <vt:lpstr>Times New Roman</vt:lpstr>
      <vt:lpstr>Wingdings</vt:lpstr>
      <vt:lpstr>Wingdings 3</vt:lpstr>
      <vt:lpstr>1_Origin</vt:lpstr>
      <vt:lpstr>Origin</vt:lpstr>
      <vt:lpstr>PowerPoint Presentation</vt:lpstr>
      <vt:lpstr>Learning Objectives</vt:lpstr>
      <vt:lpstr>The Accounting Cycle Part 1</vt:lpstr>
      <vt:lpstr>The Accounting Cycle Part 2</vt:lpstr>
      <vt:lpstr>Four Types of Adjustments</vt:lpstr>
      <vt:lpstr>Purpose of Adjustments Part 1</vt:lpstr>
      <vt:lpstr>Purpose of Adjustments Part 2</vt:lpstr>
      <vt:lpstr>Adjustment Process Part 1</vt:lpstr>
      <vt:lpstr>Adjustment Process Part 2</vt:lpstr>
      <vt:lpstr>Adjusting Entries Summary</vt:lpstr>
      <vt:lpstr>Deferred Revenues</vt:lpstr>
      <vt:lpstr>Accrued Revenues</vt:lpstr>
      <vt:lpstr>Deferred Expenses</vt:lpstr>
      <vt:lpstr>Property, Plant, and Equipment Part 1</vt:lpstr>
      <vt:lpstr>Property, Plant, and Equipment Part 2</vt:lpstr>
      <vt:lpstr>Property, Plant, and Equipment Part 3</vt:lpstr>
      <vt:lpstr>Accrued Expenses</vt:lpstr>
      <vt:lpstr>Materiality and Adjusting Entries</vt:lpstr>
      <vt:lpstr>Preparing Financial Statements</vt:lpstr>
      <vt:lpstr>Interrelationships of Financial Statements</vt:lpstr>
      <vt:lpstr>Statement of Earnings</vt:lpstr>
      <vt:lpstr>Earnings Per Share (EPS)</vt:lpstr>
      <vt:lpstr>Statement of Changes in Equity</vt:lpstr>
      <vt:lpstr>Statement of Financial Position</vt:lpstr>
      <vt:lpstr>Net Profit Margin Ratio</vt:lpstr>
      <vt:lpstr>Net Profit Margin Ratio Interpretations</vt:lpstr>
      <vt:lpstr>Return on Equity (ROE)</vt:lpstr>
      <vt:lpstr>Return on Equity Interpretations</vt:lpstr>
      <vt:lpstr>How Transactions Affect Ratios</vt:lpstr>
      <vt:lpstr>Closing the Books</vt:lpstr>
      <vt:lpstr>End of the Accounting Cycle</vt:lpstr>
      <vt:lpstr>Closing Entries</vt:lpstr>
      <vt:lpstr>Steps for Closing Entries Part 1</vt:lpstr>
      <vt:lpstr>Steps for Closing Entries Part 2</vt:lpstr>
      <vt:lpstr>Steps for Closing Entries Part 3</vt:lpstr>
      <vt:lpstr>Post-Closing Trial Balance</vt:lpstr>
      <vt:lpstr>End of Chapter Summary Part 1</vt:lpstr>
      <vt:lpstr>End of Chapter Summary Part 2</vt:lpstr>
    </vt:vector>
  </TitlesOfParts>
  <Company>Robert G. Ducharme, MAcc, CPA, CA - University of Waterloo, School of Accounting and Finance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Accounting, Sixth Canadian Edition (Libby, Libby, Short, Kanaan, Sterling)</dc:title>
  <dc:subject>Chapter 4: Adjustments, Financial Statements, and the Quality of Earnings</dc:subject>
  <dc:creator>Robert G. Ducharme, MAcc, CPA, CA - University of Waterloo, School of Accounting and Finance</dc:creator>
  <cp:lastModifiedBy>Schwartz, Stephanie</cp:lastModifiedBy>
  <cp:revision>45</cp:revision>
  <dcterms:created xsi:type="dcterms:W3CDTF">2010-03-30T15:03:05Z</dcterms:created>
  <dcterms:modified xsi:type="dcterms:W3CDTF">2023-01-12T15:16:36Z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TC103853781033</vt:lpwstr>
  </property>
  <property fmtid="{D5CDD505-2E9C-101B-9397-08002B2CF9AE}" pid="3" name="ContentTypeId">
    <vt:lpwstr>0x0101004AF903EFA6F1304185B8B76D382796C3</vt:lpwstr>
  </property>
  <property fmtid="{D5CDD505-2E9C-101B-9397-08002B2CF9AE}" pid="4" name="MediaServiceImageTags">
    <vt:lpwstr/>
  </property>
</Properties>
</file>
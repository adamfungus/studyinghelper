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4"/>
    <p:sldMasterId id="2147483764" r:id="rId5"/>
  </p:sldMasterIdLst>
  <p:notesMasterIdLst>
    <p:notesMasterId r:id="rId63"/>
  </p:notesMasterIdLst>
  <p:handoutMasterIdLst>
    <p:handoutMasterId r:id="rId64"/>
  </p:handoutMasterIdLst>
  <p:sldIdLst>
    <p:sldId id="384" r:id="rId6"/>
    <p:sldId id="446" r:id="rId7"/>
    <p:sldId id="448" r:id="rId8"/>
    <p:sldId id="449" r:id="rId9"/>
    <p:sldId id="450" r:id="rId10"/>
    <p:sldId id="451" r:id="rId11"/>
    <p:sldId id="452" r:id="rId12"/>
    <p:sldId id="453" r:id="rId13"/>
    <p:sldId id="455" r:id="rId14"/>
    <p:sldId id="456" r:id="rId15"/>
    <p:sldId id="454" r:id="rId16"/>
    <p:sldId id="457" r:id="rId17"/>
    <p:sldId id="458" r:id="rId18"/>
    <p:sldId id="508" r:id="rId19"/>
    <p:sldId id="459" r:id="rId20"/>
    <p:sldId id="461" r:id="rId21"/>
    <p:sldId id="465" r:id="rId22"/>
    <p:sldId id="509" r:id="rId23"/>
    <p:sldId id="510" r:id="rId24"/>
    <p:sldId id="462" r:id="rId25"/>
    <p:sldId id="464" r:id="rId26"/>
    <p:sldId id="511" r:id="rId27"/>
    <p:sldId id="466" r:id="rId28"/>
    <p:sldId id="468" r:id="rId29"/>
    <p:sldId id="469" r:id="rId30"/>
    <p:sldId id="470" r:id="rId31"/>
    <p:sldId id="472" r:id="rId32"/>
    <p:sldId id="473" r:id="rId33"/>
    <p:sldId id="475" r:id="rId34"/>
    <p:sldId id="512" r:id="rId35"/>
    <p:sldId id="476" r:id="rId36"/>
    <p:sldId id="477" r:id="rId37"/>
    <p:sldId id="478" r:id="rId38"/>
    <p:sldId id="479" r:id="rId39"/>
    <p:sldId id="481" r:id="rId40"/>
    <p:sldId id="482" r:id="rId41"/>
    <p:sldId id="483" r:id="rId42"/>
    <p:sldId id="513" r:id="rId43"/>
    <p:sldId id="484" r:id="rId44"/>
    <p:sldId id="485" r:id="rId45"/>
    <p:sldId id="486" r:id="rId46"/>
    <p:sldId id="487" r:id="rId47"/>
    <p:sldId id="514" r:id="rId48"/>
    <p:sldId id="489" r:id="rId49"/>
    <p:sldId id="492" r:id="rId50"/>
    <p:sldId id="516" r:id="rId51"/>
    <p:sldId id="519" r:id="rId52"/>
    <p:sldId id="491" r:id="rId53"/>
    <p:sldId id="518" r:id="rId54"/>
    <p:sldId id="520" r:id="rId55"/>
    <p:sldId id="493" r:id="rId56"/>
    <p:sldId id="494" r:id="rId57"/>
    <p:sldId id="495" r:id="rId58"/>
    <p:sldId id="501" r:id="rId59"/>
    <p:sldId id="521" r:id="rId60"/>
    <p:sldId id="447" r:id="rId61"/>
    <p:sldId id="507" r:id="rId6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5D1D1"/>
    <a:srgbClr val="0056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28F9A1-9C95-4DD2-AB5B-D34F3B19EE0A}" v="3" dt="2023-01-12T15:24:33.5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21043" autoAdjust="0"/>
    <p:restoredTop sz="84169" autoAdjust="0"/>
  </p:normalViewPr>
  <p:slideViewPr>
    <p:cSldViewPr>
      <p:cViewPr varScale="1">
        <p:scale>
          <a:sx n="115" d="100"/>
          <a:sy n="115" d="100"/>
        </p:scale>
        <p:origin x="118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3" d="100"/>
          <a:sy n="53" d="100"/>
        </p:scale>
        <p:origin x="-2610"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viewProps" Target="viewProps.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handoutMaster" Target="handoutMasters/handoutMaster1.xml"/><Relationship Id="rId69" Type="http://schemas.microsoft.com/office/2016/11/relationships/changesInfo" Target="changesInfos/changesInfo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hwartz, Stephanie" userId="aa8fa799-5957-4a86-b1b1-233f34a2fe0c" providerId="ADAL" clId="{D628F9A1-9C95-4DD2-AB5B-D34F3B19EE0A}"/>
    <pc:docChg chg="modMainMaster">
      <pc:chgData name="Schwartz, Stephanie" userId="aa8fa799-5957-4a86-b1b1-233f34a2fe0c" providerId="ADAL" clId="{D628F9A1-9C95-4DD2-AB5B-D34F3B19EE0A}" dt="2023-01-12T15:25:06.485" v="3" actId="20577"/>
      <pc:docMkLst>
        <pc:docMk/>
      </pc:docMkLst>
      <pc:sldMasterChg chg="modSp mod">
        <pc:chgData name="Schwartz, Stephanie" userId="aa8fa799-5957-4a86-b1b1-233f34a2fe0c" providerId="ADAL" clId="{D628F9A1-9C95-4DD2-AB5B-D34F3B19EE0A}" dt="2023-01-12T15:24:56.706" v="1" actId="20577"/>
        <pc:sldMasterMkLst>
          <pc:docMk/>
          <pc:sldMasterMk cId="0" sldId="2147483763"/>
        </pc:sldMasterMkLst>
        <pc:spChg chg="mod">
          <ac:chgData name="Schwartz, Stephanie" userId="aa8fa799-5957-4a86-b1b1-233f34a2fe0c" providerId="ADAL" clId="{D628F9A1-9C95-4DD2-AB5B-D34F3B19EE0A}" dt="2023-01-12T15:24:56.706" v="1" actId="20577"/>
          <ac:spMkLst>
            <pc:docMk/>
            <pc:sldMasterMk cId="0" sldId="2147483763"/>
            <ac:spMk id="14" creationId="{D083A19C-6E42-43F2-9E61-C4C85A8AE186}"/>
          </ac:spMkLst>
        </pc:spChg>
      </pc:sldMasterChg>
      <pc:sldMasterChg chg="modSp mod">
        <pc:chgData name="Schwartz, Stephanie" userId="aa8fa799-5957-4a86-b1b1-233f34a2fe0c" providerId="ADAL" clId="{D628F9A1-9C95-4DD2-AB5B-D34F3B19EE0A}" dt="2023-01-12T15:25:06.485" v="3" actId="20577"/>
        <pc:sldMasterMkLst>
          <pc:docMk/>
          <pc:sldMasterMk cId="0" sldId="2147483764"/>
        </pc:sldMasterMkLst>
        <pc:spChg chg="mod">
          <ac:chgData name="Schwartz, Stephanie" userId="aa8fa799-5957-4a86-b1b1-233f34a2fe0c" providerId="ADAL" clId="{D628F9A1-9C95-4DD2-AB5B-D34F3B19EE0A}" dt="2023-01-12T15:25:06.485" v="3" actId="20577"/>
          <ac:spMkLst>
            <pc:docMk/>
            <pc:sldMasterMk cId="0" sldId="2147483764"/>
            <ac:spMk id="8" creationId="{4E618F87-4ED8-4F07-99B6-4B8668153068}"/>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F81562A-DB4E-4D68-A5BF-2AFE6B61CD63}"/>
              </a:ext>
            </a:extLst>
          </p:cNvPr>
          <p:cNvSpPr>
            <a:spLocks noGrp="1"/>
          </p:cNvSpPr>
          <p:nvPr>
            <p:ph type="sldNum" sz="quarter" idx="3"/>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10-</a:t>
            </a:r>
            <a:fld id="{C00AF6A9-D6DB-4848-9E17-6E47EAC3EDB5}" type="slidenum">
              <a:rPr lang="en-US" altLang="en-US" smtClean="0"/>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A7A6256E-A087-42FA-BB05-22E00D3B0B3C}"/>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C3D268E2-1C59-4393-BFF7-C0EE0F619FA0}"/>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Slide Number Placeholder 6">
            <a:extLst>
              <a:ext uri="{FF2B5EF4-FFF2-40B4-BE49-F238E27FC236}">
                <a16:creationId xmlns:a16="http://schemas.microsoft.com/office/drawing/2014/main" id="{389E9185-92A3-4273-92F2-180A5779C1B5}"/>
              </a:ext>
            </a:extLst>
          </p:cNvPr>
          <p:cNvSpPr>
            <a:spLocks noGrp="1"/>
          </p:cNvSpPr>
          <p:nvPr>
            <p:ph type="sldNum" sz="quarter" idx="5"/>
          </p:nvPr>
        </p:nvSpPr>
        <p:spPr>
          <a:xfrm>
            <a:off x="3884613" y="0"/>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r>
              <a:rPr lang="en-US" altLang="en-US"/>
              <a:t>10-</a:t>
            </a:r>
            <a:fld id="{F3696D19-4EA5-4D2B-8BBD-1A482B9FE895}" type="slidenum">
              <a:rPr lang="en-US" altLang="en-US" smtClean="0"/>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Slide Image Placeholder 1">
            <a:extLst>
              <a:ext uri="{FF2B5EF4-FFF2-40B4-BE49-F238E27FC236}">
                <a16:creationId xmlns:a16="http://schemas.microsoft.com/office/drawing/2014/main" id="{02E79522-1B0B-4610-A8DF-4779C179F4B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6" name="Notes Placeholder 2">
            <a:extLst>
              <a:ext uri="{FF2B5EF4-FFF2-40B4-BE49-F238E27FC236}">
                <a16:creationId xmlns:a16="http://schemas.microsoft.com/office/drawing/2014/main" id="{526AB6CC-CDAF-45A7-9E75-7BB9250672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CA" altLang="en-US"/>
              <a:t>Chapter 10: Reporting and Interpreting Non-current Liabilities. </a:t>
            </a:r>
          </a:p>
        </p:txBody>
      </p:sp>
      <p:sp>
        <p:nvSpPr>
          <p:cNvPr id="6147" name="Slide Number Placeholder 3">
            <a:extLst>
              <a:ext uri="{FF2B5EF4-FFF2-40B4-BE49-F238E27FC236}">
                <a16:creationId xmlns:a16="http://schemas.microsoft.com/office/drawing/2014/main" id="{82824107-17A9-4320-B833-1A8DE6142BE9}"/>
              </a:ext>
            </a:extLst>
          </p:cNvPr>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lgn="r" eaLnBrk="1" hangingPunct="1">
              <a:spcBef>
                <a:spcPct val="0"/>
              </a:spcBef>
            </a:pPr>
            <a:fld id="{77086A42-4AFD-47E6-A3F5-9FB3810C0FF6}" type="slidenum">
              <a:rPr lang="en-US" altLang="en-US"/>
              <a:pPr algn="r" eaLnBrk="1" hangingPunct="1">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pPr>
              <a:defRPr/>
            </a:pPr>
            <a:r>
              <a:rPr lang="en-US" altLang="en-US"/>
              <a:t>10-</a:t>
            </a:r>
            <a:fld id="{F3696D19-4EA5-4D2B-8BBD-1A482B9FE895}" type="slidenum">
              <a:rPr lang="en-US" altLang="en-US" smtClean="0"/>
              <a:pPr>
                <a:defRPr/>
              </a:pPr>
              <a:t>39</a:t>
            </a:fld>
            <a:endParaRPr lang="en-US" altLang="en-US"/>
          </a:p>
        </p:txBody>
      </p:sp>
    </p:spTree>
    <p:extLst>
      <p:ext uri="{BB962C8B-B14F-4D97-AF65-F5344CB8AC3E}">
        <p14:creationId xmlns:p14="http://schemas.microsoft.com/office/powerpoint/2010/main" val="27817944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397035568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942646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solidFill>
                  <a:srgbClr val="005654"/>
                </a:solidFill>
              </a:defRPr>
            </a:lvl1pPr>
          </a:lstStyle>
          <a:p>
            <a:r>
              <a:rPr lang="en-US" dirty="0"/>
              <a:t>Click to edit Master title style</a:t>
            </a:r>
            <a:endParaRPr lang="en-CA" dirty="0"/>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07130473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0553288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384754485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Tree>
    <p:extLst>
      <p:ext uri="{BB962C8B-B14F-4D97-AF65-F5344CB8AC3E}">
        <p14:creationId xmlns:p14="http://schemas.microsoft.com/office/powerpoint/2010/main" val="338437274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431375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59416201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solidFill>
                  <a:srgbClr val="005654"/>
                </a:solidFill>
              </a:defRPr>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17984407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solidFill>
                  <a:srgbClr val="005654"/>
                </a:solidFill>
              </a:defRPr>
            </a:lvl1pPr>
          </a:lstStyle>
          <a:p>
            <a:r>
              <a:rPr lang="en-US"/>
              <a:t>Click to edit Master title style</a:t>
            </a:r>
            <a:endParaRPr lang="en-CA"/>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892939302"/>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08229922"/>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Tree>
    <p:extLst>
      <p:ext uri="{BB962C8B-B14F-4D97-AF65-F5344CB8AC3E}">
        <p14:creationId xmlns:p14="http://schemas.microsoft.com/office/powerpoint/2010/main" val="401822628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67150296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921676985"/>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143000"/>
            <a:ext cx="4038600" cy="533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37443211"/>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46399051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extLst>
      <p:ext uri="{BB962C8B-B14F-4D97-AF65-F5344CB8AC3E}">
        <p14:creationId xmlns:p14="http://schemas.microsoft.com/office/powerpoint/2010/main" val="235392519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119918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221509805"/>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69039604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783134429"/>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2400"/>
            <a:ext cx="2057400" cy="6324600"/>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152400"/>
            <a:ext cx="6019800" cy="63246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2845684278"/>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92163"/>
          </a:xfrm>
        </p:spPr>
        <p:txBody>
          <a:bodyPr/>
          <a:lstStyle/>
          <a:p>
            <a:r>
              <a:rPr lang="en-US"/>
              <a:t>Click to edit Master title style</a:t>
            </a:r>
            <a:endParaRPr lang="en-CA"/>
          </a:p>
        </p:txBody>
      </p:sp>
      <p:sp>
        <p:nvSpPr>
          <p:cNvPr id="3" name="Text Placeholder 2"/>
          <p:cNvSpPr>
            <a:spLocks noGrp="1"/>
          </p:cNvSpPr>
          <p:nvPr>
            <p:ph type="body" sz="half" idx="1"/>
          </p:nvPr>
        </p:nvSpPr>
        <p:spPr>
          <a:xfrm>
            <a:off x="457200" y="1143000"/>
            <a:ext cx="4038600" cy="533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quarter" idx="2"/>
          </p:nvPr>
        </p:nvSpPr>
        <p:spPr>
          <a:xfrm>
            <a:off x="4648200" y="1143000"/>
            <a:ext cx="40386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Content Placeholder 4"/>
          <p:cNvSpPr>
            <a:spLocks noGrp="1"/>
          </p:cNvSpPr>
          <p:nvPr>
            <p:ph sz="quarter" idx="3"/>
          </p:nvPr>
        </p:nvSpPr>
        <p:spPr>
          <a:xfrm>
            <a:off x="4648200" y="3886200"/>
            <a:ext cx="4038600" cy="259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Tree>
    <p:extLst>
      <p:ext uri="{BB962C8B-B14F-4D97-AF65-F5344CB8AC3E}">
        <p14:creationId xmlns:p14="http://schemas.microsoft.com/office/powerpoint/2010/main" val="163773888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15">
            <a:extLst>
              <a:ext uri="{FF2B5EF4-FFF2-40B4-BE49-F238E27FC236}">
                <a16:creationId xmlns:a16="http://schemas.microsoft.com/office/drawing/2014/main" id="{E316948B-A62A-4491-868B-010AD0A581D7}"/>
              </a:ext>
            </a:extLst>
          </p:cNvPr>
          <p:cNvGrpSpPr>
            <a:grpSpLocks/>
          </p:cNvGrpSpPr>
          <p:nvPr userDrawn="1"/>
        </p:nvGrpSpPr>
        <p:grpSpPr bwMode="auto">
          <a:xfrm>
            <a:off x="914400" y="3352800"/>
            <a:ext cx="7315200" cy="1289050"/>
            <a:chOff x="576" y="2112"/>
            <a:chExt cx="4608" cy="812"/>
          </a:xfrm>
        </p:grpSpPr>
        <p:sp>
          <p:nvSpPr>
            <p:cNvPr id="1036" name="Rectangle 8">
              <a:extLst>
                <a:ext uri="{FF2B5EF4-FFF2-40B4-BE49-F238E27FC236}">
                  <a16:creationId xmlns:a16="http://schemas.microsoft.com/office/drawing/2014/main" id="{46B51832-B2D7-4E19-92FB-80CA6172C354}"/>
                </a:ext>
              </a:extLst>
            </p:cNvPr>
            <p:cNvSpPr>
              <a:spLocks noChangeArrowheads="1"/>
            </p:cNvSpPr>
            <p:nvPr/>
          </p:nvSpPr>
          <p:spPr bwMode="auto">
            <a:xfrm>
              <a:off x="576" y="2112"/>
              <a:ext cx="4608" cy="806"/>
            </a:xfrm>
            <a:prstGeom prst="rect">
              <a:avLst/>
            </a:prstGeom>
            <a:noFill/>
            <a:ln w="6350" cap="rnd" algn="ctr">
              <a:solidFill>
                <a:schemeClr val="tx2"/>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sp>
          <p:nvSpPr>
            <p:cNvPr id="1037" name="Rectangle 11">
              <a:extLst>
                <a:ext uri="{FF2B5EF4-FFF2-40B4-BE49-F238E27FC236}">
                  <a16:creationId xmlns:a16="http://schemas.microsoft.com/office/drawing/2014/main" id="{8B792898-DEA1-41FF-ACBB-7C12A3F9D004}"/>
                </a:ext>
              </a:extLst>
            </p:cNvPr>
            <p:cNvSpPr>
              <a:spLocks noChangeArrowheads="1"/>
            </p:cNvSpPr>
            <p:nvPr/>
          </p:nvSpPr>
          <p:spPr bwMode="auto">
            <a:xfrm>
              <a:off x="582" y="2118"/>
              <a:ext cx="144" cy="806"/>
            </a:xfrm>
            <a:prstGeom prst="rect">
              <a:avLst/>
            </a:prstGeom>
            <a:solidFill>
              <a:srgbClr val="005654"/>
            </a:solidFill>
            <a:ln>
              <a:noFill/>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US" altLang="en-US">
                <a:solidFill>
                  <a:srgbClr val="FFFFFF"/>
                </a:solidFill>
                <a:latin typeface="Calibri" panose="020F0502020204030204" pitchFamily="34" charset="0"/>
              </a:endParaRPr>
            </a:p>
          </p:txBody>
        </p:sp>
      </p:grpSp>
      <p:grpSp>
        <p:nvGrpSpPr>
          <p:cNvPr id="1027" name="Group 18">
            <a:extLst>
              <a:ext uri="{FF2B5EF4-FFF2-40B4-BE49-F238E27FC236}">
                <a16:creationId xmlns:a16="http://schemas.microsoft.com/office/drawing/2014/main" id="{6A8BAED7-2AFC-4D37-B571-F445A75F0CB9}"/>
              </a:ext>
            </a:extLst>
          </p:cNvPr>
          <p:cNvGrpSpPr>
            <a:grpSpLocks/>
          </p:cNvGrpSpPr>
          <p:nvPr userDrawn="1"/>
        </p:nvGrpSpPr>
        <p:grpSpPr bwMode="auto">
          <a:xfrm>
            <a:off x="914400" y="4724400"/>
            <a:ext cx="7315200" cy="685800"/>
            <a:chOff x="576" y="2976"/>
            <a:chExt cx="4608" cy="432"/>
          </a:xfrm>
        </p:grpSpPr>
        <p:sp>
          <p:nvSpPr>
            <p:cNvPr id="1034" name="Rectangle 10">
              <a:extLst>
                <a:ext uri="{FF2B5EF4-FFF2-40B4-BE49-F238E27FC236}">
                  <a16:creationId xmlns:a16="http://schemas.microsoft.com/office/drawing/2014/main" id="{6D7F8AE9-2C4F-4D11-927F-563E321A5D55}"/>
                </a:ext>
              </a:extLst>
            </p:cNvPr>
            <p:cNvSpPr>
              <a:spLocks noChangeArrowheads="1"/>
            </p:cNvSpPr>
            <p:nvPr/>
          </p:nvSpPr>
          <p:spPr bwMode="auto">
            <a:xfrm>
              <a:off x="576" y="2976"/>
              <a:ext cx="4608" cy="432"/>
            </a:xfrm>
            <a:prstGeom prst="rect">
              <a:avLst/>
            </a:prstGeom>
            <a:no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sp>
          <p:nvSpPr>
            <p:cNvPr id="1035" name="Rectangle 12">
              <a:extLst>
                <a:ext uri="{FF2B5EF4-FFF2-40B4-BE49-F238E27FC236}">
                  <a16:creationId xmlns:a16="http://schemas.microsoft.com/office/drawing/2014/main" id="{BBCB84A4-A193-439B-8FF8-89408C12956D}"/>
                </a:ext>
              </a:extLst>
            </p:cNvPr>
            <p:cNvSpPr>
              <a:spLocks noChangeArrowheads="1"/>
            </p:cNvSpPr>
            <p:nvPr/>
          </p:nvSpPr>
          <p:spPr bwMode="auto">
            <a:xfrm>
              <a:off x="576" y="2976"/>
              <a:ext cx="144" cy="432"/>
            </a:xfrm>
            <a:prstGeom prst="rect">
              <a:avLst/>
            </a:prstGeom>
            <a:solidFill>
              <a:srgbClr val="45D1D1"/>
            </a:solidFill>
            <a:ln w="6350" cap="rnd" algn="ctr">
              <a:solidFill>
                <a:schemeClr val="bg1">
                  <a:lumMod val="50000"/>
                </a:schemeClr>
              </a:solidFill>
              <a:miter lim="800000"/>
              <a:headEnd/>
              <a:tailEnd/>
            </a:ln>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endParaRPr lang="en-CA" altLang="en-US"/>
            </a:p>
          </p:txBody>
        </p:sp>
      </p:grpSp>
      <p:sp>
        <p:nvSpPr>
          <p:cNvPr id="1028" name="Freeform 9">
            <a:extLst>
              <a:ext uri="{FF2B5EF4-FFF2-40B4-BE49-F238E27FC236}">
                <a16:creationId xmlns:a16="http://schemas.microsoft.com/office/drawing/2014/main" id="{E8074241-7914-48F0-8859-F3188814DC9E}"/>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14" name="Rectangle 8">
            <a:extLst>
              <a:ext uri="{FF2B5EF4-FFF2-40B4-BE49-F238E27FC236}">
                <a16:creationId xmlns:a16="http://schemas.microsoft.com/office/drawing/2014/main" id="{D083A19C-6E42-43F2-9E61-C4C85A8AE186}"/>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
        <p:nvSpPr>
          <p:cNvPr id="16" name="Rectangle 13">
            <a:extLst>
              <a:ext uri="{FF2B5EF4-FFF2-40B4-BE49-F238E27FC236}">
                <a16:creationId xmlns:a16="http://schemas.microsoft.com/office/drawing/2014/main" id="{28B2CEBA-85C8-4A1B-B0FC-0DBACED42F9D}"/>
              </a:ext>
            </a:extLst>
          </p:cNvPr>
          <p:cNvSpPr>
            <a:spLocks noChangeArrowheads="1"/>
          </p:cNvSpPr>
          <p:nvPr userDrawn="1"/>
        </p:nvSpPr>
        <p:spPr bwMode="auto">
          <a:xfrm>
            <a:off x="2743200" y="76200"/>
            <a:ext cx="6172200" cy="2971800"/>
          </a:xfrm>
          <a:prstGeom prst="rect">
            <a:avLst/>
          </a:prstGeom>
          <a:noFill/>
          <a:ln>
            <a:noFill/>
          </a:ln>
          <a:effectLst>
            <a:outerShdw dist="35921" dir="2700000" algn="ctr" rotWithShape="0">
              <a:schemeClr val="bg2"/>
            </a:outerShdw>
          </a:effectLst>
        </p:spPr>
        <p:txBody>
          <a:bodyPr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4400" dirty="0">
                <a:solidFill>
                  <a:srgbClr val="005654"/>
                </a:solidFill>
                <a:latin typeface="Calibri" panose="020F0502020204030204" pitchFamily="34" charset="0"/>
              </a:rPr>
              <a:t>FINANCIAL ACCOUNTING</a:t>
            </a:r>
            <a:br>
              <a:rPr lang="en-US" altLang="en-US" sz="3200" dirty="0">
                <a:solidFill>
                  <a:srgbClr val="003366"/>
                </a:solidFill>
                <a:latin typeface="Calibri" panose="020F0502020204030204" pitchFamily="34" charset="0"/>
              </a:rPr>
            </a:br>
            <a:br>
              <a:rPr lang="en-US" altLang="en-US" sz="1600" dirty="0">
                <a:solidFill>
                  <a:srgbClr val="003366"/>
                </a:solidFill>
                <a:latin typeface="Calibri" panose="020F0502020204030204" pitchFamily="34" charset="0"/>
              </a:rPr>
            </a:br>
            <a:r>
              <a:rPr lang="en-US" altLang="en-US" dirty="0">
                <a:solidFill>
                  <a:schemeClr val="tx1"/>
                </a:solidFill>
                <a:latin typeface="Calibri" panose="020F0502020204030204" pitchFamily="34" charset="0"/>
              </a:rPr>
              <a:t>Eighth Canadian Edition</a:t>
            </a:r>
            <a:br>
              <a:rPr lang="en-US" altLang="en-US" dirty="0">
                <a:solidFill>
                  <a:schemeClr val="tx1"/>
                </a:solidFill>
                <a:latin typeface="Calibri" panose="020F0502020204030204" pitchFamily="34" charset="0"/>
              </a:rPr>
            </a:br>
            <a:br>
              <a:rPr lang="en-US" altLang="en-US" dirty="0">
                <a:solidFill>
                  <a:schemeClr val="tx1"/>
                </a:solidFill>
                <a:latin typeface="Calibri" panose="020F0502020204030204" pitchFamily="34" charset="0"/>
              </a:rPr>
            </a:br>
            <a:r>
              <a:rPr lang="en-US" altLang="en-US" b="1" dirty="0">
                <a:solidFill>
                  <a:schemeClr val="tx1"/>
                </a:solidFill>
                <a:latin typeface="Calibri" panose="020F0502020204030204" pitchFamily="34" charset="0"/>
              </a:rPr>
              <a:t>LIBBY, LIBBY, HODGE, KANAAN, STERLING</a:t>
            </a:r>
            <a:r>
              <a:rPr lang="en-US" altLang="en-US" dirty="0">
                <a:solidFill>
                  <a:schemeClr val="tx1"/>
                </a:solidFill>
                <a:latin typeface="Calibri" panose="020F0502020204030204" pitchFamily="34" charset="0"/>
              </a:rPr>
              <a:t> </a:t>
            </a:r>
            <a:br>
              <a:rPr lang="en-US" altLang="en-US" dirty="0">
                <a:solidFill>
                  <a:srgbClr val="003366"/>
                </a:solidFill>
                <a:latin typeface="Calibri" panose="020F0502020204030204" pitchFamily="34" charset="0"/>
              </a:rPr>
            </a:br>
            <a:endParaRPr lang="en-US" altLang="en-US" dirty="0">
              <a:solidFill>
                <a:srgbClr val="003366"/>
              </a:solidFill>
              <a:latin typeface="Calibri" panose="020F0502020204030204" pitchFamily="34" charset="0"/>
            </a:endParaRPr>
          </a:p>
        </p:txBody>
      </p:sp>
      <p:pic>
        <p:nvPicPr>
          <p:cNvPr id="17" name="Picture 16" descr="A picture containing text, electronics, sign, green&#10;&#10;Description automatically generated">
            <a:extLst>
              <a:ext uri="{FF2B5EF4-FFF2-40B4-BE49-F238E27FC236}">
                <a16:creationId xmlns:a16="http://schemas.microsoft.com/office/drawing/2014/main" id="{72118322-352D-9A4D-98EE-BB0DFA51E5E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81468" y="188842"/>
            <a:ext cx="2300890" cy="2987722"/>
          </a:xfrm>
          <a:prstGeom prst="rect">
            <a:avLst/>
          </a:prstGeom>
        </p:spPr>
      </p:pic>
      <p:sp>
        <p:nvSpPr>
          <p:cNvPr id="18" name="Rectangle 12">
            <a:extLst>
              <a:ext uri="{FF2B5EF4-FFF2-40B4-BE49-F238E27FC236}">
                <a16:creationId xmlns:a16="http://schemas.microsoft.com/office/drawing/2014/main" id="{632F0A33-6056-0E41-A131-CE417BC8084E}"/>
              </a:ext>
            </a:extLst>
          </p:cNvPr>
          <p:cNvSpPr>
            <a:spLocks noChangeArrowheads="1"/>
          </p:cNvSpPr>
          <p:nvPr userDrawn="1"/>
        </p:nvSpPr>
        <p:spPr bwMode="auto">
          <a:xfrm>
            <a:off x="1331913" y="5486400"/>
            <a:ext cx="6629400" cy="1025525"/>
          </a:xfrm>
          <a:prstGeom prst="rect">
            <a:avLst/>
          </a:prstGeom>
          <a:noFill/>
          <a:ln>
            <a:noFill/>
          </a:ln>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defRPr/>
            </a:pPr>
            <a:endParaRPr lang="en-US" altLang="en-US" sz="1200" i="1" dirty="0">
              <a:solidFill>
                <a:schemeClr val="tx1"/>
              </a:solidFill>
              <a:latin typeface="Tahoma" panose="020B0604030504040204" pitchFamily="34" charset="0"/>
            </a:endParaRPr>
          </a:p>
          <a:p>
            <a:pPr algn="ctr">
              <a:defRPr/>
            </a:pPr>
            <a:r>
              <a:rPr lang="en-US" altLang="en-US" sz="1600" dirty="0">
                <a:solidFill>
                  <a:schemeClr val="tx1"/>
                </a:solidFill>
                <a:latin typeface="Tahoma" panose="020B0604030504040204" pitchFamily="34" charset="0"/>
              </a:rPr>
              <a:t>Prepared by </a:t>
            </a:r>
            <a:r>
              <a:rPr lang="en-US" altLang="en-US" sz="1600" i="1" dirty="0">
                <a:solidFill>
                  <a:schemeClr val="tx1"/>
                </a:solidFill>
                <a:latin typeface="Tahoma" panose="020B0604030504040204" pitchFamily="34" charset="0"/>
              </a:rPr>
              <a:t>Shannon Butler, CPA, CA, MEd</a:t>
            </a:r>
            <a:br>
              <a:rPr lang="en-US" altLang="en-US" sz="1600" dirty="0">
                <a:solidFill>
                  <a:schemeClr val="tx1"/>
                </a:solidFill>
                <a:latin typeface="Tahoma" panose="020B0604030504040204" pitchFamily="34" charset="0"/>
              </a:rPr>
            </a:br>
            <a:r>
              <a:rPr lang="en-US" altLang="en-US" sz="1600" i="1" dirty="0">
                <a:solidFill>
                  <a:schemeClr val="tx1"/>
                </a:solidFill>
                <a:latin typeface="Tahoma" panose="020B0604030504040204" pitchFamily="34" charset="0"/>
              </a:rPr>
              <a:t>Carleton University, </a:t>
            </a:r>
            <a:r>
              <a:rPr lang="en-US" altLang="en-US" sz="1600" i="1" dirty="0" err="1">
                <a:solidFill>
                  <a:schemeClr val="tx1"/>
                </a:solidFill>
                <a:latin typeface="Tahoma" panose="020B0604030504040204" pitchFamily="34" charset="0"/>
              </a:rPr>
              <a:t>Sprott</a:t>
            </a:r>
            <a:r>
              <a:rPr lang="en-US" altLang="en-US" sz="1600" i="1" dirty="0">
                <a:solidFill>
                  <a:schemeClr val="tx1"/>
                </a:solidFill>
                <a:latin typeface="Tahoma" panose="020B0604030504040204" pitchFamily="34" charset="0"/>
              </a:rPr>
              <a:t> School of Business</a:t>
            </a:r>
          </a:p>
        </p:txBody>
      </p:sp>
    </p:spTree>
  </p:cSld>
  <p:clrMap bg1="lt1" tx1="dk1" bg2="lt2" tx2="dk2" accent1="accent1" accent2="accent2" accent3="accent3" accent4="accent4" accent5="accent5" accent6="accent6" hlink="hlink" folHlink="folHlink"/>
  <p:sldLayoutIdLst>
    <p:sldLayoutId id="2147483765" r:id="rId1"/>
    <p:sldLayoutId id="2147483766" r:id="rId2"/>
    <p:sldLayoutId id="2147483767" r:id="rId3"/>
    <p:sldLayoutId id="2147483768" r:id="rId4"/>
    <p:sldLayoutId id="2147483769" r:id="rId5"/>
    <p:sldLayoutId id="2147483770" r:id="rId6"/>
    <p:sldLayoutId id="2147483771" r:id="rId7"/>
    <p:sldLayoutId id="2147483772" r:id="rId8"/>
    <p:sldLayoutId id="2147483773" r:id="rId9"/>
    <p:sldLayoutId id="2147483774" r:id="rId10"/>
    <p:sldLayoutId id="2147483775" r:id="rId11"/>
  </p:sldLayoutIdLst>
  <p:transition/>
  <p:txStyles>
    <p:titleStyle>
      <a:lvl1pPr algn="l" rtl="0" eaLnBrk="0" fontAlgn="base" hangingPunct="0">
        <a:spcBef>
          <a:spcPct val="0"/>
        </a:spcBef>
        <a:spcAft>
          <a:spcPct val="0"/>
        </a:spcAft>
        <a:defRPr sz="3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pitchFamily="34" charset="0"/>
        </a:defRPr>
      </a:lvl2pPr>
      <a:lvl3pPr algn="l" rtl="0" eaLnBrk="0" fontAlgn="base" hangingPunct="0">
        <a:spcBef>
          <a:spcPct val="0"/>
        </a:spcBef>
        <a:spcAft>
          <a:spcPct val="0"/>
        </a:spcAft>
        <a:defRPr sz="3200">
          <a:solidFill>
            <a:schemeClr val="tx2"/>
          </a:solidFill>
          <a:latin typeface="Calibri" pitchFamily="34" charset="0"/>
          <a:cs typeface="Arial" pitchFamily="34" charset="0"/>
        </a:defRPr>
      </a:lvl3pPr>
      <a:lvl4pPr algn="l" rtl="0" eaLnBrk="0" fontAlgn="base" hangingPunct="0">
        <a:spcBef>
          <a:spcPct val="0"/>
        </a:spcBef>
        <a:spcAft>
          <a:spcPct val="0"/>
        </a:spcAft>
        <a:defRPr sz="3200">
          <a:solidFill>
            <a:schemeClr val="tx2"/>
          </a:solidFill>
          <a:latin typeface="Calibri" pitchFamily="34" charset="0"/>
          <a:cs typeface="Arial" pitchFamily="34" charset="0"/>
        </a:defRPr>
      </a:lvl4pPr>
      <a:lvl5pPr algn="l" rtl="0" eaLnBrk="0" fontAlgn="base" hangingPunct="0">
        <a:spcBef>
          <a:spcPct val="0"/>
        </a:spcBef>
        <a:spcAft>
          <a:spcPct val="0"/>
        </a:spcAft>
        <a:defRPr sz="3200">
          <a:solidFill>
            <a:schemeClr val="tx2"/>
          </a:solidFill>
          <a:latin typeface="Calibri" pitchFamily="34" charset="0"/>
          <a:cs typeface="Arial" pitchFamily="34" charset="0"/>
        </a:defRPr>
      </a:lvl5pPr>
      <a:lvl6pPr marL="457200" algn="l" rtl="0" fontAlgn="base">
        <a:spcBef>
          <a:spcPct val="0"/>
        </a:spcBef>
        <a:spcAft>
          <a:spcPct val="0"/>
        </a:spcAft>
        <a:defRPr sz="3200">
          <a:solidFill>
            <a:schemeClr val="tx2"/>
          </a:solidFill>
          <a:latin typeface="Calibri" pitchFamily="34" charset="0"/>
          <a:cs typeface="Arial" pitchFamily="34" charset="0"/>
        </a:defRPr>
      </a:lvl6pPr>
      <a:lvl7pPr marL="914400" algn="l" rtl="0" fontAlgn="base">
        <a:spcBef>
          <a:spcPct val="0"/>
        </a:spcBef>
        <a:spcAft>
          <a:spcPct val="0"/>
        </a:spcAft>
        <a:defRPr sz="3200">
          <a:solidFill>
            <a:schemeClr val="tx2"/>
          </a:solidFill>
          <a:latin typeface="Calibri" pitchFamily="34" charset="0"/>
          <a:cs typeface="Arial" pitchFamily="34" charset="0"/>
        </a:defRPr>
      </a:lvl7pPr>
      <a:lvl8pPr marL="1371600" algn="l" rtl="0" fontAlgn="base">
        <a:spcBef>
          <a:spcPct val="0"/>
        </a:spcBef>
        <a:spcAft>
          <a:spcPct val="0"/>
        </a:spcAft>
        <a:defRPr sz="3200">
          <a:solidFill>
            <a:schemeClr val="tx2"/>
          </a:solidFill>
          <a:latin typeface="Calibri" pitchFamily="34" charset="0"/>
          <a:cs typeface="Arial" pitchFamily="34" charset="0"/>
        </a:defRPr>
      </a:lvl8pPr>
      <a:lvl9pPr marL="1828800" algn="l" rtl="0" fontAlgn="base">
        <a:spcBef>
          <a:spcPct val="0"/>
        </a:spcBef>
        <a:spcAft>
          <a:spcPct val="0"/>
        </a:spcAft>
        <a:defRPr sz="3200">
          <a:solidFill>
            <a:schemeClr val="tx2"/>
          </a:solidFill>
          <a:latin typeface="Calibri" pitchFamily="34" charset="0"/>
          <a:cs typeface="Arial" pitchFamily="34"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a:solidFill>
            <a:schemeClr val="tx2"/>
          </a:solidFill>
          <a:latin typeface="+mn-lt"/>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A94543"/>
        </a:buClr>
        <a:buSzPct val="70000"/>
        <a:buFont typeface="Wingdings" panose="05000000000000000000" pitchFamily="2" charset="2"/>
        <a:buChar char=""/>
        <a:defRPr sz="2000">
          <a:solidFill>
            <a:schemeClr val="tx1"/>
          </a:solidFill>
          <a:latin typeface="+mn-lt"/>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F504394A-3279-4862-8BFC-FAE2B2BC55F8}"/>
              </a:ext>
            </a:extLst>
          </p:cNvPr>
          <p:cNvSpPr>
            <a:spLocks noGrp="1"/>
          </p:cNvSpPr>
          <p:nvPr>
            <p:ph type="title"/>
          </p:nvPr>
        </p:nvSpPr>
        <p:spPr bwMode="auto">
          <a:xfrm>
            <a:off x="457200" y="152400"/>
            <a:ext cx="82296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CA" altLang="en-US" dirty="0"/>
              <a:t>Click to edit Master title style</a:t>
            </a:r>
          </a:p>
        </p:txBody>
      </p:sp>
      <p:sp>
        <p:nvSpPr>
          <p:cNvPr id="2051" name="Text Placeholder 12">
            <a:extLst>
              <a:ext uri="{FF2B5EF4-FFF2-40B4-BE49-F238E27FC236}">
                <a16:creationId xmlns:a16="http://schemas.microsoft.com/office/drawing/2014/main" id="{3EB1F9DC-7EBF-4D7D-B54F-6261FAE2ADE6}"/>
              </a:ext>
            </a:extLst>
          </p:cNvPr>
          <p:cNvSpPr>
            <a:spLocks noGrp="1"/>
          </p:cNvSpPr>
          <p:nvPr>
            <p:ph type="body" idx="1"/>
          </p:nvPr>
        </p:nvSpPr>
        <p:spPr bwMode="auto">
          <a:xfrm>
            <a:off x="457200" y="1143000"/>
            <a:ext cx="8229600" cy="533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CA" altLang="en-US"/>
              <a:t>Click to edit Master text styles</a:t>
            </a:r>
          </a:p>
          <a:p>
            <a:pPr lvl="1"/>
            <a:r>
              <a:rPr lang="en-CA" altLang="en-US"/>
              <a:t>Second level</a:t>
            </a:r>
          </a:p>
          <a:p>
            <a:pPr lvl="2"/>
            <a:r>
              <a:rPr lang="en-CA" altLang="en-US"/>
              <a:t>Third level</a:t>
            </a:r>
          </a:p>
          <a:p>
            <a:pPr lvl="3"/>
            <a:r>
              <a:rPr lang="en-CA" altLang="en-US"/>
              <a:t>Fourth level</a:t>
            </a:r>
          </a:p>
          <a:p>
            <a:pPr lvl="4"/>
            <a:r>
              <a:rPr lang="en-CA" altLang="en-US"/>
              <a:t>Fifth level</a:t>
            </a:r>
          </a:p>
        </p:txBody>
      </p:sp>
      <p:sp>
        <p:nvSpPr>
          <p:cNvPr id="2052" name="Straight Connector 28">
            <a:extLst>
              <a:ext uri="{FF2B5EF4-FFF2-40B4-BE49-F238E27FC236}">
                <a16:creationId xmlns:a16="http://schemas.microsoft.com/office/drawing/2014/main" id="{4F9F50C9-DC63-44C8-B168-CF247C40DB88}"/>
              </a:ext>
            </a:extLst>
          </p:cNvPr>
          <p:cNvSpPr>
            <a:spLocks noChangeShapeType="1"/>
          </p:cNvSpPr>
          <p:nvPr/>
        </p:nvSpPr>
        <p:spPr bwMode="auto">
          <a:xfrm>
            <a:off x="457200" y="990600"/>
            <a:ext cx="8229600" cy="0"/>
          </a:xfrm>
          <a:prstGeom prst="line">
            <a:avLst/>
          </a:prstGeom>
          <a:noFill/>
          <a:ln w="9525" algn="ctr">
            <a:solidFill>
              <a:srgbClr val="003366"/>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53" name="Freeform 9">
            <a:extLst>
              <a:ext uri="{FF2B5EF4-FFF2-40B4-BE49-F238E27FC236}">
                <a16:creationId xmlns:a16="http://schemas.microsoft.com/office/drawing/2014/main" id="{2612FBA9-D988-49AD-9C28-5268AAA8BFA7}"/>
              </a:ext>
            </a:extLst>
          </p:cNvPr>
          <p:cNvSpPr>
            <a:spLocks/>
          </p:cNvSpPr>
          <p:nvPr userDrawn="1"/>
        </p:nvSpPr>
        <p:spPr bwMode="auto">
          <a:xfrm rot="5400000">
            <a:off x="7734300" y="5441950"/>
            <a:ext cx="1066800" cy="1752600"/>
          </a:xfrm>
          <a:custGeom>
            <a:avLst/>
            <a:gdLst>
              <a:gd name="T0" fmla="*/ 0 w 1432"/>
              <a:gd name="T1" fmla="*/ 0 h 3492"/>
              <a:gd name="T2" fmla="*/ 2147483646 w 1432"/>
              <a:gd name="T3" fmla="*/ 0 h 3492"/>
              <a:gd name="T4" fmla="*/ 2147483646 w 1432"/>
              <a:gd name="T5" fmla="*/ 2147483646 h 3492"/>
              <a:gd name="T6" fmla="*/ 2147483646 w 1432"/>
              <a:gd name="T7" fmla="*/ 2147483646 h 3492"/>
              <a:gd name="T8" fmla="*/ 2147483646 w 1432"/>
              <a:gd name="T9" fmla="*/ 2147483646 h 3492"/>
              <a:gd name="T10" fmla="*/ 2147483646 w 1432"/>
              <a:gd name="T11" fmla="*/ 2147483646 h 3492"/>
              <a:gd name="T12" fmla="*/ 2147483646 w 1432"/>
              <a:gd name="T13" fmla="*/ 2147483646 h 3492"/>
              <a:gd name="T14" fmla="*/ 2147483646 w 1432"/>
              <a:gd name="T15" fmla="*/ 2147483646 h 3492"/>
              <a:gd name="T16" fmla="*/ 2147483646 w 1432"/>
              <a:gd name="T17" fmla="*/ 2147483646 h 3492"/>
              <a:gd name="T18" fmla="*/ 2147483646 w 1432"/>
              <a:gd name="T19" fmla="*/ 2147483646 h 3492"/>
              <a:gd name="T20" fmla="*/ 2147483646 w 1432"/>
              <a:gd name="T21" fmla="*/ 2147483646 h 3492"/>
              <a:gd name="T22" fmla="*/ 2147483646 w 1432"/>
              <a:gd name="T23" fmla="*/ 2147483646 h 3492"/>
              <a:gd name="T24" fmla="*/ 2147483646 w 1432"/>
              <a:gd name="T25" fmla="*/ 2147483646 h 3492"/>
              <a:gd name="T26" fmla="*/ 2147483646 w 1432"/>
              <a:gd name="T27" fmla="*/ 2147483646 h 3492"/>
              <a:gd name="T28" fmla="*/ 2147483646 w 1432"/>
              <a:gd name="T29" fmla="*/ 2147483646 h 3492"/>
              <a:gd name="T30" fmla="*/ 2147483646 w 1432"/>
              <a:gd name="T31" fmla="*/ 2147483646 h 3492"/>
              <a:gd name="T32" fmla="*/ 2147483646 w 1432"/>
              <a:gd name="T33" fmla="*/ 2147483646 h 3492"/>
              <a:gd name="T34" fmla="*/ 2147483646 w 1432"/>
              <a:gd name="T35" fmla="*/ 2147483646 h 3492"/>
              <a:gd name="T36" fmla="*/ 2147483646 w 1432"/>
              <a:gd name="T37" fmla="*/ 2147483646 h 3492"/>
              <a:gd name="T38" fmla="*/ 2147483646 w 1432"/>
              <a:gd name="T39" fmla="*/ 2147483646 h 3492"/>
              <a:gd name="T40" fmla="*/ 2147483646 w 1432"/>
              <a:gd name="T41" fmla="*/ 2147483646 h 3492"/>
              <a:gd name="T42" fmla="*/ 2147483646 w 1432"/>
              <a:gd name="T43" fmla="*/ 2147483646 h 3492"/>
              <a:gd name="T44" fmla="*/ 2147483646 w 1432"/>
              <a:gd name="T45" fmla="*/ 2147483646 h 3492"/>
              <a:gd name="T46" fmla="*/ 2147483646 w 1432"/>
              <a:gd name="T47" fmla="*/ 2147483646 h 3492"/>
              <a:gd name="T48" fmla="*/ 2147483646 w 1432"/>
              <a:gd name="T49" fmla="*/ 2147483646 h 3492"/>
              <a:gd name="T50" fmla="*/ 2147483646 w 1432"/>
              <a:gd name="T51" fmla="*/ 2147483646 h 3492"/>
              <a:gd name="T52" fmla="*/ 2147483646 w 1432"/>
              <a:gd name="T53" fmla="*/ 2147483646 h 3492"/>
              <a:gd name="T54" fmla="*/ 2147483646 w 1432"/>
              <a:gd name="T55" fmla="*/ 2147483646 h 3492"/>
              <a:gd name="T56" fmla="*/ 2147483646 w 1432"/>
              <a:gd name="T57" fmla="*/ 2147483646 h 3492"/>
              <a:gd name="T58" fmla="*/ 2147483646 w 1432"/>
              <a:gd name="T59" fmla="*/ 2147483646 h 3492"/>
              <a:gd name="T60" fmla="*/ 2147483646 w 1432"/>
              <a:gd name="T61" fmla="*/ 2147483646 h 3492"/>
              <a:gd name="T62" fmla="*/ 2147483646 w 1432"/>
              <a:gd name="T63" fmla="*/ 2147483646 h 3492"/>
              <a:gd name="T64" fmla="*/ 2147483646 w 1432"/>
              <a:gd name="T65" fmla="*/ 2147483646 h 3492"/>
              <a:gd name="T66" fmla="*/ 2147483646 w 1432"/>
              <a:gd name="T67" fmla="*/ 2147483646 h 3492"/>
              <a:gd name="T68" fmla="*/ 0 w 1432"/>
              <a:gd name="T69" fmla="*/ 0 h 34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432"/>
              <a:gd name="T106" fmla="*/ 0 h 3492"/>
              <a:gd name="T107" fmla="*/ 1432 w 1432"/>
              <a:gd name="T108" fmla="*/ 3492 h 34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432" h="3492">
                <a:moveTo>
                  <a:pt x="0" y="0"/>
                </a:moveTo>
                <a:lnTo>
                  <a:pt x="1432" y="0"/>
                </a:lnTo>
                <a:lnTo>
                  <a:pt x="1432" y="3492"/>
                </a:lnTo>
                <a:lnTo>
                  <a:pt x="1419" y="3252"/>
                </a:lnTo>
                <a:lnTo>
                  <a:pt x="1406" y="3024"/>
                </a:lnTo>
                <a:lnTo>
                  <a:pt x="1393" y="2807"/>
                </a:lnTo>
                <a:lnTo>
                  <a:pt x="1379" y="2601"/>
                </a:lnTo>
                <a:lnTo>
                  <a:pt x="1364" y="2407"/>
                </a:lnTo>
                <a:lnTo>
                  <a:pt x="1348" y="2222"/>
                </a:lnTo>
                <a:lnTo>
                  <a:pt x="1330" y="2047"/>
                </a:lnTo>
                <a:lnTo>
                  <a:pt x="1311" y="1881"/>
                </a:lnTo>
                <a:lnTo>
                  <a:pt x="1291" y="1726"/>
                </a:lnTo>
                <a:lnTo>
                  <a:pt x="1268" y="1580"/>
                </a:lnTo>
                <a:lnTo>
                  <a:pt x="1245" y="1442"/>
                </a:lnTo>
                <a:lnTo>
                  <a:pt x="1218" y="1313"/>
                </a:lnTo>
                <a:lnTo>
                  <a:pt x="1190" y="1192"/>
                </a:lnTo>
                <a:lnTo>
                  <a:pt x="1158" y="1078"/>
                </a:lnTo>
                <a:lnTo>
                  <a:pt x="1125" y="973"/>
                </a:lnTo>
                <a:lnTo>
                  <a:pt x="1089" y="873"/>
                </a:lnTo>
                <a:lnTo>
                  <a:pt x="1049" y="781"/>
                </a:lnTo>
                <a:lnTo>
                  <a:pt x="1007" y="696"/>
                </a:lnTo>
                <a:lnTo>
                  <a:pt x="962" y="617"/>
                </a:lnTo>
                <a:lnTo>
                  <a:pt x="913" y="544"/>
                </a:lnTo>
                <a:lnTo>
                  <a:pt x="860" y="475"/>
                </a:lnTo>
                <a:lnTo>
                  <a:pt x="804" y="413"/>
                </a:lnTo>
                <a:lnTo>
                  <a:pt x="744" y="354"/>
                </a:lnTo>
                <a:lnTo>
                  <a:pt x="680" y="301"/>
                </a:lnTo>
                <a:lnTo>
                  <a:pt x="611" y="252"/>
                </a:lnTo>
                <a:lnTo>
                  <a:pt x="539" y="206"/>
                </a:lnTo>
                <a:lnTo>
                  <a:pt x="461" y="165"/>
                </a:lnTo>
                <a:lnTo>
                  <a:pt x="379" y="128"/>
                </a:lnTo>
                <a:lnTo>
                  <a:pt x="292" y="92"/>
                </a:lnTo>
                <a:lnTo>
                  <a:pt x="200" y="59"/>
                </a:lnTo>
                <a:lnTo>
                  <a:pt x="103" y="28"/>
                </a:lnTo>
                <a:lnTo>
                  <a:pt x="0" y="0"/>
                </a:lnTo>
                <a:close/>
              </a:path>
            </a:pathLst>
          </a:custGeom>
          <a:solidFill>
            <a:srgbClr val="005654"/>
          </a:solidFill>
          <a:ln>
            <a:noFill/>
          </a:ln>
        </p:spPr>
        <p:txBody>
          <a:bodyPr/>
          <a:lstStyle/>
          <a:p>
            <a:endParaRPr lang="en-US"/>
          </a:p>
        </p:txBody>
      </p:sp>
      <p:sp>
        <p:nvSpPr>
          <p:cNvPr id="2055" name="Text Box 9">
            <a:extLst>
              <a:ext uri="{FF2B5EF4-FFF2-40B4-BE49-F238E27FC236}">
                <a16:creationId xmlns:a16="http://schemas.microsoft.com/office/drawing/2014/main" id="{BAD12CE8-6FFA-4E88-A01C-95EF2BB5FB28}"/>
              </a:ext>
            </a:extLst>
          </p:cNvPr>
          <p:cNvSpPr txBox="1">
            <a:spLocks noChangeArrowheads="1"/>
          </p:cNvSpPr>
          <p:nvPr userDrawn="1"/>
        </p:nvSpPr>
        <p:spPr bwMode="auto">
          <a:xfrm>
            <a:off x="8229600" y="6546850"/>
            <a:ext cx="898525" cy="244475"/>
          </a:xfrm>
          <a:prstGeom prst="rect">
            <a:avLst/>
          </a:prstGeom>
          <a:no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defRPr/>
            </a:pPr>
            <a:r>
              <a:rPr lang="en-US" altLang="en-US" sz="1000" dirty="0">
                <a:solidFill>
                  <a:schemeClr val="bg1"/>
                </a:solidFill>
              </a:rPr>
              <a:t>9-</a:t>
            </a:r>
            <a:fld id="{287485F4-53B6-4A43-9924-1759132B4D76}" type="slidenum">
              <a:rPr lang="en-US" altLang="en-US" sz="1000" smtClean="0">
                <a:solidFill>
                  <a:schemeClr val="bg1"/>
                </a:solidFill>
              </a:rPr>
              <a:pPr algn="r" eaLnBrk="1" hangingPunct="1">
                <a:defRPr/>
              </a:pPr>
              <a:t>‹#›</a:t>
            </a:fld>
            <a:endParaRPr lang="en-CA" altLang="en-US" dirty="0"/>
          </a:p>
        </p:txBody>
      </p:sp>
      <p:sp>
        <p:nvSpPr>
          <p:cNvPr id="8" name="Rectangle 8">
            <a:extLst>
              <a:ext uri="{FF2B5EF4-FFF2-40B4-BE49-F238E27FC236}">
                <a16:creationId xmlns:a16="http://schemas.microsoft.com/office/drawing/2014/main" id="{4E618F87-4ED8-4F07-99B6-4B8668153068}"/>
              </a:ext>
            </a:extLst>
          </p:cNvPr>
          <p:cNvSpPr>
            <a:spLocks noChangeArrowheads="1"/>
          </p:cNvSpPr>
          <p:nvPr userDrawn="1"/>
        </p:nvSpPr>
        <p:spPr bwMode="auto">
          <a:xfrm>
            <a:off x="34925" y="6553200"/>
            <a:ext cx="1777732" cy="243656"/>
          </a:xfrm>
          <a:prstGeom prst="rect">
            <a:avLst/>
          </a:prstGeom>
          <a:noFill/>
          <a:ln>
            <a:noFill/>
          </a:ln>
        </p:spPr>
        <p:txBody>
          <a:bodyPr wrap="none" lIns="90488" tIns="44450" rIns="90488" bIns="44450">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defRPr/>
            </a:pPr>
            <a:r>
              <a:rPr lang="en-CA" sz="1000" dirty="0"/>
              <a:t>© 2023 McGraw Hill Limited</a:t>
            </a:r>
            <a:endParaRPr lang="en-US" altLang="en-US" sz="1000" dirty="0">
              <a:solidFill>
                <a:srgbClr val="003366"/>
              </a:solidFill>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76" r:id="rId1"/>
    <p:sldLayoutId id="2147483777" r:id="rId2"/>
    <p:sldLayoutId id="2147483778" r:id="rId3"/>
    <p:sldLayoutId id="2147483779" r:id="rId4"/>
    <p:sldLayoutId id="2147483780" r:id="rId5"/>
    <p:sldLayoutId id="2147483781" r:id="rId6"/>
    <p:sldLayoutId id="2147483782" r:id="rId7"/>
    <p:sldLayoutId id="2147483783" r:id="rId8"/>
    <p:sldLayoutId id="2147483784" r:id="rId9"/>
    <p:sldLayoutId id="2147483785" r:id="rId10"/>
    <p:sldLayoutId id="2147483786" r:id="rId11"/>
    <p:sldLayoutId id="2147483787" r:id="rId12"/>
  </p:sldLayoutIdLst>
  <p:transition/>
  <p:txStyles>
    <p:titleStyle>
      <a:lvl1pPr algn="l" rtl="0" eaLnBrk="0" fontAlgn="base" hangingPunct="0">
        <a:spcBef>
          <a:spcPct val="0"/>
        </a:spcBef>
        <a:spcAft>
          <a:spcPct val="0"/>
        </a:spcAft>
        <a:defRPr sz="3200">
          <a:solidFill>
            <a:srgbClr val="005654"/>
          </a:solidFill>
          <a:latin typeface="+mj-lt"/>
          <a:ea typeface="+mj-ea"/>
          <a:cs typeface="+mj-cs"/>
        </a:defRPr>
      </a:lvl1pPr>
      <a:lvl2pPr algn="l" rtl="0" eaLnBrk="0" fontAlgn="base" hangingPunct="0">
        <a:spcBef>
          <a:spcPct val="0"/>
        </a:spcBef>
        <a:spcAft>
          <a:spcPct val="0"/>
        </a:spcAft>
        <a:defRPr sz="3200">
          <a:solidFill>
            <a:schemeClr val="tx2"/>
          </a:solidFill>
          <a:latin typeface="Calibri" pitchFamily="34" charset="0"/>
          <a:cs typeface="Arial" pitchFamily="34" charset="0"/>
        </a:defRPr>
      </a:lvl2pPr>
      <a:lvl3pPr algn="l" rtl="0" eaLnBrk="0" fontAlgn="base" hangingPunct="0">
        <a:spcBef>
          <a:spcPct val="0"/>
        </a:spcBef>
        <a:spcAft>
          <a:spcPct val="0"/>
        </a:spcAft>
        <a:defRPr sz="3200">
          <a:solidFill>
            <a:schemeClr val="tx2"/>
          </a:solidFill>
          <a:latin typeface="Calibri" pitchFamily="34" charset="0"/>
          <a:cs typeface="Arial" pitchFamily="34" charset="0"/>
        </a:defRPr>
      </a:lvl3pPr>
      <a:lvl4pPr algn="l" rtl="0" eaLnBrk="0" fontAlgn="base" hangingPunct="0">
        <a:spcBef>
          <a:spcPct val="0"/>
        </a:spcBef>
        <a:spcAft>
          <a:spcPct val="0"/>
        </a:spcAft>
        <a:defRPr sz="3200">
          <a:solidFill>
            <a:schemeClr val="tx2"/>
          </a:solidFill>
          <a:latin typeface="Calibri" pitchFamily="34" charset="0"/>
          <a:cs typeface="Arial" pitchFamily="34" charset="0"/>
        </a:defRPr>
      </a:lvl4pPr>
      <a:lvl5pPr algn="l" rtl="0" eaLnBrk="0" fontAlgn="base" hangingPunct="0">
        <a:spcBef>
          <a:spcPct val="0"/>
        </a:spcBef>
        <a:spcAft>
          <a:spcPct val="0"/>
        </a:spcAft>
        <a:defRPr sz="3200">
          <a:solidFill>
            <a:schemeClr val="tx2"/>
          </a:solidFill>
          <a:latin typeface="Calibri" pitchFamily="34" charset="0"/>
          <a:cs typeface="Arial" pitchFamily="34" charset="0"/>
        </a:defRPr>
      </a:lvl5pPr>
      <a:lvl6pPr marL="457200" algn="l" rtl="0" fontAlgn="base">
        <a:spcBef>
          <a:spcPct val="0"/>
        </a:spcBef>
        <a:spcAft>
          <a:spcPct val="0"/>
        </a:spcAft>
        <a:defRPr sz="3200">
          <a:solidFill>
            <a:schemeClr val="tx2"/>
          </a:solidFill>
          <a:latin typeface="Calibri" pitchFamily="34" charset="0"/>
          <a:cs typeface="Arial" pitchFamily="34" charset="0"/>
        </a:defRPr>
      </a:lvl6pPr>
      <a:lvl7pPr marL="914400" algn="l" rtl="0" fontAlgn="base">
        <a:spcBef>
          <a:spcPct val="0"/>
        </a:spcBef>
        <a:spcAft>
          <a:spcPct val="0"/>
        </a:spcAft>
        <a:defRPr sz="3200">
          <a:solidFill>
            <a:schemeClr val="tx2"/>
          </a:solidFill>
          <a:latin typeface="Calibri" pitchFamily="34" charset="0"/>
          <a:cs typeface="Arial" pitchFamily="34" charset="0"/>
        </a:defRPr>
      </a:lvl7pPr>
      <a:lvl8pPr marL="1371600" algn="l" rtl="0" fontAlgn="base">
        <a:spcBef>
          <a:spcPct val="0"/>
        </a:spcBef>
        <a:spcAft>
          <a:spcPct val="0"/>
        </a:spcAft>
        <a:defRPr sz="3200">
          <a:solidFill>
            <a:schemeClr val="tx2"/>
          </a:solidFill>
          <a:latin typeface="Calibri" pitchFamily="34" charset="0"/>
          <a:cs typeface="Arial" pitchFamily="34" charset="0"/>
        </a:defRPr>
      </a:lvl8pPr>
      <a:lvl9pPr marL="1828800" algn="l" rtl="0" fontAlgn="base">
        <a:spcBef>
          <a:spcPct val="0"/>
        </a:spcBef>
        <a:spcAft>
          <a:spcPct val="0"/>
        </a:spcAft>
        <a:defRPr sz="3200">
          <a:solidFill>
            <a:schemeClr val="tx2"/>
          </a:solidFill>
          <a:latin typeface="Calibri" pitchFamily="34" charset="0"/>
          <a:cs typeface="Arial" pitchFamily="34" charset="0"/>
        </a:defRPr>
      </a:lvl9pPr>
    </p:titleStyle>
    <p:bodyStyle>
      <a:lvl1pPr marL="273050" indent="-273050" algn="l" rtl="0" eaLnBrk="0" fontAlgn="base" hangingPunct="0">
        <a:spcBef>
          <a:spcPts val="600"/>
        </a:spcBef>
        <a:spcAft>
          <a:spcPct val="0"/>
        </a:spcAft>
        <a:buClr>
          <a:srgbClr val="45D1D1"/>
        </a:buClr>
        <a:buSzPct val="76000"/>
        <a:buFont typeface="Wingdings 3" panose="05040102010807070707" pitchFamily="18" charset="2"/>
        <a:buChar char=""/>
        <a:defRPr sz="2600">
          <a:solidFill>
            <a:schemeClr val="tx1"/>
          </a:solidFill>
          <a:latin typeface="+mn-lt"/>
          <a:ea typeface="+mn-ea"/>
          <a:cs typeface="+mn-cs"/>
        </a:defRPr>
      </a:lvl1pPr>
      <a:lvl2pPr marL="547688" indent="-273050" algn="l" rtl="0" eaLnBrk="0" fontAlgn="base" hangingPunct="0">
        <a:spcBef>
          <a:spcPts val="500"/>
        </a:spcBef>
        <a:spcAft>
          <a:spcPct val="0"/>
        </a:spcAft>
        <a:buClr>
          <a:srgbClr val="45D1D1"/>
        </a:buClr>
        <a:buSzPct val="76000"/>
        <a:buFont typeface="Wingdings 3" panose="05040102010807070707" pitchFamily="18" charset="2"/>
        <a:buChar char=""/>
        <a:defRPr sz="2300">
          <a:solidFill>
            <a:schemeClr val="tx1"/>
          </a:solidFill>
          <a:latin typeface="+mn-lt"/>
          <a:cs typeface="+mn-cs"/>
        </a:defRPr>
      </a:lvl2pPr>
      <a:lvl3pPr marL="822325" indent="-228600" algn="l" rtl="0" eaLnBrk="0" fontAlgn="base" hangingPunct="0">
        <a:spcBef>
          <a:spcPts val="500"/>
        </a:spcBef>
        <a:spcAft>
          <a:spcPct val="0"/>
        </a:spcAft>
        <a:buClr>
          <a:srgbClr val="45D1D1"/>
        </a:buClr>
        <a:buSzPct val="76000"/>
        <a:buFont typeface="Wingdings 3" panose="05040102010807070707" pitchFamily="18" charset="2"/>
        <a:buChar char=""/>
        <a:defRPr sz="2000">
          <a:solidFill>
            <a:schemeClr val="tx1"/>
          </a:solidFill>
          <a:latin typeface="+mn-lt"/>
          <a:cs typeface="+mn-cs"/>
        </a:defRPr>
      </a:lvl3pPr>
      <a:lvl4pPr marL="1096963" indent="-228600" algn="l" rtl="0" eaLnBrk="0" fontAlgn="base" hangingPunct="0">
        <a:spcBef>
          <a:spcPts val="400"/>
        </a:spcBef>
        <a:spcAft>
          <a:spcPct val="0"/>
        </a:spcAft>
        <a:buClr>
          <a:srgbClr val="45D1D1"/>
        </a:buClr>
        <a:buSzPct val="70000"/>
        <a:buFont typeface="Arial" panose="020B0604020202020204" pitchFamily="34" charset="0"/>
        <a:buChar char="•"/>
        <a:defRPr sz="2000">
          <a:solidFill>
            <a:schemeClr val="tx1"/>
          </a:solidFill>
          <a:latin typeface="+mn-lt"/>
          <a:cs typeface="+mn-cs"/>
        </a:defRPr>
      </a:lvl4pPr>
      <a:lvl5pPr marL="1371600" indent="-228600" algn="l" rtl="0" eaLnBrk="0" fontAlgn="base" hangingPunct="0">
        <a:spcBef>
          <a:spcPts val="300"/>
        </a:spcBef>
        <a:spcAft>
          <a:spcPct val="0"/>
        </a:spcAft>
        <a:buClr>
          <a:srgbClr val="45D1D1"/>
        </a:buClr>
        <a:buSzPct val="70000"/>
        <a:buFont typeface="Arial" panose="020B0604020202020204" pitchFamily="34" charset="0"/>
        <a:buChar char="•"/>
        <a:defRPr sz="1600">
          <a:solidFill>
            <a:schemeClr val="tx1"/>
          </a:solidFill>
          <a:latin typeface="+mn-lt"/>
          <a:cs typeface="+mn-cs"/>
        </a:defRPr>
      </a:lvl5pPr>
      <a:lvl6pPr marL="18288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6pPr>
      <a:lvl7pPr marL="22860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7pPr>
      <a:lvl8pPr marL="27432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8pPr>
      <a:lvl9pPr marL="3200400" indent="-228600" algn="l" rtl="0" fontAlgn="base">
        <a:spcBef>
          <a:spcPts val="300"/>
        </a:spcBef>
        <a:spcAft>
          <a:spcPct val="0"/>
        </a:spcAft>
        <a:buClr>
          <a:schemeClr val="accent2"/>
        </a:buClr>
        <a:buSzPct val="70000"/>
        <a:buFont typeface="Wingdings" pitchFamily="2" charset="2"/>
        <a:buChar char=""/>
        <a:defRPr sz="16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hyperlink" Target="http://alliancebernstein.com/fixed-income/bonds/abbie.htm" TargetMode="Externa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a:extLst>
              <a:ext uri="{FF2B5EF4-FFF2-40B4-BE49-F238E27FC236}">
                <a16:creationId xmlns:a16="http://schemas.microsoft.com/office/drawing/2014/main" id="{594CF2FD-B4E4-4787-8F24-DC338D50E866}"/>
              </a:ext>
            </a:extLst>
          </p:cNvPr>
          <p:cNvSpPr>
            <a:spLocks/>
          </p:cNvSpPr>
          <p:nvPr/>
        </p:nvSpPr>
        <p:spPr bwMode="auto">
          <a:xfrm>
            <a:off x="1143000" y="3352800"/>
            <a:ext cx="7010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r>
              <a:rPr lang="en-CA" altLang="en-US" sz="2800" b="1" dirty="0">
                <a:solidFill>
                  <a:srgbClr val="005654"/>
                </a:solidFill>
                <a:latin typeface="Calibri" panose="020F0502020204030204" pitchFamily="34" charset="0"/>
              </a:rPr>
              <a:t>Reporting and Interpreting</a:t>
            </a:r>
            <a:br>
              <a:rPr lang="en-CA" altLang="en-US" sz="2800" b="1" dirty="0">
                <a:solidFill>
                  <a:srgbClr val="005654"/>
                </a:solidFill>
                <a:latin typeface="Calibri" panose="020F0502020204030204" pitchFamily="34" charset="0"/>
              </a:rPr>
            </a:br>
            <a:r>
              <a:rPr lang="en-CA" altLang="en-US" sz="2800" b="1" dirty="0">
                <a:solidFill>
                  <a:srgbClr val="005654"/>
                </a:solidFill>
                <a:latin typeface="Calibri" panose="020F0502020204030204" pitchFamily="34" charset="0"/>
              </a:rPr>
              <a:t> Non-current Liabilities</a:t>
            </a:r>
          </a:p>
        </p:txBody>
      </p:sp>
      <p:sp>
        <p:nvSpPr>
          <p:cNvPr id="5122" name="Subtitle 4">
            <a:extLst>
              <a:ext uri="{FF2B5EF4-FFF2-40B4-BE49-F238E27FC236}">
                <a16:creationId xmlns:a16="http://schemas.microsoft.com/office/drawing/2014/main" id="{BC0D379B-0D8C-40E2-A782-0421C606089F}"/>
              </a:ext>
            </a:extLst>
          </p:cNvPr>
          <p:cNvSpPr>
            <a:spLocks/>
          </p:cNvSpPr>
          <p:nvPr/>
        </p:nvSpPr>
        <p:spPr bwMode="auto">
          <a:xfrm>
            <a:off x="1295400" y="4800600"/>
            <a:ext cx="6858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1" hangingPunct="1">
              <a:spcBef>
                <a:spcPts val="600"/>
              </a:spcBef>
              <a:buClr>
                <a:schemeClr val="accent1"/>
              </a:buClr>
              <a:buSzPct val="76000"/>
              <a:buFont typeface="Wingdings 3" panose="05040102010807070707" pitchFamily="18" charset="2"/>
              <a:buNone/>
            </a:pPr>
            <a:r>
              <a:rPr lang="en-CA" altLang="en-US" sz="2800" b="1">
                <a:solidFill>
                  <a:srgbClr val="45D1D1"/>
                </a:solidFill>
                <a:latin typeface="Calibri" panose="020F0502020204030204" pitchFamily="34" charset="0"/>
              </a:rPr>
              <a:t>Chapter 9</a:t>
            </a:r>
          </a:p>
        </p:txBody>
      </p:sp>
    </p:spTree>
  </p:cSld>
  <p:clrMapOvr>
    <a:masterClrMapping/>
  </p:clrMapOvr>
  <p:transition>
    <p:dissolv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Title 1">
            <a:extLst>
              <a:ext uri="{FF2B5EF4-FFF2-40B4-BE49-F238E27FC236}">
                <a16:creationId xmlns:a16="http://schemas.microsoft.com/office/drawing/2014/main" id="{CD0EC014-B325-4D62-A3E8-E6920B965C57}"/>
              </a:ext>
            </a:extLst>
          </p:cNvPr>
          <p:cNvSpPr>
            <a:spLocks noGrp="1"/>
          </p:cNvSpPr>
          <p:nvPr>
            <p:ph type="title"/>
          </p:nvPr>
        </p:nvSpPr>
        <p:spPr/>
        <p:txBody>
          <a:bodyPr/>
          <a:lstStyle/>
          <a:p>
            <a:r>
              <a:rPr lang="en-US" altLang="en-US"/>
              <a:t>Learning Objectives</a:t>
            </a:r>
          </a:p>
        </p:txBody>
      </p:sp>
      <p:sp>
        <p:nvSpPr>
          <p:cNvPr id="7170" name="Content Placeholder 2">
            <a:extLst>
              <a:ext uri="{FF2B5EF4-FFF2-40B4-BE49-F238E27FC236}">
                <a16:creationId xmlns:a16="http://schemas.microsoft.com/office/drawing/2014/main" id="{11ADDBA5-7E82-4FAE-8381-63AAC41A87C8}"/>
              </a:ext>
            </a:extLst>
          </p:cNvPr>
          <p:cNvSpPr>
            <a:spLocks noGrp="1"/>
          </p:cNvSpPr>
          <p:nvPr>
            <p:ph idx="1"/>
          </p:nvPr>
        </p:nvSpPr>
        <p:spPr/>
        <p:txBody>
          <a:bodyPr/>
          <a:lstStyle/>
          <a:p>
            <a:r>
              <a:rPr lang="en-CA" altLang="en-US" b="1" dirty="0"/>
              <a:t>LO9-1 </a:t>
            </a:r>
            <a:r>
              <a:rPr lang="en-CA" altLang="en-US" dirty="0"/>
              <a:t>Describe the characteristics of long-term notes and bonds payable.</a:t>
            </a:r>
          </a:p>
          <a:p>
            <a:endParaRPr lang="en-CA" altLang="en-US" sz="800" dirty="0"/>
          </a:p>
          <a:p>
            <a:r>
              <a:rPr lang="en-CA" altLang="en-US" b="1" dirty="0"/>
              <a:t>LO9-2 </a:t>
            </a:r>
            <a:r>
              <a:rPr lang="en-CA" altLang="en-US" dirty="0"/>
              <a:t>Report notes payable and related interest expense.</a:t>
            </a:r>
          </a:p>
          <a:p>
            <a:endParaRPr lang="en-CA" altLang="en-US" sz="800" dirty="0"/>
          </a:p>
          <a:p>
            <a:r>
              <a:rPr lang="en-CA" altLang="en-US" b="1" dirty="0"/>
              <a:t>LO9-3 </a:t>
            </a:r>
            <a:r>
              <a:rPr lang="en-CA" altLang="en-US" dirty="0"/>
              <a:t>Report bonds payable and interest expense for bonds sold at par, at a discount, or at a premium.</a:t>
            </a:r>
          </a:p>
          <a:p>
            <a:endParaRPr lang="en-CA" altLang="en-US" sz="800" dirty="0"/>
          </a:p>
          <a:p>
            <a:r>
              <a:rPr lang="en-CA" altLang="en-US" b="1" dirty="0"/>
              <a:t>LO9-4 </a:t>
            </a:r>
            <a:r>
              <a:rPr lang="en-CA" altLang="en-US" dirty="0"/>
              <a:t>Compute and interpret the times interest earned ratio.</a:t>
            </a:r>
          </a:p>
          <a:p>
            <a:endParaRPr lang="en-CA" altLang="en-US" sz="800" dirty="0"/>
          </a:p>
          <a:p>
            <a:r>
              <a:rPr lang="en-CA" altLang="en-US" b="1" dirty="0"/>
              <a:t>LO9-5 </a:t>
            </a:r>
            <a:r>
              <a:rPr lang="en-CA" altLang="en-US" dirty="0"/>
              <a:t>Report the early retirement of bonds.</a:t>
            </a:r>
          </a:p>
          <a:p>
            <a:endParaRPr lang="en-CA" altLang="en-US" sz="800" dirty="0"/>
          </a:p>
          <a:p>
            <a:r>
              <a:rPr lang="en-CA" altLang="en-US" b="1" dirty="0"/>
              <a:t>LO9-6 </a:t>
            </a:r>
            <a:r>
              <a:rPr lang="en-CA" altLang="en-US" dirty="0"/>
              <a:t>Describe other non-current liabilities.</a:t>
            </a:r>
          </a:p>
          <a:p>
            <a:endParaRPr lang="en-US"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Title 1">
            <a:extLst>
              <a:ext uri="{FF2B5EF4-FFF2-40B4-BE49-F238E27FC236}">
                <a16:creationId xmlns:a16="http://schemas.microsoft.com/office/drawing/2014/main" id="{6F83D188-496E-46CE-853D-5A1C160285A6}"/>
              </a:ext>
            </a:extLst>
          </p:cNvPr>
          <p:cNvSpPr>
            <a:spLocks noGrp="1"/>
          </p:cNvSpPr>
          <p:nvPr>
            <p:ph type="title"/>
          </p:nvPr>
        </p:nvSpPr>
        <p:spPr/>
        <p:txBody>
          <a:bodyPr/>
          <a:lstStyle/>
          <a:p>
            <a:r>
              <a:rPr lang="en-US" altLang="en-US"/>
              <a:t>Learning Objectives Continued</a:t>
            </a:r>
          </a:p>
        </p:txBody>
      </p:sp>
      <p:sp>
        <p:nvSpPr>
          <p:cNvPr id="7170" name="Content Placeholder 2">
            <a:extLst>
              <a:ext uri="{FF2B5EF4-FFF2-40B4-BE49-F238E27FC236}">
                <a16:creationId xmlns:a16="http://schemas.microsoft.com/office/drawing/2014/main" id="{BA0A69E0-3D17-4DC1-A940-C1953A2D894D}"/>
              </a:ext>
            </a:extLst>
          </p:cNvPr>
          <p:cNvSpPr>
            <a:spLocks noGrp="1"/>
          </p:cNvSpPr>
          <p:nvPr>
            <p:ph idx="1"/>
          </p:nvPr>
        </p:nvSpPr>
        <p:spPr/>
        <p:txBody>
          <a:bodyPr/>
          <a:lstStyle/>
          <a:p>
            <a:pPr>
              <a:buFont typeface="Wingdings 3" pitchFamily="2" charset="2"/>
              <a:buChar char=""/>
              <a:defRPr/>
            </a:pPr>
            <a:r>
              <a:rPr lang="en-CA" altLang="en-US" b="1" dirty="0"/>
              <a:t>LO9-7 </a:t>
            </a:r>
            <a:r>
              <a:rPr lang="en-CA" dirty="0"/>
              <a:t>Compute and interpret the debt-to-equity ratio.</a:t>
            </a:r>
          </a:p>
          <a:p>
            <a:pPr>
              <a:buFont typeface="Wingdings 3" pitchFamily="2" charset="2"/>
              <a:buChar char=""/>
              <a:defRPr/>
            </a:pPr>
            <a:endParaRPr lang="en-CA" sz="800" dirty="0"/>
          </a:p>
          <a:p>
            <a:pPr>
              <a:buFont typeface="Wingdings 3" pitchFamily="2" charset="2"/>
              <a:buChar char=""/>
              <a:defRPr/>
            </a:pPr>
            <a:r>
              <a:rPr lang="en-CA" altLang="en-US" b="1" dirty="0"/>
              <a:t>LO9-8 </a:t>
            </a:r>
            <a:r>
              <a:rPr lang="en-CA" dirty="0"/>
              <a:t>Explain how financing activities are reported on the statement of cash flows.</a:t>
            </a:r>
          </a:p>
          <a:p>
            <a:pPr marL="0" indent="0">
              <a:buNone/>
              <a:defRPr/>
            </a:pPr>
            <a:endParaRPr lang="en-US"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3AFFA9EB-2BA8-4213-BFF3-0BECB9A156C9}"/>
              </a:ext>
            </a:extLst>
          </p:cNvPr>
          <p:cNvSpPr>
            <a:spLocks noGrp="1"/>
          </p:cNvSpPr>
          <p:nvPr>
            <p:ph type="title"/>
          </p:nvPr>
        </p:nvSpPr>
        <p:spPr/>
        <p:txBody>
          <a:bodyPr/>
          <a:lstStyle/>
          <a:p>
            <a:r>
              <a:rPr lang="en-US" altLang="en-US"/>
              <a:t>Understanding the Business</a:t>
            </a:r>
          </a:p>
        </p:txBody>
      </p:sp>
      <p:sp>
        <p:nvSpPr>
          <p:cNvPr id="29698" name="Content Placeholder 2">
            <a:extLst>
              <a:ext uri="{FF2B5EF4-FFF2-40B4-BE49-F238E27FC236}">
                <a16:creationId xmlns:a16="http://schemas.microsoft.com/office/drawing/2014/main" id="{E2D95397-F724-4123-B8F6-DE955F578593}"/>
              </a:ext>
            </a:extLst>
          </p:cNvPr>
          <p:cNvSpPr>
            <a:spLocks noGrp="1"/>
          </p:cNvSpPr>
          <p:nvPr>
            <p:ph idx="1"/>
          </p:nvPr>
        </p:nvSpPr>
        <p:spPr/>
        <p:txBody>
          <a:bodyPr/>
          <a:lstStyle/>
          <a:p>
            <a:r>
              <a:rPr lang="en-CA" altLang="en-US" b="1" dirty="0"/>
              <a:t>Non-current liabilities</a:t>
            </a:r>
            <a:r>
              <a:rPr lang="en-CA" altLang="en-US" dirty="0"/>
              <a:t> include all of the entity’s obligations that are not classified as current liabilities, such as long-term notes and bonds payable. </a:t>
            </a:r>
          </a:p>
          <a:p>
            <a:r>
              <a:rPr lang="en-CA" altLang="en-US" dirty="0"/>
              <a:t>Typically, a non-current liability will require payment more than one year in the future. These obligations may be created by borrowing money, or they may result from other activities. </a:t>
            </a:r>
          </a:p>
          <a:p>
            <a:r>
              <a:rPr lang="en-CA" altLang="en-US" dirty="0"/>
              <a:t>The mixture of debt and equity used to finance a company’s growth is called the </a:t>
            </a:r>
            <a:r>
              <a:rPr lang="en-CA" altLang="en-US" b="1" dirty="0"/>
              <a:t>capital structure</a:t>
            </a:r>
            <a:r>
              <a:rPr lang="en-CA" altLang="en-US" dirty="0"/>
              <a:t>:</a:t>
            </a:r>
          </a:p>
          <a:p>
            <a:pPr lvl="1"/>
            <a:r>
              <a:rPr lang="en-CA" altLang="en-US" sz="2600" dirty="0">
                <a:solidFill>
                  <a:schemeClr val="tx1"/>
                </a:solidFill>
              </a:rPr>
              <a:t>Debt – Funds from creditors</a:t>
            </a:r>
          </a:p>
          <a:p>
            <a:pPr lvl="1"/>
            <a:r>
              <a:rPr lang="en-CA" altLang="en-US" sz="2600" dirty="0">
                <a:solidFill>
                  <a:schemeClr val="tx1"/>
                </a:solidFill>
              </a:rPr>
              <a:t>Equity – Funds from shareholders</a:t>
            </a:r>
            <a:endParaRPr lang="en-US" altLang="en-US" sz="2600" dirty="0">
              <a:solidFill>
                <a:schemeClr val="tx1"/>
              </a:solidFill>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9BB8DC4E-968A-4457-8BB8-BED2253F6C1A}"/>
              </a:ext>
            </a:extLst>
          </p:cNvPr>
          <p:cNvSpPr>
            <a:spLocks noGrp="1"/>
          </p:cNvSpPr>
          <p:nvPr>
            <p:ph type="title"/>
          </p:nvPr>
        </p:nvSpPr>
        <p:spPr/>
        <p:txBody>
          <a:bodyPr/>
          <a:lstStyle/>
          <a:p>
            <a:r>
              <a:rPr lang="en-US" altLang="en-US"/>
              <a:t>Reasons Why Companies Issue Debt	</a:t>
            </a:r>
          </a:p>
        </p:txBody>
      </p:sp>
      <p:sp>
        <p:nvSpPr>
          <p:cNvPr id="30722" name="Content Placeholder 2">
            <a:extLst>
              <a:ext uri="{FF2B5EF4-FFF2-40B4-BE49-F238E27FC236}">
                <a16:creationId xmlns:a16="http://schemas.microsoft.com/office/drawing/2014/main" id="{CD9628F0-FED1-454E-B737-5F84CCDFC753}"/>
              </a:ext>
            </a:extLst>
          </p:cNvPr>
          <p:cNvSpPr>
            <a:spLocks noGrp="1"/>
          </p:cNvSpPr>
          <p:nvPr>
            <p:ph idx="1"/>
          </p:nvPr>
        </p:nvSpPr>
        <p:spPr>
          <a:xfrm>
            <a:off x="457200" y="1066800"/>
            <a:ext cx="8229600" cy="5334000"/>
          </a:xfrm>
        </p:spPr>
        <p:txBody>
          <a:bodyPr/>
          <a:lstStyle/>
          <a:p>
            <a:r>
              <a:rPr lang="en-CA" altLang="en-US" dirty="0"/>
              <a:t>Use of long-term debt offers significant advantages:</a:t>
            </a:r>
          </a:p>
          <a:p>
            <a:r>
              <a:rPr lang="en-CA" altLang="en-US" b="1" dirty="0"/>
              <a:t>Shareholders maintain control</a:t>
            </a:r>
            <a:r>
              <a:rPr lang="en-CA" altLang="en-US" dirty="0"/>
              <a:t>. </a:t>
            </a:r>
            <a:r>
              <a:rPr lang="en-CA" dirty="0"/>
              <a:t>Issuing bonds allows shareholders to maintain their current level of control. Debtholders do not participate in management decisions, including decisions to distribute dividends to shareholders. </a:t>
            </a:r>
          </a:p>
          <a:p>
            <a:r>
              <a:rPr lang="en-CA" altLang="en-US" b="1" dirty="0"/>
              <a:t>Interest expense is tax deductible</a:t>
            </a:r>
            <a:r>
              <a:rPr lang="en-CA" altLang="en-US" dirty="0"/>
              <a:t>. </a:t>
            </a:r>
            <a:r>
              <a:rPr lang="en-CA" dirty="0"/>
              <a:t>The deductibility of interest for tax purposes reduces the net cost of borrowing. In contrast, dividends are not tax deductible.</a:t>
            </a:r>
          </a:p>
          <a:p>
            <a:r>
              <a:rPr lang="en-CA" altLang="en-US" b="1" dirty="0"/>
              <a:t>Issuing bonds can increase the return to shareholders</a:t>
            </a:r>
            <a:r>
              <a:rPr lang="en-CA" altLang="en-US" i="1" dirty="0"/>
              <a:t>.</a:t>
            </a:r>
            <a:r>
              <a:rPr lang="en-CA" altLang="en-US" dirty="0"/>
              <a:t> If a company can borrow at a low interest rate and invest in projects that earn a high rate of return, it can increase the return to shareholders. </a:t>
            </a:r>
          </a:p>
          <a:p>
            <a:endParaRPr lang="en-US" altLang="en-US" dirty="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DF12D6D6-D446-4749-A881-6E1049B072CB}"/>
              </a:ext>
            </a:extLst>
          </p:cNvPr>
          <p:cNvSpPr>
            <a:spLocks noGrp="1"/>
          </p:cNvSpPr>
          <p:nvPr>
            <p:ph type="title"/>
          </p:nvPr>
        </p:nvSpPr>
        <p:spPr/>
        <p:txBody>
          <a:bodyPr/>
          <a:lstStyle/>
          <a:p>
            <a:r>
              <a:rPr lang="en-US" altLang="en-US"/>
              <a:t>Disadvantages to Using Long-Term Debt</a:t>
            </a:r>
          </a:p>
        </p:txBody>
      </p:sp>
      <p:sp>
        <p:nvSpPr>
          <p:cNvPr id="31746" name="Content Placeholder 2">
            <a:extLst>
              <a:ext uri="{FF2B5EF4-FFF2-40B4-BE49-F238E27FC236}">
                <a16:creationId xmlns:a16="http://schemas.microsoft.com/office/drawing/2014/main" id="{E49628BF-52C2-4E1A-B517-EB4532731E09}"/>
              </a:ext>
            </a:extLst>
          </p:cNvPr>
          <p:cNvSpPr>
            <a:spLocks noGrp="1"/>
          </p:cNvSpPr>
          <p:nvPr>
            <p:ph idx="1"/>
          </p:nvPr>
        </p:nvSpPr>
        <p:spPr/>
        <p:txBody>
          <a:bodyPr/>
          <a:lstStyle/>
          <a:p>
            <a:r>
              <a:rPr lang="en-CA" altLang="en-US" dirty="0"/>
              <a:t>There are two potential disadvantages to using long-term debt:</a:t>
            </a:r>
          </a:p>
          <a:p>
            <a:r>
              <a:rPr lang="en-CA" altLang="en-US" b="1" dirty="0"/>
              <a:t>Risk of bankruptcy</a:t>
            </a:r>
            <a:r>
              <a:rPr lang="en-CA" altLang="en-US" dirty="0"/>
              <a:t>. </a:t>
            </a:r>
            <a:r>
              <a:rPr lang="en-CA" dirty="0"/>
              <a:t>Interest payments to the debtholders must be made each period whether the corporation generates net earnings or incurs a loss.</a:t>
            </a:r>
          </a:p>
          <a:p>
            <a:r>
              <a:rPr lang="en-CA" altLang="en-US" b="1" dirty="0"/>
              <a:t>Negative impact on cash flows</a:t>
            </a:r>
            <a:r>
              <a:rPr lang="en-CA" altLang="en-US" dirty="0"/>
              <a:t>. </a:t>
            </a:r>
            <a:r>
              <a:rPr lang="en-CA" dirty="0"/>
              <a:t>Debt must be repaid at a specific time in the future. Management must be able to generate sufficient cash to repay the debt or have the ability to refinance it.</a:t>
            </a:r>
            <a:endParaRPr lang="en-US"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C8B9312D-A1EE-4DCB-A4FE-85D99C28598E}"/>
              </a:ext>
            </a:extLst>
          </p:cNvPr>
          <p:cNvSpPr>
            <a:spLocks noGrp="1"/>
          </p:cNvSpPr>
          <p:nvPr>
            <p:ph type="title"/>
          </p:nvPr>
        </p:nvSpPr>
        <p:spPr/>
        <p:txBody>
          <a:bodyPr/>
          <a:lstStyle/>
          <a:p>
            <a:r>
              <a:rPr lang="en-CA" altLang="en-US"/>
              <a:t>Types of Long-Term Debt</a:t>
            </a:r>
            <a:endParaRPr lang="en-US" altLang="en-US"/>
          </a:p>
        </p:txBody>
      </p:sp>
      <p:sp>
        <p:nvSpPr>
          <p:cNvPr id="32770" name="Content Placeholder 2">
            <a:extLst>
              <a:ext uri="{FF2B5EF4-FFF2-40B4-BE49-F238E27FC236}">
                <a16:creationId xmlns:a16="http://schemas.microsoft.com/office/drawing/2014/main" id="{69DD9588-05E5-4D0F-8A3D-2DB0ACB7C96E}"/>
              </a:ext>
            </a:extLst>
          </p:cNvPr>
          <p:cNvSpPr>
            <a:spLocks noGrp="1"/>
          </p:cNvSpPr>
          <p:nvPr>
            <p:ph idx="1"/>
          </p:nvPr>
        </p:nvSpPr>
        <p:spPr/>
        <p:txBody>
          <a:bodyPr/>
          <a:lstStyle/>
          <a:p>
            <a:r>
              <a:rPr lang="en-US" altLang="en-US"/>
              <a:t>Long-term debt is available to companies in various forms:</a:t>
            </a:r>
          </a:p>
          <a:p>
            <a:pPr lvl="1"/>
            <a:r>
              <a:rPr lang="en-US" altLang="en-US" sz="2600">
                <a:solidFill>
                  <a:schemeClr val="tx1"/>
                </a:solidFill>
              </a:rPr>
              <a:t>Bank loans</a:t>
            </a:r>
          </a:p>
          <a:p>
            <a:pPr lvl="1"/>
            <a:r>
              <a:rPr lang="en-US" altLang="en-US" sz="2600">
                <a:solidFill>
                  <a:schemeClr val="tx1"/>
                </a:solidFill>
              </a:rPr>
              <a:t>Notes</a:t>
            </a:r>
          </a:p>
          <a:p>
            <a:pPr lvl="1"/>
            <a:r>
              <a:rPr lang="en-US" altLang="en-US" sz="2600">
                <a:solidFill>
                  <a:schemeClr val="tx1"/>
                </a:solidFill>
              </a:rPr>
              <a:t>Mortgages</a:t>
            </a:r>
          </a:p>
          <a:p>
            <a:pPr lvl="1"/>
            <a:r>
              <a:rPr lang="en-US" altLang="en-US" sz="2600">
                <a:solidFill>
                  <a:schemeClr val="tx1"/>
                </a:solidFill>
              </a:rPr>
              <a:t>Bonds and Debentures</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EDE04866-4992-4CF4-8564-B38281A9B59F}"/>
              </a:ext>
            </a:extLst>
          </p:cNvPr>
          <p:cNvSpPr>
            <a:spLocks noGrp="1"/>
          </p:cNvSpPr>
          <p:nvPr>
            <p:ph type="title"/>
          </p:nvPr>
        </p:nvSpPr>
        <p:spPr/>
        <p:txBody>
          <a:bodyPr/>
          <a:lstStyle/>
          <a:p>
            <a:r>
              <a:rPr lang="en-US" altLang="en-US"/>
              <a:t>Bond Terminology Part 1</a:t>
            </a:r>
          </a:p>
        </p:txBody>
      </p:sp>
      <p:sp>
        <p:nvSpPr>
          <p:cNvPr id="33794" name="Content Placeholder 2">
            <a:extLst>
              <a:ext uri="{FF2B5EF4-FFF2-40B4-BE49-F238E27FC236}">
                <a16:creationId xmlns:a16="http://schemas.microsoft.com/office/drawing/2014/main" id="{A98C20AB-CE27-4F8C-A830-BD1429F5EFC5}"/>
              </a:ext>
            </a:extLst>
          </p:cNvPr>
          <p:cNvSpPr>
            <a:spLocks noGrp="1"/>
          </p:cNvSpPr>
          <p:nvPr>
            <p:ph idx="1"/>
          </p:nvPr>
        </p:nvSpPr>
        <p:spPr/>
        <p:txBody>
          <a:bodyPr/>
          <a:lstStyle/>
          <a:p>
            <a:r>
              <a:rPr lang="en-CA" altLang="en-US" dirty="0"/>
              <a:t>A bond usually requires the payment of interest over its life, with the repayment of principal on the maturity date.</a:t>
            </a:r>
          </a:p>
          <a:p>
            <a:r>
              <a:rPr lang="en-CA" altLang="en-US" dirty="0"/>
              <a:t>The </a:t>
            </a:r>
            <a:r>
              <a:rPr lang="en-CA" altLang="en-US" b="1" dirty="0"/>
              <a:t>bond principal</a:t>
            </a:r>
            <a:r>
              <a:rPr lang="en-CA" altLang="en-US" dirty="0"/>
              <a:t> is: </a:t>
            </a:r>
          </a:p>
          <a:p>
            <a:pPr marL="788988" lvl="1" indent="-514350">
              <a:buFont typeface="Calibri" panose="020F0502020204030204" pitchFamily="34" charset="0"/>
              <a:buAutoNum type="arabicPeriod"/>
            </a:pPr>
            <a:r>
              <a:rPr lang="en-CA" altLang="en-US" sz="2600" dirty="0">
                <a:solidFill>
                  <a:schemeClr val="tx1"/>
                </a:solidFill>
              </a:rPr>
              <a:t>The amount payable at the maturity date and </a:t>
            </a:r>
          </a:p>
          <a:p>
            <a:pPr marL="788988" lvl="1" indent="-514350">
              <a:buFont typeface="Calibri" panose="020F0502020204030204" pitchFamily="34" charset="0"/>
              <a:buAutoNum type="arabicPeriod"/>
            </a:pPr>
            <a:r>
              <a:rPr lang="en-CA" altLang="en-US" sz="2600" dirty="0">
                <a:solidFill>
                  <a:schemeClr val="tx1"/>
                </a:solidFill>
              </a:rPr>
              <a:t>The basis for computing periodic cash interest payments. </a:t>
            </a:r>
          </a:p>
          <a:p>
            <a:r>
              <a:rPr lang="en-CA" altLang="en-US" dirty="0"/>
              <a:t>The principal also is called the </a:t>
            </a:r>
            <a:r>
              <a:rPr lang="en-CA" altLang="en-US" b="1" dirty="0"/>
              <a:t>par value, face value</a:t>
            </a:r>
            <a:r>
              <a:rPr lang="en-CA" altLang="en-US" dirty="0"/>
              <a:t>, or </a:t>
            </a:r>
            <a:r>
              <a:rPr lang="en-CA" altLang="en-US" i="1" dirty="0"/>
              <a:t>maturity value</a:t>
            </a:r>
            <a:r>
              <a:rPr lang="en-CA" altLang="en-US" dirty="0"/>
              <a:t>. </a:t>
            </a:r>
          </a:p>
          <a:p>
            <a:r>
              <a:rPr lang="en-CA" altLang="en-US" dirty="0"/>
              <a:t>All bonds have a par value, which is the amount that will be paid when the bond matures. For most individual bonds, the par value is $1,000, but it can be any amount. </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770C4103-2F08-495D-975D-7D40D30C7DBF}"/>
              </a:ext>
            </a:extLst>
          </p:cNvPr>
          <p:cNvSpPr>
            <a:spLocks noGrp="1"/>
          </p:cNvSpPr>
          <p:nvPr>
            <p:ph type="title"/>
          </p:nvPr>
        </p:nvSpPr>
        <p:spPr/>
        <p:txBody>
          <a:bodyPr/>
          <a:lstStyle/>
          <a:p>
            <a:r>
              <a:rPr lang="en-US" altLang="en-US"/>
              <a:t>Bond Terminology Part 2</a:t>
            </a:r>
          </a:p>
        </p:txBody>
      </p:sp>
      <p:sp>
        <p:nvSpPr>
          <p:cNvPr id="34818" name="Content Placeholder 2">
            <a:extLst>
              <a:ext uri="{FF2B5EF4-FFF2-40B4-BE49-F238E27FC236}">
                <a16:creationId xmlns:a16="http://schemas.microsoft.com/office/drawing/2014/main" id="{F9B0A7DE-1ABD-4FE2-B28C-3E1BB55D7108}"/>
              </a:ext>
            </a:extLst>
          </p:cNvPr>
          <p:cNvSpPr>
            <a:spLocks noGrp="1"/>
          </p:cNvSpPr>
          <p:nvPr>
            <p:ph idx="1"/>
          </p:nvPr>
        </p:nvSpPr>
        <p:spPr/>
        <p:txBody>
          <a:bodyPr/>
          <a:lstStyle/>
          <a:p>
            <a:r>
              <a:rPr lang="en-CA" altLang="en-US" dirty="0"/>
              <a:t>A bond always specifies a </a:t>
            </a:r>
            <a:r>
              <a:rPr lang="en-CA" altLang="en-US" b="1" dirty="0"/>
              <a:t>coupon rate</a:t>
            </a:r>
            <a:r>
              <a:rPr lang="en-CA" altLang="en-US" dirty="0"/>
              <a:t> (also called the </a:t>
            </a:r>
            <a:r>
              <a:rPr lang="en-CA" altLang="en-US" i="1" dirty="0"/>
              <a:t>stated rate</a:t>
            </a:r>
            <a:r>
              <a:rPr lang="en-CA" altLang="en-US" dirty="0"/>
              <a:t>, </a:t>
            </a:r>
            <a:r>
              <a:rPr lang="en-CA" altLang="en-US" i="1" dirty="0"/>
              <a:t>contract rate</a:t>
            </a:r>
            <a:r>
              <a:rPr lang="en-CA" altLang="en-US" dirty="0"/>
              <a:t>, or </a:t>
            </a:r>
            <a:r>
              <a:rPr lang="en-CA" altLang="en-US" i="1" dirty="0"/>
              <a:t>nominal rate</a:t>
            </a:r>
            <a:r>
              <a:rPr lang="en-CA" altLang="en-US" dirty="0"/>
              <a:t>) and the frequency of periodic cash interest payments. </a:t>
            </a:r>
          </a:p>
          <a:p>
            <a:endParaRPr lang="en-CA" altLang="en-US" sz="1200" dirty="0"/>
          </a:p>
          <a:p>
            <a:r>
              <a:rPr lang="en-CA" altLang="en-US" dirty="0"/>
              <a:t>These interest payments are sometimes called coupon payments. </a:t>
            </a:r>
          </a:p>
          <a:p>
            <a:endParaRPr lang="en-CA" altLang="en-US" sz="1200" dirty="0"/>
          </a:p>
          <a:p>
            <a:r>
              <a:rPr lang="en-CA" altLang="en-US" dirty="0"/>
              <a:t>A bond’s coupon rate is always stated in annual terms.</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a:extLst>
              <a:ext uri="{FF2B5EF4-FFF2-40B4-BE49-F238E27FC236}">
                <a16:creationId xmlns:a16="http://schemas.microsoft.com/office/drawing/2014/main" id="{6585734D-4C6B-4986-BC13-EBD990DE34E5}"/>
              </a:ext>
            </a:extLst>
          </p:cNvPr>
          <p:cNvSpPr>
            <a:spLocks noGrp="1"/>
          </p:cNvSpPr>
          <p:nvPr>
            <p:ph type="title"/>
          </p:nvPr>
        </p:nvSpPr>
        <p:spPr/>
        <p:txBody>
          <a:bodyPr/>
          <a:lstStyle/>
          <a:p>
            <a:r>
              <a:rPr lang="en-US" altLang="en-US"/>
              <a:t>Bond Terminology Part 3</a:t>
            </a:r>
          </a:p>
        </p:txBody>
      </p:sp>
      <p:sp>
        <p:nvSpPr>
          <p:cNvPr id="3" name="Content Placeholder 2">
            <a:extLst>
              <a:ext uri="{FF2B5EF4-FFF2-40B4-BE49-F238E27FC236}">
                <a16:creationId xmlns:a16="http://schemas.microsoft.com/office/drawing/2014/main" id="{8F3B1879-A586-4A6C-96BC-14CCB593D585}"/>
              </a:ext>
            </a:extLst>
          </p:cNvPr>
          <p:cNvSpPr>
            <a:spLocks noGrp="1"/>
          </p:cNvSpPr>
          <p:nvPr>
            <p:ph idx="1"/>
          </p:nvPr>
        </p:nvSpPr>
        <p:spPr>
          <a:xfrm>
            <a:off x="457200" y="1066800"/>
            <a:ext cx="8229600" cy="5410200"/>
          </a:xfrm>
        </p:spPr>
        <p:txBody>
          <a:bodyPr/>
          <a:lstStyle/>
          <a:p>
            <a:pPr>
              <a:buFont typeface="Wingdings 3" pitchFamily="2" charset="2"/>
              <a:buChar char=""/>
              <a:defRPr/>
            </a:pPr>
            <a:r>
              <a:rPr lang="en-CA" sz="2000" dirty="0"/>
              <a:t>The following table reflects how a bond’s cash interest payment is calculated when interest is paid annually, semi-annually, and quarterly. The face value of the bond is $1,000 and the coupon rate is 8 percent. </a:t>
            </a:r>
          </a:p>
          <a:p>
            <a:pPr>
              <a:buFont typeface="Wingdings 3" pitchFamily="2" charset="2"/>
              <a:buChar char=""/>
              <a:defRPr/>
            </a:pPr>
            <a:endParaRPr lang="en-US" sz="2000" dirty="0"/>
          </a:p>
          <a:p>
            <a:pPr>
              <a:buFont typeface="Wingdings 3" pitchFamily="2" charset="2"/>
              <a:buChar char=""/>
              <a:defRPr/>
            </a:pPr>
            <a:endParaRPr lang="en-CA" sz="2000" dirty="0"/>
          </a:p>
          <a:p>
            <a:pPr>
              <a:buFont typeface="Wingdings 3" pitchFamily="2" charset="2"/>
              <a:buChar char=""/>
              <a:defRPr/>
            </a:pPr>
            <a:endParaRPr lang="en-CA" sz="2000" dirty="0"/>
          </a:p>
          <a:p>
            <a:pPr>
              <a:buFont typeface="Wingdings 3" pitchFamily="2" charset="2"/>
              <a:buChar char=""/>
              <a:defRPr/>
            </a:pPr>
            <a:endParaRPr lang="en-CA" sz="2000" dirty="0"/>
          </a:p>
          <a:p>
            <a:pPr>
              <a:buFont typeface="Wingdings 3" pitchFamily="2" charset="2"/>
              <a:buChar char=""/>
              <a:defRPr/>
            </a:pPr>
            <a:endParaRPr lang="en-CA" sz="2000" dirty="0"/>
          </a:p>
          <a:p>
            <a:pPr>
              <a:buFont typeface="Wingdings 3" pitchFamily="2" charset="2"/>
              <a:buChar char=""/>
              <a:defRPr/>
            </a:pPr>
            <a:endParaRPr lang="en-CA" sz="2000" dirty="0"/>
          </a:p>
          <a:p>
            <a:pPr>
              <a:spcBef>
                <a:spcPts val="1200"/>
              </a:spcBef>
              <a:buFont typeface="Wingdings 3" pitchFamily="2" charset="2"/>
              <a:buChar char=""/>
              <a:defRPr/>
            </a:pPr>
            <a:r>
              <a:rPr lang="en-CA" sz="2000" dirty="0"/>
              <a:t>If the bond pays interest annually, bondholders will receive one interest payment of $80 during the year. If the bond pays interest semi-annually, bondholders will receive a $40 interest payment every six months, for a total of $80 a year. If the bond pays interest quarterly, bondholders will receive a $20 interest payment every three months, for a total of $80 a year. Note that in all cases, $80 in interest is paid per year.</a:t>
            </a:r>
          </a:p>
        </p:txBody>
      </p:sp>
      <p:pic>
        <p:nvPicPr>
          <p:cNvPr id="5" name="Picture 4" descr="Table&#10;&#10;Description automatically generated">
            <a:extLst>
              <a:ext uri="{FF2B5EF4-FFF2-40B4-BE49-F238E27FC236}">
                <a16:creationId xmlns:a16="http://schemas.microsoft.com/office/drawing/2014/main" id="{EE27A9C5-B64D-F64F-8702-E6D4917AA3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133600"/>
            <a:ext cx="7362778" cy="2273300"/>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8E09D0E7-59BB-47DD-A380-6F3CA014D7CB}"/>
              </a:ext>
            </a:extLst>
          </p:cNvPr>
          <p:cNvSpPr>
            <a:spLocks noGrp="1"/>
          </p:cNvSpPr>
          <p:nvPr>
            <p:ph type="title"/>
          </p:nvPr>
        </p:nvSpPr>
        <p:spPr/>
        <p:txBody>
          <a:bodyPr/>
          <a:lstStyle/>
          <a:p>
            <a:r>
              <a:rPr lang="en-US" altLang="en-US"/>
              <a:t>Bond Terminology - Example</a:t>
            </a:r>
          </a:p>
        </p:txBody>
      </p:sp>
      <p:pic>
        <p:nvPicPr>
          <p:cNvPr id="2" name="Picture 1">
            <a:extLst>
              <a:ext uri="{FF2B5EF4-FFF2-40B4-BE49-F238E27FC236}">
                <a16:creationId xmlns:a16="http://schemas.microsoft.com/office/drawing/2014/main" id="{2A22A509-D6EF-EB4C-BEFF-EE7B8C43800E}"/>
              </a:ext>
            </a:extLst>
          </p:cNvPr>
          <p:cNvPicPr>
            <a:picLocks noChangeAspect="1"/>
          </p:cNvPicPr>
          <p:nvPr/>
        </p:nvPicPr>
        <p:blipFill>
          <a:blip r:embed="rId2"/>
          <a:stretch>
            <a:fillRect/>
          </a:stretch>
        </p:blipFill>
        <p:spPr>
          <a:xfrm>
            <a:off x="1079500" y="2057400"/>
            <a:ext cx="6985000" cy="3073400"/>
          </a:xfrm>
          <a:prstGeom prst="rect">
            <a:avLst/>
          </a:prstGeom>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71CE4EF3-B0DB-4585-AC7A-B5BD240D9014}"/>
              </a:ext>
            </a:extLst>
          </p:cNvPr>
          <p:cNvSpPr>
            <a:spLocks noGrp="1"/>
          </p:cNvSpPr>
          <p:nvPr>
            <p:ph type="title"/>
          </p:nvPr>
        </p:nvSpPr>
        <p:spPr/>
        <p:txBody>
          <a:bodyPr/>
          <a:lstStyle/>
          <a:p>
            <a:r>
              <a:rPr lang="en-US" altLang="en-US"/>
              <a:t>Bond Characteristics</a:t>
            </a:r>
          </a:p>
        </p:txBody>
      </p:sp>
      <p:pic>
        <p:nvPicPr>
          <p:cNvPr id="2" name="Picture 1">
            <a:extLst>
              <a:ext uri="{FF2B5EF4-FFF2-40B4-BE49-F238E27FC236}">
                <a16:creationId xmlns:a16="http://schemas.microsoft.com/office/drawing/2014/main" id="{AA7184EE-D21A-7741-903D-7CFFC011E636}"/>
              </a:ext>
            </a:extLst>
          </p:cNvPr>
          <p:cNvPicPr>
            <a:picLocks noChangeAspect="1"/>
          </p:cNvPicPr>
          <p:nvPr/>
        </p:nvPicPr>
        <p:blipFill>
          <a:blip r:embed="rId2"/>
          <a:stretch>
            <a:fillRect/>
          </a:stretch>
        </p:blipFill>
        <p:spPr>
          <a:xfrm>
            <a:off x="1397000" y="1117600"/>
            <a:ext cx="6350000" cy="5283200"/>
          </a:xfrm>
          <a:prstGeom prst="rect">
            <a:avLst/>
          </a:prstGeom>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B6A94327-B7B7-4E9E-9967-9FF27F46E22A}"/>
              </a:ext>
            </a:extLst>
          </p:cNvPr>
          <p:cNvSpPr>
            <a:spLocks noGrp="1"/>
          </p:cNvSpPr>
          <p:nvPr>
            <p:ph type="title"/>
          </p:nvPr>
        </p:nvSpPr>
        <p:spPr/>
        <p:txBody>
          <a:bodyPr/>
          <a:lstStyle/>
          <a:p>
            <a:r>
              <a:rPr lang="en-US" altLang="en-US" dirty="0"/>
              <a:t>Bond Issuance Process Part 1</a:t>
            </a:r>
          </a:p>
        </p:txBody>
      </p:sp>
      <p:sp>
        <p:nvSpPr>
          <p:cNvPr id="38914" name="Content Placeholder 2">
            <a:extLst>
              <a:ext uri="{FF2B5EF4-FFF2-40B4-BE49-F238E27FC236}">
                <a16:creationId xmlns:a16="http://schemas.microsoft.com/office/drawing/2014/main" id="{CB487C18-EA68-4F49-A7CF-7089ABB23811}"/>
              </a:ext>
            </a:extLst>
          </p:cNvPr>
          <p:cNvSpPr>
            <a:spLocks noGrp="1"/>
          </p:cNvSpPr>
          <p:nvPr>
            <p:ph idx="1"/>
          </p:nvPr>
        </p:nvSpPr>
        <p:spPr/>
        <p:txBody>
          <a:bodyPr/>
          <a:lstStyle/>
          <a:p>
            <a:r>
              <a:rPr lang="en-CA" altLang="en-US" dirty="0"/>
              <a:t>An </a:t>
            </a:r>
            <a:r>
              <a:rPr lang="en-CA" altLang="en-US" b="1" dirty="0"/>
              <a:t>indenture</a:t>
            </a:r>
            <a:r>
              <a:rPr lang="en-CA" altLang="en-US" dirty="0"/>
              <a:t> is a bond contract that specifies the legal provisions of a bond issue.</a:t>
            </a:r>
          </a:p>
          <a:p>
            <a:endParaRPr lang="en-CA" altLang="en-US" sz="1200" dirty="0"/>
          </a:p>
          <a:p>
            <a:pPr eaLnBrk="1" hangingPunct="1"/>
            <a:r>
              <a:rPr lang="en-US" altLang="en-US" dirty="0"/>
              <a:t>The bond indenture contains </a:t>
            </a:r>
            <a:r>
              <a:rPr lang="en-US" altLang="en-US" b="1" dirty="0"/>
              <a:t>covenants</a:t>
            </a:r>
            <a:r>
              <a:rPr lang="en-US" altLang="en-US" dirty="0"/>
              <a:t> designed to protect the creditors.</a:t>
            </a:r>
          </a:p>
          <a:p>
            <a:pPr eaLnBrk="1" hangingPunct="1"/>
            <a:endParaRPr lang="en-US" altLang="en-US" sz="1200" dirty="0"/>
          </a:p>
          <a:p>
            <a:pPr eaLnBrk="1" hangingPunct="1"/>
            <a:r>
              <a:rPr lang="en-US" altLang="en-US" dirty="0"/>
              <a:t>The bond issuer also prepares a </a:t>
            </a:r>
            <a:r>
              <a:rPr lang="en-US" altLang="en-US" b="1" dirty="0"/>
              <a:t>prospectus</a:t>
            </a:r>
            <a:r>
              <a:rPr lang="en-US" altLang="en-US" dirty="0"/>
              <a:t>, which describes the company, the bonds, and how the proceeds of the bonds will be used. </a:t>
            </a:r>
          </a:p>
          <a:p>
            <a:pPr eaLnBrk="1" hangingPunct="1"/>
            <a:endParaRPr lang="en-US" altLang="en-US" sz="1200" dirty="0"/>
          </a:p>
          <a:p>
            <a:r>
              <a:rPr lang="en-CA" dirty="0"/>
              <a:t>When a bond is issued, the investor receives a </a:t>
            </a:r>
            <a:r>
              <a:rPr lang="en-CA" b="1" dirty="0"/>
              <a:t>bond certificate</a:t>
            </a:r>
            <a:r>
              <a:rPr lang="en-CA" dirty="0"/>
              <a:t>. </a:t>
            </a:r>
          </a:p>
          <a:p>
            <a:endParaRPr lang="en-US"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B6A94327-B7B7-4E9E-9967-9FF27F46E22A}"/>
              </a:ext>
            </a:extLst>
          </p:cNvPr>
          <p:cNvSpPr>
            <a:spLocks noGrp="1"/>
          </p:cNvSpPr>
          <p:nvPr>
            <p:ph type="title"/>
          </p:nvPr>
        </p:nvSpPr>
        <p:spPr/>
        <p:txBody>
          <a:bodyPr/>
          <a:lstStyle/>
          <a:p>
            <a:r>
              <a:rPr lang="en-US" altLang="en-US" dirty="0"/>
              <a:t>Bond Issuance Process Part 2</a:t>
            </a:r>
          </a:p>
        </p:txBody>
      </p:sp>
      <p:sp>
        <p:nvSpPr>
          <p:cNvPr id="38914" name="Content Placeholder 2">
            <a:extLst>
              <a:ext uri="{FF2B5EF4-FFF2-40B4-BE49-F238E27FC236}">
                <a16:creationId xmlns:a16="http://schemas.microsoft.com/office/drawing/2014/main" id="{CB487C18-EA68-4F49-A7CF-7089ABB23811}"/>
              </a:ext>
            </a:extLst>
          </p:cNvPr>
          <p:cNvSpPr>
            <a:spLocks noGrp="1"/>
          </p:cNvSpPr>
          <p:nvPr>
            <p:ph idx="1"/>
          </p:nvPr>
        </p:nvSpPr>
        <p:spPr/>
        <p:txBody>
          <a:bodyPr/>
          <a:lstStyle/>
          <a:p>
            <a:r>
              <a:rPr lang="en-CA" dirty="0"/>
              <a:t>All of the bond certificates for the same bond issuance, whether an actual paper certificate or an electronic certificate, contain the same information. </a:t>
            </a:r>
          </a:p>
          <a:p>
            <a:endParaRPr lang="en-CA" sz="800" dirty="0"/>
          </a:p>
          <a:p>
            <a:r>
              <a:rPr lang="en-CA" dirty="0"/>
              <a:t>The certificates show the same maturity date, interest rate, interest dates, and other provisions. </a:t>
            </a:r>
          </a:p>
          <a:p>
            <a:endParaRPr lang="en-CA" sz="800" dirty="0"/>
          </a:p>
          <a:p>
            <a:r>
              <a:rPr lang="en-CA" dirty="0"/>
              <a:t>An independent party, called the </a:t>
            </a:r>
            <a:r>
              <a:rPr lang="en-CA" b="1" dirty="0"/>
              <a:t>trustee</a:t>
            </a:r>
            <a:r>
              <a:rPr lang="en-CA" dirty="0"/>
              <a:t>, is usually appointed to represent the bondholders. </a:t>
            </a:r>
          </a:p>
          <a:p>
            <a:endParaRPr lang="en-CA" sz="800" dirty="0"/>
          </a:p>
          <a:p>
            <a:r>
              <a:rPr lang="en-CA" dirty="0"/>
              <a:t>A trustee’s duties are to ascertain whether the issuing company fulfills all of the provisions of the bond contract.</a:t>
            </a:r>
            <a:endParaRPr lang="en-CA" altLang="en-US" dirty="0"/>
          </a:p>
          <a:p>
            <a:endParaRPr lang="en-US" altLang="en-US" dirty="0"/>
          </a:p>
        </p:txBody>
      </p:sp>
    </p:spTree>
    <p:extLst>
      <p:ext uri="{BB962C8B-B14F-4D97-AF65-F5344CB8AC3E}">
        <p14:creationId xmlns:p14="http://schemas.microsoft.com/office/powerpoint/2010/main" val="1345149571"/>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28541F94-3CCA-4CAD-A391-BA444720DFBC}"/>
              </a:ext>
            </a:extLst>
          </p:cNvPr>
          <p:cNvSpPr>
            <a:spLocks noGrp="1"/>
          </p:cNvSpPr>
          <p:nvPr>
            <p:ph type="title"/>
          </p:nvPr>
        </p:nvSpPr>
        <p:spPr/>
        <p:txBody>
          <a:bodyPr/>
          <a:lstStyle/>
          <a:p>
            <a:r>
              <a:rPr lang="en-US" altLang="en-US"/>
              <a:t>Reporting Note Transactions</a:t>
            </a:r>
          </a:p>
        </p:txBody>
      </p:sp>
      <p:sp>
        <p:nvSpPr>
          <p:cNvPr id="39938" name="Content Placeholder 2">
            <a:extLst>
              <a:ext uri="{FF2B5EF4-FFF2-40B4-BE49-F238E27FC236}">
                <a16:creationId xmlns:a16="http://schemas.microsoft.com/office/drawing/2014/main" id="{401495C9-4E9A-4271-B4D7-764BB874412F}"/>
              </a:ext>
            </a:extLst>
          </p:cNvPr>
          <p:cNvSpPr>
            <a:spLocks noGrp="1"/>
          </p:cNvSpPr>
          <p:nvPr>
            <p:ph idx="1"/>
          </p:nvPr>
        </p:nvSpPr>
        <p:spPr/>
        <p:txBody>
          <a:bodyPr/>
          <a:lstStyle/>
          <a:p>
            <a:pPr>
              <a:lnSpc>
                <a:spcPct val="90000"/>
              </a:lnSpc>
            </a:pPr>
            <a:r>
              <a:rPr lang="en-CA" dirty="0"/>
              <a:t>The terms of a debt agreement are negotiated between the lender and the borrower.</a:t>
            </a:r>
          </a:p>
          <a:p>
            <a:pPr>
              <a:lnSpc>
                <a:spcPct val="90000"/>
              </a:lnSpc>
            </a:pPr>
            <a:r>
              <a:rPr lang="en-CA" dirty="0"/>
              <a:t>The debt contract specifies the interest rate on the debt and the dates of payment of both interest and principal.</a:t>
            </a:r>
          </a:p>
          <a:p>
            <a:pPr>
              <a:lnSpc>
                <a:spcPct val="90000"/>
              </a:lnSpc>
            </a:pPr>
            <a:r>
              <a:rPr lang="en-CA" dirty="0"/>
              <a:t>Notes payable </a:t>
            </a:r>
            <a:r>
              <a:rPr lang="en-CA" dirty="0">
                <a:sym typeface="Wingdings" pitchFamily="2" charset="2"/>
              </a:rPr>
              <a:t></a:t>
            </a:r>
            <a:r>
              <a:rPr lang="en-CA" dirty="0"/>
              <a:t> the lender and the borrower may agree that the principal will be paid at a specific date in the future (the maturity date), plus annual or semi-annual interest payments.</a:t>
            </a:r>
          </a:p>
          <a:p>
            <a:pPr>
              <a:lnSpc>
                <a:spcPct val="90000"/>
              </a:lnSpc>
            </a:pPr>
            <a:r>
              <a:rPr lang="en-CA" dirty="0"/>
              <a:t>Alternatively, they may agree that equal portions of the principal are payable annually with interest on the debt, or that equal payments covering both principal and interest known as </a:t>
            </a:r>
            <a:r>
              <a:rPr lang="en-CA" i="1" dirty="0"/>
              <a:t>blended</a:t>
            </a:r>
            <a:r>
              <a:rPr lang="en-CA" dirty="0"/>
              <a:t> payments, will be made periodically until the principal is fully paid at maturity.</a:t>
            </a:r>
            <a:endParaRPr lang="en-US" altLang="en-US"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Title 1">
            <a:extLst>
              <a:ext uri="{FF2B5EF4-FFF2-40B4-BE49-F238E27FC236}">
                <a16:creationId xmlns:a16="http://schemas.microsoft.com/office/drawing/2014/main" id="{A6730C1D-789B-4030-B6BE-75C26334A817}"/>
              </a:ext>
            </a:extLst>
          </p:cNvPr>
          <p:cNvSpPr>
            <a:spLocks noGrp="1"/>
          </p:cNvSpPr>
          <p:nvPr>
            <p:ph type="title"/>
          </p:nvPr>
        </p:nvSpPr>
        <p:spPr/>
        <p:txBody>
          <a:bodyPr/>
          <a:lstStyle/>
          <a:p>
            <a:r>
              <a:rPr lang="en-US" altLang="en-US"/>
              <a:t>Reporting Bond Transactions Part 1</a:t>
            </a:r>
          </a:p>
        </p:txBody>
      </p:sp>
      <p:sp>
        <p:nvSpPr>
          <p:cNvPr id="3" name="Content Placeholder 2">
            <a:extLst>
              <a:ext uri="{FF2B5EF4-FFF2-40B4-BE49-F238E27FC236}">
                <a16:creationId xmlns:a16="http://schemas.microsoft.com/office/drawing/2014/main" id="{3B007A7F-5C1D-4042-8811-7FF4DFABF7DA}"/>
              </a:ext>
            </a:extLst>
          </p:cNvPr>
          <p:cNvSpPr>
            <a:spLocks noGrp="1"/>
          </p:cNvSpPr>
          <p:nvPr>
            <p:ph idx="1"/>
          </p:nvPr>
        </p:nvSpPr>
        <p:spPr/>
        <p:txBody>
          <a:bodyPr/>
          <a:lstStyle/>
          <a:p>
            <a:pPr>
              <a:buFont typeface="Wingdings 3" pitchFamily="2" charset="2"/>
              <a:buChar char=""/>
              <a:defRPr/>
            </a:pPr>
            <a:r>
              <a:rPr lang="en-CA" dirty="0"/>
              <a:t>When bonds (or notes) are issued, two types of cash payments need to be specified in the bond contract:</a:t>
            </a:r>
          </a:p>
          <a:p>
            <a:pPr marL="514350" indent="-514350">
              <a:buFont typeface="+mj-lt"/>
              <a:buAutoNum type="arabicPeriod"/>
              <a:defRPr/>
            </a:pPr>
            <a:r>
              <a:rPr lang="en-CA" b="1" dirty="0"/>
              <a:t>Principal</a:t>
            </a:r>
            <a:r>
              <a:rPr lang="en-CA" i="1" dirty="0"/>
              <a:t>.</a:t>
            </a:r>
            <a:r>
              <a:rPr lang="en-CA" dirty="0"/>
              <a:t> This is usually a single payment made when the bond matures. It is also called the </a:t>
            </a:r>
            <a:r>
              <a:rPr lang="en-CA" i="1" dirty="0"/>
              <a:t>par value, face value, </a:t>
            </a:r>
            <a:r>
              <a:rPr lang="en-CA" dirty="0"/>
              <a:t>or</a:t>
            </a:r>
            <a:r>
              <a:rPr lang="en-CA" i="1" dirty="0"/>
              <a:t> maturity value.</a:t>
            </a:r>
            <a:endParaRPr lang="en-CA" dirty="0"/>
          </a:p>
          <a:p>
            <a:pPr marL="514350" indent="-514350">
              <a:buFont typeface="+mj-lt"/>
              <a:buAutoNum type="arabicPeriod"/>
              <a:defRPr/>
            </a:pPr>
            <a:r>
              <a:rPr lang="en-CA" b="1" dirty="0"/>
              <a:t>Cash interest payments</a:t>
            </a:r>
            <a:r>
              <a:rPr lang="en-CA" i="1" dirty="0"/>
              <a:t>.</a:t>
            </a:r>
            <a:r>
              <a:rPr lang="en-CA" dirty="0"/>
              <a:t> These payments are computed by multiplying the principal amount times the coupon rate. The bond contract specifies whether these payments are made quarterly, semi-annually, or annually.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19A723B4-E9DE-4B24-8251-D0C6EC4A1F87}"/>
              </a:ext>
            </a:extLst>
          </p:cNvPr>
          <p:cNvSpPr>
            <a:spLocks noGrp="1"/>
          </p:cNvSpPr>
          <p:nvPr>
            <p:ph type="title"/>
          </p:nvPr>
        </p:nvSpPr>
        <p:spPr/>
        <p:txBody>
          <a:bodyPr/>
          <a:lstStyle/>
          <a:p>
            <a:r>
              <a:rPr lang="en-US" altLang="en-US"/>
              <a:t>Reporting Bond Transactions Part 2</a:t>
            </a:r>
          </a:p>
        </p:txBody>
      </p:sp>
      <p:sp>
        <p:nvSpPr>
          <p:cNvPr id="11266" name="Content Placeholder 2">
            <a:extLst>
              <a:ext uri="{FF2B5EF4-FFF2-40B4-BE49-F238E27FC236}">
                <a16:creationId xmlns:a16="http://schemas.microsoft.com/office/drawing/2014/main" id="{D2844F10-58D6-4559-8080-D8E8A5361044}"/>
              </a:ext>
            </a:extLst>
          </p:cNvPr>
          <p:cNvSpPr>
            <a:spLocks noGrp="1"/>
          </p:cNvSpPr>
          <p:nvPr>
            <p:ph idx="1"/>
          </p:nvPr>
        </p:nvSpPr>
        <p:spPr/>
        <p:txBody>
          <a:bodyPr/>
          <a:lstStyle/>
          <a:p>
            <a:r>
              <a:rPr lang="en-US" altLang="en-US" dirty="0"/>
              <a:t>The issue price of the bond is determined by the market, based on the time value of money.</a:t>
            </a:r>
          </a:p>
          <a:p>
            <a:endParaRPr lang="en-US" altLang="en-US" sz="800" dirty="0"/>
          </a:p>
          <a:p>
            <a:r>
              <a:rPr lang="en-US" altLang="en-US" dirty="0"/>
              <a:t>The interest rate used to compute the present value is the </a:t>
            </a:r>
            <a:r>
              <a:rPr lang="en-US" altLang="en-US" b="1" dirty="0"/>
              <a:t>market interest rate </a:t>
            </a:r>
            <a:r>
              <a:rPr lang="en-CA" dirty="0"/>
              <a:t>(also known as the </a:t>
            </a:r>
            <a:r>
              <a:rPr lang="en-CA" i="1" dirty="0"/>
              <a:t>yield</a:t>
            </a:r>
            <a:r>
              <a:rPr lang="en-CA" dirty="0"/>
              <a:t>, or the </a:t>
            </a:r>
            <a:r>
              <a:rPr lang="en-CA" i="1" dirty="0"/>
              <a:t>effective interest rate</a:t>
            </a:r>
            <a:r>
              <a:rPr lang="en-CA" dirty="0"/>
              <a:t>)</a:t>
            </a:r>
            <a:r>
              <a:rPr lang="en-US" altLang="en-US" dirty="0"/>
              <a:t>. </a:t>
            </a:r>
          </a:p>
          <a:p>
            <a:endParaRPr lang="en-US" altLang="en-US" sz="800" dirty="0"/>
          </a:p>
          <a:p>
            <a:r>
              <a:rPr lang="en-CA" dirty="0"/>
              <a:t>As market interest rates rise the price of a bond falls and vice versa. </a:t>
            </a:r>
          </a:p>
          <a:p>
            <a:endParaRPr lang="en-CA" sz="800" dirty="0"/>
          </a:p>
          <a:p>
            <a:r>
              <a:rPr lang="en-CA" dirty="0"/>
              <a:t>This is because of the important role the market interest rate plays in determining the present value of a bond.</a:t>
            </a:r>
            <a:endParaRPr lang="en-US" altLang="en-US" dirty="0"/>
          </a:p>
          <a:p>
            <a:endParaRPr lang="en-US" altLang="en-US" sz="1200"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19A723B4-E9DE-4B24-8251-D0C6EC4A1F87}"/>
              </a:ext>
            </a:extLst>
          </p:cNvPr>
          <p:cNvSpPr>
            <a:spLocks noGrp="1"/>
          </p:cNvSpPr>
          <p:nvPr>
            <p:ph type="title"/>
          </p:nvPr>
        </p:nvSpPr>
        <p:spPr/>
        <p:txBody>
          <a:bodyPr/>
          <a:lstStyle/>
          <a:p>
            <a:r>
              <a:rPr lang="en-US" altLang="en-US" dirty="0"/>
              <a:t>Reporting Bond Transactions Part 3</a:t>
            </a:r>
          </a:p>
        </p:txBody>
      </p:sp>
      <p:sp>
        <p:nvSpPr>
          <p:cNvPr id="11266" name="Content Placeholder 2">
            <a:extLst>
              <a:ext uri="{FF2B5EF4-FFF2-40B4-BE49-F238E27FC236}">
                <a16:creationId xmlns:a16="http://schemas.microsoft.com/office/drawing/2014/main" id="{D2844F10-58D6-4559-8080-D8E8A5361044}"/>
              </a:ext>
            </a:extLst>
          </p:cNvPr>
          <p:cNvSpPr>
            <a:spLocks noGrp="1"/>
          </p:cNvSpPr>
          <p:nvPr>
            <p:ph idx="1"/>
          </p:nvPr>
        </p:nvSpPr>
        <p:spPr/>
        <p:txBody>
          <a:bodyPr/>
          <a:lstStyle/>
          <a:p>
            <a:r>
              <a:rPr lang="en-CA" dirty="0"/>
              <a:t>When a company issues a bond, the market interest rate will be either the same as the coupon rate, greater than the coupon rate, or less than the coupon rate. </a:t>
            </a:r>
          </a:p>
          <a:p>
            <a:endParaRPr lang="en-CA" sz="800" dirty="0"/>
          </a:p>
          <a:p>
            <a:r>
              <a:rPr lang="en-CA" dirty="0"/>
              <a:t>The relationship between the market interest rate and the bond’s coupon rate determines whether the bond is issued at par, at a </a:t>
            </a:r>
            <a:r>
              <a:rPr lang="en-CA" i="1" dirty="0"/>
              <a:t>premium</a:t>
            </a:r>
            <a:r>
              <a:rPr lang="en-CA" dirty="0"/>
              <a:t>, or at a</a:t>
            </a:r>
            <a:r>
              <a:rPr lang="en-CA" i="1" dirty="0"/>
              <a:t> discount</a:t>
            </a:r>
            <a:r>
              <a:rPr lang="en-CA" dirty="0"/>
              <a:t>. </a:t>
            </a:r>
          </a:p>
        </p:txBody>
      </p:sp>
    </p:spTree>
    <p:extLst>
      <p:ext uri="{BB962C8B-B14F-4D97-AF65-F5344CB8AC3E}">
        <p14:creationId xmlns:p14="http://schemas.microsoft.com/office/powerpoint/2010/main" val="4265001673"/>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itle 1">
            <a:extLst>
              <a:ext uri="{FF2B5EF4-FFF2-40B4-BE49-F238E27FC236}">
                <a16:creationId xmlns:a16="http://schemas.microsoft.com/office/drawing/2014/main" id="{19A723B4-E9DE-4B24-8251-D0C6EC4A1F87}"/>
              </a:ext>
            </a:extLst>
          </p:cNvPr>
          <p:cNvSpPr>
            <a:spLocks noGrp="1"/>
          </p:cNvSpPr>
          <p:nvPr>
            <p:ph type="title"/>
          </p:nvPr>
        </p:nvSpPr>
        <p:spPr/>
        <p:txBody>
          <a:bodyPr/>
          <a:lstStyle/>
          <a:p>
            <a:r>
              <a:rPr lang="en-US" altLang="en-US" dirty="0"/>
              <a:t>Reporting Bond Transactions Part 4</a:t>
            </a:r>
          </a:p>
        </p:txBody>
      </p:sp>
      <p:sp>
        <p:nvSpPr>
          <p:cNvPr id="11266" name="Content Placeholder 2">
            <a:extLst>
              <a:ext uri="{FF2B5EF4-FFF2-40B4-BE49-F238E27FC236}">
                <a16:creationId xmlns:a16="http://schemas.microsoft.com/office/drawing/2014/main" id="{D2844F10-58D6-4559-8080-D8E8A5361044}"/>
              </a:ext>
            </a:extLst>
          </p:cNvPr>
          <p:cNvSpPr>
            <a:spLocks noGrp="1"/>
          </p:cNvSpPr>
          <p:nvPr>
            <p:ph idx="1"/>
          </p:nvPr>
        </p:nvSpPr>
        <p:spPr/>
        <p:txBody>
          <a:bodyPr/>
          <a:lstStyle/>
          <a:p>
            <a:r>
              <a:rPr lang="en-CA" dirty="0"/>
              <a:t>If the coupon rate and the market interest rate are the same, a bond sells at par. </a:t>
            </a:r>
          </a:p>
          <a:p>
            <a:endParaRPr lang="en-CA" sz="800" dirty="0"/>
          </a:p>
          <a:p>
            <a:r>
              <a:rPr lang="en-CA" dirty="0"/>
              <a:t>If a bond pays a coupon rate that is lower than the market rate that creditors demand, they will not buy it unless its price is reduced (i.e., a discount must be provided). </a:t>
            </a:r>
          </a:p>
          <a:p>
            <a:endParaRPr lang="en-CA" sz="800" dirty="0"/>
          </a:p>
          <a:p>
            <a:r>
              <a:rPr lang="en-CA" dirty="0"/>
              <a:t>If a bond pays a coupon rate that is higher than the market rate, then creditors will pay a premium to buy it.</a:t>
            </a:r>
            <a:br>
              <a:rPr lang="en-US" altLang="en-US" sz="2400" dirty="0">
                <a:latin typeface="Arial" panose="020B0604020202020204" pitchFamily="34" charset="0"/>
              </a:rPr>
            </a:br>
            <a:endParaRPr lang="en-US" altLang="en-US" dirty="0"/>
          </a:p>
        </p:txBody>
      </p:sp>
    </p:spTree>
    <p:extLst>
      <p:ext uri="{BB962C8B-B14F-4D97-AF65-F5344CB8AC3E}">
        <p14:creationId xmlns:p14="http://schemas.microsoft.com/office/powerpoint/2010/main" val="165990624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Title 1">
            <a:extLst>
              <a:ext uri="{FF2B5EF4-FFF2-40B4-BE49-F238E27FC236}">
                <a16:creationId xmlns:a16="http://schemas.microsoft.com/office/drawing/2014/main" id="{831C7335-0411-4FB1-9298-0DD665DFD78A}"/>
              </a:ext>
            </a:extLst>
          </p:cNvPr>
          <p:cNvSpPr>
            <a:spLocks noGrp="1"/>
          </p:cNvSpPr>
          <p:nvPr>
            <p:ph type="title"/>
          </p:nvPr>
        </p:nvSpPr>
        <p:spPr/>
        <p:txBody>
          <a:bodyPr/>
          <a:lstStyle/>
          <a:p>
            <a:r>
              <a:rPr lang="en-US" altLang="en-US" dirty="0"/>
              <a:t>Reporting Bond Transactions Part 5</a:t>
            </a:r>
          </a:p>
        </p:txBody>
      </p:sp>
      <p:pic>
        <p:nvPicPr>
          <p:cNvPr id="3" name="Picture 2">
            <a:extLst>
              <a:ext uri="{FF2B5EF4-FFF2-40B4-BE49-F238E27FC236}">
                <a16:creationId xmlns:a16="http://schemas.microsoft.com/office/drawing/2014/main" id="{ABA56C3F-1E4B-8F49-A513-C7FFCBA5E2FC}"/>
              </a:ext>
            </a:extLst>
          </p:cNvPr>
          <p:cNvPicPr>
            <a:picLocks noChangeAspect="1"/>
          </p:cNvPicPr>
          <p:nvPr/>
        </p:nvPicPr>
        <p:blipFill>
          <a:blip r:embed="rId2"/>
          <a:stretch>
            <a:fillRect/>
          </a:stretch>
        </p:blipFill>
        <p:spPr>
          <a:xfrm>
            <a:off x="555305" y="2590800"/>
            <a:ext cx="8033389" cy="2393950"/>
          </a:xfrm>
          <a:prstGeom prst="rect">
            <a:avLst/>
          </a:prstGeom>
        </p:spPr>
      </p:pic>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3892A8E6-51BD-4FDE-B9C9-0345865D53E2}"/>
              </a:ext>
            </a:extLst>
          </p:cNvPr>
          <p:cNvSpPr>
            <a:spLocks noGrp="1"/>
          </p:cNvSpPr>
          <p:nvPr>
            <p:ph type="title"/>
          </p:nvPr>
        </p:nvSpPr>
        <p:spPr/>
        <p:txBody>
          <a:bodyPr/>
          <a:lstStyle/>
          <a:p>
            <a:r>
              <a:rPr lang="en-US" altLang="en-US"/>
              <a:t>Reporting Bond Transactions Part 6</a:t>
            </a:r>
          </a:p>
        </p:txBody>
      </p:sp>
      <p:sp>
        <p:nvSpPr>
          <p:cNvPr id="41986" name="Content Placeholder 2">
            <a:extLst>
              <a:ext uri="{FF2B5EF4-FFF2-40B4-BE49-F238E27FC236}">
                <a16:creationId xmlns:a16="http://schemas.microsoft.com/office/drawing/2014/main" id="{DE4F5582-BA9E-4AA2-A1C8-D6E213262472}"/>
              </a:ext>
            </a:extLst>
          </p:cNvPr>
          <p:cNvSpPr>
            <a:spLocks noGrp="1"/>
          </p:cNvSpPr>
          <p:nvPr>
            <p:ph idx="1"/>
          </p:nvPr>
        </p:nvSpPr>
        <p:spPr/>
        <p:txBody>
          <a:bodyPr/>
          <a:lstStyle/>
          <a:p>
            <a:r>
              <a:rPr lang="en-CA" altLang="en-US"/>
              <a:t>Corporations and creditors are indifferent to whether a bond is issued at par, at a discount, or at a premium, because bonds are always priced to provide the market rate of interest.</a:t>
            </a:r>
          </a:p>
          <a:p>
            <a:endParaRPr lang="en-US" altLang="en-US"/>
          </a:p>
        </p:txBody>
      </p:sp>
      <p:pic>
        <p:nvPicPr>
          <p:cNvPr id="2" name="Picture 1">
            <a:extLst>
              <a:ext uri="{FF2B5EF4-FFF2-40B4-BE49-F238E27FC236}">
                <a16:creationId xmlns:a16="http://schemas.microsoft.com/office/drawing/2014/main" id="{F9D6962E-4CC6-5443-8669-687A6283F758}"/>
              </a:ext>
            </a:extLst>
          </p:cNvPr>
          <p:cNvPicPr>
            <a:picLocks noChangeAspect="1"/>
          </p:cNvPicPr>
          <p:nvPr/>
        </p:nvPicPr>
        <p:blipFill>
          <a:blip r:embed="rId2"/>
          <a:stretch>
            <a:fillRect/>
          </a:stretch>
        </p:blipFill>
        <p:spPr>
          <a:xfrm>
            <a:off x="1219200" y="2881086"/>
            <a:ext cx="6350000" cy="3606800"/>
          </a:xfrm>
          <a:prstGeom prst="rect">
            <a:avLst/>
          </a:prstGeom>
        </p:spPr>
      </p:pic>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a:extLst>
              <a:ext uri="{FF2B5EF4-FFF2-40B4-BE49-F238E27FC236}">
                <a16:creationId xmlns:a16="http://schemas.microsoft.com/office/drawing/2014/main" id="{3892A8E6-51BD-4FDE-B9C9-0345865D53E2}"/>
              </a:ext>
            </a:extLst>
          </p:cNvPr>
          <p:cNvSpPr>
            <a:spLocks noGrp="1"/>
          </p:cNvSpPr>
          <p:nvPr>
            <p:ph type="title"/>
          </p:nvPr>
        </p:nvSpPr>
        <p:spPr/>
        <p:txBody>
          <a:bodyPr/>
          <a:lstStyle/>
          <a:p>
            <a:r>
              <a:rPr lang="en-US" altLang="en-US" dirty="0"/>
              <a:t>Reporting Bond Transactions – Data Analytics</a:t>
            </a:r>
          </a:p>
        </p:txBody>
      </p:sp>
      <p:sp>
        <p:nvSpPr>
          <p:cNvPr id="41986" name="Content Placeholder 2">
            <a:extLst>
              <a:ext uri="{FF2B5EF4-FFF2-40B4-BE49-F238E27FC236}">
                <a16:creationId xmlns:a16="http://schemas.microsoft.com/office/drawing/2014/main" id="{DE4F5582-BA9E-4AA2-A1C8-D6E213262472}"/>
              </a:ext>
            </a:extLst>
          </p:cNvPr>
          <p:cNvSpPr>
            <a:spLocks noGrp="1"/>
          </p:cNvSpPr>
          <p:nvPr>
            <p:ph idx="1"/>
          </p:nvPr>
        </p:nvSpPr>
        <p:spPr/>
        <p:txBody>
          <a:bodyPr/>
          <a:lstStyle/>
          <a:p>
            <a:r>
              <a:rPr lang="en-CA" b="1" dirty="0"/>
              <a:t>Using Artificial Intelligence (AI) to Invest in Bonds</a:t>
            </a:r>
          </a:p>
          <a:p>
            <a:pPr lvl="1"/>
            <a:r>
              <a:rPr lang="en-CA" sz="2400" dirty="0"/>
              <a:t>Individuals who invest in bonds often spend considerable time and effort gathering and assessing vast amounts of market information as well as company-specific information. </a:t>
            </a:r>
          </a:p>
          <a:p>
            <a:pPr lvl="1"/>
            <a:r>
              <a:rPr lang="en-CA" sz="2400" dirty="0"/>
              <a:t>Using technology to expand and expedite this process would allow investors to make more informed, quicker decisions.</a:t>
            </a:r>
          </a:p>
          <a:p>
            <a:pPr lvl="1"/>
            <a:r>
              <a:rPr lang="en-CA" sz="2400" dirty="0" err="1"/>
              <a:t>AllianceBernstein</a:t>
            </a:r>
            <a:r>
              <a:rPr lang="en-CA" sz="2400" dirty="0"/>
              <a:t>, a global investment-management and research firm, has created Abbie, a virtual assistant based on artificial intelligence that helps investors make bond investing decisions. </a:t>
            </a:r>
          </a:p>
          <a:p>
            <a:pPr lvl="1"/>
            <a:r>
              <a:rPr lang="en-CA" sz="2400" dirty="0"/>
              <a:t>You can read more about Abbie’s abilities here: </a:t>
            </a:r>
            <a:r>
              <a:rPr lang="en-CA" sz="2400" dirty="0">
                <a:hlinkClick r:id="rId2"/>
              </a:rPr>
              <a:t>alliancebernstein.com/fixed-income/bonds/abbie.htm</a:t>
            </a:r>
            <a:endParaRPr lang="en-CA" sz="2400" dirty="0"/>
          </a:p>
          <a:p>
            <a:endParaRPr lang="en-US" altLang="en-US" dirty="0"/>
          </a:p>
        </p:txBody>
      </p:sp>
    </p:spTree>
    <p:extLst>
      <p:ext uri="{BB962C8B-B14F-4D97-AF65-F5344CB8AC3E}">
        <p14:creationId xmlns:p14="http://schemas.microsoft.com/office/powerpoint/2010/main" val="134395786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F88415FD-2171-4A72-A876-63958376552A}"/>
              </a:ext>
            </a:extLst>
          </p:cNvPr>
          <p:cNvSpPr>
            <a:spLocks noGrp="1"/>
          </p:cNvSpPr>
          <p:nvPr>
            <p:ph type="title"/>
          </p:nvPr>
        </p:nvSpPr>
        <p:spPr/>
        <p:txBody>
          <a:bodyPr/>
          <a:lstStyle/>
          <a:p>
            <a:r>
              <a:rPr lang="en-US" altLang="en-US"/>
              <a:t>Bonds Issued at Par Part 1</a:t>
            </a:r>
          </a:p>
        </p:txBody>
      </p:sp>
      <p:sp>
        <p:nvSpPr>
          <p:cNvPr id="43010" name="Content Placeholder 2">
            <a:extLst>
              <a:ext uri="{FF2B5EF4-FFF2-40B4-BE49-F238E27FC236}">
                <a16:creationId xmlns:a16="http://schemas.microsoft.com/office/drawing/2014/main" id="{B6C726DB-8A1C-4B5F-86FD-A514226E9291}"/>
              </a:ext>
            </a:extLst>
          </p:cNvPr>
          <p:cNvSpPr>
            <a:spLocks noGrp="1"/>
          </p:cNvSpPr>
          <p:nvPr>
            <p:ph idx="1"/>
          </p:nvPr>
        </p:nvSpPr>
        <p:spPr>
          <a:xfrm>
            <a:off x="457200" y="990600"/>
            <a:ext cx="8229600" cy="5334000"/>
          </a:xfrm>
        </p:spPr>
        <p:txBody>
          <a:bodyPr/>
          <a:lstStyle/>
          <a:p>
            <a:r>
              <a:rPr lang="en-CA" altLang="en-US" dirty="0"/>
              <a:t>On January 1, 2022, Mobile Services Corporation (MSC) issued 6% bonds with a par value of $400,000 and received $400,000 in cash.  The bonds mature in 10 years and interest is paid semi-annually.  </a:t>
            </a:r>
          </a:p>
          <a:p>
            <a:r>
              <a:rPr lang="en-CA" altLang="en-US" dirty="0"/>
              <a:t>When MSC issued its bonds, it agreed to make two types of payments in the future: a single payment of $400,000 when the bond matures in 10 years and an annuity of $12,000 payable twice each year for 10 years. The bond payments can be shown graphically, as follows:</a:t>
            </a:r>
            <a:endParaRPr lang="en-US" altLang="en-US" dirty="0"/>
          </a:p>
        </p:txBody>
      </p:sp>
      <p:pic>
        <p:nvPicPr>
          <p:cNvPr id="2" name="Picture 1">
            <a:extLst>
              <a:ext uri="{FF2B5EF4-FFF2-40B4-BE49-F238E27FC236}">
                <a16:creationId xmlns:a16="http://schemas.microsoft.com/office/drawing/2014/main" id="{DD4DBD44-A5DC-D645-8984-E4C8DF1ACD75}"/>
              </a:ext>
            </a:extLst>
          </p:cNvPr>
          <p:cNvPicPr>
            <a:picLocks noChangeAspect="1"/>
          </p:cNvPicPr>
          <p:nvPr/>
        </p:nvPicPr>
        <p:blipFill>
          <a:blip r:embed="rId2"/>
          <a:stretch>
            <a:fillRect/>
          </a:stretch>
        </p:blipFill>
        <p:spPr>
          <a:xfrm>
            <a:off x="1036329" y="4800600"/>
            <a:ext cx="7117071" cy="1693863"/>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BEF53774-75AD-4618-8154-2BE54FC30FFA}"/>
              </a:ext>
            </a:extLst>
          </p:cNvPr>
          <p:cNvSpPr>
            <a:spLocks noGrp="1"/>
          </p:cNvSpPr>
          <p:nvPr>
            <p:ph type="title"/>
          </p:nvPr>
        </p:nvSpPr>
        <p:spPr/>
        <p:txBody>
          <a:bodyPr/>
          <a:lstStyle/>
          <a:p>
            <a:r>
              <a:rPr lang="en-US" altLang="en-US"/>
              <a:t>Bonds Issued at Par Part 2</a:t>
            </a:r>
          </a:p>
        </p:txBody>
      </p:sp>
      <p:sp>
        <p:nvSpPr>
          <p:cNvPr id="44034" name="Content Placeholder 2">
            <a:extLst>
              <a:ext uri="{FF2B5EF4-FFF2-40B4-BE49-F238E27FC236}">
                <a16:creationId xmlns:a16="http://schemas.microsoft.com/office/drawing/2014/main" id="{DCD1F2E8-E871-47B3-B01A-C9928ABC0CAA}"/>
              </a:ext>
            </a:extLst>
          </p:cNvPr>
          <p:cNvSpPr>
            <a:spLocks noGrp="1"/>
          </p:cNvSpPr>
          <p:nvPr>
            <p:ph idx="1"/>
          </p:nvPr>
        </p:nvSpPr>
        <p:spPr/>
        <p:txBody>
          <a:bodyPr/>
          <a:lstStyle/>
          <a:p>
            <a:r>
              <a:rPr lang="en-CA" altLang="en-US" dirty="0"/>
              <a:t>The present value of the bond payments can be calculated with the PV tables by using the factor for 20 periods and an interest rate of 3 percent (6 percent ÷ 2):</a:t>
            </a:r>
          </a:p>
          <a:p>
            <a:endParaRPr lang="en-CA" altLang="en-US" dirty="0"/>
          </a:p>
          <a:p>
            <a:endParaRPr lang="en-CA" altLang="en-US" dirty="0"/>
          </a:p>
          <a:p>
            <a:endParaRPr lang="en-CA" altLang="en-US" dirty="0"/>
          </a:p>
          <a:p>
            <a:endParaRPr lang="en-CA" altLang="en-US" dirty="0"/>
          </a:p>
          <a:p>
            <a:pPr marL="0" indent="0">
              <a:buNone/>
            </a:pPr>
            <a:endParaRPr lang="en-CA" altLang="en-US" dirty="0"/>
          </a:p>
          <a:p>
            <a:r>
              <a:rPr lang="en-CA" altLang="en-US" dirty="0"/>
              <a:t>When the effective rate of interest equals the stated rate of interest, the present value of the future cash flows associated with a bond always equals the bond’s par value. </a:t>
            </a:r>
          </a:p>
        </p:txBody>
      </p:sp>
      <p:pic>
        <p:nvPicPr>
          <p:cNvPr id="4" name="Picture 3" descr="Table&#10;&#10;Description automatically generated with medium confidence">
            <a:extLst>
              <a:ext uri="{FF2B5EF4-FFF2-40B4-BE49-F238E27FC236}">
                <a16:creationId xmlns:a16="http://schemas.microsoft.com/office/drawing/2014/main" id="{2B288AA3-48DD-4D41-A7B7-F90F5E285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362200"/>
            <a:ext cx="6448612" cy="246351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a:extLst>
              <a:ext uri="{FF2B5EF4-FFF2-40B4-BE49-F238E27FC236}">
                <a16:creationId xmlns:a16="http://schemas.microsoft.com/office/drawing/2014/main" id="{241D67B1-85F9-4FEF-864A-FC2B1C66FF42}"/>
              </a:ext>
            </a:extLst>
          </p:cNvPr>
          <p:cNvSpPr>
            <a:spLocks noGrp="1"/>
          </p:cNvSpPr>
          <p:nvPr>
            <p:ph type="title"/>
          </p:nvPr>
        </p:nvSpPr>
        <p:spPr/>
        <p:txBody>
          <a:bodyPr/>
          <a:lstStyle/>
          <a:p>
            <a:r>
              <a:rPr lang="en-US" altLang="en-US"/>
              <a:t>Bonds Issued at Par Part 3</a:t>
            </a:r>
          </a:p>
        </p:txBody>
      </p:sp>
      <p:sp>
        <p:nvSpPr>
          <p:cNvPr id="14338" name="Content Placeholder 2">
            <a:extLst>
              <a:ext uri="{FF2B5EF4-FFF2-40B4-BE49-F238E27FC236}">
                <a16:creationId xmlns:a16="http://schemas.microsoft.com/office/drawing/2014/main" id="{E259A265-537E-4D08-B37C-5EF8823126A2}"/>
              </a:ext>
            </a:extLst>
          </p:cNvPr>
          <p:cNvSpPr>
            <a:spLocks noGrp="1"/>
          </p:cNvSpPr>
          <p:nvPr>
            <p:ph idx="1"/>
          </p:nvPr>
        </p:nvSpPr>
        <p:spPr/>
        <p:txBody>
          <a:bodyPr/>
          <a:lstStyle/>
          <a:p>
            <a:r>
              <a:rPr lang="en-CA" altLang="en-US" dirty="0"/>
              <a:t>A bond’s selling price is determined by the present value of its future cash flows, not the par value. </a:t>
            </a:r>
          </a:p>
          <a:p>
            <a:endParaRPr lang="en-CA" altLang="en-US" sz="1200" dirty="0"/>
          </a:p>
          <a:p>
            <a:r>
              <a:rPr lang="en-CA" altLang="en-US" dirty="0"/>
              <a:t>On the date of issue, bond liabilities are recorded at the amount creditors are willing to pay for the bonds:</a:t>
            </a:r>
          </a:p>
          <a:p>
            <a:endParaRPr lang="en-CA" altLang="en-US" dirty="0"/>
          </a:p>
          <a:p>
            <a:endParaRPr lang="en-US" altLang="en-US" dirty="0"/>
          </a:p>
        </p:txBody>
      </p:sp>
      <p:graphicFrame>
        <p:nvGraphicFramePr>
          <p:cNvPr id="5" name="Table 4">
            <a:extLst>
              <a:ext uri="{FF2B5EF4-FFF2-40B4-BE49-F238E27FC236}">
                <a16:creationId xmlns:a16="http://schemas.microsoft.com/office/drawing/2014/main" id="{535D0BF8-CDDE-4104-B1D9-A371380A04D6}"/>
              </a:ext>
            </a:extLst>
          </p:cNvPr>
          <p:cNvGraphicFramePr>
            <a:graphicFrameLocks noGrp="1"/>
          </p:cNvGraphicFramePr>
          <p:nvPr>
            <p:extLst>
              <p:ext uri="{D42A27DB-BD31-4B8C-83A1-F6EECF244321}">
                <p14:modId xmlns:p14="http://schemas.microsoft.com/office/powerpoint/2010/main" val="2391565508"/>
              </p:ext>
            </p:extLst>
          </p:nvPr>
        </p:nvGraphicFramePr>
        <p:xfrm>
          <a:off x="457200" y="3589338"/>
          <a:ext cx="8229598" cy="1592480"/>
        </p:xfrm>
        <a:graphic>
          <a:graphicData uri="http://schemas.openxmlformats.org/drawingml/2006/table">
            <a:tbl>
              <a:tblPr/>
              <a:tblGrid>
                <a:gridCol w="838198">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gridCol w="228600">
                  <a:extLst>
                    <a:ext uri="{9D8B030D-6E8A-4147-A177-3AD203B41FA5}">
                      <a16:colId xmlns:a16="http://schemas.microsoft.com/office/drawing/2014/main" val="20005"/>
                    </a:ext>
                  </a:extLst>
                </a:gridCol>
                <a:gridCol w="1255534">
                  <a:extLst>
                    <a:ext uri="{9D8B030D-6E8A-4147-A177-3AD203B41FA5}">
                      <a16:colId xmlns:a16="http://schemas.microsoft.com/office/drawing/2014/main" val="20006"/>
                    </a:ext>
                  </a:extLst>
                </a:gridCol>
                <a:gridCol w="1335266">
                  <a:extLst>
                    <a:ext uri="{9D8B030D-6E8A-4147-A177-3AD203B41FA5}">
                      <a16:colId xmlns:a16="http://schemas.microsoft.com/office/drawing/2014/main" val="20007"/>
                    </a:ext>
                  </a:extLst>
                </a:gridCol>
              </a:tblGrid>
              <a:tr h="398066">
                <a:tc gridSpan="6">
                  <a:txBody>
                    <a:bodyPr/>
                    <a:lstStyle/>
                    <a:p>
                      <a:pPr fontAlgn="base"/>
                      <a:r>
                        <a:rPr lang="en-CA" sz="1800" dirty="0">
                          <a:effectLst/>
                          <a:latin typeface="Times New Roman" panose="02020603050405020304" pitchFamily="18" charset="0"/>
                        </a:rPr>
                        <a:t>Cash (A)</a:t>
                      </a:r>
                    </a:p>
                  </a:txBody>
                  <a:tcPr marL="190500" marR="95250" marT="95231" marB="28569"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ase"/>
                      <a:r>
                        <a:rPr lang="en-CA" sz="1800">
                          <a:effectLst/>
                          <a:latin typeface="Times New Roman" panose="02020603050405020304" pitchFamily="18" charset="0"/>
                        </a:rPr>
                        <a:t>400,000</a:t>
                      </a:r>
                    </a:p>
                  </a:txBody>
                  <a:tcPr marL="95250" marR="95250" marT="95231" marB="28569" anchor="ctr">
                    <a:lnL>
                      <a:noFill/>
                    </a:lnL>
                    <a:lnR>
                      <a:noFill/>
                    </a:lnR>
                    <a:lnT>
                      <a:noFill/>
                    </a:lnT>
                    <a:lnB>
                      <a:noFill/>
                    </a:lnB>
                    <a:solidFill>
                      <a:srgbClr val="BCDBC4"/>
                    </a:solidFill>
                  </a:tcPr>
                </a:tc>
                <a:tc>
                  <a:txBody>
                    <a:bodyPr/>
                    <a:lstStyle/>
                    <a:p>
                      <a:pPr fontAlgn="base"/>
                      <a:r>
                        <a:rPr lang="en-CA" sz="1800">
                          <a:effectLst/>
                          <a:latin typeface="Times New Roman" panose="02020603050405020304" pitchFamily="18" charset="0"/>
                        </a:rPr>
                        <a:t> </a:t>
                      </a:r>
                    </a:p>
                  </a:txBody>
                  <a:tcPr marL="95250" marR="190500" marT="95231" marB="28569" anchor="ctr">
                    <a:lnL>
                      <a:noFill/>
                    </a:lnL>
                    <a:lnR>
                      <a:noFill/>
                    </a:lnR>
                    <a:lnT>
                      <a:noFill/>
                    </a:lnT>
                    <a:lnB>
                      <a:noFill/>
                    </a:lnB>
                    <a:solidFill>
                      <a:srgbClr val="BCDBC4"/>
                    </a:solidFill>
                  </a:tcPr>
                </a:tc>
                <a:extLst>
                  <a:ext uri="{0D108BD9-81ED-4DB2-BD59-A6C34878D82A}">
                    <a16:rowId xmlns:a16="http://schemas.microsoft.com/office/drawing/2014/main" val="10000"/>
                  </a:ext>
                </a:extLst>
              </a:tr>
              <a:tr h="398066">
                <a:tc gridSpan="6">
                  <a:txBody>
                    <a:bodyPr/>
                    <a:lstStyle/>
                    <a:p>
                      <a:pPr fontAlgn="base"/>
                      <a:r>
                        <a:rPr lang="en-CA" sz="1800" dirty="0">
                          <a:effectLst/>
                          <a:latin typeface="Times New Roman" panose="02020603050405020304" pitchFamily="18" charset="0"/>
                        </a:rPr>
                        <a:t>     Bonds payable (L)</a:t>
                      </a:r>
                    </a:p>
                  </a:txBody>
                  <a:tcPr marL="190500" marR="95250" marT="95231" marB="28569"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BCDBC4"/>
                    </a:solidFill>
                  </a:tcPr>
                </a:tc>
                <a:tc>
                  <a:txBody>
                    <a:bodyPr/>
                    <a:lstStyle/>
                    <a:p>
                      <a:pPr algn="r" fontAlgn="base"/>
                      <a:r>
                        <a:rPr lang="en-CA" sz="1800">
                          <a:effectLst/>
                          <a:latin typeface="Times New Roman" panose="02020603050405020304" pitchFamily="18" charset="0"/>
                        </a:rPr>
                        <a:t>400,000</a:t>
                      </a:r>
                    </a:p>
                  </a:txBody>
                  <a:tcPr marL="95250" marR="190500" marT="95231" marB="28569" anchor="ctr">
                    <a:lnL>
                      <a:noFill/>
                    </a:lnL>
                    <a:lnR>
                      <a:noFill/>
                    </a:lnR>
                    <a:lnT>
                      <a:noFill/>
                    </a:lnT>
                    <a:lnB>
                      <a:noFill/>
                    </a:lnB>
                    <a:solidFill>
                      <a:srgbClr val="BCDBC4"/>
                    </a:solidFill>
                  </a:tcPr>
                </a:tc>
                <a:extLst>
                  <a:ext uri="{0D108BD9-81ED-4DB2-BD59-A6C34878D82A}">
                    <a16:rowId xmlns:a16="http://schemas.microsoft.com/office/drawing/2014/main" val="10001"/>
                  </a:ext>
                </a:extLst>
              </a:tr>
              <a:tr h="398066">
                <a:tc gridSpan="2">
                  <a:txBody>
                    <a:bodyPr/>
                    <a:lstStyle/>
                    <a:p>
                      <a:pPr algn="ctr" fontAlgn="base"/>
                      <a:r>
                        <a:rPr lang="en-CA" sz="1800" b="1">
                          <a:effectLst/>
                          <a:latin typeface="inherit"/>
                        </a:rPr>
                        <a:t>Assets</a:t>
                      </a:r>
                      <a:endParaRPr lang="en-CA" sz="1800">
                        <a:effectLst/>
                        <a:latin typeface="Times New Roman" panose="02020603050405020304" pitchFamily="18" charset="0"/>
                      </a:endParaRPr>
                    </a:p>
                  </a:txBody>
                  <a:tcPr marL="190500" marR="95250" marT="95231" marB="28569"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ctr">
                    <a:lnL>
                      <a:noFill/>
                    </a:lnL>
                    <a:lnR>
                      <a:noFill/>
                    </a:lnR>
                    <a:lnT>
                      <a:noFill/>
                    </a:lnT>
                    <a:lnB>
                      <a:noFill/>
                    </a:lnB>
                    <a:solidFill>
                      <a:srgbClr val="E4F2E7"/>
                    </a:solidFill>
                  </a:tcPr>
                </a:tc>
                <a:tc gridSpan="2">
                  <a:txBody>
                    <a:bodyPr/>
                    <a:lstStyle/>
                    <a:p>
                      <a:pPr algn="ctr" fontAlgn="base"/>
                      <a:r>
                        <a:rPr lang="en-CA" sz="1800" b="1">
                          <a:effectLst/>
                          <a:latin typeface="inherit"/>
                        </a:rPr>
                        <a:t>Liabilities</a:t>
                      </a:r>
                      <a:endParaRPr lang="en-CA" sz="1800">
                        <a:effectLst/>
                        <a:latin typeface="Times New Roman" panose="02020603050405020304" pitchFamily="18" charset="0"/>
                      </a:endParaRPr>
                    </a:p>
                  </a:txBody>
                  <a:tcPr marL="95250" marR="95250" marT="95231" marB="28569"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ctr">
                    <a:lnL>
                      <a:noFill/>
                    </a:lnL>
                    <a:lnR>
                      <a:noFill/>
                    </a:lnR>
                    <a:lnT>
                      <a:noFill/>
                    </a:lnT>
                    <a:lnB>
                      <a:noFill/>
                    </a:lnB>
                    <a:solidFill>
                      <a:srgbClr val="E4F2E7"/>
                    </a:solidFill>
                  </a:tcPr>
                </a:tc>
                <a:tc gridSpan="2">
                  <a:txBody>
                    <a:bodyPr/>
                    <a:lstStyle/>
                    <a:p>
                      <a:pPr algn="ctr" fontAlgn="base"/>
                      <a:r>
                        <a:rPr lang="en-CA" sz="1800" b="1">
                          <a:effectLst/>
                          <a:latin typeface="inherit"/>
                        </a:rPr>
                        <a:t>Shareholders’ Equity</a:t>
                      </a:r>
                      <a:endParaRPr lang="en-CA" sz="1800">
                        <a:effectLst/>
                        <a:latin typeface="Times New Roman" panose="02020603050405020304" pitchFamily="18" charset="0"/>
                      </a:endParaRPr>
                    </a:p>
                  </a:txBody>
                  <a:tcPr marL="95250" marR="190500" marT="95231" marB="28569"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extLst>
                  <a:ext uri="{0D108BD9-81ED-4DB2-BD59-A6C34878D82A}">
                    <a16:rowId xmlns:a16="http://schemas.microsoft.com/office/drawing/2014/main" val="10002"/>
                  </a:ext>
                </a:extLst>
              </a:tr>
              <a:tr h="398066">
                <a:tc>
                  <a:txBody>
                    <a:bodyPr/>
                    <a:lstStyle/>
                    <a:p>
                      <a:pPr fontAlgn="base"/>
                      <a:r>
                        <a:rPr lang="en-CA" sz="1800">
                          <a:effectLst/>
                          <a:latin typeface="Times New Roman" panose="02020603050405020304" pitchFamily="18" charset="0"/>
                        </a:rPr>
                        <a:t>Cash</a:t>
                      </a:r>
                    </a:p>
                  </a:txBody>
                  <a:tcPr marL="19050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dirty="0">
                          <a:effectLst/>
                          <a:latin typeface="Times New Roman" panose="02020603050405020304" pitchFamily="18" charset="0"/>
                        </a:rPr>
                        <a:t>+ 400,000</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Bonds payable</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dirty="0">
                          <a:effectLst/>
                          <a:latin typeface="Times New Roman" panose="02020603050405020304" pitchFamily="18" charset="0"/>
                        </a:rPr>
                        <a:t>+ 400,000</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dirty="0">
                          <a:effectLst/>
                          <a:latin typeface="Times New Roman" panose="02020603050405020304" pitchFamily="18" charset="0"/>
                        </a:rPr>
                        <a:t> </a:t>
                      </a:r>
                    </a:p>
                  </a:txBody>
                  <a:tcPr marL="95250" marR="19050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a:extLst>
              <a:ext uri="{FF2B5EF4-FFF2-40B4-BE49-F238E27FC236}">
                <a16:creationId xmlns:a16="http://schemas.microsoft.com/office/drawing/2014/main" id="{7C08D753-9BF9-4721-BF3B-C5B1FE628AB8}"/>
              </a:ext>
            </a:extLst>
          </p:cNvPr>
          <p:cNvSpPr>
            <a:spLocks noGrp="1"/>
          </p:cNvSpPr>
          <p:nvPr>
            <p:ph type="title"/>
          </p:nvPr>
        </p:nvSpPr>
        <p:spPr>
          <a:xfrm>
            <a:off x="457200" y="152400"/>
            <a:ext cx="8534400" cy="792163"/>
          </a:xfrm>
        </p:spPr>
        <p:txBody>
          <a:bodyPr/>
          <a:lstStyle/>
          <a:p>
            <a:r>
              <a:rPr lang="en-US" altLang="en-US" dirty="0"/>
              <a:t>Reporting Interest Expense on Bonds Issued at Par </a:t>
            </a:r>
          </a:p>
        </p:txBody>
      </p:sp>
      <p:sp>
        <p:nvSpPr>
          <p:cNvPr id="15362" name="Content Placeholder 2">
            <a:extLst>
              <a:ext uri="{FF2B5EF4-FFF2-40B4-BE49-F238E27FC236}">
                <a16:creationId xmlns:a16="http://schemas.microsoft.com/office/drawing/2014/main" id="{EF9EC591-9D81-4C0E-B242-528E5546C699}"/>
              </a:ext>
            </a:extLst>
          </p:cNvPr>
          <p:cNvSpPr>
            <a:spLocks noGrp="1"/>
          </p:cNvSpPr>
          <p:nvPr>
            <p:ph idx="1"/>
          </p:nvPr>
        </p:nvSpPr>
        <p:spPr/>
        <p:txBody>
          <a:bodyPr/>
          <a:lstStyle/>
          <a:p>
            <a:r>
              <a:rPr lang="en-CA" altLang="en-US"/>
              <a:t>MSC will pay interest at 3 percent (i.e., 6 percent per year) on the par value of the bonds each June 30 and December 31 until the bond’s maturity date. </a:t>
            </a:r>
          </a:p>
          <a:p>
            <a:endParaRPr lang="en-CA" altLang="en-US" sz="1200"/>
          </a:p>
          <a:p>
            <a:r>
              <a:rPr lang="en-CA" altLang="en-US"/>
              <a:t>The amount of interest each period will be $12,000 (3% × $400,000). The entry to record the interest payments follows: </a:t>
            </a:r>
          </a:p>
          <a:p>
            <a:endParaRPr lang="en-CA" altLang="en-US"/>
          </a:p>
          <a:p>
            <a:endParaRPr lang="en-US" altLang="en-US"/>
          </a:p>
        </p:txBody>
      </p:sp>
      <p:graphicFrame>
        <p:nvGraphicFramePr>
          <p:cNvPr id="4" name="Table 3">
            <a:extLst>
              <a:ext uri="{FF2B5EF4-FFF2-40B4-BE49-F238E27FC236}">
                <a16:creationId xmlns:a16="http://schemas.microsoft.com/office/drawing/2014/main" id="{13558DA3-02D2-48DE-B235-8467F5A28F91}"/>
              </a:ext>
            </a:extLst>
          </p:cNvPr>
          <p:cNvGraphicFramePr>
            <a:graphicFrameLocks noGrp="1"/>
          </p:cNvGraphicFramePr>
          <p:nvPr/>
        </p:nvGraphicFramePr>
        <p:xfrm>
          <a:off x="457200" y="4198938"/>
          <a:ext cx="8229598" cy="1592480"/>
        </p:xfrm>
        <a:graphic>
          <a:graphicData uri="http://schemas.openxmlformats.org/drawingml/2006/table">
            <a:tbl>
              <a:tblPr/>
              <a:tblGrid>
                <a:gridCol w="838199">
                  <a:extLst>
                    <a:ext uri="{9D8B030D-6E8A-4147-A177-3AD203B41FA5}">
                      <a16:colId xmlns:a16="http://schemas.microsoft.com/office/drawing/2014/main" val="20000"/>
                    </a:ext>
                  </a:extLst>
                </a:gridCol>
                <a:gridCol w="1423578">
                  <a:extLst>
                    <a:ext uri="{9D8B030D-6E8A-4147-A177-3AD203B41FA5}">
                      <a16:colId xmlns:a16="http://schemas.microsoft.com/office/drawing/2014/main" val="20001"/>
                    </a:ext>
                  </a:extLst>
                </a:gridCol>
                <a:gridCol w="405222">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228600">
                  <a:extLst>
                    <a:ext uri="{9D8B030D-6E8A-4147-A177-3AD203B41FA5}">
                      <a16:colId xmlns:a16="http://schemas.microsoft.com/office/drawing/2014/main" val="20004"/>
                    </a:ext>
                  </a:extLst>
                </a:gridCol>
                <a:gridCol w="533400">
                  <a:extLst>
                    <a:ext uri="{9D8B030D-6E8A-4147-A177-3AD203B41FA5}">
                      <a16:colId xmlns:a16="http://schemas.microsoft.com/office/drawing/2014/main" val="20005"/>
                    </a:ext>
                  </a:extLst>
                </a:gridCol>
                <a:gridCol w="2017533">
                  <a:extLst>
                    <a:ext uri="{9D8B030D-6E8A-4147-A177-3AD203B41FA5}">
                      <a16:colId xmlns:a16="http://schemas.microsoft.com/office/drawing/2014/main" val="20006"/>
                    </a:ext>
                  </a:extLst>
                </a:gridCol>
                <a:gridCol w="268467">
                  <a:extLst>
                    <a:ext uri="{9D8B030D-6E8A-4147-A177-3AD203B41FA5}">
                      <a16:colId xmlns:a16="http://schemas.microsoft.com/office/drawing/2014/main" val="20007"/>
                    </a:ext>
                  </a:extLst>
                </a:gridCol>
                <a:gridCol w="1066799">
                  <a:extLst>
                    <a:ext uri="{9D8B030D-6E8A-4147-A177-3AD203B41FA5}">
                      <a16:colId xmlns:a16="http://schemas.microsoft.com/office/drawing/2014/main" val="20008"/>
                    </a:ext>
                  </a:extLst>
                </a:gridCol>
              </a:tblGrid>
              <a:tr h="398066">
                <a:tc gridSpan="6">
                  <a:txBody>
                    <a:bodyPr/>
                    <a:lstStyle/>
                    <a:p>
                      <a:pPr fontAlgn="base"/>
                      <a:r>
                        <a:rPr lang="en-CA" sz="1800" dirty="0">
                          <a:effectLst/>
                          <a:latin typeface="Times New Roman" panose="02020603050405020304" pitchFamily="18" charset="0"/>
                        </a:rPr>
                        <a:t>Bond interest expense (E)</a:t>
                      </a:r>
                    </a:p>
                  </a:txBody>
                  <a:tcPr marL="190500" marR="95250" marT="95231" marB="28569"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algn="r" fontAlgn="base"/>
                      <a:r>
                        <a:rPr lang="en-CA" sz="1800">
                          <a:effectLst/>
                          <a:latin typeface="Times New Roman" panose="02020603050405020304" pitchFamily="18" charset="0"/>
                        </a:rPr>
                        <a:t>12,000</a:t>
                      </a:r>
                    </a:p>
                  </a:txBody>
                  <a:tcPr marL="95250" marR="95250" marT="95231" marB="28569" anchor="ctr">
                    <a:lnL>
                      <a:noFill/>
                    </a:lnL>
                    <a:lnR>
                      <a:noFill/>
                    </a:lnR>
                    <a:lnT>
                      <a:noFill/>
                    </a:lnT>
                    <a:lnB>
                      <a:noFill/>
                    </a:lnB>
                    <a:solidFill>
                      <a:srgbClr val="BCDBC4"/>
                    </a:solidFill>
                  </a:tcPr>
                </a:tc>
                <a:tc gridSpan="2">
                  <a:txBody>
                    <a:bodyPr/>
                    <a:lstStyle/>
                    <a:p>
                      <a:pPr fontAlgn="base"/>
                      <a:r>
                        <a:rPr lang="en-CA" sz="1800">
                          <a:effectLst/>
                          <a:latin typeface="Times New Roman" panose="02020603050405020304" pitchFamily="18" charset="0"/>
                        </a:rPr>
                        <a:t> </a:t>
                      </a:r>
                    </a:p>
                  </a:txBody>
                  <a:tcPr marL="95250" marR="190500" marT="95231" marB="28569" anchor="ctr">
                    <a:lnL>
                      <a:noFill/>
                    </a:lnL>
                    <a:lnR>
                      <a:noFill/>
                    </a:lnR>
                    <a:lnT>
                      <a:noFill/>
                    </a:lnT>
                    <a:lnB>
                      <a:noFill/>
                    </a:lnB>
                    <a:solidFill>
                      <a:srgbClr val="BCDBC4"/>
                    </a:solidFill>
                  </a:tcPr>
                </a:tc>
                <a:tc hMerge="1">
                  <a:txBody>
                    <a:bodyPr/>
                    <a:lstStyle/>
                    <a:p>
                      <a:pPr fontAlgn="base"/>
                      <a:endParaRPr lang="en-CA">
                        <a:effectLst/>
                        <a:latin typeface="Times New Roman" panose="02020603050405020304" pitchFamily="18" charset="0"/>
                      </a:endParaRPr>
                    </a:p>
                  </a:txBody>
                  <a:tcPr marL="95250" marR="190500" marT="95250" marB="28575" anchor="ctr">
                    <a:lnL>
                      <a:noFill/>
                    </a:lnL>
                    <a:lnR>
                      <a:noFill/>
                    </a:lnR>
                    <a:lnT>
                      <a:noFill/>
                    </a:lnT>
                    <a:lnB>
                      <a:noFill/>
                    </a:lnB>
                    <a:solidFill>
                      <a:srgbClr val="BCDBC4"/>
                    </a:solidFill>
                  </a:tcPr>
                </a:tc>
                <a:extLst>
                  <a:ext uri="{0D108BD9-81ED-4DB2-BD59-A6C34878D82A}">
                    <a16:rowId xmlns:a16="http://schemas.microsoft.com/office/drawing/2014/main" val="10000"/>
                  </a:ext>
                </a:extLst>
              </a:tr>
              <a:tr h="398066">
                <a:tc gridSpan="6">
                  <a:txBody>
                    <a:bodyPr/>
                    <a:lstStyle/>
                    <a:p>
                      <a:pPr fontAlgn="base"/>
                      <a:r>
                        <a:rPr lang="en-CA" sz="1800" dirty="0">
                          <a:effectLst/>
                          <a:latin typeface="Times New Roman" panose="02020603050405020304" pitchFamily="18" charset="0"/>
                        </a:rPr>
                        <a:t>     Cash (A)</a:t>
                      </a:r>
                    </a:p>
                  </a:txBody>
                  <a:tcPr marL="190500" marR="95250" marT="95231" marB="28569" anchor="ctr">
                    <a:lnL>
                      <a:noFill/>
                    </a:lnL>
                    <a:lnR>
                      <a:noFill/>
                    </a:lnR>
                    <a:lnT>
                      <a:noFill/>
                    </a:lnT>
                    <a:lnB>
                      <a:noFill/>
                    </a:lnB>
                    <a:solidFill>
                      <a:srgbClr val="BCDBC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BCDBC4"/>
                    </a:solidFill>
                  </a:tcPr>
                </a:tc>
                <a:tc gridSpan="2">
                  <a:txBody>
                    <a:bodyPr/>
                    <a:lstStyle/>
                    <a:p>
                      <a:pPr algn="r" fontAlgn="base"/>
                      <a:r>
                        <a:rPr lang="en-CA" sz="1800">
                          <a:effectLst/>
                          <a:latin typeface="Times New Roman" panose="02020603050405020304" pitchFamily="18" charset="0"/>
                        </a:rPr>
                        <a:t>12,000</a:t>
                      </a:r>
                    </a:p>
                  </a:txBody>
                  <a:tcPr marL="95250" marR="190500" marT="95231" marB="28569" anchor="ctr">
                    <a:lnL>
                      <a:noFill/>
                    </a:lnL>
                    <a:lnR>
                      <a:noFill/>
                    </a:lnR>
                    <a:lnT>
                      <a:noFill/>
                    </a:lnT>
                    <a:lnB>
                      <a:noFill/>
                    </a:lnB>
                    <a:solidFill>
                      <a:srgbClr val="BCDBC4"/>
                    </a:solidFill>
                  </a:tcPr>
                </a:tc>
                <a:tc hMerge="1">
                  <a:txBody>
                    <a:bodyPr/>
                    <a:lstStyle/>
                    <a:p>
                      <a:pPr algn="r" fontAlgn="base"/>
                      <a:endParaRPr lang="en-CA">
                        <a:effectLst/>
                        <a:latin typeface="Times New Roman" panose="02020603050405020304" pitchFamily="18" charset="0"/>
                      </a:endParaRPr>
                    </a:p>
                  </a:txBody>
                  <a:tcPr marL="95250" marR="190500" marT="95250" marB="28575" anchor="ctr">
                    <a:lnL>
                      <a:noFill/>
                    </a:lnL>
                    <a:lnR>
                      <a:noFill/>
                    </a:lnR>
                    <a:lnT>
                      <a:noFill/>
                    </a:lnT>
                    <a:lnB>
                      <a:noFill/>
                    </a:lnB>
                    <a:solidFill>
                      <a:srgbClr val="BCDBC4"/>
                    </a:solidFill>
                  </a:tcPr>
                </a:tc>
                <a:extLst>
                  <a:ext uri="{0D108BD9-81ED-4DB2-BD59-A6C34878D82A}">
                    <a16:rowId xmlns:a16="http://schemas.microsoft.com/office/drawing/2014/main" val="10001"/>
                  </a:ext>
                </a:extLst>
              </a:tr>
              <a:tr h="398066">
                <a:tc gridSpan="2">
                  <a:txBody>
                    <a:bodyPr/>
                    <a:lstStyle/>
                    <a:p>
                      <a:pPr algn="ctr" fontAlgn="base"/>
                      <a:r>
                        <a:rPr lang="en-CA" sz="1800" b="1">
                          <a:effectLst/>
                          <a:latin typeface="inherit"/>
                        </a:rPr>
                        <a:t>Assets</a:t>
                      </a:r>
                      <a:endParaRPr lang="en-CA" sz="1800">
                        <a:effectLst/>
                        <a:latin typeface="Times New Roman" panose="02020603050405020304" pitchFamily="18" charset="0"/>
                      </a:endParaRPr>
                    </a:p>
                  </a:txBody>
                  <a:tcPr marL="190500" marR="95250" marT="95231" marB="28569" anchor="b">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ctr">
                    <a:lnL>
                      <a:noFill/>
                    </a:lnL>
                    <a:lnR>
                      <a:noFill/>
                    </a:lnR>
                    <a:lnT>
                      <a:noFill/>
                    </a:lnT>
                    <a:lnB>
                      <a:noFill/>
                    </a:lnB>
                    <a:solidFill>
                      <a:srgbClr val="E4F2E7"/>
                    </a:solidFill>
                  </a:tcPr>
                </a:tc>
                <a:tc gridSpan="2">
                  <a:txBody>
                    <a:bodyPr/>
                    <a:lstStyle/>
                    <a:p>
                      <a:pPr algn="ctr" fontAlgn="base"/>
                      <a:r>
                        <a:rPr lang="en-CA" sz="1800" b="1">
                          <a:effectLst/>
                          <a:latin typeface="inherit"/>
                        </a:rPr>
                        <a:t>Liabilities</a:t>
                      </a:r>
                      <a:endParaRPr lang="en-CA" sz="1800">
                        <a:effectLst/>
                        <a:latin typeface="Times New Roman" panose="02020603050405020304" pitchFamily="18" charset="0"/>
                      </a:endParaRPr>
                    </a:p>
                  </a:txBody>
                  <a:tcPr marL="95250" marR="95250" marT="95231" marB="28569"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a:txBody>
                    <a:bodyPr/>
                    <a:lstStyle/>
                    <a:p>
                      <a:pPr algn="ctr" fontAlgn="base"/>
                      <a:r>
                        <a:rPr lang="en-CA" sz="1800">
                          <a:effectLst/>
                          <a:latin typeface="Times New Roman" panose="02020603050405020304" pitchFamily="18" charset="0"/>
                        </a:rPr>
                        <a:t>+</a:t>
                      </a:r>
                    </a:p>
                  </a:txBody>
                  <a:tcPr marL="95250" marR="95250" marT="95231" marB="28569" anchor="ctr">
                    <a:lnL>
                      <a:noFill/>
                    </a:lnL>
                    <a:lnR>
                      <a:noFill/>
                    </a:lnR>
                    <a:lnT>
                      <a:noFill/>
                    </a:lnT>
                    <a:lnB>
                      <a:noFill/>
                    </a:lnB>
                    <a:solidFill>
                      <a:srgbClr val="E4F2E7"/>
                    </a:solidFill>
                  </a:tcPr>
                </a:tc>
                <a:tc gridSpan="3">
                  <a:txBody>
                    <a:bodyPr/>
                    <a:lstStyle/>
                    <a:p>
                      <a:pPr algn="ctr" fontAlgn="base"/>
                      <a:r>
                        <a:rPr lang="en-CA" sz="1800" b="1">
                          <a:effectLst/>
                          <a:latin typeface="inherit"/>
                        </a:rPr>
                        <a:t>Shareholders’ Equity</a:t>
                      </a:r>
                      <a:endParaRPr lang="en-CA" sz="1800">
                        <a:effectLst/>
                        <a:latin typeface="Times New Roman" panose="02020603050405020304" pitchFamily="18" charset="0"/>
                      </a:endParaRPr>
                    </a:p>
                  </a:txBody>
                  <a:tcPr marL="95250" marR="190500" marT="95231" marB="28569"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tc hMerge="1">
                  <a:txBody>
                    <a:bodyPr/>
                    <a:lstStyle/>
                    <a:p>
                      <a:endParaRPr lang="en-US"/>
                    </a:p>
                  </a:txBody>
                  <a:tcPr/>
                </a:tc>
                <a:tc hMerge="1">
                  <a:txBody>
                    <a:bodyPr/>
                    <a:lstStyle/>
                    <a:p>
                      <a:pPr algn="ctr" fontAlgn="base"/>
                      <a:endParaRPr lang="en-CA">
                        <a:effectLst/>
                        <a:latin typeface="Times New Roman" panose="02020603050405020304" pitchFamily="18" charset="0"/>
                      </a:endParaRPr>
                    </a:p>
                  </a:txBody>
                  <a:tcPr marL="95250" marR="190500" marT="95250" marB="28575" anchor="ctr">
                    <a:lnL>
                      <a:noFill/>
                    </a:lnL>
                    <a:lnR>
                      <a:noFill/>
                    </a:lnR>
                    <a:lnT>
                      <a:noFill/>
                    </a:lnT>
                    <a:lnB w="9525" cap="flat" cmpd="sng" algn="ctr">
                      <a:solidFill>
                        <a:srgbClr val="000000"/>
                      </a:solidFill>
                      <a:prstDash val="solid"/>
                      <a:round/>
                      <a:headEnd type="none" w="med" len="med"/>
                      <a:tailEnd type="none" w="med" len="med"/>
                    </a:lnB>
                    <a:solidFill>
                      <a:srgbClr val="E4F2E7"/>
                    </a:solidFill>
                  </a:tcPr>
                </a:tc>
                <a:extLst>
                  <a:ext uri="{0D108BD9-81ED-4DB2-BD59-A6C34878D82A}">
                    <a16:rowId xmlns:a16="http://schemas.microsoft.com/office/drawing/2014/main" val="10002"/>
                  </a:ext>
                </a:extLst>
              </a:tr>
              <a:tr h="398066">
                <a:tc>
                  <a:txBody>
                    <a:bodyPr/>
                    <a:lstStyle/>
                    <a:p>
                      <a:pPr fontAlgn="base"/>
                      <a:r>
                        <a:rPr lang="en-CA" sz="1800">
                          <a:effectLst/>
                          <a:latin typeface="Times New Roman" panose="02020603050405020304" pitchFamily="18" charset="0"/>
                        </a:rPr>
                        <a:t>Cash </a:t>
                      </a:r>
                    </a:p>
                  </a:txBody>
                  <a:tcPr marL="19050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a:effectLst/>
                          <a:latin typeface="Times New Roman" panose="02020603050405020304" pitchFamily="18" charset="0"/>
                        </a:rPr>
                        <a:t>−12,000</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fontAlgn="base"/>
                      <a:r>
                        <a:rPr lang="en-CA" sz="1800">
                          <a:effectLst/>
                          <a:latin typeface="Times New Roman" panose="02020603050405020304" pitchFamily="18" charset="0"/>
                        </a:rPr>
                        <a:t> </a:t>
                      </a:r>
                    </a:p>
                  </a:txBody>
                  <a:tcPr marL="95250" marR="95250" marT="95231" marB="28569" anchor="ctr">
                    <a:lnL>
                      <a:noFill/>
                    </a:lnL>
                    <a:lnR>
                      <a:noFill/>
                    </a:lnR>
                    <a:lnT>
                      <a:noFill/>
                    </a:lnT>
                    <a:lnB>
                      <a:noFill/>
                    </a:lnB>
                    <a:solidFill>
                      <a:srgbClr val="E4F2E7"/>
                    </a:solidFill>
                  </a:tcPr>
                </a:tc>
                <a:tc gridSpan="2">
                  <a:txBody>
                    <a:bodyPr/>
                    <a:lstStyle/>
                    <a:p>
                      <a:pPr fontAlgn="base"/>
                      <a:r>
                        <a:rPr lang="en-CA" sz="1800">
                          <a:effectLst/>
                          <a:latin typeface="Times New Roman" panose="02020603050405020304" pitchFamily="18" charset="0"/>
                        </a:rPr>
                        <a:t>Bond interest expense</a:t>
                      </a:r>
                    </a:p>
                  </a:txBody>
                  <a:tcPr marL="95250" marR="9525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hMerge="1">
                  <a:txBody>
                    <a:bodyPr/>
                    <a:lstStyle/>
                    <a:p>
                      <a:pPr algn="r" fontAlgn="base"/>
                      <a:r>
                        <a:rPr lang="en-CA" dirty="0">
                          <a:effectLst/>
                          <a:latin typeface="Times New Roman" panose="02020603050405020304" pitchFamily="18" charset="0"/>
                        </a:rPr>
                        <a:t>−12,000</a:t>
                      </a:r>
                    </a:p>
                  </a:txBody>
                  <a:tcPr marL="95250" marR="190500" marT="95250" marB="28575"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tc>
                  <a:txBody>
                    <a:bodyPr/>
                    <a:lstStyle/>
                    <a:p>
                      <a:pPr algn="r" fontAlgn="base"/>
                      <a:r>
                        <a:rPr lang="en-CA" sz="1800" dirty="0">
                          <a:effectLst/>
                          <a:latin typeface="Times New Roman" panose="02020603050405020304" pitchFamily="18" charset="0"/>
                        </a:rPr>
                        <a:t>−12,000</a:t>
                      </a:r>
                    </a:p>
                  </a:txBody>
                  <a:tcPr marL="95250" marR="190500" marT="95231" marB="28569" anchor="ctr">
                    <a:lnL>
                      <a:noFill/>
                    </a:lnL>
                    <a:lnR>
                      <a:noFill/>
                    </a:lnR>
                    <a:lnT w="9525" cap="flat" cmpd="sng" algn="ctr">
                      <a:solidFill>
                        <a:srgbClr val="000000"/>
                      </a:solidFill>
                      <a:prstDash val="solid"/>
                      <a:round/>
                      <a:headEnd type="none" w="med" len="med"/>
                      <a:tailEnd type="none" w="med" len="med"/>
                    </a:lnT>
                    <a:lnB>
                      <a:noFill/>
                    </a:lnB>
                    <a:solidFill>
                      <a:srgbClr val="E4F2E7"/>
                    </a:solid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718EFCAC-6C77-41AB-8CA8-6B47D5A7EA05}"/>
              </a:ext>
            </a:extLst>
          </p:cNvPr>
          <p:cNvSpPr>
            <a:spLocks noGrp="1"/>
          </p:cNvSpPr>
          <p:nvPr>
            <p:ph type="title"/>
          </p:nvPr>
        </p:nvSpPr>
        <p:spPr/>
        <p:txBody>
          <a:bodyPr/>
          <a:lstStyle/>
          <a:p>
            <a:r>
              <a:rPr lang="en-US" altLang="en-US"/>
              <a:t>Bonds Issued at a Discount Part 1</a:t>
            </a:r>
          </a:p>
        </p:txBody>
      </p:sp>
      <p:sp>
        <p:nvSpPr>
          <p:cNvPr id="45058" name="Content Placeholder 2">
            <a:extLst>
              <a:ext uri="{FF2B5EF4-FFF2-40B4-BE49-F238E27FC236}">
                <a16:creationId xmlns:a16="http://schemas.microsoft.com/office/drawing/2014/main" id="{0D699988-79EF-40FF-A4D6-0DFFD925486E}"/>
              </a:ext>
            </a:extLst>
          </p:cNvPr>
          <p:cNvSpPr>
            <a:spLocks noGrp="1"/>
          </p:cNvSpPr>
          <p:nvPr>
            <p:ph idx="1"/>
          </p:nvPr>
        </p:nvSpPr>
        <p:spPr/>
        <p:txBody>
          <a:bodyPr/>
          <a:lstStyle/>
          <a:p>
            <a:r>
              <a:rPr lang="en-CA" altLang="en-US" dirty="0"/>
              <a:t>On January 1, 2022, MSC issued 6% bonds with a par value of $400,000.  The bonds mature in 10 years and interest is paid semi-annually.  The market rate is 8% annually.  Therefore, since the stated rate is less than the market rate, this bond is issued at a discount.</a:t>
            </a:r>
          </a:p>
          <a:p>
            <a:endParaRPr lang="en-CA" altLang="en-US" sz="800" dirty="0"/>
          </a:p>
          <a:p>
            <a:r>
              <a:rPr lang="en-CA" altLang="en-US" dirty="0"/>
              <a:t>To calculate the issue price of the bonds, we need to calculate the present value of the future cash flows specified on the bond. </a:t>
            </a:r>
          </a:p>
          <a:p>
            <a:endParaRPr lang="en-CA" altLang="en-US" sz="800" dirty="0"/>
          </a:p>
          <a:p>
            <a:r>
              <a:rPr lang="en-CA" altLang="en-US" dirty="0"/>
              <a:t>The number of periods is 20, but we use an interest rate of 4 percent (8 percent ÷ 2), which is the market rate of interest. </a:t>
            </a:r>
            <a:br>
              <a:rPr lang="en-CA" altLang="en-US" dirty="0"/>
            </a:br>
            <a:endParaRPr lang="en-CA" altLang="en-US" dirty="0"/>
          </a:p>
          <a:p>
            <a:endParaRPr lang="en-CA" altLang="en-US" dirty="0"/>
          </a:p>
          <a:p>
            <a:endParaRPr lang="en-US" altLang="en-US" dirty="0"/>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6E8342CF-4E44-49E1-A271-556B326CD639}"/>
              </a:ext>
            </a:extLst>
          </p:cNvPr>
          <p:cNvSpPr>
            <a:spLocks noGrp="1"/>
          </p:cNvSpPr>
          <p:nvPr>
            <p:ph type="title"/>
          </p:nvPr>
        </p:nvSpPr>
        <p:spPr/>
        <p:txBody>
          <a:bodyPr/>
          <a:lstStyle/>
          <a:p>
            <a:r>
              <a:rPr lang="en-US" altLang="en-US" dirty="0"/>
              <a:t>Bonds Issued at a Discount Part 2</a:t>
            </a:r>
          </a:p>
        </p:txBody>
      </p:sp>
      <p:sp>
        <p:nvSpPr>
          <p:cNvPr id="16386" name="Content Placeholder 2">
            <a:extLst>
              <a:ext uri="{FF2B5EF4-FFF2-40B4-BE49-F238E27FC236}">
                <a16:creationId xmlns:a16="http://schemas.microsoft.com/office/drawing/2014/main" id="{65CD1C3B-9179-45C5-93CD-22692E0C7010}"/>
              </a:ext>
            </a:extLst>
          </p:cNvPr>
          <p:cNvSpPr>
            <a:spLocks noGrp="1"/>
          </p:cNvSpPr>
          <p:nvPr>
            <p:ph idx="1"/>
          </p:nvPr>
        </p:nvSpPr>
        <p:spPr/>
        <p:txBody>
          <a:bodyPr/>
          <a:lstStyle/>
          <a:p>
            <a:r>
              <a:rPr lang="en-CA" altLang="en-US" dirty="0"/>
              <a:t>The issue price of MSC’s bonds is calculated as follows:</a:t>
            </a:r>
          </a:p>
          <a:p>
            <a:endParaRPr lang="en-CA" altLang="en-US" dirty="0"/>
          </a:p>
          <a:p>
            <a:endParaRPr lang="en-CA" altLang="en-US" dirty="0"/>
          </a:p>
          <a:p>
            <a:endParaRPr lang="en-CA" altLang="en-US" dirty="0"/>
          </a:p>
          <a:p>
            <a:endParaRPr lang="en-CA" altLang="en-US" dirty="0"/>
          </a:p>
          <a:p>
            <a:endParaRPr lang="en-CA" altLang="en-US" dirty="0"/>
          </a:p>
          <a:p>
            <a:endParaRPr lang="en-CA" altLang="en-US" dirty="0"/>
          </a:p>
          <a:p>
            <a:r>
              <a:rPr lang="en-CA" altLang="en-US" dirty="0"/>
              <a:t>The cash price of the bonds issued by MSC is $345,644.</a:t>
            </a:r>
            <a:endParaRPr lang="en-CA" altLang="en-US" sz="800" dirty="0"/>
          </a:p>
          <a:p>
            <a:r>
              <a:rPr lang="en-CA" altLang="en-US" dirty="0"/>
              <a:t>Some people refer to this price as 86.4, which means that the bonds were sold at 86.4 percent of their par value ($345,644 ÷ $400,000).</a:t>
            </a:r>
          </a:p>
          <a:p>
            <a:endParaRPr lang="en-CA" altLang="en-US" dirty="0"/>
          </a:p>
          <a:p>
            <a:endParaRPr lang="en-US" altLang="en-US" dirty="0"/>
          </a:p>
        </p:txBody>
      </p:sp>
      <p:pic>
        <p:nvPicPr>
          <p:cNvPr id="3" name="Picture 2"/>
          <p:cNvPicPr>
            <a:picLocks noChangeAspect="1"/>
          </p:cNvPicPr>
          <p:nvPr/>
        </p:nvPicPr>
        <p:blipFill>
          <a:blip r:embed="rId2"/>
          <a:stretch>
            <a:fillRect/>
          </a:stretch>
        </p:blipFill>
        <p:spPr>
          <a:xfrm>
            <a:off x="1676400" y="1729085"/>
            <a:ext cx="4953000" cy="2614315"/>
          </a:xfrm>
          <a:prstGeom prst="rect">
            <a:avLst/>
          </a:prstGeom>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2E4077CF-327D-4C18-967A-9BEF04B31F9E}"/>
              </a:ext>
            </a:extLst>
          </p:cNvPr>
          <p:cNvSpPr>
            <a:spLocks noGrp="1"/>
          </p:cNvSpPr>
          <p:nvPr>
            <p:ph type="title"/>
          </p:nvPr>
        </p:nvSpPr>
        <p:spPr/>
        <p:txBody>
          <a:bodyPr/>
          <a:lstStyle/>
          <a:p>
            <a:r>
              <a:rPr lang="en-US" altLang="en-US"/>
              <a:t>Bonds Issued at a Discount Part 4</a:t>
            </a:r>
          </a:p>
        </p:txBody>
      </p:sp>
      <p:sp>
        <p:nvSpPr>
          <p:cNvPr id="3" name="Content Placeholder 2">
            <a:extLst>
              <a:ext uri="{FF2B5EF4-FFF2-40B4-BE49-F238E27FC236}">
                <a16:creationId xmlns:a16="http://schemas.microsoft.com/office/drawing/2014/main" id="{8DE7BF83-619A-4DF1-ABB6-2A1B4BCEFF91}"/>
              </a:ext>
            </a:extLst>
          </p:cNvPr>
          <p:cNvSpPr>
            <a:spLocks noGrp="1"/>
          </p:cNvSpPr>
          <p:nvPr>
            <p:ph idx="1"/>
          </p:nvPr>
        </p:nvSpPr>
        <p:spPr>
          <a:xfrm>
            <a:off x="457200" y="1143000"/>
            <a:ext cx="8229600" cy="5334000"/>
          </a:xfrm>
        </p:spPr>
        <p:txBody>
          <a:bodyPr/>
          <a:lstStyle/>
          <a:p>
            <a:pPr>
              <a:defRPr/>
            </a:pPr>
            <a:r>
              <a:rPr lang="en-CA" dirty="0"/>
              <a:t>On the date of issue, MSC records a bond liability equal to the amount creditors are willing to pay for the bonds:</a:t>
            </a:r>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a:buFont typeface="Wingdings 3" pitchFamily="2" charset="2"/>
              <a:buChar char=""/>
              <a:defRPr/>
            </a:pPr>
            <a:endParaRPr lang="en-CA" dirty="0"/>
          </a:p>
          <a:p>
            <a:pPr marL="0" indent="0">
              <a:buNone/>
              <a:defRPr/>
            </a:pPr>
            <a:endParaRPr lang="en-CA" dirty="0"/>
          </a:p>
          <a:p>
            <a:pPr>
              <a:buFont typeface="Wingdings 3" pitchFamily="2" charset="2"/>
              <a:buChar char=""/>
              <a:defRPr/>
            </a:pPr>
            <a:r>
              <a:rPr lang="en-CA" dirty="0"/>
              <a:t>While MSC received only $345,644 when it sold the bonds, it must repay $400,000 when the bonds mature.</a:t>
            </a:r>
          </a:p>
          <a:p>
            <a:pPr>
              <a:buFont typeface="Wingdings 3" pitchFamily="2" charset="2"/>
              <a:buChar char=""/>
              <a:defRPr/>
            </a:pPr>
            <a:endParaRPr lang="en-CA" sz="2500" dirty="0"/>
          </a:p>
          <a:p>
            <a:pPr>
              <a:buFont typeface="Wingdings 3" pitchFamily="2" charset="2"/>
              <a:buChar char=""/>
              <a:defRPr/>
            </a:pPr>
            <a:endParaRPr lang="en-CA" sz="2500" dirty="0"/>
          </a:p>
          <a:p>
            <a:pPr>
              <a:buFont typeface="Wingdings 3" pitchFamily="2" charset="2"/>
              <a:buChar char=""/>
              <a:defRPr/>
            </a:pPr>
            <a:endParaRPr lang="en-CA" sz="2500" dirty="0"/>
          </a:p>
          <a:p>
            <a:pPr marL="0" indent="0">
              <a:buFont typeface="Wingdings 3" pitchFamily="2" charset="2"/>
              <a:buNone/>
              <a:defRPr/>
            </a:pPr>
            <a:endParaRPr lang="en-CA" sz="1500" dirty="0"/>
          </a:p>
        </p:txBody>
      </p:sp>
      <p:pic>
        <p:nvPicPr>
          <p:cNvPr id="4" name="Picture 3" descr="Table&#10;&#10;Description automatically generated">
            <a:extLst>
              <a:ext uri="{FF2B5EF4-FFF2-40B4-BE49-F238E27FC236}">
                <a16:creationId xmlns:a16="http://schemas.microsoft.com/office/drawing/2014/main" id="{822ADD84-93A1-0044-9EB3-15E057176C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963" y="2209800"/>
            <a:ext cx="8328074" cy="1879600"/>
          </a:xfrm>
          <a:prstGeom prst="rect">
            <a:avLst/>
          </a:prstGeom>
        </p:spPr>
      </p:pic>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2E4077CF-327D-4C18-967A-9BEF04B31F9E}"/>
              </a:ext>
            </a:extLst>
          </p:cNvPr>
          <p:cNvSpPr>
            <a:spLocks noGrp="1"/>
          </p:cNvSpPr>
          <p:nvPr>
            <p:ph type="title"/>
          </p:nvPr>
        </p:nvSpPr>
        <p:spPr/>
        <p:txBody>
          <a:bodyPr/>
          <a:lstStyle/>
          <a:p>
            <a:r>
              <a:rPr lang="en-US" altLang="en-US"/>
              <a:t>Bonds Issued at a Discount Part 4</a:t>
            </a:r>
          </a:p>
        </p:txBody>
      </p:sp>
      <p:sp>
        <p:nvSpPr>
          <p:cNvPr id="3" name="Content Placeholder 2">
            <a:extLst>
              <a:ext uri="{FF2B5EF4-FFF2-40B4-BE49-F238E27FC236}">
                <a16:creationId xmlns:a16="http://schemas.microsoft.com/office/drawing/2014/main" id="{8DE7BF83-619A-4DF1-ABB6-2A1B4BCEFF91}"/>
              </a:ext>
            </a:extLst>
          </p:cNvPr>
          <p:cNvSpPr>
            <a:spLocks noGrp="1"/>
          </p:cNvSpPr>
          <p:nvPr>
            <p:ph idx="1"/>
          </p:nvPr>
        </p:nvSpPr>
        <p:spPr>
          <a:xfrm>
            <a:off x="457200" y="1143000"/>
            <a:ext cx="8229600" cy="5334000"/>
          </a:xfrm>
        </p:spPr>
        <p:txBody>
          <a:bodyPr/>
          <a:lstStyle/>
          <a:p>
            <a:pPr>
              <a:buFont typeface="Wingdings 3" pitchFamily="2" charset="2"/>
              <a:buChar char=""/>
              <a:defRPr/>
            </a:pPr>
            <a:r>
              <a:rPr lang="en-CA" dirty="0"/>
              <a:t>The $54,356 of additional cash that MSC must pay at maturity is incrementally reflected in interest expense and added to the carrying amount of the liability each period over the life of the bond.</a:t>
            </a:r>
          </a:p>
          <a:p>
            <a:pPr>
              <a:buFont typeface="Wingdings 3" pitchFamily="2" charset="2"/>
              <a:buChar char=""/>
              <a:defRPr/>
            </a:pPr>
            <a:r>
              <a:rPr lang="en-CA" dirty="0"/>
              <a:t>This causes interest expense to reflect the </a:t>
            </a:r>
            <a:r>
              <a:rPr lang="en-CA" i="1" dirty="0"/>
              <a:t>market interest rate</a:t>
            </a:r>
            <a:r>
              <a:rPr lang="en-CA" dirty="0"/>
              <a:t> while the cash being paid to bondholders each period reflects the </a:t>
            </a:r>
            <a:r>
              <a:rPr lang="en-CA" i="1" dirty="0"/>
              <a:t>coupon rate</a:t>
            </a:r>
            <a:r>
              <a:rPr lang="en-CA" dirty="0"/>
              <a:t>. </a:t>
            </a:r>
          </a:p>
          <a:p>
            <a:pPr>
              <a:buFont typeface="Wingdings 3" pitchFamily="2" charset="2"/>
              <a:buChar char=""/>
              <a:defRPr/>
            </a:pPr>
            <a:r>
              <a:rPr lang="en-CA" dirty="0"/>
              <a:t>The accounting method used to record interest expense is referred to as the </a:t>
            </a:r>
            <a:r>
              <a:rPr lang="en-CA" i="1" dirty="0"/>
              <a:t>effective-interest method</a:t>
            </a:r>
            <a:r>
              <a:rPr lang="en-CA" dirty="0"/>
              <a:t>. </a:t>
            </a:r>
          </a:p>
          <a:p>
            <a:pPr>
              <a:buFont typeface="Wingdings 3" pitchFamily="2" charset="2"/>
              <a:buChar char=""/>
              <a:defRPr/>
            </a:pPr>
            <a:r>
              <a:rPr lang="en-CA" dirty="0"/>
              <a:t>Canadian publicly accountable enterprises are required to use the effective-interest method to amortize bond discount or premium.</a:t>
            </a:r>
          </a:p>
          <a:p>
            <a:pPr>
              <a:buFont typeface="Wingdings 3" pitchFamily="2" charset="2"/>
              <a:buChar char=""/>
              <a:defRPr/>
            </a:pPr>
            <a:endParaRPr lang="en-CA" sz="2500" dirty="0"/>
          </a:p>
          <a:p>
            <a:pPr>
              <a:buFont typeface="Wingdings 3" pitchFamily="2" charset="2"/>
              <a:buChar char=""/>
              <a:defRPr/>
            </a:pPr>
            <a:endParaRPr lang="en-CA" sz="2500" dirty="0"/>
          </a:p>
          <a:p>
            <a:pPr>
              <a:buFont typeface="Wingdings 3" pitchFamily="2" charset="2"/>
              <a:buChar char=""/>
              <a:defRPr/>
            </a:pPr>
            <a:endParaRPr lang="en-CA" sz="2500" dirty="0"/>
          </a:p>
          <a:p>
            <a:pPr marL="0" indent="0">
              <a:buFont typeface="Wingdings 3" pitchFamily="2" charset="2"/>
              <a:buNone/>
              <a:defRPr/>
            </a:pPr>
            <a:endParaRPr lang="en-CA" sz="1500" dirty="0"/>
          </a:p>
        </p:txBody>
      </p:sp>
    </p:spTree>
    <p:extLst>
      <p:ext uri="{BB962C8B-B14F-4D97-AF65-F5344CB8AC3E}">
        <p14:creationId xmlns:p14="http://schemas.microsoft.com/office/powerpoint/2010/main" val="186851859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47651151-75B6-4906-8C0B-9A7D2471E8EC}"/>
              </a:ext>
            </a:extLst>
          </p:cNvPr>
          <p:cNvSpPr>
            <a:spLocks noGrp="1"/>
          </p:cNvSpPr>
          <p:nvPr>
            <p:ph type="title"/>
          </p:nvPr>
        </p:nvSpPr>
        <p:spPr>
          <a:xfrm>
            <a:off x="457200" y="198437"/>
            <a:ext cx="8458200" cy="792163"/>
          </a:xfrm>
        </p:spPr>
        <p:txBody>
          <a:bodyPr/>
          <a:lstStyle/>
          <a:p>
            <a:r>
              <a:rPr lang="en-US" altLang="en-US" dirty="0"/>
              <a:t>Reporting Interest Expense on Bonds Issued at a Discount using Effective-Interest Amortization - 1</a:t>
            </a:r>
            <a:endParaRPr lang="en-US" altLang="en-US" sz="2200" dirty="0"/>
          </a:p>
        </p:txBody>
      </p:sp>
      <p:sp>
        <p:nvSpPr>
          <p:cNvPr id="17410" name="Content Placeholder 5">
            <a:extLst>
              <a:ext uri="{FF2B5EF4-FFF2-40B4-BE49-F238E27FC236}">
                <a16:creationId xmlns:a16="http://schemas.microsoft.com/office/drawing/2014/main" id="{81F5763C-D5C8-4545-9985-4BA5F9F51DF1}"/>
              </a:ext>
            </a:extLst>
          </p:cNvPr>
          <p:cNvSpPr>
            <a:spLocks noGrp="1"/>
          </p:cNvSpPr>
          <p:nvPr>
            <p:ph idx="1"/>
          </p:nvPr>
        </p:nvSpPr>
        <p:spPr>
          <a:xfrm>
            <a:off x="457200" y="1295400"/>
            <a:ext cx="8229600" cy="5334000"/>
          </a:xfrm>
        </p:spPr>
        <p:txBody>
          <a:bodyPr/>
          <a:lstStyle/>
          <a:p>
            <a:r>
              <a:rPr lang="en-US" altLang="en-US" b="1" dirty="0"/>
              <a:t>Step 1: Compute the interest expense:</a:t>
            </a:r>
          </a:p>
          <a:p>
            <a:pPr marL="274638" lvl="1" indent="0">
              <a:buFont typeface="Wingdings 3" panose="05040102010807070707" pitchFamily="18" charset="2"/>
              <a:buNone/>
            </a:pPr>
            <a:r>
              <a:rPr lang="en-US" altLang="en-US" dirty="0"/>
              <a:t>Interest expense = Unpaid balance x Market interest rate x </a:t>
            </a:r>
            <a:r>
              <a:rPr lang="en-US" altLang="en-US" i="1" dirty="0"/>
              <a:t>n</a:t>
            </a:r>
            <a:r>
              <a:rPr lang="en-US" altLang="en-US" dirty="0"/>
              <a:t>/12</a:t>
            </a:r>
          </a:p>
          <a:p>
            <a:pPr marL="274638" lvl="1" indent="0">
              <a:buFont typeface="Wingdings 3" panose="05040102010807070707" pitchFamily="18" charset="2"/>
              <a:buNone/>
            </a:pPr>
            <a:r>
              <a:rPr lang="en-US" altLang="en-US" i="1" dirty="0"/>
              <a:t>                            n</a:t>
            </a:r>
            <a:r>
              <a:rPr lang="en-US" altLang="en-US" dirty="0"/>
              <a:t> = number of months in each interest period</a:t>
            </a:r>
          </a:p>
          <a:p>
            <a:pPr marL="274638" lvl="1" indent="0">
              <a:buFont typeface="Wingdings 3" panose="05040102010807070707" pitchFamily="18" charset="2"/>
              <a:buNone/>
            </a:pPr>
            <a:endParaRPr lang="en-US" altLang="en-US" dirty="0"/>
          </a:p>
          <a:p>
            <a:r>
              <a:rPr lang="en-US" altLang="en-US" b="1" dirty="0"/>
              <a:t>Step 2: Compute the interest to be paid:</a:t>
            </a:r>
          </a:p>
          <a:p>
            <a:pPr marL="274638" lvl="1" indent="0">
              <a:buFont typeface="Wingdings 3" panose="05040102010807070707" pitchFamily="18" charset="2"/>
              <a:buNone/>
            </a:pPr>
            <a:r>
              <a:rPr lang="en-US" altLang="en-US" dirty="0"/>
              <a:t>Bond face value x Coupon rate per period</a:t>
            </a:r>
          </a:p>
          <a:p>
            <a:pPr marL="274638" lvl="1" indent="0">
              <a:buFont typeface="Wingdings 3" panose="05040102010807070707" pitchFamily="18" charset="2"/>
              <a:buNone/>
            </a:pPr>
            <a:endParaRPr lang="en-US" altLang="en-US" dirty="0"/>
          </a:p>
          <a:p>
            <a:r>
              <a:rPr lang="en-US" altLang="en-US" b="1" dirty="0"/>
              <a:t>Step 3: Compute the amortization amount:</a:t>
            </a:r>
          </a:p>
          <a:p>
            <a:pPr marL="274638" lvl="1" indent="0">
              <a:buNone/>
            </a:pPr>
            <a:r>
              <a:rPr lang="en-US" altLang="en-US" dirty="0"/>
              <a:t>Amortization of bond discount =    Interest expense</a:t>
            </a:r>
          </a:p>
          <a:p>
            <a:pPr marL="274638" lvl="1" indent="0">
              <a:buNone/>
            </a:pPr>
            <a:r>
              <a:rPr lang="en-US" altLang="en-US" dirty="0"/>
              <a:t>				        – Interest paid (or accrued)</a:t>
            </a:r>
          </a:p>
          <a:p>
            <a:pPr marL="274638" lvl="1" indent="0">
              <a:buFont typeface="Wingdings 3" panose="05040102010807070707" pitchFamily="18" charset="2"/>
              <a:buNone/>
            </a:pPr>
            <a:r>
              <a:rPr lang="en-US" altLang="en-US" dirty="0"/>
              <a:t>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B5A8C021-4BF3-4DEC-8185-C8595D1517B8}"/>
              </a:ext>
            </a:extLst>
          </p:cNvPr>
          <p:cNvSpPr>
            <a:spLocks noGrp="1"/>
          </p:cNvSpPr>
          <p:nvPr>
            <p:ph type="title"/>
          </p:nvPr>
        </p:nvSpPr>
        <p:spPr>
          <a:xfrm>
            <a:off x="457200" y="198437"/>
            <a:ext cx="8458200" cy="792163"/>
          </a:xfrm>
        </p:spPr>
        <p:txBody>
          <a:bodyPr/>
          <a:lstStyle/>
          <a:p>
            <a:r>
              <a:rPr lang="en-US" altLang="en-US" dirty="0"/>
              <a:t>Reporting Interest Expense on Bonds Issued at a Discount using Effective-Interest Amortization - 2</a:t>
            </a:r>
            <a:endParaRPr lang="en-US" altLang="en-US" sz="2300" dirty="0"/>
          </a:p>
        </p:txBody>
      </p:sp>
      <p:sp>
        <p:nvSpPr>
          <p:cNvPr id="3" name="Content Placeholder 2">
            <a:extLst>
              <a:ext uri="{FF2B5EF4-FFF2-40B4-BE49-F238E27FC236}">
                <a16:creationId xmlns:a16="http://schemas.microsoft.com/office/drawing/2014/main" id="{4A867C4D-5810-4D29-B07F-0521469F6095}"/>
              </a:ext>
            </a:extLst>
          </p:cNvPr>
          <p:cNvSpPr>
            <a:spLocks noGrp="1"/>
          </p:cNvSpPr>
          <p:nvPr>
            <p:ph idx="1"/>
          </p:nvPr>
        </p:nvSpPr>
        <p:spPr/>
        <p:txBody>
          <a:bodyPr/>
          <a:lstStyle/>
          <a:p>
            <a:pPr>
              <a:buFont typeface="Wingdings 3" pitchFamily="2" charset="2"/>
              <a:buChar char=""/>
              <a:defRPr/>
            </a:pPr>
            <a:r>
              <a:rPr lang="en-CA" dirty="0"/>
              <a:t>The first interest payment on MSC’s bonds is on June 30, 2022. Interest expense and the amount of the bond discount amortized are: </a:t>
            </a:r>
          </a:p>
          <a:p>
            <a:pPr>
              <a:buFont typeface="Wingdings 3" pitchFamily="2" charset="2"/>
              <a:buChar char=""/>
              <a:defRPr/>
            </a:pPr>
            <a:endParaRPr lang="en-CA" sz="800" dirty="0"/>
          </a:p>
          <a:p>
            <a:pPr>
              <a:buFont typeface="Wingdings 3" pitchFamily="2" charset="2"/>
              <a:buChar char=""/>
              <a:defRPr/>
            </a:pPr>
            <a:r>
              <a:rPr lang="en-CA" b="1" dirty="0"/>
              <a:t>Step 1: Interest expense:</a:t>
            </a:r>
            <a:r>
              <a:rPr lang="en-CA" dirty="0"/>
              <a:t> </a:t>
            </a:r>
          </a:p>
          <a:p>
            <a:pPr marL="0" indent="0">
              <a:buFont typeface="Wingdings 3" pitchFamily="2" charset="2"/>
              <a:buNone/>
              <a:defRPr/>
            </a:pPr>
            <a:r>
              <a:rPr lang="en-CA" dirty="0"/>
              <a:t>    $345,644 × (0.08 × 6/12)  = </a:t>
            </a:r>
            <a:r>
              <a:rPr lang="en-CA" b="1" dirty="0"/>
              <a:t>$13,826</a:t>
            </a:r>
          </a:p>
          <a:p>
            <a:pPr marL="0" indent="0">
              <a:buFont typeface="Wingdings 3" pitchFamily="2" charset="2"/>
              <a:buNone/>
              <a:defRPr/>
            </a:pPr>
            <a:endParaRPr lang="en-CA" sz="800" dirty="0"/>
          </a:p>
          <a:p>
            <a:pPr>
              <a:buFont typeface="Wingdings 3" pitchFamily="2" charset="2"/>
              <a:buChar char=""/>
              <a:defRPr/>
            </a:pPr>
            <a:r>
              <a:rPr lang="en-CA" b="1" dirty="0"/>
              <a:t>Step 2: Interest to be paid:</a:t>
            </a:r>
            <a:r>
              <a:rPr lang="en-CA" dirty="0"/>
              <a:t> </a:t>
            </a:r>
          </a:p>
          <a:p>
            <a:pPr marL="0" indent="0">
              <a:buFont typeface="Wingdings 3" pitchFamily="2" charset="2"/>
              <a:buNone/>
              <a:defRPr/>
            </a:pPr>
            <a:r>
              <a:rPr lang="en-CA" dirty="0"/>
              <a:t>    $400,000 × (0.06 × 6/12) = </a:t>
            </a:r>
            <a:r>
              <a:rPr lang="en-CA" b="1" dirty="0"/>
              <a:t>$12,000</a:t>
            </a:r>
          </a:p>
          <a:p>
            <a:pPr marL="0" indent="0">
              <a:buFont typeface="Wingdings 3" pitchFamily="2" charset="2"/>
              <a:buNone/>
              <a:defRPr/>
            </a:pPr>
            <a:endParaRPr lang="en-CA" sz="800" dirty="0"/>
          </a:p>
          <a:p>
            <a:pPr>
              <a:buFont typeface="Wingdings 3" pitchFamily="2" charset="2"/>
              <a:buChar char=""/>
              <a:defRPr/>
            </a:pPr>
            <a:r>
              <a:rPr lang="en-CA" b="1" dirty="0"/>
              <a:t>Step 3: Amortized discount:</a:t>
            </a:r>
            <a:r>
              <a:rPr lang="en-CA" dirty="0"/>
              <a:t> </a:t>
            </a:r>
          </a:p>
          <a:p>
            <a:pPr marL="0" indent="0">
              <a:buFont typeface="Wingdings 3" pitchFamily="2" charset="2"/>
              <a:buNone/>
              <a:defRPr/>
            </a:pPr>
            <a:r>
              <a:rPr lang="en-CA" dirty="0"/>
              <a:t>    $13,826 − $12,000 = </a:t>
            </a:r>
            <a:r>
              <a:rPr lang="en-CA" b="1" dirty="0"/>
              <a:t>$1,826</a:t>
            </a:r>
            <a:endParaRPr lang="en-CA" dirty="0"/>
          </a:p>
          <a:p>
            <a:pPr>
              <a:buFont typeface="Wingdings 3" pitchFamily="2" charset="2"/>
              <a:buChar char=""/>
              <a:defRPr/>
            </a:pPr>
            <a:endParaRPr lang="en-US" dirty="0"/>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C0A35101-0D52-4B4B-916A-D92296AC4D3E}"/>
              </a:ext>
            </a:extLst>
          </p:cNvPr>
          <p:cNvSpPr>
            <a:spLocks noGrp="1"/>
          </p:cNvSpPr>
          <p:nvPr>
            <p:ph type="title"/>
          </p:nvPr>
        </p:nvSpPr>
        <p:spPr>
          <a:xfrm>
            <a:off x="457200" y="198437"/>
            <a:ext cx="8458200" cy="792163"/>
          </a:xfrm>
        </p:spPr>
        <p:txBody>
          <a:bodyPr/>
          <a:lstStyle/>
          <a:p>
            <a:r>
              <a:rPr lang="en-US" altLang="en-US" dirty="0"/>
              <a:t>Reporting Interest Expense on Bonds Issued at a Discount using Effective-Interest Amortization - 3</a:t>
            </a:r>
            <a:endParaRPr lang="en-US" altLang="en-US" sz="2300" dirty="0"/>
          </a:p>
        </p:txBody>
      </p:sp>
      <p:sp>
        <p:nvSpPr>
          <p:cNvPr id="18434" name="Content Placeholder 2">
            <a:extLst>
              <a:ext uri="{FF2B5EF4-FFF2-40B4-BE49-F238E27FC236}">
                <a16:creationId xmlns:a16="http://schemas.microsoft.com/office/drawing/2014/main" id="{09DB8E28-62DC-43CD-B967-20897EF106EB}"/>
              </a:ext>
            </a:extLst>
          </p:cNvPr>
          <p:cNvSpPr>
            <a:spLocks noGrp="1"/>
          </p:cNvSpPr>
          <p:nvPr>
            <p:ph idx="1"/>
          </p:nvPr>
        </p:nvSpPr>
        <p:spPr/>
        <p:txBody>
          <a:bodyPr/>
          <a:lstStyle/>
          <a:p>
            <a:r>
              <a:rPr lang="en-CA" altLang="en-US" dirty="0"/>
              <a:t>The journal entry to record the periodic interest expense is as follows:</a:t>
            </a:r>
          </a:p>
          <a:p>
            <a:endParaRPr lang="en-US" altLang="en-US" dirty="0"/>
          </a:p>
          <a:p>
            <a:endParaRPr lang="en-US" altLang="en-US" dirty="0"/>
          </a:p>
        </p:txBody>
      </p:sp>
      <p:pic>
        <p:nvPicPr>
          <p:cNvPr id="3" name="Picture 2" descr="Table&#10;&#10;Description automatically generated with medium confidence">
            <a:extLst>
              <a:ext uri="{FF2B5EF4-FFF2-40B4-BE49-F238E27FC236}">
                <a16:creationId xmlns:a16="http://schemas.microsoft.com/office/drawing/2014/main" id="{7A76D8A2-DADE-D847-8E38-050EE6929A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196" y="2438400"/>
            <a:ext cx="7983607" cy="2400300"/>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4A67A147-3982-429E-9D78-55EFB59E552F}"/>
              </a:ext>
            </a:extLst>
          </p:cNvPr>
          <p:cNvSpPr>
            <a:spLocks noGrp="1"/>
          </p:cNvSpPr>
          <p:nvPr>
            <p:ph type="title"/>
          </p:nvPr>
        </p:nvSpPr>
        <p:spPr>
          <a:xfrm>
            <a:off x="457200" y="198437"/>
            <a:ext cx="8458200" cy="792163"/>
          </a:xfrm>
        </p:spPr>
        <p:txBody>
          <a:bodyPr/>
          <a:lstStyle/>
          <a:p>
            <a:r>
              <a:rPr lang="en-US" altLang="en-US" dirty="0"/>
              <a:t>Reporting Interest Expense on Bonds Issued at a Discount using Effective-Interest Amortization - 4</a:t>
            </a:r>
            <a:endParaRPr lang="en-US" altLang="en-US" sz="2300" dirty="0"/>
          </a:p>
        </p:txBody>
      </p:sp>
      <p:sp>
        <p:nvSpPr>
          <p:cNvPr id="19458" name="Content Placeholder 2">
            <a:extLst>
              <a:ext uri="{FF2B5EF4-FFF2-40B4-BE49-F238E27FC236}">
                <a16:creationId xmlns:a16="http://schemas.microsoft.com/office/drawing/2014/main" id="{0A9A3F05-6F07-4E4D-8779-230E68ABFE30}"/>
              </a:ext>
            </a:extLst>
          </p:cNvPr>
          <p:cNvSpPr>
            <a:spLocks noGrp="1"/>
          </p:cNvSpPr>
          <p:nvPr>
            <p:ph idx="1"/>
          </p:nvPr>
        </p:nvSpPr>
        <p:spPr/>
        <p:txBody>
          <a:bodyPr/>
          <a:lstStyle/>
          <a:p>
            <a:r>
              <a:rPr lang="en-CA" altLang="en-US" dirty="0"/>
              <a:t>Interest expense for the second half of 2022 is calculated by multiplying the carrying amount on June 30, 2022 (which is $345,644 plus $1,826, or $347,470) by the market interest rate for six months ($347,470 × (0.08 × 6/12) = $13,899). </a:t>
            </a:r>
          </a:p>
          <a:p>
            <a:r>
              <a:rPr lang="en-CA" altLang="en-US" dirty="0"/>
              <a:t>The amortization of the bond discount in the second period is $1,899.</a:t>
            </a:r>
          </a:p>
          <a:p>
            <a:endParaRPr lang="en-US" altLang="en-US" dirty="0"/>
          </a:p>
        </p:txBody>
      </p:sp>
      <p:pic>
        <p:nvPicPr>
          <p:cNvPr id="3" name="Picture 2" descr="Table&#10;&#10;Description automatically generated with medium confidence">
            <a:extLst>
              <a:ext uri="{FF2B5EF4-FFF2-40B4-BE49-F238E27FC236}">
                <a16:creationId xmlns:a16="http://schemas.microsoft.com/office/drawing/2014/main" id="{E02699DF-9A1B-4740-BA20-E8844BD7AB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4191000"/>
            <a:ext cx="7315200" cy="2199341"/>
          </a:xfrm>
          <a:prstGeom prst="rect">
            <a:avLst/>
          </a:prstGeom>
        </p:spPr>
      </p:pic>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A978C0E2-68FF-42EA-A671-A7D786DEDAA6}"/>
              </a:ext>
            </a:extLst>
          </p:cNvPr>
          <p:cNvSpPr>
            <a:spLocks noGrp="1"/>
          </p:cNvSpPr>
          <p:nvPr>
            <p:ph type="title"/>
          </p:nvPr>
        </p:nvSpPr>
        <p:spPr>
          <a:xfrm>
            <a:off x="457200" y="198437"/>
            <a:ext cx="8458200" cy="792163"/>
          </a:xfrm>
        </p:spPr>
        <p:txBody>
          <a:bodyPr/>
          <a:lstStyle/>
          <a:p>
            <a:r>
              <a:rPr lang="en-US" altLang="en-US" dirty="0"/>
              <a:t>Reporting Interest Expense on Bonds Issued at a Discount using Effective-Interest Amortization - 5</a:t>
            </a:r>
            <a:endParaRPr lang="en-US" altLang="en-US" sz="2300" dirty="0"/>
          </a:p>
        </p:txBody>
      </p:sp>
      <p:pic>
        <p:nvPicPr>
          <p:cNvPr id="6" name="Picture 5" descr="Table&#10;&#10;Description automatically generated">
            <a:extLst>
              <a:ext uri="{FF2B5EF4-FFF2-40B4-BE49-F238E27FC236}">
                <a16:creationId xmlns:a16="http://schemas.microsoft.com/office/drawing/2014/main" id="{C7EAD095-29AA-DE48-802B-78DE6C64FD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4125" y="1066800"/>
            <a:ext cx="6635750" cy="5474206"/>
          </a:xfrm>
          <a:prstGeom prst="rect">
            <a:avLst/>
          </a:prstGeom>
        </p:spPr>
      </p:pic>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EC531451-AB98-4C5E-9BCE-F73ECF572A7E}"/>
              </a:ext>
            </a:extLst>
          </p:cNvPr>
          <p:cNvSpPr>
            <a:spLocks noGrp="1"/>
          </p:cNvSpPr>
          <p:nvPr>
            <p:ph type="title"/>
          </p:nvPr>
        </p:nvSpPr>
        <p:spPr/>
        <p:txBody>
          <a:bodyPr/>
          <a:lstStyle/>
          <a:p>
            <a:r>
              <a:rPr lang="en-US" altLang="en-US" dirty="0"/>
              <a:t>Bonds Issued at a Premium Part 1</a:t>
            </a:r>
          </a:p>
        </p:txBody>
      </p:sp>
      <p:sp>
        <p:nvSpPr>
          <p:cNvPr id="49154" name="Content Placeholder 2">
            <a:extLst>
              <a:ext uri="{FF2B5EF4-FFF2-40B4-BE49-F238E27FC236}">
                <a16:creationId xmlns:a16="http://schemas.microsoft.com/office/drawing/2014/main" id="{E9E56AC4-6C28-41EC-A503-0922750777BA}"/>
              </a:ext>
            </a:extLst>
          </p:cNvPr>
          <p:cNvSpPr>
            <a:spLocks noGrp="1"/>
          </p:cNvSpPr>
          <p:nvPr>
            <p:ph idx="1"/>
          </p:nvPr>
        </p:nvSpPr>
        <p:spPr>
          <a:xfrm>
            <a:off x="457200" y="990600"/>
            <a:ext cx="8382000" cy="5334000"/>
          </a:xfrm>
        </p:spPr>
        <p:txBody>
          <a:bodyPr/>
          <a:lstStyle/>
          <a:p>
            <a:r>
              <a:rPr lang="en-CA" altLang="en-US" sz="2400" dirty="0"/>
              <a:t>When the market interest rate is less than the bond’s coupon rate, the bonds sell at a premium. </a:t>
            </a:r>
          </a:p>
          <a:p>
            <a:r>
              <a:rPr lang="en-CA" altLang="en-US" sz="2400" dirty="0"/>
              <a:t>We use the same MSC example as before but assume that the market interest rate is 4 percent while the coupon rate remains the same, at 6 percent. The bonds are issued on January 1, 2022; pay interest semi-annually; and mature in 10 years.</a:t>
            </a:r>
          </a:p>
          <a:p>
            <a:r>
              <a:rPr lang="en-CA" altLang="en-US" sz="2400" dirty="0"/>
              <a:t>The present value of the bonds can be calculated from the tables using the factor for 20 periods and an interest rate of 2 percent per period (4% × ½ year):</a:t>
            </a:r>
            <a:endParaRPr lang="en-US" altLang="en-US" sz="2400" dirty="0"/>
          </a:p>
        </p:txBody>
      </p:sp>
      <p:pic>
        <p:nvPicPr>
          <p:cNvPr id="4" name="Picture 3" descr="Table&#10;&#10;Description automatically generated">
            <a:extLst>
              <a:ext uri="{FF2B5EF4-FFF2-40B4-BE49-F238E27FC236}">
                <a16:creationId xmlns:a16="http://schemas.microsoft.com/office/drawing/2014/main" id="{88BD9649-56F5-694E-AFAC-F585CD0D26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5000" y="4566958"/>
            <a:ext cx="5105400" cy="1832708"/>
          </a:xfrm>
          <a:prstGeom prst="rect">
            <a:avLst/>
          </a:prstGeom>
        </p:spPr>
      </p:pic>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D6C8C6C5-B7DB-4815-8CD4-543D5C4B2DEC}"/>
              </a:ext>
            </a:extLst>
          </p:cNvPr>
          <p:cNvSpPr>
            <a:spLocks noGrp="1"/>
          </p:cNvSpPr>
          <p:nvPr>
            <p:ph type="title"/>
          </p:nvPr>
        </p:nvSpPr>
        <p:spPr/>
        <p:txBody>
          <a:bodyPr/>
          <a:lstStyle/>
          <a:p>
            <a:r>
              <a:rPr lang="en-US" altLang="en-US" dirty="0"/>
              <a:t>Bonds Issued at a Premium Part 2</a:t>
            </a:r>
          </a:p>
        </p:txBody>
      </p:sp>
      <p:sp>
        <p:nvSpPr>
          <p:cNvPr id="50178" name="Content Placeholder 2">
            <a:extLst>
              <a:ext uri="{FF2B5EF4-FFF2-40B4-BE49-F238E27FC236}">
                <a16:creationId xmlns:a16="http://schemas.microsoft.com/office/drawing/2014/main" id="{F861DB18-DC2C-4C62-8B1A-D4693642CA98}"/>
              </a:ext>
            </a:extLst>
          </p:cNvPr>
          <p:cNvSpPr>
            <a:spLocks noGrp="1"/>
          </p:cNvSpPr>
          <p:nvPr>
            <p:ph idx="1"/>
          </p:nvPr>
        </p:nvSpPr>
        <p:spPr>
          <a:xfrm>
            <a:off x="457200" y="1143000"/>
            <a:ext cx="8229600" cy="5334000"/>
          </a:xfrm>
        </p:spPr>
        <p:txBody>
          <a:bodyPr/>
          <a:lstStyle/>
          <a:p>
            <a:r>
              <a:rPr lang="en-CA" dirty="0"/>
              <a:t>Accounting for bonds issued at a premium is similar to accounting for bonds issued at a discount. </a:t>
            </a:r>
          </a:p>
          <a:p>
            <a:endParaRPr lang="en-CA" sz="800" dirty="0"/>
          </a:p>
          <a:p>
            <a:r>
              <a:rPr lang="en-CA" dirty="0"/>
              <a:t>The January 1, 2022, issuance of MSC’s bonds at a premium would be recorded as follows:</a:t>
            </a:r>
          </a:p>
          <a:p>
            <a:endParaRPr lang="en-CA" altLang="en-US" dirty="0"/>
          </a:p>
          <a:p>
            <a:endParaRPr lang="en-CA" altLang="en-US" dirty="0"/>
          </a:p>
          <a:p>
            <a:endParaRPr lang="en-CA" altLang="en-US" dirty="0"/>
          </a:p>
        </p:txBody>
      </p:sp>
      <p:pic>
        <p:nvPicPr>
          <p:cNvPr id="5" name="Picture 4" descr="Table&#10;&#10;Description automatically generated">
            <a:extLst>
              <a:ext uri="{FF2B5EF4-FFF2-40B4-BE49-F238E27FC236}">
                <a16:creationId xmlns:a16="http://schemas.microsoft.com/office/drawing/2014/main" id="{37934541-4A69-B247-9AD1-BA3808D52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5717" y="3390220"/>
            <a:ext cx="8372566" cy="1958919"/>
          </a:xfrm>
          <a:prstGeom prst="rect">
            <a:avLst/>
          </a:prstGeom>
        </p:spPr>
      </p:pic>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D6C8C6C5-B7DB-4815-8CD4-543D5C4B2DEC}"/>
              </a:ext>
            </a:extLst>
          </p:cNvPr>
          <p:cNvSpPr>
            <a:spLocks noGrp="1"/>
          </p:cNvSpPr>
          <p:nvPr>
            <p:ph type="title"/>
          </p:nvPr>
        </p:nvSpPr>
        <p:spPr/>
        <p:txBody>
          <a:bodyPr/>
          <a:lstStyle/>
          <a:p>
            <a:r>
              <a:rPr lang="en-US" altLang="en-US" dirty="0"/>
              <a:t>Bonds Issued at a Premium Part 3</a:t>
            </a:r>
          </a:p>
        </p:txBody>
      </p:sp>
      <p:sp>
        <p:nvSpPr>
          <p:cNvPr id="50178" name="Content Placeholder 2">
            <a:extLst>
              <a:ext uri="{FF2B5EF4-FFF2-40B4-BE49-F238E27FC236}">
                <a16:creationId xmlns:a16="http://schemas.microsoft.com/office/drawing/2014/main" id="{F861DB18-DC2C-4C62-8B1A-D4693642CA98}"/>
              </a:ext>
            </a:extLst>
          </p:cNvPr>
          <p:cNvSpPr>
            <a:spLocks noGrp="1"/>
          </p:cNvSpPr>
          <p:nvPr>
            <p:ph idx="1"/>
          </p:nvPr>
        </p:nvSpPr>
        <p:spPr>
          <a:xfrm>
            <a:off x="457200" y="1066800"/>
            <a:ext cx="8229600" cy="5334000"/>
          </a:xfrm>
        </p:spPr>
        <p:txBody>
          <a:bodyPr/>
          <a:lstStyle/>
          <a:p>
            <a:r>
              <a:rPr lang="en-CA" dirty="0"/>
              <a:t>While MSC received  $465,417 when it sold the bonds, it must repay only $400,000 when the bonds mature. </a:t>
            </a:r>
          </a:p>
          <a:p>
            <a:r>
              <a:rPr lang="en-CA" dirty="0"/>
              <a:t>The $65,417 of additional cash that MSC received is repaid gradually over time as part of the periodic interest payments that exceed the amount of interest that the bondholders demanded for their investment in these bonds. </a:t>
            </a:r>
          </a:p>
          <a:p>
            <a:r>
              <a:rPr lang="en-CA" dirty="0"/>
              <a:t>The difference between the interest payment and the interest expense reduces the carrying amount of the liability each period over the life of the bond.</a:t>
            </a:r>
          </a:p>
          <a:p>
            <a:r>
              <a:rPr lang="en-CA" dirty="0"/>
              <a:t>The interest expense reflects the </a:t>
            </a:r>
            <a:r>
              <a:rPr lang="en-CA" i="1" dirty="0"/>
              <a:t>market interest rate</a:t>
            </a:r>
            <a:r>
              <a:rPr lang="en-CA" dirty="0"/>
              <a:t> while the cash being paid to bondholders each period reflects the </a:t>
            </a:r>
            <a:r>
              <a:rPr lang="en-CA" i="1" dirty="0"/>
              <a:t>coupon rate</a:t>
            </a:r>
            <a:r>
              <a:rPr lang="en-CA" dirty="0"/>
              <a:t>.</a:t>
            </a:r>
            <a:endParaRPr lang="en-CA" altLang="en-US" dirty="0"/>
          </a:p>
          <a:p>
            <a:endParaRPr lang="en-CA" altLang="en-US" dirty="0"/>
          </a:p>
          <a:p>
            <a:endParaRPr lang="en-CA" altLang="en-US" dirty="0"/>
          </a:p>
        </p:txBody>
      </p:sp>
    </p:spTree>
    <p:extLst>
      <p:ext uri="{BB962C8B-B14F-4D97-AF65-F5344CB8AC3E}">
        <p14:creationId xmlns:p14="http://schemas.microsoft.com/office/powerpoint/2010/main" val="234175292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A2736BF0-5C10-46FC-9645-DCB1BF16438D}"/>
              </a:ext>
            </a:extLst>
          </p:cNvPr>
          <p:cNvSpPr>
            <a:spLocks noGrp="1"/>
          </p:cNvSpPr>
          <p:nvPr>
            <p:ph type="title"/>
          </p:nvPr>
        </p:nvSpPr>
        <p:spPr>
          <a:xfrm>
            <a:off x="457200" y="198437"/>
            <a:ext cx="8229600" cy="792163"/>
          </a:xfrm>
        </p:spPr>
        <p:txBody>
          <a:bodyPr/>
          <a:lstStyle/>
          <a:p>
            <a:r>
              <a:rPr lang="en-US" altLang="en-US" sz="3100" dirty="0"/>
              <a:t>Reporting Interest Expense on Bonds Issued at a Premium using Effective-Interest Amortization - 1</a:t>
            </a:r>
          </a:p>
        </p:txBody>
      </p:sp>
      <p:sp>
        <p:nvSpPr>
          <p:cNvPr id="21506" name="Content Placeholder 2">
            <a:extLst>
              <a:ext uri="{FF2B5EF4-FFF2-40B4-BE49-F238E27FC236}">
                <a16:creationId xmlns:a16="http://schemas.microsoft.com/office/drawing/2014/main" id="{AE7EFE8A-C997-4885-BE49-61C4583B18E9}"/>
              </a:ext>
            </a:extLst>
          </p:cNvPr>
          <p:cNvSpPr>
            <a:spLocks noGrp="1"/>
          </p:cNvSpPr>
          <p:nvPr>
            <p:ph idx="1"/>
          </p:nvPr>
        </p:nvSpPr>
        <p:spPr>
          <a:xfrm>
            <a:off x="457200" y="1295400"/>
            <a:ext cx="8229600" cy="5334000"/>
          </a:xfrm>
        </p:spPr>
        <p:txBody>
          <a:bodyPr/>
          <a:lstStyle/>
          <a:p>
            <a:r>
              <a:rPr lang="en-US" altLang="en-US" b="1" dirty="0"/>
              <a:t>Step 1: Compute the interest expense:</a:t>
            </a:r>
          </a:p>
          <a:p>
            <a:pPr marL="274638" lvl="1" indent="0">
              <a:buFont typeface="Wingdings 3" panose="05040102010807070707" pitchFamily="18" charset="2"/>
              <a:buNone/>
            </a:pPr>
            <a:r>
              <a:rPr lang="en-US" altLang="en-US" dirty="0"/>
              <a:t>Interest expense = Unpaid balance x Effective interest rate x </a:t>
            </a:r>
            <a:r>
              <a:rPr lang="en-US" altLang="en-US" i="1" dirty="0"/>
              <a:t>n</a:t>
            </a:r>
            <a:r>
              <a:rPr lang="en-US" altLang="en-US" dirty="0"/>
              <a:t>/12</a:t>
            </a:r>
          </a:p>
          <a:p>
            <a:pPr marL="274638" lvl="1" indent="0">
              <a:buFont typeface="Wingdings 3" panose="05040102010807070707" pitchFamily="18" charset="2"/>
              <a:buNone/>
            </a:pPr>
            <a:r>
              <a:rPr lang="en-US" altLang="en-US" i="1" dirty="0"/>
              <a:t>                           n</a:t>
            </a:r>
            <a:r>
              <a:rPr lang="en-US" altLang="en-US" dirty="0"/>
              <a:t> = number of months in each interest period</a:t>
            </a:r>
          </a:p>
          <a:p>
            <a:pPr marL="274638" lvl="1" indent="0">
              <a:buFont typeface="Wingdings 3" panose="05040102010807070707" pitchFamily="18" charset="2"/>
              <a:buNone/>
            </a:pPr>
            <a:endParaRPr lang="en-US" altLang="en-US" dirty="0"/>
          </a:p>
          <a:p>
            <a:r>
              <a:rPr lang="en-US" altLang="en-US" b="1" dirty="0"/>
              <a:t>Step 2: Compute the interest to be paid:</a:t>
            </a:r>
          </a:p>
          <a:p>
            <a:pPr marL="274638" lvl="1" indent="0">
              <a:buFont typeface="Wingdings 3" panose="05040102010807070707" pitchFamily="18" charset="2"/>
              <a:buNone/>
            </a:pPr>
            <a:r>
              <a:rPr lang="en-US" altLang="en-US" dirty="0"/>
              <a:t>Bond face value x Coupon rate per period</a:t>
            </a:r>
          </a:p>
          <a:p>
            <a:pPr marL="274638" lvl="1" indent="0">
              <a:buFont typeface="Wingdings 3" panose="05040102010807070707" pitchFamily="18" charset="2"/>
              <a:buNone/>
            </a:pPr>
            <a:endParaRPr lang="en-US" altLang="en-US" dirty="0"/>
          </a:p>
          <a:p>
            <a:r>
              <a:rPr lang="en-US" altLang="en-US" b="1" dirty="0"/>
              <a:t>Step 3: Compute the amortization amount:</a:t>
            </a:r>
          </a:p>
          <a:p>
            <a:pPr marL="274638" lvl="1" indent="0">
              <a:buFont typeface="Wingdings 3" panose="05040102010807070707" pitchFamily="18" charset="2"/>
              <a:buNone/>
            </a:pPr>
            <a:r>
              <a:rPr lang="en-US" altLang="en-US" dirty="0"/>
              <a:t>Amortization of bond premium =   Interest paid (or accrued)</a:t>
            </a:r>
          </a:p>
          <a:p>
            <a:pPr marL="274638" lvl="1" indent="0">
              <a:buFont typeface="Wingdings 3" panose="05040102010807070707" pitchFamily="18" charset="2"/>
              <a:buNone/>
            </a:pPr>
            <a:r>
              <a:rPr lang="en-US" altLang="en-US" dirty="0"/>
              <a:t>		                                    – Interest expense</a:t>
            </a:r>
          </a:p>
          <a:p>
            <a:endParaRPr lang="en-US" altLang="en-US" dirty="0"/>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9B9B7EEC-15ED-414D-93B0-AB8CC3FE0316}"/>
              </a:ext>
            </a:extLst>
          </p:cNvPr>
          <p:cNvSpPr>
            <a:spLocks noGrp="1"/>
          </p:cNvSpPr>
          <p:nvPr>
            <p:ph type="title"/>
          </p:nvPr>
        </p:nvSpPr>
        <p:spPr>
          <a:xfrm>
            <a:off x="457200" y="198437"/>
            <a:ext cx="8229600" cy="792163"/>
          </a:xfrm>
        </p:spPr>
        <p:txBody>
          <a:bodyPr/>
          <a:lstStyle/>
          <a:p>
            <a:r>
              <a:rPr lang="en-US" altLang="en-US" sz="3100" dirty="0"/>
              <a:t>Reporting Interest Expense on Bonds Issued at a Premium using Effective-Interest Amortization - 2</a:t>
            </a:r>
          </a:p>
        </p:txBody>
      </p:sp>
      <p:sp>
        <p:nvSpPr>
          <p:cNvPr id="3" name="Content Placeholder 2">
            <a:extLst>
              <a:ext uri="{FF2B5EF4-FFF2-40B4-BE49-F238E27FC236}">
                <a16:creationId xmlns:a16="http://schemas.microsoft.com/office/drawing/2014/main" id="{328055CB-3A71-4B80-8E68-4B7DFCC28C55}"/>
              </a:ext>
            </a:extLst>
          </p:cNvPr>
          <p:cNvSpPr>
            <a:spLocks noGrp="1"/>
          </p:cNvSpPr>
          <p:nvPr>
            <p:ph idx="1"/>
          </p:nvPr>
        </p:nvSpPr>
        <p:spPr/>
        <p:txBody>
          <a:bodyPr/>
          <a:lstStyle/>
          <a:p>
            <a:pPr marL="0" indent="0">
              <a:buNone/>
              <a:defRPr/>
            </a:pPr>
            <a:endParaRPr lang="en-CA" sz="800" dirty="0"/>
          </a:p>
          <a:p>
            <a:pPr>
              <a:buFont typeface="Wingdings 3" pitchFamily="2" charset="2"/>
              <a:buChar char=""/>
              <a:defRPr/>
            </a:pPr>
            <a:r>
              <a:rPr lang="en-CA" b="1" dirty="0"/>
              <a:t>Step 1: Interest expense:</a:t>
            </a:r>
            <a:r>
              <a:rPr lang="en-CA" dirty="0"/>
              <a:t> </a:t>
            </a:r>
          </a:p>
          <a:p>
            <a:pPr marL="0" indent="0">
              <a:buFont typeface="Wingdings 3" pitchFamily="2" charset="2"/>
              <a:buNone/>
              <a:defRPr/>
            </a:pPr>
            <a:r>
              <a:rPr lang="en-CA" dirty="0"/>
              <a:t>    $465,417 × (0.04 × 6/12)  = </a:t>
            </a:r>
            <a:r>
              <a:rPr lang="en-CA" b="1" dirty="0"/>
              <a:t>$9,308</a:t>
            </a:r>
          </a:p>
          <a:p>
            <a:pPr marL="0" indent="0">
              <a:buFont typeface="Wingdings 3" pitchFamily="2" charset="2"/>
              <a:buNone/>
              <a:defRPr/>
            </a:pPr>
            <a:endParaRPr lang="en-CA" sz="800" dirty="0"/>
          </a:p>
          <a:p>
            <a:pPr>
              <a:buFont typeface="Wingdings 3" pitchFamily="2" charset="2"/>
              <a:buChar char=""/>
              <a:defRPr/>
            </a:pPr>
            <a:r>
              <a:rPr lang="en-CA" b="1" dirty="0"/>
              <a:t>Step 2: Interest to be paid:</a:t>
            </a:r>
            <a:r>
              <a:rPr lang="en-CA" dirty="0"/>
              <a:t> </a:t>
            </a:r>
          </a:p>
          <a:p>
            <a:pPr marL="0" indent="0">
              <a:buFont typeface="Wingdings 3" pitchFamily="2" charset="2"/>
              <a:buNone/>
              <a:defRPr/>
            </a:pPr>
            <a:r>
              <a:rPr lang="en-CA" dirty="0"/>
              <a:t>    $400,000 × (0.06 × 6/12) = </a:t>
            </a:r>
            <a:r>
              <a:rPr lang="en-CA" b="1" dirty="0"/>
              <a:t>$12,000</a:t>
            </a:r>
          </a:p>
          <a:p>
            <a:pPr marL="0" indent="0">
              <a:buFont typeface="Wingdings 3" pitchFamily="2" charset="2"/>
              <a:buNone/>
              <a:defRPr/>
            </a:pPr>
            <a:endParaRPr lang="en-CA" sz="800" dirty="0"/>
          </a:p>
          <a:p>
            <a:pPr>
              <a:buFont typeface="Wingdings 3" pitchFamily="2" charset="2"/>
              <a:buChar char=""/>
              <a:defRPr/>
            </a:pPr>
            <a:r>
              <a:rPr lang="en-CA" b="1" dirty="0"/>
              <a:t>Step 3: Amortized premium:</a:t>
            </a:r>
            <a:r>
              <a:rPr lang="en-CA" dirty="0"/>
              <a:t> </a:t>
            </a:r>
          </a:p>
          <a:p>
            <a:pPr marL="0" indent="0">
              <a:buFont typeface="Wingdings 3" pitchFamily="2" charset="2"/>
              <a:buNone/>
              <a:defRPr/>
            </a:pPr>
            <a:r>
              <a:rPr lang="en-CA" dirty="0"/>
              <a:t>    $12,000 − $9,308 = </a:t>
            </a:r>
            <a:r>
              <a:rPr lang="en-CA" b="1" dirty="0"/>
              <a:t>$2,692</a:t>
            </a:r>
            <a:endParaRPr lang="en-CA" dirty="0"/>
          </a:p>
          <a:p>
            <a:pPr>
              <a:buFont typeface="Wingdings 3" pitchFamily="2" charset="2"/>
              <a:buChar char=""/>
              <a:defRPr/>
            </a:pPr>
            <a:endParaRPr 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A32A88E8-BCC6-42E1-AEA7-CC6AA66CC13D}"/>
              </a:ext>
            </a:extLst>
          </p:cNvPr>
          <p:cNvSpPr>
            <a:spLocks noGrp="1"/>
          </p:cNvSpPr>
          <p:nvPr>
            <p:ph type="title"/>
          </p:nvPr>
        </p:nvSpPr>
        <p:spPr>
          <a:xfrm>
            <a:off x="457200" y="198437"/>
            <a:ext cx="8229600" cy="792163"/>
          </a:xfrm>
        </p:spPr>
        <p:txBody>
          <a:bodyPr/>
          <a:lstStyle/>
          <a:p>
            <a:r>
              <a:rPr lang="en-US" altLang="en-US" sz="3100" dirty="0"/>
              <a:t>Reporting Interest Expense on Bonds Issued at a Premium using Effective-Interest Amortization - 3</a:t>
            </a:r>
          </a:p>
        </p:txBody>
      </p:sp>
      <p:sp>
        <p:nvSpPr>
          <p:cNvPr id="22530" name="Content Placeholder 2">
            <a:extLst>
              <a:ext uri="{FF2B5EF4-FFF2-40B4-BE49-F238E27FC236}">
                <a16:creationId xmlns:a16="http://schemas.microsoft.com/office/drawing/2014/main" id="{6D7398C4-1240-4678-8835-23E65B9D135B}"/>
              </a:ext>
            </a:extLst>
          </p:cNvPr>
          <p:cNvSpPr>
            <a:spLocks noGrp="1"/>
          </p:cNvSpPr>
          <p:nvPr>
            <p:ph idx="1"/>
          </p:nvPr>
        </p:nvSpPr>
        <p:spPr>
          <a:xfrm>
            <a:off x="457200" y="1295400"/>
            <a:ext cx="8229600" cy="5334000"/>
          </a:xfrm>
        </p:spPr>
        <p:txBody>
          <a:bodyPr/>
          <a:lstStyle/>
          <a:p>
            <a:r>
              <a:rPr lang="en-CA" altLang="en-US" dirty="0"/>
              <a:t>The first payment of interest on the bonds is recorded, as follows:</a:t>
            </a:r>
          </a:p>
          <a:p>
            <a:endParaRPr lang="en-US" altLang="en-US" dirty="0"/>
          </a:p>
          <a:p>
            <a:endParaRPr lang="en-US" altLang="en-US" dirty="0"/>
          </a:p>
        </p:txBody>
      </p:sp>
      <p:pic>
        <p:nvPicPr>
          <p:cNvPr id="3" name="Picture 2" descr="Table&#10;&#10;Description automatically generated with medium confidence">
            <a:extLst>
              <a:ext uri="{FF2B5EF4-FFF2-40B4-BE49-F238E27FC236}">
                <a16:creationId xmlns:a16="http://schemas.microsoft.com/office/drawing/2014/main" id="{979F4DEA-87F8-3F45-8EE4-2E26C96BE5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761" y="2438400"/>
            <a:ext cx="8366478" cy="2305050"/>
          </a:xfrm>
          <a:prstGeom prst="rect">
            <a:avLst/>
          </a:prstGeom>
        </p:spPr>
      </p:pic>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3BC04478-4760-476F-BB0A-79580754F768}"/>
              </a:ext>
            </a:extLst>
          </p:cNvPr>
          <p:cNvSpPr>
            <a:spLocks noGrp="1"/>
          </p:cNvSpPr>
          <p:nvPr>
            <p:ph type="title"/>
          </p:nvPr>
        </p:nvSpPr>
        <p:spPr>
          <a:xfrm>
            <a:off x="457200" y="198437"/>
            <a:ext cx="8229600" cy="792163"/>
          </a:xfrm>
        </p:spPr>
        <p:txBody>
          <a:bodyPr/>
          <a:lstStyle/>
          <a:p>
            <a:r>
              <a:rPr lang="en-US" altLang="en-US" sz="3100" dirty="0"/>
              <a:t>Reporting Interest Expense on Bonds Issued at a Premium using Effective-Interest Amortization - 4</a:t>
            </a:r>
          </a:p>
        </p:txBody>
      </p:sp>
      <p:pic>
        <p:nvPicPr>
          <p:cNvPr id="4" name="Picture 3" descr="Table&#10;&#10;Description automatically generated">
            <a:extLst>
              <a:ext uri="{FF2B5EF4-FFF2-40B4-BE49-F238E27FC236}">
                <a16:creationId xmlns:a16="http://schemas.microsoft.com/office/drawing/2014/main" id="{43DE8BE6-9AD6-FF43-B808-7475054DD2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600" y="1114622"/>
            <a:ext cx="6654800" cy="5438578"/>
          </a:xfrm>
          <a:prstGeom prst="rect">
            <a:avLst/>
          </a:prstGeom>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A32A88E8-BCC6-42E1-AEA7-CC6AA66CC13D}"/>
              </a:ext>
            </a:extLst>
          </p:cNvPr>
          <p:cNvSpPr>
            <a:spLocks noGrp="1"/>
          </p:cNvSpPr>
          <p:nvPr>
            <p:ph type="title"/>
          </p:nvPr>
        </p:nvSpPr>
        <p:spPr>
          <a:xfrm>
            <a:off x="457200" y="198437"/>
            <a:ext cx="8229600" cy="792163"/>
          </a:xfrm>
        </p:spPr>
        <p:txBody>
          <a:bodyPr/>
          <a:lstStyle/>
          <a:p>
            <a:r>
              <a:rPr lang="en-US" altLang="en-US" sz="3100" dirty="0"/>
              <a:t>Reporting Interest Expense on Bonds Issued at a Premium using Effective-Interest Amortization - 5</a:t>
            </a:r>
          </a:p>
        </p:txBody>
      </p:sp>
      <p:sp>
        <p:nvSpPr>
          <p:cNvPr id="22530" name="Content Placeholder 2">
            <a:extLst>
              <a:ext uri="{FF2B5EF4-FFF2-40B4-BE49-F238E27FC236}">
                <a16:creationId xmlns:a16="http://schemas.microsoft.com/office/drawing/2014/main" id="{6D7398C4-1240-4678-8835-23E65B9D135B}"/>
              </a:ext>
            </a:extLst>
          </p:cNvPr>
          <p:cNvSpPr>
            <a:spLocks noGrp="1"/>
          </p:cNvSpPr>
          <p:nvPr>
            <p:ph idx="1"/>
          </p:nvPr>
        </p:nvSpPr>
        <p:spPr/>
        <p:txBody>
          <a:bodyPr/>
          <a:lstStyle/>
          <a:p>
            <a:r>
              <a:rPr lang="en-CA" dirty="0"/>
              <a:t>The basic difference between effective-interest amortization of a bond discount and a bond premium is that the amortization of a discount </a:t>
            </a:r>
            <a:r>
              <a:rPr lang="en-CA" i="1" dirty="0"/>
              <a:t>increases</a:t>
            </a:r>
            <a:r>
              <a:rPr lang="en-CA" dirty="0"/>
              <a:t> the carrying amount of the liability and the amortization of a premium </a:t>
            </a:r>
            <a:r>
              <a:rPr lang="en-CA" i="1" dirty="0"/>
              <a:t>reduces</a:t>
            </a:r>
            <a:r>
              <a:rPr lang="en-CA" dirty="0"/>
              <a:t> it. </a:t>
            </a:r>
          </a:p>
          <a:p>
            <a:endParaRPr lang="en-CA" sz="800" dirty="0"/>
          </a:p>
          <a:p>
            <a:r>
              <a:rPr lang="en-CA" dirty="0"/>
              <a:t>Both serve the same purpose: to bring the liability to the bond’s face value at the maturity date. </a:t>
            </a:r>
          </a:p>
          <a:p>
            <a:endParaRPr lang="en-CA" sz="800" dirty="0"/>
          </a:p>
          <a:p>
            <a:r>
              <a:rPr lang="en-CA" dirty="0"/>
              <a:t>This is illustrated on the next slide, which shows how the carrying amount of a bond changes over its life when the bond is issued at par, at a discount, or at a premium.</a:t>
            </a:r>
            <a:endParaRPr lang="en-US" altLang="en-US" dirty="0"/>
          </a:p>
          <a:p>
            <a:endParaRPr lang="en-US" altLang="en-US" dirty="0"/>
          </a:p>
        </p:txBody>
      </p:sp>
    </p:spTree>
    <p:extLst>
      <p:ext uri="{BB962C8B-B14F-4D97-AF65-F5344CB8AC3E}">
        <p14:creationId xmlns:p14="http://schemas.microsoft.com/office/powerpoint/2010/main" val="895058376"/>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1EE44E98-9D4B-42A1-B964-51909F4B5FC0}"/>
              </a:ext>
            </a:extLst>
          </p:cNvPr>
          <p:cNvSpPr>
            <a:spLocks noGrp="1"/>
          </p:cNvSpPr>
          <p:nvPr>
            <p:ph type="title"/>
          </p:nvPr>
        </p:nvSpPr>
        <p:spPr>
          <a:xfrm>
            <a:off x="457200" y="304801"/>
            <a:ext cx="8382000" cy="761999"/>
          </a:xfrm>
        </p:spPr>
        <p:txBody>
          <a:bodyPr/>
          <a:lstStyle/>
          <a:p>
            <a:r>
              <a:rPr lang="en-US" altLang="en-US" dirty="0"/>
              <a:t>The Change in the Carrying Amount of a Bond over Time, Exhibit 9.6</a:t>
            </a:r>
          </a:p>
        </p:txBody>
      </p:sp>
      <p:pic>
        <p:nvPicPr>
          <p:cNvPr id="3" name="Picture 2">
            <a:extLst>
              <a:ext uri="{FF2B5EF4-FFF2-40B4-BE49-F238E27FC236}">
                <a16:creationId xmlns:a16="http://schemas.microsoft.com/office/drawing/2014/main" id="{BC3211A1-CE8D-FF48-8815-61F0F3CD6734}"/>
              </a:ext>
            </a:extLst>
          </p:cNvPr>
          <p:cNvPicPr>
            <a:picLocks noChangeAspect="1"/>
          </p:cNvPicPr>
          <p:nvPr/>
        </p:nvPicPr>
        <p:blipFill>
          <a:blip r:embed="rId2"/>
          <a:stretch>
            <a:fillRect/>
          </a:stretch>
        </p:blipFill>
        <p:spPr>
          <a:xfrm>
            <a:off x="1074603" y="1230993"/>
            <a:ext cx="6994794" cy="5441950"/>
          </a:xfrm>
          <a:prstGeom prst="rect">
            <a:avLst/>
          </a:prstGeom>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F025C9-01DB-4179-AFC1-9EE54C217639}"/>
              </a:ext>
            </a:extLst>
          </p:cNvPr>
          <p:cNvSpPr>
            <a:spLocks noGrp="1"/>
          </p:cNvSpPr>
          <p:nvPr>
            <p:ph type="title"/>
          </p:nvPr>
        </p:nvSpPr>
        <p:spPr>
          <a:xfrm>
            <a:off x="457200" y="198437"/>
            <a:ext cx="8553280" cy="792163"/>
          </a:xfrm>
        </p:spPr>
        <p:txBody>
          <a:bodyPr/>
          <a:lstStyle/>
          <a:p>
            <a:r>
              <a:rPr lang="en-US" altLang="en-US" sz="3100" dirty="0"/>
              <a:t>Reporting Interest Expense on Bonds Issued at a Premium using Effective-Interest Amortization - 6</a:t>
            </a:r>
          </a:p>
        </p:txBody>
      </p:sp>
      <p:sp>
        <p:nvSpPr>
          <p:cNvPr id="53250" name="Content Placeholder 2">
            <a:extLst>
              <a:ext uri="{FF2B5EF4-FFF2-40B4-BE49-F238E27FC236}">
                <a16:creationId xmlns:a16="http://schemas.microsoft.com/office/drawing/2014/main" id="{A9693175-AA08-468A-B1BB-9DC11B7FFFF0}"/>
              </a:ext>
            </a:extLst>
          </p:cNvPr>
          <p:cNvSpPr>
            <a:spLocks noGrp="1"/>
          </p:cNvSpPr>
          <p:nvPr>
            <p:ph idx="1"/>
          </p:nvPr>
        </p:nvSpPr>
        <p:spPr>
          <a:xfrm>
            <a:off x="457200" y="1295400"/>
            <a:ext cx="8229600" cy="5334000"/>
          </a:xfrm>
        </p:spPr>
        <p:txBody>
          <a:bodyPr/>
          <a:lstStyle/>
          <a:p>
            <a:r>
              <a:rPr lang="en-CA" dirty="0"/>
              <a:t>Regardless of whether a company issues bonds at par, at a discount, or at a premium, the company will record the same journal entry when it retires the bonds at maturity.</a:t>
            </a:r>
          </a:p>
          <a:p>
            <a:r>
              <a:rPr lang="en-CA" dirty="0"/>
              <a:t>For our MSC example, the journal entry would be:</a:t>
            </a:r>
            <a:endParaRPr lang="en-US" altLang="en-US" dirty="0"/>
          </a:p>
          <a:p>
            <a:endParaRPr lang="en-US" altLang="en-US" dirty="0"/>
          </a:p>
          <a:p>
            <a:endParaRPr lang="en-US" altLang="en-US" dirty="0"/>
          </a:p>
        </p:txBody>
      </p:sp>
      <p:pic>
        <p:nvPicPr>
          <p:cNvPr id="3" name="Picture 2" descr="Text&#10;&#10;Description automatically generated with medium confidence">
            <a:extLst>
              <a:ext uri="{FF2B5EF4-FFF2-40B4-BE49-F238E27FC236}">
                <a16:creationId xmlns:a16="http://schemas.microsoft.com/office/drawing/2014/main" id="{D3B372BF-672C-2E41-83A6-3F252E6B3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359" y="3429000"/>
            <a:ext cx="8553281" cy="2133600"/>
          </a:xfrm>
          <a:prstGeom prst="rect">
            <a:avLst/>
          </a:prstGeom>
        </p:spPr>
      </p:pic>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F025C9-01DB-4179-AFC1-9EE54C217639}"/>
              </a:ext>
            </a:extLst>
          </p:cNvPr>
          <p:cNvSpPr>
            <a:spLocks noGrp="1"/>
          </p:cNvSpPr>
          <p:nvPr>
            <p:ph type="title"/>
          </p:nvPr>
        </p:nvSpPr>
        <p:spPr/>
        <p:txBody>
          <a:bodyPr/>
          <a:lstStyle/>
          <a:p>
            <a:r>
              <a:rPr lang="en-US" altLang="en-US" dirty="0"/>
              <a:t>Accounting for Issuance Costs</a:t>
            </a:r>
          </a:p>
        </p:txBody>
      </p:sp>
      <p:sp>
        <p:nvSpPr>
          <p:cNvPr id="53250" name="Content Placeholder 2">
            <a:extLst>
              <a:ext uri="{FF2B5EF4-FFF2-40B4-BE49-F238E27FC236}">
                <a16:creationId xmlns:a16="http://schemas.microsoft.com/office/drawing/2014/main" id="{A9693175-AA08-468A-B1BB-9DC11B7FFFF0}"/>
              </a:ext>
            </a:extLst>
          </p:cNvPr>
          <p:cNvSpPr>
            <a:spLocks noGrp="1"/>
          </p:cNvSpPr>
          <p:nvPr>
            <p:ph idx="1"/>
          </p:nvPr>
        </p:nvSpPr>
        <p:spPr/>
        <p:txBody>
          <a:bodyPr/>
          <a:lstStyle/>
          <a:p>
            <a:r>
              <a:rPr lang="en-CA" dirty="0"/>
              <a:t>When companies issue bonds, they almost always hire underwriters to help them with the offering for a fee.</a:t>
            </a:r>
          </a:p>
          <a:p>
            <a:r>
              <a:rPr lang="en-CA" dirty="0"/>
              <a:t>The amount of the fee is deducted from the proceeds of the bond issuance. </a:t>
            </a:r>
          </a:p>
          <a:p>
            <a:r>
              <a:rPr lang="en-CA" dirty="0"/>
              <a:t>If after deducting fees the total amount received is less than the face value of the bonds, the bonds are issued at a discount. </a:t>
            </a:r>
          </a:p>
          <a:p>
            <a:r>
              <a:rPr lang="en-CA" dirty="0"/>
              <a:t>If after deducting fees the amount received is greater than the face value of the bonds, the bonds are issued at a premium.</a:t>
            </a:r>
          </a:p>
          <a:p>
            <a:r>
              <a:rPr lang="en-CA" dirty="0"/>
              <a:t>The examples in this chapter assume that the company issuing bonds does not incur any issuance costs.</a:t>
            </a:r>
            <a:endParaRPr lang="en-US" altLang="en-US" dirty="0"/>
          </a:p>
          <a:p>
            <a:endParaRPr lang="en-US" altLang="en-US" dirty="0"/>
          </a:p>
        </p:txBody>
      </p:sp>
    </p:spTree>
    <p:extLst>
      <p:ext uri="{BB962C8B-B14F-4D97-AF65-F5344CB8AC3E}">
        <p14:creationId xmlns:p14="http://schemas.microsoft.com/office/powerpoint/2010/main" val="2307820460"/>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F025C9-01DB-4179-AFC1-9EE54C217639}"/>
              </a:ext>
            </a:extLst>
          </p:cNvPr>
          <p:cNvSpPr>
            <a:spLocks noGrp="1"/>
          </p:cNvSpPr>
          <p:nvPr>
            <p:ph type="title"/>
          </p:nvPr>
        </p:nvSpPr>
        <p:spPr>
          <a:xfrm>
            <a:off x="457200" y="198437"/>
            <a:ext cx="8229600" cy="792163"/>
          </a:xfrm>
        </p:spPr>
        <p:txBody>
          <a:bodyPr/>
          <a:lstStyle/>
          <a:p>
            <a:r>
              <a:rPr lang="en-US" altLang="en-US" dirty="0"/>
              <a:t>Reporting Interest Expense Using Straight-Line Amortization</a:t>
            </a:r>
          </a:p>
        </p:txBody>
      </p:sp>
      <p:sp>
        <p:nvSpPr>
          <p:cNvPr id="53250" name="Content Placeholder 2">
            <a:extLst>
              <a:ext uri="{FF2B5EF4-FFF2-40B4-BE49-F238E27FC236}">
                <a16:creationId xmlns:a16="http://schemas.microsoft.com/office/drawing/2014/main" id="{A9693175-AA08-468A-B1BB-9DC11B7FFFF0}"/>
              </a:ext>
            </a:extLst>
          </p:cNvPr>
          <p:cNvSpPr>
            <a:spLocks noGrp="1"/>
          </p:cNvSpPr>
          <p:nvPr>
            <p:ph idx="1"/>
          </p:nvPr>
        </p:nvSpPr>
        <p:spPr/>
        <p:txBody>
          <a:bodyPr/>
          <a:lstStyle/>
          <a:p>
            <a:r>
              <a:rPr lang="en-CA" dirty="0"/>
              <a:t>While the effective-interest method is the preferred method to amortize bond discount or premium, Canadian private enterprises may use </a:t>
            </a:r>
            <a:r>
              <a:rPr lang="en-CA" i="1" dirty="0"/>
              <a:t>straight-line amortization</a:t>
            </a:r>
            <a:r>
              <a:rPr lang="en-CA" dirty="0"/>
              <a:t>, which allocates an equal amount to each interest period, because it is relatively easy to compute the required numbers. </a:t>
            </a:r>
          </a:p>
          <a:p>
            <a:endParaRPr lang="en-CA" sz="800" dirty="0"/>
          </a:p>
          <a:p>
            <a:r>
              <a:rPr lang="en-CA" dirty="0"/>
              <a:t>Private enterprises are permitted to use the straight-line method because the amortized discount or premium that result from the two methods are normally not materially different. </a:t>
            </a:r>
            <a:endParaRPr lang="en-US" altLang="en-US" dirty="0"/>
          </a:p>
          <a:p>
            <a:endParaRPr lang="en-US" altLang="en-US" dirty="0"/>
          </a:p>
          <a:p>
            <a:endParaRPr lang="en-US" altLang="en-US" dirty="0"/>
          </a:p>
        </p:txBody>
      </p:sp>
    </p:spTree>
    <p:extLst>
      <p:ext uri="{BB962C8B-B14F-4D97-AF65-F5344CB8AC3E}">
        <p14:creationId xmlns:p14="http://schemas.microsoft.com/office/powerpoint/2010/main" val="3997177130"/>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a:extLst>
              <a:ext uri="{FF2B5EF4-FFF2-40B4-BE49-F238E27FC236}">
                <a16:creationId xmlns:a16="http://schemas.microsoft.com/office/drawing/2014/main" id="{BB17AB63-D0F8-40CB-AE74-0C53BDE29BFB}"/>
              </a:ext>
            </a:extLst>
          </p:cNvPr>
          <p:cNvSpPr>
            <a:spLocks noGrp="1"/>
          </p:cNvSpPr>
          <p:nvPr>
            <p:ph type="title"/>
          </p:nvPr>
        </p:nvSpPr>
        <p:spPr/>
        <p:txBody>
          <a:bodyPr/>
          <a:lstStyle/>
          <a:p>
            <a:r>
              <a:rPr lang="en-US" altLang="en-US" dirty="0"/>
              <a:t>Key Ratio Analysis – Times Interest Earned Ratio</a:t>
            </a:r>
          </a:p>
        </p:txBody>
      </p:sp>
      <p:sp>
        <p:nvSpPr>
          <p:cNvPr id="25602" name="Content Placeholder 2">
            <a:extLst>
              <a:ext uri="{FF2B5EF4-FFF2-40B4-BE49-F238E27FC236}">
                <a16:creationId xmlns:a16="http://schemas.microsoft.com/office/drawing/2014/main" id="{A4E6A298-592D-4D06-BDB4-EBB073362FAC}"/>
              </a:ext>
            </a:extLst>
          </p:cNvPr>
          <p:cNvSpPr>
            <a:spLocks noGrp="1"/>
          </p:cNvSpPr>
          <p:nvPr>
            <p:ph idx="1"/>
          </p:nvPr>
        </p:nvSpPr>
        <p:spPr/>
        <p:txBody>
          <a:bodyPr/>
          <a:lstStyle/>
          <a:p>
            <a:r>
              <a:rPr lang="en-CA" altLang="en-US" b="1"/>
              <a:t>ANALYTICAL QUESTION</a:t>
            </a:r>
            <a:r>
              <a:rPr lang="en-CA" altLang="en-US"/>
              <a:t> → Is the company generating sufficient resources (added value) from its profit-making activities to meet its current obligations associated with debt? </a:t>
            </a:r>
          </a:p>
          <a:p>
            <a:r>
              <a:rPr lang="en-CA" altLang="en-US" b="1"/>
              <a:t>RATIO AND COMPARISONS</a:t>
            </a:r>
            <a:r>
              <a:rPr lang="en-CA" altLang="en-US"/>
              <a:t> → The times interest earned ratio is helpful in answering this question. It is calculated as follows: </a:t>
            </a:r>
          </a:p>
          <a:p>
            <a:endParaRPr lang="en-CA" altLang="en-US"/>
          </a:p>
          <a:p>
            <a:endParaRPr lang="en-CA" altLang="en-US"/>
          </a:p>
          <a:p>
            <a:endParaRPr lang="en-CA" altLang="en-US" sz="500"/>
          </a:p>
          <a:p>
            <a:r>
              <a:rPr lang="en-CA" altLang="en-US"/>
              <a:t>The ratio shows the amount of resources generated for each dollar of interest expense.  In general, a high ratio is viewed more favourable than a low ratio.</a:t>
            </a:r>
          </a:p>
          <a:p>
            <a:endParaRPr lang="en-US" altLang="en-US"/>
          </a:p>
          <a:p>
            <a:endParaRPr lang="en-US" altLang="en-US"/>
          </a:p>
          <a:p>
            <a:endParaRPr lang="en-US" altLang="en-US"/>
          </a:p>
          <a:p>
            <a:endParaRPr lang="en-US" altLang="en-US"/>
          </a:p>
          <a:p>
            <a:endParaRPr lang="en-US" altLang="en-US"/>
          </a:p>
        </p:txBody>
      </p:sp>
      <p:sp>
        <p:nvSpPr>
          <p:cNvPr id="25603" name="Text Box 1027">
            <a:extLst>
              <a:ext uri="{FF2B5EF4-FFF2-40B4-BE49-F238E27FC236}">
                <a16:creationId xmlns:a16="http://schemas.microsoft.com/office/drawing/2014/main" id="{0F261B19-D49E-4184-9765-818AECC080E8}"/>
              </a:ext>
            </a:extLst>
          </p:cNvPr>
          <p:cNvSpPr txBox="1">
            <a:spLocks noChangeArrowheads="1"/>
          </p:cNvSpPr>
          <p:nvPr/>
        </p:nvSpPr>
        <p:spPr bwMode="auto">
          <a:xfrm>
            <a:off x="762000" y="4191000"/>
            <a:ext cx="2362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Times Interest</a:t>
            </a:r>
            <a:br>
              <a:rPr lang="en-CA" altLang="en-US" sz="2400" b="1">
                <a:solidFill>
                  <a:srgbClr val="000000"/>
                </a:solidFill>
                <a:latin typeface="Arial" panose="020B0604020202020204" pitchFamily="34" charset="0"/>
              </a:rPr>
            </a:br>
            <a:r>
              <a:rPr lang="en-CA" altLang="en-US" sz="2400" b="1">
                <a:solidFill>
                  <a:srgbClr val="000000"/>
                </a:solidFill>
                <a:latin typeface="Arial" panose="020B0604020202020204" pitchFamily="34" charset="0"/>
              </a:rPr>
              <a:t>Earned Ratio</a:t>
            </a:r>
          </a:p>
        </p:txBody>
      </p:sp>
      <p:sp>
        <p:nvSpPr>
          <p:cNvPr id="25604" name="Text Box 1028">
            <a:extLst>
              <a:ext uri="{FF2B5EF4-FFF2-40B4-BE49-F238E27FC236}">
                <a16:creationId xmlns:a16="http://schemas.microsoft.com/office/drawing/2014/main" id="{BBB57088-7163-427B-8846-E8B850842E66}"/>
              </a:ext>
            </a:extLst>
          </p:cNvPr>
          <p:cNvSpPr txBox="1">
            <a:spLocks noChangeArrowheads="1"/>
          </p:cNvSpPr>
          <p:nvPr/>
        </p:nvSpPr>
        <p:spPr bwMode="auto">
          <a:xfrm>
            <a:off x="2895600" y="4419600"/>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a:t>
            </a:r>
          </a:p>
        </p:txBody>
      </p:sp>
      <p:sp>
        <p:nvSpPr>
          <p:cNvPr id="25605" name="Text Box 1029">
            <a:extLst>
              <a:ext uri="{FF2B5EF4-FFF2-40B4-BE49-F238E27FC236}">
                <a16:creationId xmlns:a16="http://schemas.microsoft.com/office/drawing/2014/main" id="{810F8EF0-162A-421B-9793-2924F03B3CD6}"/>
              </a:ext>
            </a:extLst>
          </p:cNvPr>
          <p:cNvSpPr txBox="1">
            <a:spLocks noChangeArrowheads="1"/>
          </p:cNvSpPr>
          <p:nvPr/>
        </p:nvSpPr>
        <p:spPr bwMode="auto">
          <a:xfrm>
            <a:off x="3657600" y="3886200"/>
            <a:ext cx="4724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Net earnings + Interest expense + Income tax expense</a:t>
            </a:r>
          </a:p>
        </p:txBody>
      </p:sp>
      <p:sp>
        <p:nvSpPr>
          <p:cNvPr id="25606" name="Text Box 1030">
            <a:extLst>
              <a:ext uri="{FF2B5EF4-FFF2-40B4-BE49-F238E27FC236}">
                <a16:creationId xmlns:a16="http://schemas.microsoft.com/office/drawing/2014/main" id="{F2635C04-9F16-4C17-BC55-B8A007EB99F8}"/>
              </a:ext>
            </a:extLst>
          </p:cNvPr>
          <p:cNvSpPr txBox="1">
            <a:spLocks noChangeArrowheads="1"/>
          </p:cNvSpPr>
          <p:nvPr/>
        </p:nvSpPr>
        <p:spPr bwMode="auto">
          <a:xfrm>
            <a:off x="4648200" y="46482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a:solidFill>
                  <a:srgbClr val="000000"/>
                </a:solidFill>
                <a:latin typeface="Arial" panose="020B0604020202020204" pitchFamily="34" charset="0"/>
              </a:rPr>
              <a:t>Interest expense</a:t>
            </a:r>
          </a:p>
        </p:txBody>
      </p:sp>
      <p:sp>
        <p:nvSpPr>
          <p:cNvPr id="25607" name="Line 1031">
            <a:extLst>
              <a:ext uri="{FF2B5EF4-FFF2-40B4-BE49-F238E27FC236}">
                <a16:creationId xmlns:a16="http://schemas.microsoft.com/office/drawing/2014/main" id="{07C42A88-9D59-4CDE-99C1-75F24C0B86F3}"/>
              </a:ext>
            </a:extLst>
          </p:cNvPr>
          <p:cNvSpPr>
            <a:spLocks noChangeShapeType="1"/>
          </p:cNvSpPr>
          <p:nvPr/>
        </p:nvSpPr>
        <p:spPr bwMode="auto">
          <a:xfrm>
            <a:off x="3733800" y="4648200"/>
            <a:ext cx="4572000"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F025C9-01DB-4179-AFC1-9EE54C217639}"/>
              </a:ext>
            </a:extLst>
          </p:cNvPr>
          <p:cNvSpPr>
            <a:spLocks noGrp="1"/>
          </p:cNvSpPr>
          <p:nvPr>
            <p:ph type="title"/>
          </p:nvPr>
        </p:nvSpPr>
        <p:spPr/>
        <p:txBody>
          <a:bodyPr/>
          <a:lstStyle/>
          <a:p>
            <a:r>
              <a:rPr lang="en-US" altLang="en-US" dirty="0"/>
              <a:t>Early Retirement of Debt Part 1</a:t>
            </a:r>
          </a:p>
        </p:txBody>
      </p:sp>
      <p:sp>
        <p:nvSpPr>
          <p:cNvPr id="53250" name="Content Placeholder 2">
            <a:extLst>
              <a:ext uri="{FF2B5EF4-FFF2-40B4-BE49-F238E27FC236}">
                <a16:creationId xmlns:a16="http://schemas.microsoft.com/office/drawing/2014/main" id="{A9693175-AA08-468A-B1BB-9DC11B7FFFF0}"/>
              </a:ext>
            </a:extLst>
          </p:cNvPr>
          <p:cNvSpPr>
            <a:spLocks noGrp="1"/>
          </p:cNvSpPr>
          <p:nvPr>
            <p:ph idx="1"/>
          </p:nvPr>
        </p:nvSpPr>
        <p:spPr/>
        <p:txBody>
          <a:bodyPr/>
          <a:lstStyle/>
          <a:p>
            <a:r>
              <a:rPr lang="en-CA" dirty="0"/>
              <a:t>Bonds are normally issued for long periods, such as 20 or 30 years. </a:t>
            </a:r>
          </a:p>
          <a:p>
            <a:r>
              <a:rPr lang="en-CA" dirty="0"/>
              <a:t>Bondholders who need cash prior to the maturity date can simply sell the bonds to another investor. This transaction does not affect the accounts of the company that issued the bonds. </a:t>
            </a:r>
          </a:p>
          <a:p>
            <a:r>
              <a:rPr lang="en-CA" dirty="0"/>
              <a:t>Each bond issue has characteristics specified in the bond indenture. </a:t>
            </a:r>
          </a:p>
          <a:p>
            <a:r>
              <a:rPr lang="en-CA" dirty="0"/>
              <a:t>The issuing company often adds special characteristics to a bond to make it more attractive to investors that normally have a large number of investment alternatives from which to select.</a:t>
            </a:r>
          </a:p>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584380574"/>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7F025C9-01DB-4179-AFC1-9EE54C217639}"/>
              </a:ext>
            </a:extLst>
          </p:cNvPr>
          <p:cNvSpPr>
            <a:spLocks noGrp="1"/>
          </p:cNvSpPr>
          <p:nvPr>
            <p:ph type="title"/>
          </p:nvPr>
        </p:nvSpPr>
        <p:spPr/>
        <p:txBody>
          <a:bodyPr/>
          <a:lstStyle/>
          <a:p>
            <a:r>
              <a:rPr lang="en-US" altLang="en-US" dirty="0"/>
              <a:t>Early Retirement of Debt Part 2</a:t>
            </a:r>
          </a:p>
        </p:txBody>
      </p:sp>
      <p:sp>
        <p:nvSpPr>
          <p:cNvPr id="53250" name="Content Placeholder 2">
            <a:extLst>
              <a:ext uri="{FF2B5EF4-FFF2-40B4-BE49-F238E27FC236}">
                <a16:creationId xmlns:a16="http://schemas.microsoft.com/office/drawing/2014/main" id="{A9693175-AA08-468A-B1BB-9DC11B7FFFF0}"/>
              </a:ext>
            </a:extLst>
          </p:cNvPr>
          <p:cNvSpPr>
            <a:spLocks noGrp="1"/>
          </p:cNvSpPr>
          <p:nvPr>
            <p:ph idx="1"/>
          </p:nvPr>
        </p:nvSpPr>
        <p:spPr/>
        <p:txBody>
          <a:bodyPr/>
          <a:lstStyle/>
          <a:p>
            <a:r>
              <a:rPr lang="en-CA" dirty="0"/>
              <a:t>Some bonds have a </a:t>
            </a:r>
            <a:r>
              <a:rPr lang="en-CA" i="1" dirty="0"/>
              <a:t>call</a:t>
            </a:r>
            <a:r>
              <a:rPr lang="en-CA" dirty="0"/>
              <a:t> feature that allows the issuing company to call (retire) the bonds early. </a:t>
            </a:r>
          </a:p>
          <a:p>
            <a:r>
              <a:rPr lang="en-CA" dirty="0"/>
              <a:t>A call feature most often requires the issuing company to pay investors an amount greater than the bond’s face value to retire the bonds before their maturity date. </a:t>
            </a:r>
          </a:p>
          <a:p>
            <a:r>
              <a:rPr lang="en-CA" dirty="0"/>
              <a:t>The amount often is stated as a percentage of the bond’s face value and is described in the bond indenture or bond prospectus.</a:t>
            </a:r>
          </a:p>
          <a:p>
            <a:r>
              <a:rPr lang="en-CA" dirty="0"/>
              <a:t>A company may elect to retire debt early by purchasing it on the open market, just as an investor would. </a:t>
            </a:r>
          </a:p>
          <a:p>
            <a:r>
              <a:rPr lang="en-CA" dirty="0"/>
              <a:t>This approach is necessary when the bonds do not have a call feature. </a:t>
            </a:r>
            <a:endParaRPr lang="en-US" altLang="en-US" dirty="0"/>
          </a:p>
          <a:p>
            <a:endParaRPr lang="en-US" altLang="en-US" dirty="0"/>
          </a:p>
          <a:p>
            <a:endParaRPr lang="en-US" altLang="en-US" dirty="0"/>
          </a:p>
        </p:txBody>
      </p:sp>
    </p:spTree>
    <p:extLst>
      <p:ext uri="{BB962C8B-B14F-4D97-AF65-F5344CB8AC3E}">
        <p14:creationId xmlns:p14="http://schemas.microsoft.com/office/powerpoint/2010/main" val="233054210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620E8911-35EF-4B04-97B2-64ACDCE99396}"/>
              </a:ext>
            </a:extLst>
          </p:cNvPr>
          <p:cNvSpPr>
            <a:spLocks noGrp="1"/>
          </p:cNvSpPr>
          <p:nvPr>
            <p:ph type="title"/>
          </p:nvPr>
        </p:nvSpPr>
        <p:spPr>
          <a:xfrm>
            <a:off x="457200" y="198437"/>
            <a:ext cx="8229600" cy="792163"/>
          </a:xfrm>
        </p:spPr>
        <p:txBody>
          <a:bodyPr/>
          <a:lstStyle/>
          <a:p>
            <a:r>
              <a:rPr lang="en-CA" altLang="en-US" dirty="0"/>
              <a:t>International Perspective – Borrowing in Foreign Currencies</a:t>
            </a:r>
            <a:endParaRPr lang="en-US" altLang="en-US" dirty="0"/>
          </a:p>
        </p:txBody>
      </p:sp>
      <p:sp>
        <p:nvSpPr>
          <p:cNvPr id="54274" name="Content Placeholder 2">
            <a:extLst>
              <a:ext uri="{FF2B5EF4-FFF2-40B4-BE49-F238E27FC236}">
                <a16:creationId xmlns:a16="http://schemas.microsoft.com/office/drawing/2014/main" id="{0F54B472-03E2-494A-A128-DC816AC8BEA2}"/>
              </a:ext>
            </a:extLst>
          </p:cNvPr>
          <p:cNvSpPr>
            <a:spLocks noGrp="1"/>
          </p:cNvSpPr>
          <p:nvPr>
            <p:ph idx="1"/>
          </p:nvPr>
        </p:nvSpPr>
        <p:spPr/>
        <p:txBody>
          <a:bodyPr/>
          <a:lstStyle/>
          <a:p>
            <a:pPr eaLnBrk="1" hangingPunct="1"/>
            <a:r>
              <a:rPr lang="en-US" altLang="en-US" dirty="0"/>
              <a:t>Companies may elect to borrow in foreign markets </a:t>
            </a:r>
          </a:p>
          <a:p>
            <a:pPr lvl="1" eaLnBrk="1" hangingPunct="1"/>
            <a:r>
              <a:rPr lang="en-US" altLang="en-US" sz="2600" dirty="0"/>
              <a:t>To reduce exchange rate risk.</a:t>
            </a:r>
          </a:p>
          <a:p>
            <a:pPr lvl="1" eaLnBrk="1" hangingPunct="1"/>
            <a:r>
              <a:rPr lang="en-US" altLang="en-US" sz="2600" dirty="0"/>
              <a:t>Because interest rates often are low in other countries.</a:t>
            </a:r>
          </a:p>
          <a:p>
            <a:pPr eaLnBrk="1" hangingPunct="1"/>
            <a:r>
              <a:rPr lang="en-CA" altLang="en-US" dirty="0"/>
              <a:t>For reporting purposes, accountants must convert, or translate, foreign debt into Canadian dollars.</a:t>
            </a:r>
          </a:p>
          <a:p>
            <a:pPr eaLnBrk="1" hangingPunct="1"/>
            <a:r>
              <a:rPr lang="en-CA" altLang="en-US" dirty="0"/>
              <a:t>Assume that Amazon borrowed 1 million euros. For Amazon’s annual report, the accountant must use the conversion rate as of the statement of financial position date, which we assume was </a:t>
            </a:r>
            <a:r>
              <a:rPr lang="en-CA" dirty="0"/>
              <a:t>€</a:t>
            </a:r>
            <a:r>
              <a:rPr lang="en-CA" altLang="en-US" dirty="0"/>
              <a:t>1.00 to US$1.1371. </a:t>
            </a:r>
          </a:p>
          <a:p>
            <a:pPr algn="ctr" eaLnBrk="1" hangingPunct="1"/>
            <a:r>
              <a:rPr lang="en-CA" dirty="0"/>
              <a:t>€</a:t>
            </a:r>
            <a:r>
              <a:rPr lang="en-CA" altLang="en-US" dirty="0"/>
              <a:t>1,000,000 </a:t>
            </a:r>
            <a:r>
              <a:rPr lang="en-CA" altLang="en-US" dirty="0">
                <a:sym typeface="Symbol" panose="05050102010706020507" pitchFamily="18" charset="2"/>
              </a:rPr>
              <a:t>×</a:t>
            </a:r>
            <a:r>
              <a:rPr lang="en-CA" altLang="en-US" dirty="0"/>
              <a:t> US$1.1371 = US$1,137,100</a:t>
            </a:r>
          </a:p>
          <a:p>
            <a:pPr eaLnBrk="1" hangingPunct="1"/>
            <a:r>
              <a:rPr lang="en-CA" altLang="en-US" dirty="0"/>
              <a:t>The debt will be reported at $1,137,100 on Amazon’s financial statements. </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C5A18B3B-2A4F-4559-BF65-3DA308FFF615}"/>
              </a:ext>
            </a:extLst>
          </p:cNvPr>
          <p:cNvSpPr>
            <a:spLocks noGrp="1"/>
          </p:cNvSpPr>
          <p:nvPr>
            <p:ph type="title"/>
          </p:nvPr>
        </p:nvSpPr>
        <p:spPr/>
        <p:txBody>
          <a:bodyPr/>
          <a:lstStyle/>
          <a:p>
            <a:r>
              <a:rPr lang="en-US" altLang="en-US"/>
              <a:t>Lease Liabilities Part 1</a:t>
            </a:r>
          </a:p>
        </p:txBody>
      </p:sp>
      <p:sp>
        <p:nvSpPr>
          <p:cNvPr id="55298" name="Content Placeholder 2">
            <a:extLst>
              <a:ext uri="{FF2B5EF4-FFF2-40B4-BE49-F238E27FC236}">
                <a16:creationId xmlns:a16="http://schemas.microsoft.com/office/drawing/2014/main" id="{E1B9C8C3-E759-48D2-93F6-23386F030EF3}"/>
              </a:ext>
            </a:extLst>
          </p:cNvPr>
          <p:cNvSpPr>
            <a:spLocks noGrp="1"/>
          </p:cNvSpPr>
          <p:nvPr>
            <p:ph idx="1"/>
          </p:nvPr>
        </p:nvSpPr>
        <p:spPr/>
        <p:txBody>
          <a:bodyPr/>
          <a:lstStyle/>
          <a:p>
            <a:r>
              <a:rPr lang="en-CA" altLang="en-US" dirty="0"/>
              <a:t>Companies often lease rather than purchase assets.</a:t>
            </a:r>
          </a:p>
          <a:p>
            <a:endParaRPr lang="en-CA" altLang="en-US" sz="800" dirty="0"/>
          </a:p>
          <a:p>
            <a:r>
              <a:rPr lang="en-CA" altLang="en-US" dirty="0"/>
              <a:t>When a company leases an asset, it enters into a contractual agreement with the owner of the asset. </a:t>
            </a:r>
          </a:p>
          <a:p>
            <a:endParaRPr lang="en-CA" altLang="en-US" sz="800" dirty="0"/>
          </a:p>
          <a:p>
            <a:r>
              <a:rPr lang="en-CA" altLang="en-US" dirty="0"/>
              <a:t>The party that owns the asset is referred to as the </a:t>
            </a:r>
            <a:r>
              <a:rPr lang="en-CA" altLang="en-US" b="1" dirty="0"/>
              <a:t>lessor</a:t>
            </a:r>
            <a:r>
              <a:rPr lang="en-CA" altLang="en-US" dirty="0"/>
              <a:t>.</a:t>
            </a:r>
          </a:p>
          <a:p>
            <a:endParaRPr lang="en-CA" altLang="en-US" sz="800" dirty="0"/>
          </a:p>
          <a:p>
            <a:r>
              <a:rPr lang="en-CA" altLang="en-US" dirty="0"/>
              <a:t>The party that pays for the right to use the asset is referred to as the </a:t>
            </a:r>
            <a:r>
              <a:rPr lang="en-CA" altLang="en-US" b="1" dirty="0"/>
              <a:t>lessee</a:t>
            </a:r>
            <a:r>
              <a:rPr lang="en-CA" altLang="en-US" dirty="0"/>
              <a:t>. </a:t>
            </a:r>
          </a:p>
          <a:p>
            <a:endParaRPr lang="en-CA" altLang="en-US" sz="800" dirty="0"/>
          </a:p>
          <a:p>
            <a:r>
              <a:rPr lang="en-CA" altLang="en-US" dirty="0"/>
              <a:t>This textbook focuses on accounting for leases from the lessee’s perspective. </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572D8100-E841-4CA3-9B4E-D5B264A882D1}"/>
              </a:ext>
            </a:extLst>
          </p:cNvPr>
          <p:cNvSpPr>
            <a:spLocks noGrp="1"/>
          </p:cNvSpPr>
          <p:nvPr>
            <p:ph type="title"/>
          </p:nvPr>
        </p:nvSpPr>
        <p:spPr/>
        <p:txBody>
          <a:bodyPr/>
          <a:lstStyle/>
          <a:p>
            <a:r>
              <a:rPr lang="en-US" altLang="en-US"/>
              <a:t>Lease Liabilities Part 2</a:t>
            </a:r>
          </a:p>
        </p:txBody>
      </p:sp>
      <p:sp>
        <p:nvSpPr>
          <p:cNvPr id="56322" name="Content Placeholder 2">
            <a:extLst>
              <a:ext uri="{FF2B5EF4-FFF2-40B4-BE49-F238E27FC236}">
                <a16:creationId xmlns:a16="http://schemas.microsoft.com/office/drawing/2014/main" id="{FAA87731-5936-4E96-9A5D-F32B67260CF4}"/>
              </a:ext>
            </a:extLst>
          </p:cNvPr>
          <p:cNvSpPr>
            <a:spLocks noGrp="1"/>
          </p:cNvSpPr>
          <p:nvPr>
            <p:ph idx="1"/>
          </p:nvPr>
        </p:nvSpPr>
        <p:spPr/>
        <p:txBody>
          <a:bodyPr/>
          <a:lstStyle/>
          <a:p>
            <a:r>
              <a:rPr lang="en-CA" altLang="en-US" dirty="0"/>
              <a:t>For accounting purposes, a lessee can lease an asset by signing either a short-term lease (12 months or less) or a long-term lease. </a:t>
            </a:r>
          </a:p>
          <a:p>
            <a:endParaRPr lang="en-CA" altLang="en-US" sz="800" dirty="0"/>
          </a:p>
          <a:p>
            <a:r>
              <a:rPr lang="en-CA" dirty="0"/>
              <a:t>The lease contract for a short-term lease does not transfer control of the asset to the lessee. </a:t>
            </a:r>
          </a:p>
          <a:p>
            <a:endParaRPr lang="en-CA" sz="800" dirty="0"/>
          </a:p>
          <a:p>
            <a:r>
              <a:rPr lang="en-CA" dirty="0"/>
              <a:t>For long-term leases, which are more common, International Financial Reporting Standard (IFRS) 16 requires the lessee to recognize a </a:t>
            </a:r>
            <a:r>
              <a:rPr lang="en-CA" i="1" dirty="0"/>
              <a:t>right-of-use</a:t>
            </a:r>
            <a:r>
              <a:rPr lang="en-CA" dirty="0"/>
              <a:t> asset and a lease liability, measured at the present value of future lease payments.  </a:t>
            </a:r>
            <a:endParaRPr lang="en-CA" altLang="en-US" dirty="0"/>
          </a:p>
          <a:p>
            <a:endParaRPr lang="en-CA" altLang="en-US" sz="1200"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8D792CD-EEA7-4D15-9794-5275E2D23031}"/>
              </a:ext>
            </a:extLst>
          </p:cNvPr>
          <p:cNvSpPr>
            <a:spLocks noGrp="1"/>
          </p:cNvSpPr>
          <p:nvPr>
            <p:ph type="title"/>
          </p:nvPr>
        </p:nvSpPr>
        <p:spPr/>
        <p:txBody>
          <a:bodyPr/>
          <a:lstStyle/>
          <a:p>
            <a:r>
              <a:rPr lang="en-US" altLang="en-US"/>
              <a:t>Key Ratio Analysis – Debt-To-Equity Ratio</a:t>
            </a:r>
          </a:p>
        </p:txBody>
      </p:sp>
      <p:sp>
        <p:nvSpPr>
          <p:cNvPr id="9218" name="Content Placeholder 2">
            <a:extLst>
              <a:ext uri="{FF2B5EF4-FFF2-40B4-BE49-F238E27FC236}">
                <a16:creationId xmlns:a16="http://schemas.microsoft.com/office/drawing/2014/main" id="{2B2BF37A-64F2-4E84-B97A-9900E7A406F1}"/>
              </a:ext>
            </a:extLst>
          </p:cNvPr>
          <p:cNvSpPr>
            <a:spLocks noGrp="1"/>
          </p:cNvSpPr>
          <p:nvPr>
            <p:ph idx="1"/>
          </p:nvPr>
        </p:nvSpPr>
        <p:spPr/>
        <p:txBody>
          <a:bodyPr/>
          <a:lstStyle/>
          <a:p>
            <a:pPr>
              <a:buFont typeface="Wingdings 3" pitchFamily="2" charset="2"/>
              <a:buChar char=""/>
              <a:defRPr/>
            </a:pPr>
            <a:r>
              <a:rPr lang="en-CA" altLang="en-US" b="1" dirty="0"/>
              <a:t>ANALYTICAL QUESTION</a:t>
            </a:r>
            <a:r>
              <a:rPr lang="en-CA" altLang="en-US" dirty="0"/>
              <a:t> → </a:t>
            </a:r>
            <a:r>
              <a:rPr lang="en-CA" dirty="0"/>
              <a:t>As an investor who must decide whether or not to buy shares, it is important to know how much of the company’s assets is financed by creditors and how much is financed by owners. The debt-to-equity ratio is used to assess the debt capacity of a business. It is computed as follows:</a:t>
            </a:r>
            <a:endParaRPr lang="en-CA" altLang="en-US" dirty="0"/>
          </a:p>
          <a:p>
            <a:pPr>
              <a:buFont typeface="Wingdings 3" pitchFamily="2" charset="2"/>
              <a:buChar char=""/>
              <a:defRPr/>
            </a:pPr>
            <a:endParaRPr lang="en-CA" altLang="en-US" dirty="0"/>
          </a:p>
          <a:p>
            <a:pPr marL="0" indent="0">
              <a:buFont typeface="Wingdings 3" pitchFamily="2" charset="2"/>
              <a:buNone/>
              <a:defRPr/>
            </a:pPr>
            <a:endParaRPr lang="en-CA" sz="2800" dirty="0"/>
          </a:p>
          <a:p>
            <a:pPr>
              <a:buFont typeface="Wingdings 3" pitchFamily="2" charset="2"/>
              <a:buChar char=""/>
              <a:defRPr/>
            </a:pPr>
            <a:r>
              <a:rPr lang="en-CA" dirty="0"/>
              <a:t>The ratio shows the relationship between the amount of capital provided by owners and the amount provided by creditors.  In general, a high ratio suggest that a company relies heavily on funds provided by creditors.</a:t>
            </a: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a:p>
            <a:pPr>
              <a:buFont typeface="Wingdings 3" pitchFamily="2" charset="2"/>
              <a:buChar char=""/>
              <a:defRPr/>
            </a:pPr>
            <a:endParaRPr lang="en-US" altLang="en-US" dirty="0"/>
          </a:p>
        </p:txBody>
      </p:sp>
      <p:sp>
        <p:nvSpPr>
          <p:cNvPr id="26627" name="Text Box 1027">
            <a:extLst>
              <a:ext uri="{FF2B5EF4-FFF2-40B4-BE49-F238E27FC236}">
                <a16:creationId xmlns:a16="http://schemas.microsoft.com/office/drawing/2014/main" id="{15CB14F5-EBA6-40D3-976E-70C8165A4BE2}"/>
              </a:ext>
            </a:extLst>
          </p:cNvPr>
          <p:cNvSpPr txBox="1">
            <a:spLocks noChangeArrowheads="1"/>
          </p:cNvSpPr>
          <p:nvPr/>
        </p:nvSpPr>
        <p:spPr bwMode="auto">
          <a:xfrm>
            <a:off x="1504950" y="3581400"/>
            <a:ext cx="23622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Debt-to-equity</a:t>
            </a:r>
            <a:br>
              <a:rPr lang="en-CA" altLang="en-US" sz="2400" b="1">
                <a:solidFill>
                  <a:srgbClr val="000000"/>
                </a:solidFill>
                <a:latin typeface="Arial" panose="020B0604020202020204" pitchFamily="34" charset="0"/>
              </a:rPr>
            </a:br>
            <a:r>
              <a:rPr lang="en-CA" altLang="en-US" sz="2400" b="1">
                <a:solidFill>
                  <a:srgbClr val="000000"/>
                </a:solidFill>
                <a:latin typeface="Arial" panose="020B0604020202020204" pitchFamily="34" charset="0"/>
              </a:rPr>
              <a:t>Ratio</a:t>
            </a:r>
          </a:p>
        </p:txBody>
      </p:sp>
      <p:sp>
        <p:nvSpPr>
          <p:cNvPr id="26628" name="Text Box 1028">
            <a:extLst>
              <a:ext uri="{FF2B5EF4-FFF2-40B4-BE49-F238E27FC236}">
                <a16:creationId xmlns:a16="http://schemas.microsoft.com/office/drawing/2014/main" id="{124D8A3F-F379-4FBD-B6AC-488573ACAB5A}"/>
              </a:ext>
            </a:extLst>
          </p:cNvPr>
          <p:cNvSpPr txBox="1">
            <a:spLocks noChangeArrowheads="1"/>
          </p:cNvSpPr>
          <p:nvPr/>
        </p:nvSpPr>
        <p:spPr bwMode="auto">
          <a:xfrm>
            <a:off x="3630613" y="381793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a:t>
            </a:r>
          </a:p>
        </p:txBody>
      </p:sp>
      <p:sp>
        <p:nvSpPr>
          <p:cNvPr id="26629" name="Text Box 1029">
            <a:extLst>
              <a:ext uri="{FF2B5EF4-FFF2-40B4-BE49-F238E27FC236}">
                <a16:creationId xmlns:a16="http://schemas.microsoft.com/office/drawing/2014/main" id="{98189F20-D1E3-4A59-8970-DAF867715FFC}"/>
              </a:ext>
            </a:extLst>
          </p:cNvPr>
          <p:cNvSpPr txBox="1">
            <a:spLocks noChangeArrowheads="1"/>
          </p:cNvSpPr>
          <p:nvPr/>
        </p:nvSpPr>
        <p:spPr bwMode="auto">
          <a:xfrm>
            <a:off x="3657600" y="3581400"/>
            <a:ext cx="472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lgn="ctr">
              <a:spcBef>
                <a:spcPct val="50000"/>
              </a:spcBef>
              <a:buClrTx/>
              <a:buSzTx/>
              <a:buFontTx/>
              <a:buNone/>
            </a:pPr>
            <a:r>
              <a:rPr lang="en-CA" altLang="en-US" sz="2400" b="1">
                <a:solidFill>
                  <a:srgbClr val="000000"/>
                </a:solidFill>
                <a:latin typeface="Arial" panose="020B0604020202020204" pitchFamily="34" charset="0"/>
              </a:rPr>
              <a:t>Total Liabilities</a:t>
            </a:r>
          </a:p>
        </p:txBody>
      </p:sp>
      <p:sp>
        <p:nvSpPr>
          <p:cNvPr id="26630" name="Text Box 1030">
            <a:extLst>
              <a:ext uri="{FF2B5EF4-FFF2-40B4-BE49-F238E27FC236}">
                <a16:creationId xmlns:a16="http://schemas.microsoft.com/office/drawing/2014/main" id="{BFC73617-0815-49A7-992E-B9DEAA16CB70}"/>
              </a:ext>
            </a:extLst>
          </p:cNvPr>
          <p:cNvSpPr txBox="1">
            <a:spLocks noChangeArrowheads="1"/>
          </p:cNvSpPr>
          <p:nvPr/>
        </p:nvSpPr>
        <p:spPr bwMode="auto">
          <a:xfrm>
            <a:off x="4343400" y="4038600"/>
            <a:ext cx="3276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Calibri" panose="020F0502020204030204" pitchFamily="34" charset="0"/>
                <a:cs typeface="Arial" panose="020B0604020202020204" pitchFamily="34" charset="0"/>
              </a:defRPr>
            </a:lvl1pPr>
            <a:lvl2pPr marL="742950" indent="-285750">
              <a:spcBef>
                <a:spcPts val="500"/>
              </a:spcBef>
              <a:buClr>
                <a:schemeClr val="accent1"/>
              </a:buClr>
              <a:buSzPct val="76000"/>
              <a:buFont typeface="Wingdings 3" panose="05040102010807070707" pitchFamily="18" charset="2"/>
              <a:buChar char=""/>
              <a:defRPr sz="2300">
                <a:solidFill>
                  <a:schemeClr val="tx2"/>
                </a:solidFill>
                <a:latin typeface="Calibri" panose="020F0502020204030204" pitchFamily="34" charset="0"/>
                <a:cs typeface="Arial" panose="020B0604020202020204" pitchFamily="34" charset="0"/>
              </a:defRPr>
            </a:lvl2pPr>
            <a:lvl3pPr marL="1143000" indent="-228600">
              <a:spcBef>
                <a:spcPts val="500"/>
              </a:spcBef>
              <a:buClr>
                <a:schemeClr val="accent1"/>
              </a:buClr>
              <a:buSzPct val="76000"/>
              <a:buFont typeface="Wingdings 3" panose="05040102010807070707" pitchFamily="18" charset="2"/>
              <a:buChar char=""/>
              <a:defRPr sz="2000">
                <a:solidFill>
                  <a:schemeClr val="tx1"/>
                </a:solidFill>
                <a:latin typeface="Calibri" panose="020F0502020204030204" pitchFamily="34" charset="0"/>
                <a:cs typeface="Arial" panose="020B0604020202020204" pitchFamily="34" charset="0"/>
              </a:defRPr>
            </a:lvl3pPr>
            <a:lvl4pPr marL="1600200" indent="-228600">
              <a:spcBef>
                <a:spcPts val="400"/>
              </a:spcBef>
              <a:buClr>
                <a:schemeClr val="accent1"/>
              </a:buClr>
              <a:buSzPct val="70000"/>
              <a:buFont typeface="Arial" panose="020B0604020202020204" pitchFamily="34" charset="0"/>
              <a:buChar char="•"/>
              <a:defRPr sz="2000">
                <a:solidFill>
                  <a:schemeClr val="tx1"/>
                </a:solidFill>
                <a:latin typeface="Calibri" panose="020F0502020204030204" pitchFamily="34" charset="0"/>
                <a:cs typeface="Arial" panose="020B0604020202020204" pitchFamily="34" charset="0"/>
              </a:defRPr>
            </a:lvl4pPr>
            <a:lvl5pPr marL="2057400" indent="-228600">
              <a:spcBef>
                <a:spcPts val="300"/>
              </a:spcBef>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ts val="300"/>
              </a:spcBef>
              <a:spcAft>
                <a:spcPct val="0"/>
              </a:spcAft>
              <a:buClr>
                <a:schemeClr val="accent1"/>
              </a:buClr>
              <a:buSzPct val="70000"/>
              <a:buFont typeface="Arial" panose="020B0604020202020204" pitchFamily="34" charset="0"/>
              <a:buChar char="•"/>
              <a:defRPr sz="1600">
                <a:solidFill>
                  <a:schemeClr val="tx1"/>
                </a:solidFill>
                <a:latin typeface="Calibri" panose="020F0502020204030204" pitchFamily="34" charset="0"/>
                <a:cs typeface="Arial" panose="020B0604020202020204" pitchFamily="34" charset="0"/>
              </a:defRPr>
            </a:lvl9pPr>
          </a:lstStyle>
          <a:p>
            <a:pPr>
              <a:spcBef>
                <a:spcPct val="50000"/>
              </a:spcBef>
              <a:buClrTx/>
              <a:buSzTx/>
              <a:buFontTx/>
              <a:buNone/>
            </a:pPr>
            <a:r>
              <a:rPr lang="en-CA" altLang="en-US" sz="2400" b="1">
                <a:solidFill>
                  <a:srgbClr val="000000"/>
                </a:solidFill>
                <a:latin typeface="Arial" panose="020B0604020202020204" pitchFamily="34" charset="0"/>
              </a:rPr>
              <a:t>Shareholders’ equity</a:t>
            </a:r>
          </a:p>
        </p:txBody>
      </p:sp>
      <p:sp>
        <p:nvSpPr>
          <p:cNvPr id="26631" name="Line 1031">
            <a:extLst>
              <a:ext uri="{FF2B5EF4-FFF2-40B4-BE49-F238E27FC236}">
                <a16:creationId xmlns:a16="http://schemas.microsoft.com/office/drawing/2014/main" id="{ABD111D7-1AE7-44B6-9D99-4E2991B8E5FC}"/>
              </a:ext>
            </a:extLst>
          </p:cNvPr>
          <p:cNvSpPr>
            <a:spLocks noChangeShapeType="1"/>
          </p:cNvSpPr>
          <p:nvPr/>
        </p:nvSpPr>
        <p:spPr bwMode="auto">
          <a:xfrm>
            <a:off x="4343400" y="4038600"/>
            <a:ext cx="3124200" cy="0"/>
          </a:xfrm>
          <a:prstGeom prst="line">
            <a:avLst/>
          </a:prstGeom>
          <a:noFill/>
          <a:ln w="571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572D8100-E841-4CA3-9B4E-D5B264A882D1}"/>
              </a:ext>
            </a:extLst>
          </p:cNvPr>
          <p:cNvSpPr>
            <a:spLocks noGrp="1"/>
          </p:cNvSpPr>
          <p:nvPr>
            <p:ph type="title"/>
          </p:nvPr>
        </p:nvSpPr>
        <p:spPr/>
        <p:txBody>
          <a:bodyPr/>
          <a:lstStyle/>
          <a:p>
            <a:r>
              <a:rPr lang="en-US" altLang="en-US" dirty="0"/>
              <a:t>Focus on Cash Flows</a:t>
            </a:r>
          </a:p>
        </p:txBody>
      </p:sp>
      <p:sp>
        <p:nvSpPr>
          <p:cNvPr id="56322" name="Content Placeholder 2">
            <a:extLst>
              <a:ext uri="{FF2B5EF4-FFF2-40B4-BE49-F238E27FC236}">
                <a16:creationId xmlns:a16="http://schemas.microsoft.com/office/drawing/2014/main" id="{FAA87731-5936-4E96-9A5D-F32B67260CF4}"/>
              </a:ext>
            </a:extLst>
          </p:cNvPr>
          <p:cNvSpPr>
            <a:spLocks noGrp="1"/>
          </p:cNvSpPr>
          <p:nvPr>
            <p:ph idx="1"/>
          </p:nvPr>
        </p:nvSpPr>
        <p:spPr/>
        <p:txBody>
          <a:bodyPr/>
          <a:lstStyle/>
          <a:p>
            <a:r>
              <a:rPr lang="en-CA" dirty="0"/>
              <a:t>The cash received when a company issues long-term debt is reported as a cash inflow from financing activities. </a:t>
            </a:r>
          </a:p>
          <a:p>
            <a:endParaRPr lang="en-CA" sz="800" dirty="0"/>
          </a:p>
          <a:p>
            <a:r>
              <a:rPr lang="en-CA" dirty="0"/>
              <a:t>The repayment of principal is reported as an outflow from financing activities. </a:t>
            </a:r>
          </a:p>
          <a:p>
            <a:endParaRPr lang="en-CA" sz="800" dirty="0"/>
          </a:p>
          <a:p>
            <a:r>
              <a:rPr lang="en-CA" dirty="0"/>
              <a:t>You will see in Chapter 11 that interest paid may be reported in either the operating or the financing section of the statement of cash flows. </a:t>
            </a:r>
          </a:p>
          <a:p>
            <a:endParaRPr lang="en-CA" sz="800" dirty="0"/>
          </a:p>
          <a:p>
            <a:r>
              <a:rPr lang="en-CA" dirty="0"/>
              <a:t>Interest expense is reported on the statement of earnings and is a component of net earnings. As a result, most companies report interest payments as operating activities.</a:t>
            </a:r>
            <a:endParaRPr lang="en-CA" altLang="en-US" dirty="0"/>
          </a:p>
        </p:txBody>
      </p:sp>
    </p:spTree>
    <p:extLst>
      <p:ext uri="{BB962C8B-B14F-4D97-AF65-F5344CB8AC3E}">
        <p14:creationId xmlns:p14="http://schemas.microsoft.com/office/powerpoint/2010/main" val="401000778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36A8FE46-0D3E-4DD7-AA2C-384DB4C7BE2E}"/>
              </a:ext>
            </a:extLst>
          </p:cNvPr>
          <p:cNvSpPr>
            <a:spLocks noGrp="1"/>
          </p:cNvSpPr>
          <p:nvPr>
            <p:ph type="title"/>
          </p:nvPr>
        </p:nvSpPr>
        <p:spPr/>
        <p:txBody>
          <a:bodyPr/>
          <a:lstStyle/>
          <a:p>
            <a:r>
              <a:rPr lang="en-US" altLang="en-US"/>
              <a:t>End of Chapter Summary</a:t>
            </a:r>
          </a:p>
        </p:txBody>
      </p:sp>
      <p:sp>
        <p:nvSpPr>
          <p:cNvPr id="27650" name="Content Placeholder 2">
            <a:extLst>
              <a:ext uri="{FF2B5EF4-FFF2-40B4-BE49-F238E27FC236}">
                <a16:creationId xmlns:a16="http://schemas.microsoft.com/office/drawing/2014/main" id="{AE87E5BA-46E1-4552-A0BC-D2D116B7F601}"/>
              </a:ext>
            </a:extLst>
          </p:cNvPr>
          <p:cNvSpPr>
            <a:spLocks noGrp="1"/>
          </p:cNvSpPr>
          <p:nvPr>
            <p:ph idx="1"/>
          </p:nvPr>
        </p:nvSpPr>
        <p:spPr/>
        <p:txBody>
          <a:bodyPr/>
          <a:lstStyle/>
          <a:p>
            <a:r>
              <a:rPr lang="en-CA" altLang="en-US"/>
              <a:t>Long-term notes and bonds payable have a number of characteristics designed to meet the needs of the issuing corporation and the creditor.</a:t>
            </a:r>
          </a:p>
          <a:p>
            <a:r>
              <a:rPr lang="en-CA" altLang="en-US"/>
              <a:t>Corporations use debt to raise long-term capital. </a:t>
            </a:r>
          </a:p>
          <a:p>
            <a:r>
              <a:rPr lang="en-CA" altLang="en-US"/>
              <a:t>A note or mortgage payable requires periodic payment of interest and repayment of the principal amount. </a:t>
            </a:r>
          </a:p>
          <a:p>
            <a:r>
              <a:rPr lang="en-CA" altLang="en-US"/>
              <a:t>Three types of events must be recorded over the life of a typical bond: (1) the receipt of cash when the bond is first sold, (2) the periodic payment of interest, and (3) the repayment of principal upon the maturity of the bond.</a:t>
            </a:r>
          </a:p>
          <a:p>
            <a:r>
              <a:rPr lang="en-CA" altLang="en-US"/>
              <a:t>Bonds are sold at a discount when the coupon rate is less than the market interest rate. </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F1C2F724-12B5-44B8-AA3C-03C2E74F57FE}"/>
              </a:ext>
            </a:extLst>
          </p:cNvPr>
          <p:cNvSpPr>
            <a:spLocks noGrp="1"/>
          </p:cNvSpPr>
          <p:nvPr>
            <p:ph type="title"/>
          </p:nvPr>
        </p:nvSpPr>
        <p:spPr/>
        <p:txBody>
          <a:bodyPr/>
          <a:lstStyle/>
          <a:p>
            <a:r>
              <a:rPr lang="en-US" altLang="en-US"/>
              <a:t>End of Chapter Summary Continued</a:t>
            </a:r>
          </a:p>
        </p:txBody>
      </p:sp>
      <p:sp>
        <p:nvSpPr>
          <p:cNvPr id="28674" name="Content Placeholder 2">
            <a:extLst>
              <a:ext uri="{FF2B5EF4-FFF2-40B4-BE49-F238E27FC236}">
                <a16:creationId xmlns:a16="http://schemas.microsoft.com/office/drawing/2014/main" id="{C464BA3B-7384-47A9-AF7B-C28E96D67A54}"/>
              </a:ext>
            </a:extLst>
          </p:cNvPr>
          <p:cNvSpPr>
            <a:spLocks noGrp="1"/>
          </p:cNvSpPr>
          <p:nvPr>
            <p:ph idx="1"/>
          </p:nvPr>
        </p:nvSpPr>
        <p:spPr/>
        <p:txBody>
          <a:bodyPr/>
          <a:lstStyle/>
          <a:p>
            <a:r>
              <a:rPr lang="en-CA" altLang="en-US"/>
              <a:t>Bonds are sold at a premium when the coupon rate is greater than the market interest rate. </a:t>
            </a:r>
          </a:p>
          <a:p>
            <a:r>
              <a:rPr lang="en-CA" altLang="en-US"/>
              <a:t>A corporation may retire bonds before their maturity date. The difference between the carrying amount and the amount paid to retire the bonds is reported as a gain or a loss, depending on the circumstances.</a:t>
            </a:r>
          </a:p>
          <a:p>
            <a:r>
              <a:rPr lang="en-CA" altLang="en-US"/>
              <a:t>Typical non-current liabilities include lease obligations and deferred income taxes.</a:t>
            </a:r>
          </a:p>
          <a:p>
            <a:r>
              <a:rPr lang="en-CA" altLang="en-US"/>
              <a:t>The debt-to-equity ratio measures the relationship between total liabilities and the shareholders’ capital that finances the assets. The higher the ratio, the more debt is used to finance assets. As the ratio increases, risk increases.</a:t>
            </a:r>
          </a:p>
        </p:txBody>
      </p:sp>
    </p:spTree>
  </p:cSld>
  <p:clrMapOvr>
    <a:masterClrMapping/>
  </p:clrMapOvr>
  <p:transition/>
</p:sld>
</file>

<file path=ppt/theme/theme1.xml><?xml version="1.0" encoding="utf-8"?>
<a:theme xmlns:a="http://schemas.openxmlformats.org/drawingml/2006/main" name="1_Origin">
  <a:themeElements>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rigin">
  <a:themeElements>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rigin">
      <a:majorFont>
        <a:latin typeface="Calibri"/>
        <a:ea typeface=""/>
        <a:cs typeface="Arial"/>
      </a:majorFont>
      <a:minorFont>
        <a:latin typeface="Calibri"/>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rigin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565d9a4-9658-4688-95dd-39b4aa857904" xsi:nil="true"/>
    <lcf76f155ced4ddcb4097134ff3c332f xmlns="ae52743f-d902-49b8-9d67-4e33f635a226">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AF903EFA6F1304185B8B76D382796C3" ma:contentTypeVersion="12" ma:contentTypeDescription="Create a new document." ma:contentTypeScope="" ma:versionID="8327e696ad964eaa8757dd69c911c21b">
  <xsd:schema xmlns:xsd="http://www.w3.org/2001/XMLSchema" xmlns:xs="http://www.w3.org/2001/XMLSchema" xmlns:p="http://schemas.microsoft.com/office/2006/metadata/properties" xmlns:ns2="ae52743f-d902-49b8-9d67-4e33f635a226" xmlns:ns3="c565d9a4-9658-4688-95dd-39b4aa857904" targetNamespace="http://schemas.microsoft.com/office/2006/metadata/properties" ma:root="true" ma:fieldsID="9bdd7b4fa1f3b16ad4a21c7811265856" ns2:_="" ns3:_="">
    <xsd:import namespace="ae52743f-d902-49b8-9d67-4e33f635a226"/>
    <xsd:import namespace="c565d9a4-9658-4688-95dd-39b4aa857904"/>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52743f-d902-49b8-9d67-4e33f635a22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565d9a4-9658-4688-95dd-39b4aa857904"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47f1666-22d5-4ad8-96bb-8851b0759287}" ma:internalName="TaxCatchAll" ma:showField="CatchAllData" ma:web="c565d9a4-9658-4688-95dd-39b4aa857904">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6F3B4BF-5E39-4CDE-933E-D32440183D10}">
  <ds:schemaRefs>
    <ds:schemaRef ds:uri="http://schemas.microsoft.com/sharepoint/v3/contenttype/forms"/>
  </ds:schemaRefs>
</ds:datastoreItem>
</file>

<file path=customXml/itemProps2.xml><?xml version="1.0" encoding="utf-8"?>
<ds:datastoreItem xmlns:ds="http://schemas.openxmlformats.org/officeDocument/2006/customXml" ds:itemID="{7C5E50E9-724E-4C30-AB37-EA0EF93ECAF7}">
  <ds:schemaRefs>
    <ds:schemaRef ds:uri="http://schemas.microsoft.com/office/2006/metadata/properties"/>
    <ds:schemaRef ds:uri="http://schemas.microsoft.com/office/infopath/2007/PartnerControls"/>
    <ds:schemaRef ds:uri="c565d9a4-9658-4688-95dd-39b4aa857904"/>
    <ds:schemaRef ds:uri="ae52743f-d902-49b8-9d67-4e33f635a226"/>
  </ds:schemaRefs>
</ds:datastoreItem>
</file>

<file path=customXml/itemProps3.xml><?xml version="1.0" encoding="utf-8"?>
<ds:datastoreItem xmlns:ds="http://schemas.openxmlformats.org/officeDocument/2006/customXml" ds:itemID="{3CC29F1F-C289-4258-8A5E-0787FDFAF86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52743f-d902-49b8-9d67-4e33f635a226"/>
    <ds:schemaRef ds:uri="c565d9a4-9658-4688-95dd-39b4aa8579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9046</TotalTime>
  <Words>4352</Words>
  <Application>Microsoft Office PowerPoint</Application>
  <PresentationFormat>On-screen Show (4:3)</PresentationFormat>
  <Paragraphs>375</Paragraphs>
  <Slides>57</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57</vt:i4>
      </vt:variant>
    </vt:vector>
  </HeadingPairs>
  <TitlesOfParts>
    <vt:vector size="66" baseType="lpstr">
      <vt:lpstr>Arial</vt:lpstr>
      <vt:lpstr>Calibri</vt:lpstr>
      <vt:lpstr>inherit</vt:lpstr>
      <vt:lpstr>Tahoma</vt:lpstr>
      <vt:lpstr>Times New Roman</vt:lpstr>
      <vt:lpstr>Wingdings</vt:lpstr>
      <vt:lpstr>Wingdings 3</vt:lpstr>
      <vt:lpstr>1_Origin</vt:lpstr>
      <vt:lpstr>Origin</vt:lpstr>
      <vt:lpstr>PowerPoint Presentation</vt:lpstr>
      <vt:lpstr>Learning Objectives</vt:lpstr>
      <vt:lpstr>Learning Objectives Continued</vt:lpstr>
      <vt:lpstr>Understanding the Business</vt:lpstr>
      <vt:lpstr>Reasons Why Companies Issue Debt </vt:lpstr>
      <vt:lpstr>Disadvantages to Using Long-Term Debt</vt:lpstr>
      <vt:lpstr>Types of Long-Term Debt</vt:lpstr>
      <vt:lpstr>Bond Terminology Part 1</vt:lpstr>
      <vt:lpstr>Bond Terminology Part 2</vt:lpstr>
      <vt:lpstr>Bond Terminology Part 3</vt:lpstr>
      <vt:lpstr>Bond Terminology - Example</vt:lpstr>
      <vt:lpstr>Bond Characteristics</vt:lpstr>
      <vt:lpstr>Bond Issuance Process Part 1</vt:lpstr>
      <vt:lpstr>Bond Issuance Process Part 2</vt:lpstr>
      <vt:lpstr>Reporting Note Transactions</vt:lpstr>
      <vt:lpstr>Reporting Bond Transactions Part 1</vt:lpstr>
      <vt:lpstr>Reporting Bond Transactions Part 2</vt:lpstr>
      <vt:lpstr>Reporting Bond Transactions Part 3</vt:lpstr>
      <vt:lpstr>Reporting Bond Transactions Part 4</vt:lpstr>
      <vt:lpstr>Reporting Bond Transactions Part 5</vt:lpstr>
      <vt:lpstr>Reporting Bond Transactions Part 6</vt:lpstr>
      <vt:lpstr>Reporting Bond Transactions – Data Analytics</vt:lpstr>
      <vt:lpstr>Bonds Issued at Par Part 1</vt:lpstr>
      <vt:lpstr>Bonds Issued at Par Part 2</vt:lpstr>
      <vt:lpstr>Bonds Issued at Par Part 3</vt:lpstr>
      <vt:lpstr>Reporting Interest Expense on Bonds Issued at Par </vt:lpstr>
      <vt:lpstr>Bonds Issued at a Discount Part 1</vt:lpstr>
      <vt:lpstr>Bonds Issued at a Discount Part 2</vt:lpstr>
      <vt:lpstr>Bonds Issued at a Discount Part 4</vt:lpstr>
      <vt:lpstr>Bonds Issued at a Discount Part 4</vt:lpstr>
      <vt:lpstr>Reporting Interest Expense on Bonds Issued at a Discount using Effective-Interest Amortization - 1</vt:lpstr>
      <vt:lpstr>Reporting Interest Expense on Bonds Issued at a Discount using Effective-Interest Amortization - 2</vt:lpstr>
      <vt:lpstr>Reporting Interest Expense on Bonds Issued at a Discount using Effective-Interest Amortization - 3</vt:lpstr>
      <vt:lpstr>Reporting Interest Expense on Bonds Issued at a Discount using Effective-Interest Amortization - 4</vt:lpstr>
      <vt:lpstr>Reporting Interest Expense on Bonds Issued at a Discount using Effective-Interest Amortization - 5</vt:lpstr>
      <vt:lpstr>Bonds Issued at a Premium Part 1</vt:lpstr>
      <vt:lpstr>Bonds Issued at a Premium Part 2</vt:lpstr>
      <vt:lpstr>Bonds Issued at a Premium Part 3</vt:lpstr>
      <vt:lpstr>Reporting Interest Expense on Bonds Issued at a Premium using Effective-Interest Amortization - 1</vt:lpstr>
      <vt:lpstr>Reporting Interest Expense on Bonds Issued at a Premium using Effective-Interest Amortization - 2</vt:lpstr>
      <vt:lpstr>Reporting Interest Expense on Bonds Issued at a Premium using Effective-Interest Amortization - 3</vt:lpstr>
      <vt:lpstr>Reporting Interest Expense on Bonds Issued at a Premium using Effective-Interest Amortization - 4</vt:lpstr>
      <vt:lpstr>Reporting Interest Expense on Bonds Issued at a Premium using Effective-Interest Amortization - 5</vt:lpstr>
      <vt:lpstr>The Change in the Carrying Amount of a Bond over Time, Exhibit 9.6</vt:lpstr>
      <vt:lpstr>Reporting Interest Expense on Bonds Issued at a Premium using Effective-Interest Amortization - 6</vt:lpstr>
      <vt:lpstr>Accounting for Issuance Costs</vt:lpstr>
      <vt:lpstr>Reporting Interest Expense Using Straight-Line Amortization</vt:lpstr>
      <vt:lpstr>Key Ratio Analysis – Times Interest Earned Ratio</vt:lpstr>
      <vt:lpstr>Early Retirement of Debt Part 1</vt:lpstr>
      <vt:lpstr>Early Retirement of Debt Part 2</vt:lpstr>
      <vt:lpstr>International Perspective – Borrowing in Foreign Currencies</vt:lpstr>
      <vt:lpstr>Lease Liabilities Part 1</vt:lpstr>
      <vt:lpstr>Lease Liabilities Part 2</vt:lpstr>
      <vt:lpstr>Key Ratio Analysis – Debt-To-Equity Ratio</vt:lpstr>
      <vt:lpstr>Focus on Cash Flows</vt:lpstr>
      <vt:lpstr>End of Chapter Summary</vt:lpstr>
      <vt:lpstr>End of Chapter Summary Continued</vt:lpstr>
    </vt:vector>
  </TitlesOfParts>
  <Company>Robert G. Ducharme, MAcc, CPA, CA - University of Waterloo, School of Accounting and Finance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Financial Accounting, Sixth Canadian Edition (Libby, Libby, Short, Kanaan, Sterling)</dc:title>
  <dc:subject>Chapter 10: Reporting and Interpreting Non-current Liabilities</dc:subject>
  <dc:creator>Robert G. Ducharme, MAcc, CPA, CA - University of Waterloo, School of Accounting and Finance</dc:creator>
  <cp:lastModifiedBy>Schwartz, Stephanie</cp:lastModifiedBy>
  <cp:revision>97</cp:revision>
  <dcterms:created xsi:type="dcterms:W3CDTF">2010-03-30T15:03:05Z</dcterms:created>
  <dcterms:modified xsi:type="dcterms:W3CDTF">2023-01-12T15:25:14Z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TC103853781033</vt:lpwstr>
  </property>
  <property fmtid="{D5CDD505-2E9C-101B-9397-08002B2CF9AE}" pid="3" name="ContentTypeId">
    <vt:lpwstr>0x0101004AF903EFA6F1304185B8B76D382796C3</vt:lpwstr>
  </property>
  <property fmtid="{D5CDD505-2E9C-101B-9397-08002B2CF9AE}" pid="4" name="MediaServiceImageTags">
    <vt:lpwstr/>
  </property>
</Properties>
</file>
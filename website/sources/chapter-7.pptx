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4"/>
    <p:sldMasterId id="2147483798" r:id="rId5"/>
  </p:sldMasterIdLst>
  <p:notesMasterIdLst>
    <p:notesMasterId r:id="rId78"/>
  </p:notesMasterIdLst>
  <p:handoutMasterIdLst>
    <p:handoutMasterId r:id="rId79"/>
  </p:handoutMasterIdLst>
  <p:sldIdLst>
    <p:sldId id="348" r:id="rId6"/>
    <p:sldId id="446" r:id="rId7"/>
    <p:sldId id="448" r:id="rId8"/>
    <p:sldId id="449" r:id="rId9"/>
    <p:sldId id="450" r:id="rId10"/>
    <p:sldId id="451" r:id="rId11"/>
    <p:sldId id="452" r:id="rId12"/>
    <p:sldId id="307" r:id="rId13"/>
    <p:sldId id="453" r:id="rId14"/>
    <p:sldId id="455" r:id="rId15"/>
    <p:sldId id="456" r:id="rId16"/>
    <p:sldId id="349" r:id="rId17"/>
    <p:sldId id="312" r:id="rId18"/>
    <p:sldId id="457" r:id="rId19"/>
    <p:sldId id="459" r:id="rId20"/>
    <p:sldId id="460" r:id="rId21"/>
    <p:sldId id="461" r:id="rId22"/>
    <p:sldId id="462" r:id="rId23"/>
    <p:sldId id="463" r:id="rId24"/>
    <p:sldId id="464" r:id="rId25"/>
    <p:sldId id="465" r:id="rId26"/>
    <p:sldId id="466" r:id="rId27"/>
    <p:sldId id="467" r:id="rId28"/>
    <p:sldId id="468" r:id="rId29"/>
    <p:sldId id="469" r:id="rId30"/>
    <p:sldId id="502" r:id="rId31"/>
    <p:sldId id="471" r:id="rId32"/>
    <p:sldId id="472" r:id="rId33"/>
    <p:sldId id="503" r:id="rId34"/>
    <p:sldId id="473" r:id="rId35"/>
    <p:sldId id="474" r:id="rId36"/>
    <p:sldId id="475" r:id="rId37"/>
    <p:sldId id="476" r:id="rId38"/>
    <p:sldId id="477" r:id="rId39"/>
    <p:sldId id="504" r:id="rId40"/>
    <p:sldId id="505" r:id="rId41"/>
    <p:sldId id="479" r:id="rId42"/>
    <p:sldId id="356" r:id="rId43"/>
    <p:sldId id="366" r:id="rId44"/>
    <p:sldId id="360" r:id="rId45"/>
    <p:sldId id="506" r:id="rId46"/>
    <p:sldId id="362" r:id="rId47"/>
    <p:sldId id="508" r:id="rId48"/>
    <p:sldId id="509" r:id="rId49"/>
    <p:sldId id="480" r:id="rId50"/>
    <p:sldId id="325" r:id="rId51"/>
    <p:sldId id="481" r:id="rId52"/>
    <p:sldId id="332" r:id="rId53"/>
    <p:sldId id="485" r:id="rId54"/>
    <p:sldId id="510" r:id="rId55"/>
    <p:sldId id="483" r:id="rId56"/>
    <p:sldId id="484" r:id="rId57"/>
    <p:sldId id="486" r:id="rId58"/>
    <p:sldId id="487" r:id="rId59"/>
    <p:sldId id="488" r:id="rId60"/>
    <p:sldId id="335" r:id="rId61"/>
    <p:sldId id="489" r:id="rId62"/>
    <p:sldId id="511" r:id="rId63"/>
    <p:sldId id="491" r:id="rId64"/>
    <p:sldId id="492" r:id="rId65"/>
    <p:sldId id="495" r:id="rId66"/>
    <p:sldId id="496" r:id="rId67"/>
    <p:sldId id="490" r:id="rId68"/>
    <p:sldId id="494" r:id="rId69"/>
    <p:sldId id="493" r:id="rId70"/>
    <p:sldId id="512" r:id="rId71"/>
    <p:sldId id="498" r:id="rId72"/>
    <p:sldId id="499" r:id="rId73"/>
    <p:sldId id="513" r:id="rId74"/>
    <p:sldId id="350" r:id="rId75"/>
    <p:sldId id="447" r:id="rId76"/>
    <p:sldId id="500" r:id="rId7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56C4C-77EB-4508-8EC8-CE5ABD66F44D}" v="3" dt="2023-01-12T15:21:35.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506" autoAdjust="0"/>
    <p:restoredTop sz="83313" autoAdjust="0"/>
  </p:normalViewPr>
  <p:slideViewPr>
    <p:cSldViewPr>
      <p:cViewPr varScale="1">
        <p:scale>
          <a:sx n="95" d="100"/>
          <a:sy n="95" d="100"/>
        </p:scale>
        <p:origin x="1662" y="78"/>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3" d="2"/>
        <a:sy n="3" d="2"/>
      </p:scale>
      <p:origin x="0" y="0"/>
    </p:cViewPr>
  </p:notesTextViewPr>
  <p:sorterViewPr>
    <p:cViewPr>
      <p:scale>
        <a:sx n="66" d="100"/>
        <a:sy n="66" d="100"/>
      </p:scale>
      <p:origin x="0" y="2482"/>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microsoft.com/office/2016/11/relationships/changesInfo" Target="changesInfos/changesInfo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handoutMaster" Target="handoutMasters/handoutMaster1.xml"/><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slide" Target="slides/slide57.xml"/><Relationship Id="rId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56A56C4C-77EB-4508-8EC8-CE5ABD66F44D}"/>
    <pc:docChg chg="modMainMaster">
      <pc:chgData name="Schwartz, Stephanie" userId="aa8fa799-5957-4a86-b1b1-233f34a2fe0c" providerId="ADAL" clId="{56A56C4C-77EB-4508-8EC8-CE5ABD66F44D}" dt="2023-01-12T15:21:53.552" v="3" actId="20577"/>
      <pc:docMkLst>
        <pc:docMk/>
      </pc:docMkLst>
      <pc:sldMasterChg chg="modSp mod">
        <pc:chgData name="Schwartz, Stephanie" userId="aa8fa799-5957-4a86-b1b1-233f34a2fe0c" providerId="ADAL" clId="{56A56C4C-77EB-4508-8EC8-CE5ABD66F44D}" dt="2023-01-12T15:21:47.320" v="1" actId="20577"/>
        <pc:sldMasterMkLst>
          <pc:docMk/>
          <pc:sldMasterMk cId="0" sldId="2147483797"/>
        </pc:sldMasterMkLst>
        <pc:spChg chg="mod">
          <ac:chgData name="Schwartz, Stephanie" userId="aa8fa799-5957-4a86-b1b1-233f34a2fe0c" providerId="ADAL" clId="{56A56C4C-77EB-4508-8EC8-CE5ABD66F44D}" dt="2023-01-12T15:21:47.320" v="1" actId="20577"/>
          <ac:spMkLst>
            <pc:docMk/>
            <pc:sldMasterMk cId="0" sldId="2147483797"/>
            <ac:spMk id="14" creationId="{01223223-DB8C-46C4-B4B3-1E7CF464D698}"/>
          </ac:spMkLst>
        </pc:spChg>
      </pc:sldMasterChg>
      <pc:sldMasterChg chg="modSp mod">
        <pc:chgData name="Schwartz, Stephanie" userId="aa8fa799-5957-4a86-b1b1-233f34a2fe0c" providerId="ADAL" clId="{56A56C4C-77EB-4508-8EC8-CE5ABD66F44D}" dt="2023-01-12T15:21:53.552" v="3" actId="20577"/>
        <pc:sldMasterMkLst>
          <pc:docMk/>
          <pc:sldMasterMk cId="0" sldId="2147483798"/>
        </pc:sldMasterMkLst>
        <pc:spChg chg="mod">
          <ac:chgData name="Schwartz, Stephanie" userId="aa8fa799-5957-4a86-b1b1-233f34a2fe0c" providerId="ADAL" clId="{56A56C4C-77EB-4508-8EC8-CE5ABD66F44D}" dt="2023-01-12T15:21:53.552" v="3" actId="20577"/>
          <ac:spMkLst>
            <pc:docMk/>
            <pc:sldMasterMk cId="0" sldId="2147483798"/>
            <ac:spMk id="8" creationId="{91CD36DF-E382-4D38-BE36-8634E0042E59}"/>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59987D3-90BD-4FD2-BD5D-183AFC81BA30}"/>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8-</a:t>
            </a:r>
            <a:fld id="{7DF7533A-12A3-4686-950D-B68AB88CC842}"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0120C14-2446-4826-99E5-0E0E5BE55B6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E610F9A1-89A2-455E-9912-8C68DBE94C3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939A3A68-D94A-4BB4-AB5C-9F4EA77A0846}"/>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8-</a:t>
            </a:r>
            <a:fld id="{759DA8D3-FAD7-48C6-80F3-983C558F18F6}"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BB1D0BFD-D521-4E6F-B1A3-E5CD006A2D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D7590327-4ACD-45D9-B96C-38DF217440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Chapter 8: Reporting and Interpreting Long-Lived Assets</a:t>
            </a:r>
          </a:p>
        </p:txBody>
      </p:sp>
      <p:sp>
        <p:nvSpPr>
          <p:cNvPr id="6147" name="Slide Number Placeholder 3">
            <a:extLst>
              <a:ext uri="{FF2B5EF4-FFF2-40B4-BE49-F238E27FC236}">
                <a16:creationId xmlns:a16="http://schemas.microsoft.com/office/drawing/2014/main" id="{B45FA4E1-2FAC-43D2-B123-E591CEF7A177}"/>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F48579BF-FA98-4741-BB89-1D800ADA3EB6}" type="slidenum">
              <a:rPr lang="en-US" altLang="en-US"/>
              <a:pPr algn="r" eaLnBrk="1" hangingPunct="1">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8-</a:t>
            </a:r>
            <a:fld id="{759DA8D3-FAD7-48C6-80F3-983C558F18F6}" type="slidenum">
              <a:rPr lang="en-US" altLang="en-US" smtClean="0"/>
              <a:pPr>
                <a:defRPr/>
              </a:pPr>
              <a:t>6</a:t>
            </a:fld>
            <a:endParaRPr lang="en-US" altLang="en-US"/>
          </a:p>
        </p:txBody>
      </p:sp>
    </p:spTree>
    <p:extLst>
      <p:ext uri="{BB962C8B-B14F-4D97-AF65-F5344CB8AC3E}">
        <p14:creationId xmlns:p14="http://schemas.microsoft.com/office/powerpoint/2010/main" val="1147998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a:extLst>
              <a:ext uri="{FF2B5EF4-FFF2-40B4-BE49-F238E27FC236}">
                <a16:creationId xmlns:a16="http://schemas.microsoft.com/office/drawing/2014/main" id="{56EB2881-219F-4861-B68C-6BF74B1211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244227C-735E-4C75-9E2D-CFF20E035569}" type="slidenum">
              <a:rPr lang="en-US" altLang="en-US" smtClean="0"/>
              <a:pPr>
                <a:spcBef>
                  <a:spcPct val="0"/>
                </a:spcBef>
              </a:pPr>
              <a:t>8</a:t>
            </a:fld>
            <a:endParaRPr lang="en-US" altLang="en-US"/>
          </a:p>
        </p:txBody>
      </p:sp>
      <p:sp>
        <p:nvSpPr>
          <p:cNvPr id="11266" name="Rectangle 2">
            <a:extLst>
              <a:ext uri="{FF2B5EF4-FFF2-40B4-BE49-F238E27FC236}">
                <a16:creationId xmlns:a16="http://schemas.microsoft.com/office/drawing/2014/main" id="{AE1A3452-4285-409C-812A-CF736452845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Rectangle 3">
            <a:extLst>
              <a:ext uri="{FF2B5EF4-FFF2-40B4-BE49-F238E27FC236}">
                <a16:creationId xmlns:a16="http://schemas.microsoft.com/office/drawing/2014/main" id="{30DD9D15-D2BD-438E-A99E-B7F1CB3F62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a:extLst>
              <a:ext uri="{FF2B5EF4-FFF2-40B4-BE49-F238E27FC236}">
                <a16:creationId xmlns:a16="http://schemas.microsoft.com/office/drawing/2014/main" id="{85CE6D4C-C9CD-465D-817A-9ACBAA8C44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17E7D88-5F67-4B16-8A73-485DA1173599}" type="slidenum">
              <a:rPr lang="en-US" altLang="en-US" smtClean="0"/>
              <a:pPr>
                <a:spcBef>
                  <a:spcPct val="0"/>
                </a:spcBef>
              </a:pPr>
              <a:t>9</a:t>
            </a:fld>
            <a:endParaRPr lang="en-US" altLang="en-US"/>
          </a:p>
        </p:txBody>
      </p:sp>
      <p:sp>
        <p:nvSpPr>
          <p:cNvPr id="13314" name="Rectangle 2">
            <a:extLst>
              <a:ext uri="{FF2B5EF4-FFF2-40B4-BE49-F238E27FC236}">
                <a16:creationId xmlns:a16="http://schemas.microsoft.com/office/drawing/2014/main" id="{AF8D2C27-52A1-4F4B-9E2C-776C66E6DE0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Rectangle 3">
            <a:extLst>
              <a:ext uri="{FF2B5EF4-FFF2-40B4-BE49-F238E27FC236}">
                <a16:creationId xmlns:a16="http://schemas.microsoft.com/office/drawing/2014/main" id="{4E050CB5-CD20-4DB9-8654-A7BA8A3F71B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894032F9-316E-4ADB-AA99-4F6B9E5C91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Rectangle 3">
            <a:extLst>
              <a:ext uri="{FF2B5EF4-FFF2-40B4-BE49-F238E27FC236}">
                <a16:creationId xmlns:a16="http://schemas.microsoft.com/office/drawing/2014/main" id="{ACB68273-3206-4B91-A7C9-932D102FE7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73FAF989-13EC-4E2B-97D8-A56FB0EEC2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DEF5A25-877F-4E81-BA28-BC8B5A78E06F}" type="slidenum">
              <a:rPr lang="en-US" altLang="en-US" smtClean="0"/>
              <a:pPr>
                <a:spcBef>
                  <a:spcPct val="0"/>
                </a:spcBef>
              </a:pPr>
              <a:t>13</a:t>
            </a:fld>
            <a:endParaRPr lang="en-US" altLang="en-US"/>
          </a:p>
        </p:txBody>
      </p:sp>
      <p:sp>
        <p:nvSpPr>
          <p:cNvPr id="17410" name="Rectangle 2">
            <a:extLst>
              <a:ext uri="{FF2B5EF4-FFF2-40B4-BE49-F238E27FC236}">
                <a16:creationId xmlns:a16="http://schemas.microsoft.com/office/drawing/2014/main" id="{A29E8CD4-2A1A-41B9-B00D-CD9FA35FF02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38BBDBE6-C5ED-4AD7-A12B-5A9555E56BA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AE4732B1-3612-4982-BE20-43E20985C04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6915EF0-4E29-4688-AA78-BAFCCE06B648}" type="slidenum">
              <a:rPr lang="en-US" altLang="en-US" smtClean="0"/>
              <a:pPr>
                <a:spcBef>
                  <a:spcPct val="0"/>
                </a:spcBef>
              </a:pPr>
              <a:t>14</a:t>
            </a:fld>
            <a:endParaRPr lang="en-US" altLang="en-US"/>
          </a:p>
        </p:txBody>
      </p:sp>
      <p:sp>
        <p:nvSpPr>
          <p:cNvPr id="19458" name="Rectangle 2">
            <a:extLst>
              <a:ext uri="{FF2B5EF4-FFF2-40B4-BE49-F238E27FC236}">
                <a16:creationId xmlns:a16="http://schemas.microsoft.com/office/drawing/2014/main" id="{CADD81B1-5418-4496-B9E7-6A5C652BCD2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85DF0ED0-30E6-4911-9954-B89ECEAFDA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160F6E85-ED62-4EAE-912C-12AF4A3B88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859D199-0E23-4793-82F8-2BADB00C8519}" type="slidenum">
              <a:rPr lang="en-US" altLang="en-US" smtClean="0"/>
              <a:pPr>
                <a:spcBef>
                  <a:spcPct val="0"/>
                </a:spcBef>
              </a:pPr>
              <a:t>15</a:t>
            </a:fld>
            <a:endParaRPr lang="en-US" altLang="en-US"/>
          </a:p>
        </p:txBody>
      </p:sp>
      <p:sp>
        <p:nvSpPr>
          <p:cNvPr id="21506" name="Rectangle 2">
            <a:extLst>
              <a:ext uri="{FF2B5EF4-FFF2-40B4-BE49-F238E27FC236}">
                <a16:creationId xmlns:a16="http://schemas.microsoft.com/office/drawing/2014/main" id="{A2F192A3-7A76-4AD1-8352-AA7848C0BF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97ECAE93-26AE-4CBE-9488-CAE145751D3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673FC5C-2D28-4EBC-8A06-174D67642D4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D6E171-222B-41A3-A388-F78D88160A61}" type="slidenum">
              <a:rPr lang="en-US" altLang="en-US" smtClean="0"/>
              <a:pPr>
                <a:spcBef>
                  <a:spcPct val="0"/>
                </a:spcBef>
              </a:pPr>
              <a:t>16</a:t>
            </a:fld>
            <a:endParaRPr lang="en-US" altLang="en-US"/>
          </a:p>
        </p:txBody>
      </p:sp>
      <p:sp>
        <p:nvSpPr>
          <p:cNvPr id="23554" name="Rectangle 2">
            <a:extLst>
              <a:ext uri="{FF2B5EF4-FFF2-40B4-BE49-F238E27FC236}">
                <a16:creationId xmlns:a16="http://schemas.microsoft.com/office/drawing/2014/main" id="{4A9D60DE-DA09-45D2-9F79-1AF4C5F36D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BCC75DB5-F688-4B4E-A6C7-AA15566F5A7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8-</a:t>
            </a:r>
            <a:fld id="{759DA8D3-FAD7-48C6-80F3-983C558F18F6}" type="slidenum">
              <a:rPr lang="en-US" altLang="en-US" smtClean="0"/>
              <a:pPr>
                <a:defRPr/>
              </a:pPr>
              <a:t>26</a:t>
            </a:fld>
            <a:endParaRPr lang="en-US" altLang="en-US"/>
          </a:p>
        </p:txBody>
      </p:sp>
    </p:spTree>
    <p:extLst>
      <p:ext uri="{BB962C8B-B14F-4D97-AF65-F5344CB8AC3E}">
        <p14:creationId xmlns:p14="http://schemas.microsoft.com/office/powerpoint/2010/main" val="853188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8AEDE449-4A86-467B-AC27-A10BF32C3E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Rectangle 3">
            <a:extLst>
              <a:ext uri="{FF2B5EF4-FFF2-40B4-BE49-F238E27FC236}">
                <a16:creationId xmlns:a16="http://schemas.microsoft.com/office/drawing/2014/main" id="{7860BB3F-1DEF-4347-9A89-FDA0AE41C6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99AB4C87-947B-4180-A17C-E1E764CC45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a:extLst>
              <a:ext uri="{FF2B5EF4-FFF2-40B4-BE49-F238E27FC236}">
                <a16:creationId xmlns:a16="http://schemas.microsoft.com/office/drawing/2014/main" id="{3B8C0073-1014-416E-94E3-3D15BE17AA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80000"/>
              </a:lnSpc>
            </a:pPr>
            <a:endParaRPr lang="en-CA" altLang="en-US" sz="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99AB4C87-947B-4180-A17C-E1E764CC45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a:extLst>
              <a:ext uri="{FF2B5EF4-FFF2-40B4-BE49-F238E27FC236}">
                <a16:creationId xmlns:a16="http://schemas.microsoft.com/office/drawing/2014/main" id="{3B8C0073-1014-416E-94E3-3D15BE17AA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80000"/>
              </a:lnSpc>
            </a:pPr>
            <a:endParaRPr lang="en-CA" altLang="en-US" sz="800"/>
          </a:p>
        </p:txBody>
      </p:sp>
    </p:spTree>
    <p:extLst>
      <p:ext uri="{BB962C8B-B14F-4D97-AF65-F5344CB8AC3E}">
        <p14:creationId xmlns:p14="http://schemas.microsoft.com/office/powerpoint/2010/main" val="1135122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FA5EA139-253C-4259-8B30-58CE91B5A56A}"/>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38AE8EE1-D59C-496D-BE54-A3EF72B907F3}" type="slidenum">
              <a:rPr lang="en-US" altLang="en-US"/>
              <a:pPr algn="r" eaLnBrk="1" hangingPunct="1">
                <a:spcBef>
                  <a:spcPct val="0"/>
                </a:spcBef>
              </a:pPr>
              <a:t>42</a:t>
            </a:fld>
            <a:endParaRPr lang="en-US" altLang="en-US"/>
          </a:p>
        </p:txBody>
      </p:sp>
      <p:sp>
        <p:nvSpPr>
          <p:cNvPr id="31746" name="Rectangle 2">
            <a:extLst>
              <a:ext uri="{FF2B5EF4-FFF2-40B4-BE49-F238E27FC236}">
                <a16:creationId xmlns:a16="http://schemas.microsoft.com/office/drawing/2014/main" id="{6E2C0410-83D8-4E95-B3F8-CCEC692A16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FD6F74F5-C04D-4890-9989-4CE451C8FB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FA5EA139-253C-4259-8B30-58CE91B5A56A}"/>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38AE8EE1-D59C-496D-BE54-A3EF72B907F3}" type="slidenum">
              <a:rPr lang="en-US" altLang="en-US"/>
              <a:pPr algn="r" eaLnBrk="1" hangingPunct="1">
                <a:spcBef>
                  <a:spcPct val="0"/>
                </a:spcBef>
              </a:pPr>
              <a:t>43</a:t>
            </a:fld>
            <a:endParaRPr lang="en-US" altLang="en-US"/>
          </a:p>
        </p:txBody>
      </p:sp>
      <p:sp>
        <p:nvSpPr>
          <p:cNvPr id="31746" name="Rectangle 2">
            <a:extLst>
              <a:ext uri="{FF2B5EF4-FFF2-40B4-BE49-F238E27FC236}">
                <a16:creationId xmlns:a16="http://schemas.microsoft.com/office/drawing/2014/main" id="{6E2C0410-83D8-4E95-B3F8-CCEC692A16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FD6F74F5-C04D-4890-9989-4CE451C8FB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1526117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FA5EA139-253C-4259-8B30-58CE91B5A56A}"/>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38AE8EE1-D59C-496D-BE54-A3EF72B907F3}" type="slidenum">
              <a:rPr lang="en-US" altLang="en-US"/>
              <a:pPr algn="r" eaLnBrk="1" hangingPunct="1">
                <a:spcBef>
                  <a:spcPct val="0"/>
                </a:spcBef>
              </a:pPr>
              <a:t>44</a:t>
            </a:fld>
            <a:endParaRPr lang="en-US" altLang="en-US"/>
          </a:p>
        </p:txBody>
      </p:sp>
      <p:sp>
        <p:nvSpPr>
          <p:cNvPr id="31746" name="Rectangle 2">
            <a:extLst>
              <a:ext uri="{FF2B5EF4-FFF2-40B4-BE49-F238E27FC236}">
                <a16:creationId xmlns:a16="http://schemas.microsoft.com/office/drawing/2014/main" id="{6E2C0410-83D8-4E95-B3F8-CCEC692A16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FD6F74F5-C04D-4890-9989-4CE451C8FB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988098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65B697A-A8E6-43D3-B0A1-0DF610E83F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ECBDA24-4E29-4991-A7E8-5ADD0F35ECF9}" type="slidenum">
              <a:rPr lang="en-US" altLang="en-US" smtClean="0"/>
              <a:pPr>
                <a:spcBef>
                  <a:spcPct val="0"/>
                </a:spcBef>
              </a:pPr>
              <a:t>46</a:t>
            </a:fld>
            <a:endParaRPr lang="en-US" altLang="en-US"/>
          </a:p>
        </p:txBody>
      </p:sp>
      <p:sp>
        <p:nvSpPr>
          <p:cNvPr id="34818" name="Rectangle 2">
            <a:extLst>
              <a:ext uri="{FF2B5EF4-FFF2-40B4-BE49-F238E27FC236}">
                <a16:creationId xmlns:a16="http://schemas.microsoft.com/office/drawing/2014/main" id="{AA0A11DC-4B8C-495E-9822-9CBDF4FD459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4ED8E08F-A0C8-43B4-A20B-063D7278ED4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FB1C03CB-AF0E-484A-A328-D36676CB87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A5AF1F-8483-4B0E-81E4-7B174ED76F66}" type="slidenum">
              <a:rPr lang="en-US" altLang="en-US" smtClean="0"/>
              <a:pPr>
                <a:spcBef>
                  <a:spcPct val="0"/>
                </a:spcBef>
              </a:pPr>
              <a:t>48</a:t>
            </a:fld>
            <a:endParaRPr lang="en-US" altLang="en-US"/>
          </a:p>
        </p:txBody>
      </p:sp>
      <p:sp>
        <p:nvSpPr>
          <p:cNvPr id="36866" name="Rectangle 2">
            <a:extLst>
              <a:ext uri="{FF2B5EF4-FFF2-40B4-BE49-F238E27FC236}">
                <a16:creationId xmlns:a16="http://schemas.microsoft.com/office/drawing/2014/main" id="{1ECE7B03-3ACD-4122-83D1-E14FBDB4EB6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2BEBACEF-9ADF-4A28-A361-0815A5D80B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0FD0DEAD-E73B-4A2C-A85A-87A920065CC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AC28F38-5003-49FC-B97A-79E23E3166A4}" type="slidenum">
              <a:rPr lang="en-US" altLang="en-US" smtClean="0"/>
              <a:pPr>
                <a:spcBef>
                  <a:spcPct val="0"/>
                </a:spcBef>
              </a:pPr>
              <a:t>49</a:t>
            </a:fld>
            <a:endParaRPr lang="en-US" altLang="en-US"/>
          </a:p>
        </p:txBody>
      </p:sp>
      <p:sp>
        <p:nvSpPr>
          <p:cNvPr id="38914" name="Rectangle 2">
            <a:extLst>
              <a:ext uri="{FF2B5EF4-FFF2-40B4-BE49-F238E27FC236}">
                <a16:creationId xmlns:a16="http://schemas.microsoft.com/office/drawing/2014/main" id="{2838302B-6A7A-472F-947A-40FC4DDA35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5AB71A35-8516-49B1-8DB8-57D89AD694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0FD0DEAD-E73B-4A2C-A85A-87A920065CC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AC28F38-5003-49FC-B97A-79E23E3166A4}" type="slidenum">
              <a:rPr lang="en-US" altLang="en-US" smtClean="0"/>
              <a:pPr>
                <a:spcBef>
                  <a:spcPct val="0"/>
                </a:spcBef>
              </a:pPr>
              <a:t>50</a:t>
            </a:fld>
            <a:endParaRPr lang="en-US" altLang="en-US"/>
          </a:p>
        </p:txBody>
      </p:sp>
      <p:sp>
        <p:nvSpPr>
          <p:cNvPr id="38914" name="Rectangle 2">
            <a:extLst>
              <a:ext uri="{FF2B5EF4-FFF2-40B4-BE49-F238E27FC236}">
                <a16:creationId xmlns:a16="http://schemas.microsoft.com/office/drawing/2014/main" id="{2838302B-6A7A-472F-947A-40FC4DDA35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5AB71A35-8516-49B1-8DB8-57D89AD694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02318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B2D5638F-8050-4D14-A4E9-A33C92A5A3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7AF50B3-51F8-466F-B6F2-4C004C20CBFD}" type="slidenum">
              <a:rPr lang="en-US" altLang="en-US" smtClean="0"/>
              <a:pPr>
                <a:spcBef>
                  <a:spcPct val="0"/>
                </a:spcBef>
              </a:pPr>
              <a:t>51</a:t>
            </a:fld>
            <a:endParaRPr lang="en-US" altLang="en-US"/>
          </a:p>
        </p:txBody>
      </p:sp>
      <p:sp>
        <p:nvSpPr>
          <p:cNvPr id="40962" name="Rectangle 2">
            <a:extLst>
              <a:ext uri="{FF2B5EF4-FFF2-40B4-BE49-F238E27FC236}">
                <a16:creationId xmlns:a16="http://schemas.microsoft.com/office/drawing/2014/main" id="{87341EA5-77B2-4A83-96D8-51ACC4CEF39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a:extLst>
              <a:ext uri="{FF2B5EF4-FFF2-40B4-BE49-F238E27FC236}">
                <a16:creationId xmlns:a16="http://schemas.microsoft.com/office/drawing/2014/main" id="{83B3D08F-F62B-49F7-AE01-C8524E4165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9BD694F7-C88F-49EE-A5AB-2918EFFFAA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72FF03E-25DA-4AFB-BB60-BA1CD4CB115C}" type="slidenum">
              <a:rPr lang="en-US" altLang="en-US" smtClean="0"/>
              <a:pPr>
                <a:spcBef>
                  <a:spcPct val="0"/>
                </a:spcBef>
              </a:pPr>
              <a:t>52</a:t>
            </a:fld>
            <a:endParaRPr lang="en-US" altLang="en-US"/>
          </a:p>
        </p:txBody>
      </p:sp>
      <p:sp>
        <p:nvSpPr>
          <p:cNvPr id="43010" name="Rectangle 2">
            <a:extLst>
              <a:ext uri="{FF2B5EF4-FFF2-40B4-BE49-F238E27FC236}">
                <a16:creationId xmlns:a16="http://schemas.microsoft.com/office/drawing/2014/main" id="{14A05207-F0F3-422B-B7F3-6632B5B6602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a:extLst>
              <a:ext uri="{FF2B5EF4-FFF2-40B4-BE49-F238E27FC236}">
                <a16:creationId xmlns:a16="http://schemas.microsoft.com/office/drawing/2014/main" id="{FF6640B7-A7B2-4023-873D-B0EB7EC1AE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EF238FB-1991-42BC-B22F-3317E41A7FD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AEAFEC9-E50C-4B1E-8925-6F2A98A5171A}" type="slidenum">
              <a:rPr lang="en-US" altLang="en-US" smtClean="0"/>
              <a:pPr>
                <a:spcBef>
                  <a:spcPct val="0"/>
                </a:spcBef>
              </a:pPr>
              <a:t>53</a:t>
            </a:fld>
            <a:endParaRPr lang="en-US" altLang="en-US"/>
          </a:p>
        </p:txBody>
      </p:sp>
      <p:sp>
        <p:nvSpPr>
          <p:cNvPr id="45058" name="Rectangle 2">
            <a:extLst>
              <a:ext uri="{FF2B5EF4-FFF2-40B4-BE49-F238E27FC236}">
                <a16:creationId xmlns:a16="http://schemas.microsoft.com/office/drawing/2014/main" id="{61BFDCEC-8C5F-422C-8E07-B8AE3438C67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a:extLst>
              <a:ext uri="{FF2B5EF4-FFF2-40B4-BE49-F238E27FC236}">
                <a16:creationId xmlns:a16="http://schemas.microsoft.com/office/drawing/2014/main" id="{FA01B635-57CA-41D0-B785-B88460C62A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A431C84F-83A7-4595-9848-39388E0478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0F3315-BF6C-439B-8F83-1FBE6077DF80}" type="slidenum">
              <a:rPr lang="en-US" altLang="en-US" smtClean="0"/>
              <a:pPr>
                <a:spcBef>
                  <a:spcPct val="0"/>
                </a:spcBef>
              </a:pPr>
              <a:t>56</a:t>
            </a:fld>
            <a:endParaRPr lang="en-US" altLang="en-US"/>
          </a:p>
        </p:txBody>
      </p:sp>
      <p:sp>
        <p:nvSpPr>
          <p:cNvPr id="47106" name="Rectangle 2">
            <a:extLst>
              <a:ext uri="{FF2B5EF4-FFF2-40B4-BE49-F238E27FC236}">
                <a16:creationId xmlns:a16="http://schemas.microsoft.com/office/drawing/2014/main" id="{C892BC84-F5DC-46A2-967C-7535A4D8B13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62BC3010-2289-4C1F-96C1-9DA4636E52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15702DF-C445-4E55-8832-8143DB6F7B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00B47F-E8EC-4724-B764-B73DEB5AE6DB}" type="slidenum">
              <a:rPr lang="en-US" altLang="en-US" smtClean="0"/>
              <a:pPr>
                <a:spcBef>
                  <a:spcPct val="0"/>
                </a:spcBef>
              </a:pPr>
              <a:t>57</a:t>
            </a:fld>
            <a:endParaRPr lang="en-US" altLang="en-US"/>
          </a:p>
        </p:txBody>
      </p:sp>
      <p:sp>
        <p:nvSpPr>
          <p:cNvPr id="49154" name="Rectangle 2">
            <a:extLst>
              <a:ext uri="{FF2B5EF4-FFF2-40B4-BE49-F238E27FC236}">
                <a16:creationId xmlns:a16="http://schemas.microsoft.com/office/drawing/2014/main" id="{ACF1C13B-ADF2-4539-A43E-7C95C3BD4C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id="{CAB3F831-5103-4EC2-B6F3-B72D33358F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15702DF-C445-4E55-8832-8143DB6F7B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00B47F-E8EC-4724-B764-B73DEB5AE6DB}" type="slidenum">
              <a:rPr lang="en-US" altLang="en-US" smtClean="0"/>
              <a:pPr>
                <a:spcBef>
                  <a:spcPct val="0"/>
                </a:spcBef>
              </a:pPr>
              <a:t>58</a:t>
            </a:fld>
            <a:endParaRPr lang="en-US" altLang="en-US"/>
          </a:p>
        </p:txBody>
      </p:sp>
      <p:sp>
        <p:nvSpPr>
          <p:cNvPr id="49154" name="Rectangle 2">
            <a:extLst>
              <a:ext uri="{FF2B5EF4-FFF2-40B4-BE49-F238E27FC236}">
                <a16:creationId xmlns:a16="http://schemas.microsoft.com/office/drawing/2014/main" id="{ACF1C13B-ADF2-4539-A43E-7C95C3BD4C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id="{CAB3F831-5103-4EC2-B6F3-B72D33358F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41200234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AAC5D39-FAEF-46C4-94DF-424AED0A50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Rectangle 3">
            <a:extLst>
              <a:ext uri="{FF2B5EF4-FFF2-40B4-BE49-F238E27FC236}">
                <a16:creationId xmlns:a16="http://schemas.microsoft.com/office/drawing/2014/main" id="{099ED3C6-D290-4A84-9402-A0B43217E8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50026954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3196519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5357539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82945939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1845186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28835088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71312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2782546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5738324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9536932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7099264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40618236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0075549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5104112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6849634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7860797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5704001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39793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654147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4543686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7263461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559452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AA32081E-F322-4E95-8809-D8CE10B83B8F}"/>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24F12A76-3C62-42CF-BC8F-32D726D8539B}"/>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489FE1EC-7179-4BEB-97D0-1E408D6C24EB}"/>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9831411C-8191-4B56-87B1-9BCB10AE0A74}"/>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99E42345-D232-4FC9-BF41-39D7097C74E7}"/>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CA2A44C3-4003-4861-A968-203784C29E73}"/>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34046374-235C-4063-AD01-5CFACE9DF953}"/>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01223223-DB8C-46C4-B4B3-1E7CF464D698}"/>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28FB90D7-2189-4F04-AA8C-0040E6E5D40F}"/>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A6775805-C308-BE49-B2CB-53CABA6F02D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DBDF80D9-6FF4-0C44-9AB6-311FC24B0AFC}"/>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773088F4-9939-49E4-84C0-0419F07EA367}"/>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a:t>Click to edit Master title style</a:t>
            </a:r>
          </a:p>
        </p:txBody>
      </p:sp>
      <p:sp>
        <p:nvSpPr>
          <p:cNvPr id="2051" name="Text Placeholder 12">
            <a:extLst>
              <a:ext uri="{FF2B5EF4-FFF2-40B4-BE49-F238E27FC236}">
                <a16:creationId xmlns:a16="http://schemas.microsoft.com/office/drawing/2014/main" id="{5BEF3878-322A-4375-96C1-442BF154A144}"/>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dirty="0"/>
              <a:t>Click to edit Master text styles</a:t>
            </a:r>
          </a:p>
          <a:p>
            <a:pPr lvl="1"/>
            <a:r>
              <a:rPr lang="en-CA" altLang="en-US" dirty="0"/>
              <a:t>Second level</a:t>
            </a:r>
          </a:p>
          <a:p>
            <a:pPr lvl="2"/>
            <a:r>
              <a:rPr lang="en-CA" altLang="en-US" dirty="0"/>
              <a:t>Third level</a:t>
            </a:r>
          </a:p>
          <a:p>
            <a:pPr lvl="3"/>
            <a:r>
              <a:rPr lang="en-CA" altLang="en-US" dirty="0"/>
              <a:t>Fourth level</a:t>
            </a:r>
          </a:p>
          <a:p>
            <a:pPr lvl="4"/>
            <a:r>
              <a:rPr lang="en-CA" altLang="en-US" dirty="0"/>
              <a:t>Fifth level</a:t>
            </a:r>
          </a:p>
        </p:txBody>
      </p:sp>
      <p:sp>
        <p:nvSpPr>
          <p:cNvPr id="2052" name="Straight Connector 28">
            <a:extLst>
              <a:ext uri="{FF2B5EF4-FFF2-40B4-BE49-F238E27FC236}">
                <a16:creationId xmlns:a16="http://schemas.microsoft.com/office/drawing/2014/main" id="{0DFBF0AB-8C07-47F0-8E9F-9D40D41873AE}"/>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2B6F7A33-A819-4E06-81B5-1613959C876A}"/>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835654EC-5500-425D-A13D-C0B702EA373C}"/>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7-</a:t>
            </a:r>
            <a:fld id="{25562F9E-1959-4C37-B52E-2889B6F2A459}"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91CD36DF-E382-4D38-BE36-8634E0042E59}"/>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B030D26B-4339-4F6A-A5D9-6CCCDE726DB0}"/>
              </a:ext>
            </a:extLst>
          </p:cNvPr>
          <p:cNvSpPr>
            <a:spLocks/>
          </p:cNvSpPr>
          <p:nvPr/>
        </p:nvSpPr>
        <p:spPr bwMode="auto">
          <a:xfrm>
            <a:off x="990600" y="3352800"/>
            <a:ext cx="7315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 Long-Lived Assets</a:t>
            </a:r>
          </a:p>
        </p:txBody>
      </p:sp>
      <p:sp>
        <p:nvSpPr>
          <p:cNvPr id="5122" name="Subtitle 4">
            <a:extLst>
              <a:ext uri="{FF2B5EF4-FFF2-40B4-BE49-F238E27FC236}">
                <a16:creationId xmlns:a16="http://schemas.microsoft.com/office/drawing/2014/main" id="{EAD104EE-1AB2-4643-90CE-B567715F6B6F}"/>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8E2A4471-E179-44CA-BE1B-F25405257322}"/>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B7C9DBC7-EA66-4345-BCB8-68ABD8E25425}"/>
              </a:ext>
            </a:extLst>
          </p:cNvPr>
          <p:cNvSpPr>
            <a:spLocks noGrp="1"/>
          </p:cNvSpPr>
          <p:nvPr>
            <p:ph idx="1"/>
          </p:nvPr>
        </p:nvSpPr>
        <p:spPr/>
        <p:txBody>
          <a:bodyPr/>
          <a:lstStyle/>
          <a:p>
            <a:r>
              <a:rPr lang="en-CA" altLang="en-US" b="1" dirty="0"/>
              <a:t>LO7-1 </a:t>
            </a:r>
            <a:r>
              <a:rPr lang="en-CA" altLang="en-US" dirty="0"/>
              <a:t>Define, classify, and explain the nature of long-lived assets, and interpret the fixed asset turnover ratio.</a:t>
            </a:r>
          </a:p>
          <a:p>
            <a:r>
              <a:rPr lang="en-CA" altLang="en-US" b="1" dirty="0"/>
              <a:t>LO7-2 </a:t>
            </a:r>
            <a:r>
              <a:rPr lang="en-CA" altLang="en-US" dirty="0"/>
              <a:t>Apply the cost principle to measure the acquisition and maintenance of property, plant, and equipment.</a:t>
            </a:r>
          </a:p>
          <a:p>
            <a:r>
              <a:rPr lang="en-CA" altLang="en-US" b="1" dirty="0"/>
              <a:t>LO7-3 </a:t>
            </a:r>
            <a:r>
              <a:rPr lang="en-CA" altLang="en-US" dirty="0"/>
              <a:t>Apply various depreciation methods as assets are held and used over time.</a:t>
            </a:r>
          </a:p>
          <a:p>
            <a:r>
              <a:rPr lang="en-CA" altLang="en-US" b="1" dirty="0"/>
              <a:t>LO7-4 </a:t>
            </a:r>
            <a:r>
              <a:rPr lang="en-CA" altLang="en-US" dirty="0"/>
              <a:t>Explain the effect of asset impairment on the financial statements.</a:t>
            </a:r>
          </a:p>
          <a:p>
            <a:r>
              <a:rPr lang="en-CA" altLang="en-US" b="1" dirty="0"/>
              <a:t>LO7-5 </a:t>
            </a:r>
            <a:r>
              <a:rPr lang="en-CA" altLang="en-US" dirty="0"/>
              <a:t>Analyze the disposal of property, plant, and equipment.</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C4C944FC-FA2C-4722-93C5-46A1D2D8FBCE}"/>
              </a:ext>
            </a:extLst>
          </p:cNvPr>
          <p:cNvSpPr>
            <a:spLocks noGrp="1"/>
          </p:cNvSpPr>
          <p:nvPr>
            <p:ph type="title"/>
          </p:nvPr>
        </p:nvSpPr>
        <p:spPr/>
        <p:txBody>
          <a:bodyPr/>
          <a:lstStyle/>
          <a:p>
            <a:r>
              <a:rPr lang="en-US" altLang="en-US"/>
              <a:t>Learning Objectives Continued</a:t>
            </a:r>
          </a:p>
        </p:txBody>
      </p:sp>
      <p:sp>
        <p:nvSpPr>
          <p:cNvPr id="8194" name="Content Placeholder 2">
            <a:extLst>
              <a:ext uri="{FF2B5EF4-FFF2-40B4-BE49-F238E27FC236}">
                <a16:creationId xmlns:a16="http://schemas.microsoft.com/office/drawing/2014/main" id="{EE6E1402-2D9F-42F2-95AF-82FDBA230F44}"/>
              </a:ext>
            </a:extLst>
          </p:cNvPr>
          <p:cNvSpPr>
            <a:spLocks noGrp="1"/>
          </p:cNvSpPr>
          <p:nvPr>
            <p:ph idx="1"/>
          </p:nvPr>
        </p:nvSpPr>
        <p:spPr/>
        <p:txBody>
          <a:bodyPr/>
          <a:lstStyle/>
          <a:p>
            <a:r>
              <a:rPr lang="en-CA" altLang="en-US" b="1" dirty="0"/>
              <a:t>LO7-6 </a:t>
            </a:r>
            <a:r>
              <a:rPr lang="en-CA" altLang="en-US" dirty="0"/>
              <a:t>Apply measurement and reporting concepts for natural resources, intangible assets, and goodwill.</a:t>
            </a:r>
          </a:p>
          <a:p>
            <a:r>
              <a:rPr lang="en-CA" altLang="en-US" b="1"/>
              <a:t>LO7-7 </a:t>
            </a:r>
            <a:r>
              <a:rPr lang="en-CA" altLang="en-US" dirty="0"/>
              <a:t>Explain the impact on cash flows of the acquisition, use, and disposal of long-lived assets.</a:t>
            </a:r>
          </a:p>
          <a:p>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77739D35-24E0-457E-B7E2-5DAE06537674}"/>
              </a:ext>
            </a:extLst>
          </p:cNvPr>
          <p:cNvSpPr>
            <a:spLocks noGrp="1"/>
          </p:cNvSpPr>
          <p:nvPr>
            <p:ph type="title"/>
          </p:nvPr>
        </p:nvSpPr>
        <p:spPr/>
        <p:txBody>
          <a:bodyPr/>
          <a:lstStyle/>
          <a:p>
            <a:r>
              <a:rPr lang="en-CA" altLang="en-US"/>
              <a:t>Classification of Long-Lived Assets Part 1</a:t>
            </a:r>
            <a:endParaRPr lang="en-US" altLang="en-US"/>
          </a:p>
        </p:txBody>
      </p:sp>
      <p:sp>
        <p:nvSpPr>
          <p:cNvPr id="54274" name="Content Placeholder 2">
            <a:extLst>
              <a:ext uri="{FF2B5EF4-FFF2-40B4-BE49-F238E27FC236}">
                <a16:creationId xmlns:a16="http://schemas.microsoft.com/office/drawing/2014/main" id="{210DEB44-82DD-4664-8A9C-ED7FBD896584}"/>
              </a:ext>
            </a:extLst>
          </p:cNvPr>
          <p:cNvSpPr>
            <a:spLocks noGrp="1"/>
          </p:cNvSpPr>
          <p:nvPr>
            <p:ph idx="1"/>
          </p:nvPr>
        </p:nvSpPr>
        <p:spPr/>
        <p:txBody>
          <a:bodyPr/>
          <a:lstStyle/>
          <a:p>
            <a:r>
              <a:rPr lang="en-CA" altLang="en-US" dirty="0"/>
              <a:t>The term </a:t>
            </a:r>
            <a:r>
              <a:rPr lang="en-CA" altLang="en-US" b="1" dirty="0"/>
              <a:t>long-lived assets</a:t>
            </a:r>
            <a:r>
              <a:rPr lang="en-CA" altLang="en-US" dirty="0"/>
              <a:t> is used to identify property, plant, equipment, intangible assets, and goodwill held for production, rental to others, or administrative purposes, as well as the development, construction, maintenance, or repair of other assets. </a:t>
            </a:r>
          </a:p>
          <a:p>
            <a:endParaRPr lang="en-CA" altLang="en-US" sz="1200" dirty="0"/>
          </a:p>
          <a:p>
            <a:r>
              <a:rPr lang="en-CA" altLang="en-US" dirty="0"/>
              <a:t>Long-lived assets are listed as non-current assets on the statement of financial position.</a:t>
            </a:r>
          </a:p>
          <a:p>
            <a:endParaRPr lang="en-CA" altLang="en-US" sz="1200" dirty="0"/>
          </a:p>
          <a:p>
            <a:r>
              <a:rPr lang="en-CA" altLang="en-US" dirty="0"/>
              <a:t>Long-lived assets include tangible assets, intangible assets, and goodwill.</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DB608AA1-559D-4489-84A6-50523E95C024}"/>
              </a:ext>
            </a:extLst>
          </p:cNvPr>
          <p:cNvSpPr>
            <a:spLocks noGrp="1"/>
          </p:cNvSpPr>
          <p:nvPr>
            <p:ph type="title"/>
          </p:nvPr>
        </p:nvSpPr>
        <p:spPr/>
        <p:txBody>
          <a:bodyPr/>
          <a:lstStyle/>
          <a:p>
            <a:r>
              <a:rPr lang="en-CA" altLang="en-US"/>
              <a:t>Classification of Long-Lived Assets Part 2</a:t>
            </a:r>
            <a:endParaRPr lang="en-US" altLang="en-US"/>
          </a:p>
        </p:txBody>
      </p:sp>
      <p:sp>
        <p:nvSpPr>
          <p:cNvPr id="55298" name="Content Placeholder 2">
            <a:extLst>
              <a:ext uri="{FF2B5EF4-FFF2-40B4-BE49-F238E27FC236}">
                <a16:creationId xmlns:a16="http://schemas.microsoft.com/office/drawing/2014/main" id="{6CB1DE96-0BA9-43EA-9818-9EDD2338B54C}"/>
              </a:ext>
            </a:extLst>
          </p:cNvPr>
          <p:cNvSpPr>
            <a:spLocks noGrp="1"/>
          </p:cNvSpPr>
          <p:nvPr>
            <p:ph idx="1"/>
          </p:nvPr>
        </p:nvSpPr>
        <p:spPr/>
        <p:txBody>
          <a:bodyPr/>
          <a:lstStyle/>
          <a:p>
            <a:r>
              <a:rPr lang="en-CA" altLang="en-US" b="1"/>
              <a:t>Tangible assets </a:t>
            </a:r>
            <a:r>
              <a:rPr lang="en-CA" altLang="en-US"/>
              <a:t>(or fixed assets) can be touched because they have physical substance. This classification is most often called </a:t>
            </a:r>
            <a:r>
              <a:rPr lang="en-CA" altLang="en-US" i="1"/>
              <a:t>property, plant, and equipment</a:t>
            </a:r>
            <a:r>
              <a:rPr lang="en-CA" altLang="en-US"/>
              <a:t>. </a:t>
            </a:r>
          </a:p>
          <a:p>
            <a:endParaRPr lang="en-CA" altLang="en-US" sz="1200"/>
          </a:p>
          <a:p>
            <a:r>
              <a:rPr lang="en-CA" altLang="en-US"/>
              <a:t>The three kinds of tangible assets held for use in operations are as follows:</a:t>
            </a:r>
          </a:p>
          <a:p>
            <a:pPr lvl="1"/>
            <a:r>
              <a:rPr lang="en-CA" altLang="en-US" sz="2600">
                <a:solidFill>
                  <a:schemeClr val="tx1"/>
                </a:solidFill>
              </a:rPr>
              <a:t>Land</a:t>
            </a:r>
          </a:p>
          <a:p>
            <a:pPr lvl="1"/>
            <a:r>
              <a:rPr lang="en-CA" altLang="en-US" sz="2600">
                <a:solidFill>
                  <a:schemeClr val="tx1"/>
                </a:solidFill>
              </a:rPr>
              <a:t>Buildings, fixtures, and equipment</a:t>
            </a:r>
          </a:p>
          <a:p>
            <a:pPr lvl="1"/>
            <a:r>
              <a:rPr lang="en-CA" altLang="en-US" sz="2600">
                <a:solidFill>
                  <a:schemeClr val="tx1"/>
                </a:solidFill>
              </a:rPr>
              <a:t>Natural resources</a:t>
            </a:r>
          </a:p>
          <a:p>
            <a:endParaRPr lang="en-CA"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C31A7204-923D-4371-B50C-E8F6006D73E5}"/>
              </a:ext>
            </a:extLst>
          </p:cNvPr>
          <p:cNvSpPr>
            <a:spLocks noGrp="1"/>
          </p:cNvSpPr>
          <p:nvPr>
            <p:ph type="title"/>
          </p:nvPr>
        </p:nvSpPr>
        <p:spPr/>
        <p:txBody>
          <a:bodyPr/>
          <a:lstStyle/>
          <a:p>
            <a:r>
              <a:rPr lang="en-CA" altLang="en-US"/>
              <a:t>Classification of Long-Lived Assets Part 3</a:t>
            </a:r>
            <a:endParaRPr lang="en-US" altLang="en-US"/>
          </a:p>
        </p:txBody>
      </p:sp>
      <p:sp>
        <p:nvSpPr>
          <p:cNvPr id="56322" name="Content Placeholder 2">
            <a:extLst>
              <a:ext uri="{FF2B5EF4-FFF2-40B4-BE49-F238E27FC236}">
                <a16:creationId xmlns:a16="http://schemas.microsoft.com/office/drawing/2014/main" id="{A390C03F-1762-4D9F-84D7-D4179A178297}"/>
              </a:ext>
            </a:extLst>
          </p:cNvPr>
          <p:cNvSpPr>
            <a:spLocks noGrp="1"/>
          </p:cNvSpPr>
          <p:nvPr>
            <p:ph idx="1"/>
          </p:nvPr>
        </p:nvSpPr>
        <p:spPr/>
        <p:txBody>
          <a:bodyPr/>
          <a:lstStyle/>
          <a:p>
            <a:r>
              <a:rPr lang="en-CA" altLang="en-US" b="1"/>
              <a:t>Intangible assets </a:t>
            </a:r>
            <a:r>
              <a:rPr lang="en-CA" altLang="en-US"/>
              <a:t>have no physical substance and frequently arise from intellectual effort and are known as </a:t>
            </a:r>
            <a:r>
              <a:rPr lang="en-CA" altLang="en-US" i="1"/>
              <a:t>intellectual property</a:t>
            </a:r>
            <a:r>
              <a:rPr lang="en-CA" altLang="en-US"/>
              <a:t>.  Examples include copyrights, patents, licences, trademarks, software, and subscription lists. </a:t>
            </a:r>
          </a:p>
          <a:p>
            <a:r>
              <a:rPr lang="en-CA" altLang="en-US" b="1"/>
              <a:t>Goodwill </a:t>
            </a:r>
            <a:r>
              <a:rPr lang="en-CA" altLang="en-US"/>
              <a:t>has no physical substance. It reflects the favourable reputation that a company has with its customers. </a:t>
            </a:r>
          </a:p>
          <a:p>
            <a:r>
              <a:rPr lang="en-CA" altLang="en-US"/>
              <a:t>Goodwill arises from factors such as customer confidence, reputation for good service and quality products, and financial standing. It is reported as an asset only when one business purchases another business.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AF6AE8DA-2773-4D4C-A12E-5B8D2FE467F8}"/>
              </a:ext>
            </a:extLst>
          </p:cNvPr>
          <p:cNvSpPr>
            <a:spLocks noGrp="1"/>
          </p:cNvSpPr>
          <p:nvPr>
            <p:ph type="title"/>
          </p:nvPr>
        </p:nvSpPr>
        <p:spPr/>
        <p:txBody>
          <a:bodyPr/>
          <a:lstStyle/>
          <a:p>
            <a:r>
              <a:rPr lang="en-US" altLang="en-US"/>
              <a:t>Key Ratio Analysis – Fixed Asset Turnover Ratio</a:t>
            </a:r>
          </a:p>
        </p:txBody>
      </p:sp>
      <p:sp>
        <p:nvSpPr>
          <p:cNvPr id="3" name="Content Placeholder 2">
            <a:extLst>
              <a:ext uri="{FF2B5EF4-FFF2-40B4-BE49-F238E27FC236}">
                <a16:creationId xmlns:a16="http://schemas.microsoft.com/office/drawing/2014/main" id="{C44C653A-429C-48D1-BDF3-5BE2417B50BE}"/>
              </a:ext>
            </a:extLst>
          </p:cNvPr>
          <p:cNvSpPr>
            <a:spLocks noGrp="1"/>
          </p:cNvSpPr>
          <p:nvPr>
            <p:ph idx="1"/>
          </p:nvPr>
        </p:nvSpPr>
        <p:spPr/>
        <p:txBody>
          <a:bodyPr/>
          <a:lstStyle/>
          <a:p>
            <a:pPr>
              <a:buFont typeface="Wingdings 3" pitchFamily="2" charset="2"/>
              <a:buChar char=""/>
              <a:defRPr/>
            </a:pPr>
            <a:r>
              <a:rPr lang="en-CA" b="1" dirty="0"/>
              <a:t>ANALYTICAL QUESTION</a:t>
            </a:r>
            <a:r>
              <a:rPr lang="en-CA" dirty="0"/>
              <a:t> → How effectively is management utilizing its property, plant, and equipment to generate revenues?</a:t>
            </a:r>
          </a:p>
          <a:p>
            <a:pPr>
              <a:buFont typeface="Wingdings 3" pitchFamily="2" charset="2"/>
              <a:buChar char=""/>
              <a:defRPr/>
            </a:pPr>
            <a:r>
              <a:rPr lang="en-CA" b="1" dirty="0"/>
              <a:t>RATIO AND COMPARISONS</a:t>
            </a:r>
            <a:r>
              <a:rPr lang="en-CA" dirty="0"/>
              <a:t> → The fixed asset turnover ratio is useful in answering this question:</a:t>
            </a:r>
          </a:p>
          <a:p>
            <a:pPr>
              <a:buFont typeface="Wingdings 3" pitchFamily="2" charset="2"/>
              <a:buChar char=""/>
              <a:defRPr/>
            </a:pPr>
            <a:endParaRPr lang="en-CA" dirty="0"/>
          </a:p>
          <a:p>
            <a:pPr marL="0" indent="0">
              <a:buFont typeface="Wingdings 3" pitchFamily="2" charset="2"/>
              <a:buNone/>
              <a:defRPr/>
            </a:pPr>
            <a:endParaRPr lang="en-CA" dirty="0"/>
          </a:p>
          <a:p>
            <a:pPr marL="0" indent="0">
              <a:buFont typeface="Wingdings 3" pitchFamily="2" charset="2"/>
              <a:buNone/>
              <a:defRPr/>
            </a:pPr>
            <a:endParaRPr lang="en-CA" sz="200" dirty="0"/>
          </a:p>
          <a:p>
            <a:pPr>
              <a:buFont typeface="Wingdings 3" pitchFamily="2" charset="2"/>
              <a:buChar char=""/>
              <a:defRPr/>
            </a:pPr>
            <a:r>
              <a:rPr lang="en-CA" dirty="0"/>
              <a:t>The fixed asset turnover ratio measures the sales dollars generated by each dollar of fixed assets used. </a:t>
            </a:r>
          </a:p>
          <a:p>
            <a:pPr>
              <a:buFont typeface="Wingdings 3" pitchFamily="2" charset="2"/>
              <a:buChar char=""/>
              <a:defRPr/>
            </a:pPr>
            <a:r>
              <a:rPr lang="en-CA" dirty="0"/>
              <a:t>A high ratio normally suggests effective management. An increasing ratio over time signals more-efficient use of fixed assets. </a:t>
            </a:r>
          </a:p>
          <a:p>
            <a:pPr>
              <a:buFont typeface="Wingdings 3" pitchFamily="2" charset="2"/>
              <a:buChar char=""/>
              <a:defRPr/>
            </a:pPr>
            <a:endParaRPr lang="en-CA"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dirty="0"/>
          </a:p>
        </p:txBody>
      </p:sp>
      <p:grpSp>
        <p:nvGrpSpPr>
          <p:cNvPr id="9219" name="Group 3">
            <a:extLst>
              <a:ext uri="{FF2B5EF4-FFF2-40B4-BE49-F238E27FC236}">
                <a16:creationId xmlns:a16="http://schemas.microsoft.com/office/drawing/2014/main" id="{F7E7A151-9A3D-4C26-8CEA-C32460B6381A}"/>
              </a:ext>
            </a:extLst>
          </p:cNvPr>
          <p:cNvGrpSpPr>
            <a:grpSpLocks/>
          </p:cNvGrpSpPr>
          <p:nvPr/>
        </p:nvGrpSpPr>
        <p:grpSpPr bwMode="auto">
          <a:xfrm>
            <a:off x="655638" y="3378200"/>
            <a:ext cx="6604000" cy="793750"/>
            <a:chOff x="261" y="1123"/>
            <a:chExt cx="4160" cy="500"/>
          </a:xfrm>
        </p:grpSpPr>
        <p:sp>
          <p:nvSpPr>
            <p:cNvPr id="9220" name="Rectangle 4">
              <a:extLst>
                <a:ext uri="{FF2B5EF4-FFF2-40B4-BE49-F238E27FC236}">
                  <a16:creationId xmlns:a16="http://schemas.microsoft.com/office/drawing/2014/main" id="{B1C92A06-4A1B-4C35-B717-BF26ADE322E9}"/>
                </a:ext>
              </a:extLst>
            </p:cNvPr>
            <p:cNvSpPr>
              <a:spLocks noChangeArrowheads="1"/>
            </p:cNvSpPr>
            <p:nvPr/>
          </p:nvSpPr>
          <p:spPr bwMode="auto">
            <a:xfrm>
              <a:off x="261" y="1151"/>
              <a:ext cx="1651"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000" b="1" dirty="0">
                  <a:latin typeface="Arial" panose="020B0604020202020204" pitchFamily="34" charset="0"/>
                </a:rPr>
                <a:t>Fixed Asset</a:t>
              </a:r>
              <a:br>
                <a:rPr lang="en-CA" altLang="en-US" sz="2000" b="1" dirty="0">
                  <a:latin typeface="Arial" panose="020B0604020202020204" pitchFamily="34" charset="0"/>
                </a:rPr>
              </a:br>
              <a:r>
                <a:rPr lang="en-CA" altLang="en-US" sz="2000" b="1" dirty="0">
                  <a:latin typeface="Arial" panose="020B0604020202020204" pitchFamily="34" charset="0"/>
                </a:rPr>
                <a:t>Turnover Ratio</a:t>
              </a:r>
            </a:p>
          </p:txBody>
        </p:sp>
        <p:sp>
          <p:nvSpPr>
            <p:cNvPr id="9221" name="Rectangle 5">
              <a:extLst>
                <a:ext uri="{FF2B5EF4-FFF2-40B4-BE49-F238E27FC236}">
                  <a16:creationId xmlns:a16="http://schemas.microsoft.com/office/drawing/2014/main" id="{D226A2F3-D8B9-4FD2-B2D7-1E52F9E2F0F0}"/>
                </a:ext>
              </a:extLst>
            </p:cNvPr>
            <p:cNvSpPr>
              <a:spLocks noChangeArrowheads="1"/>
            </p:cNvSpPr>
            <p:nvPr/>
          </p:nvSpPr>
          <p:spPr bwMode="auto">
            <a:xfrm>
              <a:off x="2240" y="1123"/>
              <a:ext cx="2087"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000" b="1" dirty="0">
                  <a:latin typeface="Arial" panose="020B0604020202020204" pitchFamily="34" charset="0"/>
                </a:rPr>
                <a:t>Net Sales Revenue</a:t>
              </a:r>
              <a:br>
                <a:rPr lang="en-CA" altLang="en-US" sz="2000" b="1" dirty="0">
                  <a:latin typeface="Arial" panose="020B0604020202020204" pitchFamily="34" charset="0"/>
                </a:rPr>
              </a:br>
              <a:r>
                <a:rPr lang="en-CA" altLang="en-US" sz="2000" b="1" dirty="0">
                  <a:latin typeface="Arial" panose="020B0604020202020204" pitchFamily="34" charset="0"/>
                </a:rPr>
                <a:t>Average Net Fixed Assets</a:t>
              </a:r>
            </a:p>
          </p:txBody>
        </p:sp>
        <p:sp>
          <p:nvSpPr>
            <p:cNvPr id="9222" name="Rectangle 6">
              <a:extLst>
                <a:ext uri="{FF2B5EF4-FFF2-40B4-BE49-F238E27FC236}">
                  <a16:creationId xmlns:a16="http://schemas.microsoft.com/office/drawing/2014/main" id="{C8F43E6B-E0EA-48EE-AC9F-E8C55C68A486}"/>
                </a:ext>
              </a:extLst>
            </p:cNvPr>
            <p:cNvSpPr>
              <a:spLocks noChangeArrowheads="1"/>
            </p:cNvSpPr>
            <p:nvPr/>
          </p:nvSpPr>
          <p:spPr bwMode="auto">
            <a:xfrm>
              <a:off x="1725" y="1283"/>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000" b="1">
                  <a:latin typeface="Arial" panose="020B0604020202020204" pitchFamily="34" charset="0"/>
                </a:rPr>
                <a:t>=</a:t>
              </a:r>
            </a:p>
          </p:txBody>
        </p:sp>
        <p:sp>
          <p:nvSpPr>
            <p:cNvPr id="9223" name="Line 7">
              <a:extLst>
                <a:ext uri="{FF2B5EF4-FFF2-40B4-BE49-F238E27FC236}">
                  <a16:creationId xmlns:a16="http://schemas.microsoft.com/office/drawing/2014/main" id="{788FFF44-A875-45BF-8F68-C9582E23F266}"/>
                </a:ext>
              </a:extLst>
            </p:cNvPr>
            <p:cNvSpPr>
              <a:spLocks noChangeShapeType="1"/>
            </p:cNvSpPr>
            <p:nvPr/>
          </p:nvSpPr>
          <p:spPr bwMode="auto">
            <a:xfrm>
              <a:off x="2133" y="1395"/>
              <a:ext cx="228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5">
            <a:extLst>
              <a:ext uri="{FF2B5EF4-FFF2-40B4-BE49-F238E27FC236}">
                <a16:creationId xmlns:a16="http://schemas.microsoft.com/office/drawing/2014/main" id="{E2266088-BE5B-4BBD-BAB9-0344C21F78A7}"/>
              </a:ext>
            </a:extLst>
          </p:cNvPr>
          <p:cNvSpPr>
            <a:spLocks noGrp="1"/>
          </p:cNvSpPr>
          <p:nvPr>
            <p:ph type="title"/>
          </p:nvPr>
        </p:nvSpPr>
        <p:spPr>
          <a:xfrm>
            <a:off x="457200" y="152400"/>
            <a:ext cx="8458200" cy="792163"/>
          </a:xfrm>
        </p:spPr>
        <p:txBody>
          <a:bodyPr/>
          <a:lstStyle/>
          <a:p>
            <a:r>
              <a:rPr lang="en-CA" altLang="en-US" dirty="0"/>
              <a:t>Measuring and Recording Acquisition Cost Part 1 </a:t>
            </a:r>
          </a:p>
        </p:txBody>
      </p:sp>
      <p:sp>
        <p:nvSpPr>
          <p:cNvPr id="10242" name="Content Placeholder 8">
            <a:extLst>
              <a:ext uri="{FF2B5EF4-FFF2-40B4-BE49-F238E27FC236}">
                <a16:creationId xmlns:a16="http://schemas.microsoft.com/office/drawing/2014/main" id="{8F062291-5DDF-4CF8-A51D-918EA8F3024D}"/>
              </a:ext>
            </a:extLst>
          </p:cNvPr>
          <p:cNvSpPr>
            <a:spLocks noGrp="1"/>
          </p:cNvSpPr>
          <p:nvPr>
            <p:ph idx="1"/>
          </p:nvPr>
        </p:nvSpPr>
        <p:spPr/>
        <p:txBody>
          <a:bodyPr/>
          <a:lstStyle/>
          <a:p>
            <a:r>
              <a:rPr lang="en-CA" altLang="en-US" dirty="0"/>
              <a:t>The</a:t>
            </a:r>
            <a:r>
              <a:rPr lang="en-CA" altLang="en-US" b="1" dirty="0"/>
              <a:t> cost principle </a:t>
            </a:r>
            <a:r>
              <a:rPr lang="en-CA" altLang="en-US" dirty="0"/>
              <a:t>requires that all reasonable and necessary costs incurred in acquiring a long-lived asset, placing it in its operational setting, and preparing it for use should be recorded in a designated asset account.</a:t>
            </a:r>
          </a:p>
          <a:p>
            <a:r>
              <a:rPr lang="en-CA" altLang="en-US" dirty="0"/>
              <a:t>These costs, including non-refundable taxes, legal fees, transportation costs, and installation costs, are added to the purchase price of the asset. </a:t>
            </a:r>
          </a:p>
          <a:p>
            <a:r>
              <a:rPr lang="en-CA" altLang="en-US" dirty="0"/>
              <a:t>These expenditures are </a:t>
            </a:r>
            <a:r>
              <a:rPr lang="en-CA" altLang="en-US" b="1" dirty="0"/>
              <a:t>capitalized</a:t>
            </a:r>
            <a:r>
              <a:rPr lang="en-CA" altLang="en-US" dirty="0"/>
              <a:t> (recorded as part of the total cost of the asset), not recorded as expenses in the current period. </a:t>
            </a:r>
          </a:p>
          <a:p>
            <a:r>
              <a:rPr lang="en-CA" altLang="en-US" dirty="0"/>
              <a:t>Any interest charges associated with the purchase are recorded as expenses when incurred.</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5">
            <a:extLst>
              <a:ext uri="{FF2B5EF4-FFF2-40B4-BE49-F238E27FC236}">
                <a16:creationId xmlns:a16="http://schemas.microsoft.com/office/drawing/2014/main" id="{C232B686-B45F-4DE3-9005-0328FEA4F24A}"/>
              </a:ext>
            </a:extLst>
          </p:cNvPr>
          <p:cNvSpPr>
            <a:spLocks noGrp="1"/>
          </p:cNvSpPr>
          <p:nvPr>
            <p:ph type="title"/>
          </p:nvPr>
        </p:nvSpPr>
        <p:spPr>
          <a:xfrm>
            <a:off x="457200" y="152400"/>
            <a:ext cx="8382000" cy="792163"/>
          </a:xfrm>
        </p:spPr>
        <p:txBody>
          <a:bodyPr/>
          <a:lstStyle/>
          <a:p>
            <a:r>
              <a:rPr lang="en-CA" altLang="en-US" dirty="0"/>
              <a:t>Measuring and Recording Acquisition Cost Part 2</a:t>
            </a:r>
          </a:p>
        </p:txBody>
      </p:sp>
      <p:sp>
        <p:nvSpPr>
          <p:cNvPr id="12290" name="Content Placeholder 8">
            <a:extLst>
              <a:ext uri="{FF2B5EF4-FFF2-40B4-BE49-F238E27FC236}">
                <a16:creationId xmlns:a16="http://schemas.microsoft.com/office/drawing/2014/main" id="{08111A93-0BF9-47C2-AC6D-FAEDDE0C20BE}"/>
              </a:ext>
            </a:extLst>
          </p:cNvPr>
          <p:cNvSpPr>
            <a:spLocks noGrp="1"/>
          </p:cNvSpPr>
          <p:nvPr>
            <p:ph idx="1"/>
          </p:nvPr>
        </p:nvSpPr>
        <p:spPr/>
        <p:txBody>
          <a:bodyPr/>
          <a:lstStyle/>
          <a:p>
            <a:r>
              <a:rPr lang="en-CA" altLang="en-US" dirty="0"/>
              <a:t>When a company purchases land, all of the incidental costs of the purchase, such as title fees, sales commissions, legal fees, title insurance, delinquent taxes, and surveying fees—should be included in its cost.</a:t>
            </a:r>
          </a:p>
          <a:p>
            <a:r>
              <a:rPr lang="en-CA" altLang="en-US" dirty="0"/>
              <a:t>Because land is not subject to depreciation, it must be recorded as a separate asset. </a:t>
            </a:r>
          </a:p>
          <a:p>
            <a:r>
              <a:rPr lang="en-CA" dirty="0"/>
              <a:t>The amount recorded for the purchase is called the </a:t>
            </a:r>
            <a:r>
              <a:rPr lang="en-CA" b="1" i="1" dirty="0"/>
              <a:t>acquisition cost</a:t>
            </a:r>
            <a:r>
              <a:rPr lang="en-CA" i="1" dirty="0"/>
              <a:t>.  </a:t>
            </a:r>
            <a:r>
              <a:rPr lang="en-CA" dirty="0"/>
              <a:t>It is the net cash amount paid for the asset, or when noncash assets are used as payment, the fair value of the asset given or asset received, whichever can be more clearly determined (called the </a:t>
            </a:r>
            <a:r>
              <a:rPr lang="en-CA" b="1" i="1" dirty="0"/>
              <a:t>cash equivalent</a:t>
            </a:r>
            <a:r>
              <a:rPr lang="en-CA" b="1" dirty="0"/>
              <a:t> </a:t>
            </a:r>
            <a:r>
              <a:rPr lang="en-CA" dirty="0"/>
              <a:t>price). </a:t>
            </a:r>
            <a:endParaRPr lang="en-CA" altLang="en-US" dirty="0"/>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C6197480-235D-4D97-845D-13A9F79592A6}"/>
              </a:ext>
            </a:extLst>
          </p:cNvPr>
          <p:cNvSpPr>
            <a:spLocks noGrp="1"/>
          </p:cNvSpPr>
          <p:nvPr>
            <p:ph type="title"/>
          </p:nvPr>
        </p:nvSpPr>
        <p:spPr/>
        <p:txBody>
          <a:bodyPr/>
          <a:lstStyle/>
          <a:p>
            <a:r>
              <a:rPr lang="en-CA" altLang="en-US" dirty="0"/>
              <a:t>Acquisition by Construction Part 1</a:t>
            </a:r>
            <a:endParaRPr lang="en-US" altLang="en-US" dirty="0"/>
          </a:p>
        </p:txBody>
      </p:sp>
      <p:sp>
        <p:nvSpPr>
          <p:cNvPr id="57346" name="Content Placeholder 2">
            <a:extLst>
              <a:ext uri="{FF2B5EF4-FFF2-40B4-BE49-F238E27FC236}">
                <a16:creationId xmlns:a16="http://schemas.microsoft.com/office/drawing/2014/main" id="{EF1A21AF-6C3A-414D-9780-CE89B648D3D4}"/>
              </a:ext>
            </a:extLst>
          </p:cNvPr>
          <p:cNvSpPr>
            <a:spLocks noGrp="1"/>
          </p:cNvSpPr>
          <p:nvPr>
            <p:ph idx="1"/>
          </p:nvPr>
        </p:nvSpPr>
        <p:spPr>
          <a:xfrm>
            <a:off x="457200" y="1066800"/>
            <a:ext cx="8229600" cy="5334000"/>
          </a:xfrm>
        </p:spPr>
        <p:txBody>
          <a:bodyPr/>
          <a:lstStyle/>
          <a:p>
            <a:r>
              <a:rPr lang="en-CA" altLang="en-US" dirty="0"/>
              <a:t>A company may construct an asset for use instead of buying it from a manufacturer. </a:t>
            </a:r>
          </a:p>
          <a:p>
            <a:r>
              <a:rPr lang="en-CA" altLang="en-US" dirty="0"/>
              <a:t>The acquisition cost of this self-constructed asset will include all direct and indirect costs of construction, including interest on any loans obtained to construct the asset. </a:t>
            </a:r>
          </a:p>
          <a:p>
            <a:r>
              <a:rPr lang="en-CA" altLang="en-US" dirty="0"/>
              <a:t>As soon as the asset is available for use, the accumulated construction costs will be depreciated over its productive life. </a:t>
            </a:r>
          </a:p>
          <a:p>
            <a:r>
              <a:rPr lang="en-CA" altLang="en-US" dirty="0"/>
              <a:t>The amount of interest that is included in the cost of the construction is called </a:t>
            </a:r>
            <a:r>
              <a:rPr lang="en-CA" altLang="en-US" b="1" dirty="0"/>
              <a:t>capitalized interest</a:t>
            </a:r>
            <a:r>
              <a:rPr lang="en-CA" altLang="en-US" dirty="0"/>
              <a:t>, which reduces the company’s total interest expense every year until the facility is ready for use. </a:t>
            </a:r>
          </a:p>
          <a:p>
            <a:endParaRPr lang="en-US" alt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84CAE019-A3DC-44D2-999E-655E30B3C924}"/>
              </a:ext>
            </a:extLst>
          </p:cNvPr>
          <p:cNvSpPr>
            <a:spLocks noGrp="1"/>
          </p:cNvSpPr>
          <p:nvPr>
            <p:ph type="title"/>
          </p:nvPr>
        </p:nvSpPr>
        <p:spPr/>
        <p:txBody>
          <a:bodyPr/>
          <a:lstStyle/>
          <a:p>
            <a:r>
              <a:rPr lang="en-CA" altLang="en-US" dirty="0"/>
              <a:t>Acquisition by Construction Part 2</a:t>
            </a:r>
            <a:endParaRPr lang="en-US" altLang="en-US" dirty="0"/>
          </a:p>
        </p:txBody>
      </p:sp>
      <p:sp>
        <p:nvSpPr>
          <p:cNvPr id="58370" name="Content Placeholder 2">
            <a:extLst>
              <a:ext uri="{FF2B5EF4-FFF2-40B4-BE49-F238E27FC236}">
                <a16:creationId xmlns:a16="http://schemas.microsoft.com/office/drawing/2014/main" id="{D422709F-4B79-4CA7-8AF6-9C7D5A0485D7}"/>
              </a:ext>
            </a:extLst>
          </p:cNvPr>
          <p:cNvSpPr>
            <a:spLocks noGrp="1"/>
          </p:cNvSpPr>
          <p:nvPr>
            <p:ph idx="1"/>
          </p:nvPr>
        </p:nvSpPr>
        <p:spPr/>
        <p:txBody>
          <a:bodyPr/>
          <a:lstStyle/>
          <a:p>
            <a:r>
              <a:rPr lang="en-CA" altLang="en-US" dirty="0"/>
              <a:t>Once the construction of the facility is completed, any interest costs on construction loans, however, must be expensed. </a:t>
            </a:r>
          </a:p>
          <a:p>
            <a:endParaRPr lang="en-CA" altLang="en-US" sz="1200" dirty="0"/>
          </a:p>
          <a:p>
            <a:r>
              <a:rPr lang="en-CA" altLang="en-US" dirty="0"/>
              <a:t>The complex computation of interest capitalization is discussed in other accounting courses.</a:t>
            </a:r>
          </a:p>
          <a:p>
            <a:endParaRPr lang="en-CA" altLang="en-US" sz="1200" dirty="0"/>
          </a:p>
          <a:p>
            <a:r>
              <a:rPr lang="en-CA" altLang="en-US" dirty="0"/>
              <a:t>Capitalizing labour, materials, and a portion of interest expense increases assets, decreases expenses, and increases net earnings.</a:t>
            </a:r>
          </a:p>
          <a:p>
            <a:endParaRPr lang="en-US"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753D6BFD-F97B-473F-B28F-E76B1AC21387}"/>
              </a:ext>
            </a:extLst>
          </p:cNvPr>
          <p:cNvSpPr>
            <a:spLocks noGrp="1"/>
          </p:cNvSpPr>
          <p:nvPr>
            <p:ph type="title"/>
          </p:nvPr>
        </p:nvSpPr>
        <p:spPr/>
        <p:txBody>
          <a:bodyPr/>
          <a:lstStyle/>
          <a:p>
            <a:r>
              <a:rPr lang="en-CA" altLang="en-US"/>
              <a:t>Acquisitions as a Basket Purchase of Assets</a:t>
            </a:r>
          </a:p>
        </p:txBody>
      </p:sp>
      <p:sp>
        <p:nvSpPr>
          <p:cNvPr id="14338" name="Rectangle 7">
            <a:extLst>
              <a:ext uri="{FF2B5EF4-FFF2-40B4-BE49-F238E27FC236}">
                <a16:creationId xmlns:a16="http://schemas.microsoft.com/office/drawing/2014/main" id="{D698B760-B4BC-40A9-867C-4A837175DD51}"/>
              </a:ext>
            </a:extLst>
          </p:cNvPr>
          <p:cNvSpPr>
            <a:spLocks noGrp="1"/>
          </p:cNvSpPr>
          <p:nvPr>
            <p:ph idx="1"/>
          </p:nvPr>
        </p:nvSpPr>
        <p:spPr/>
        <p:txBody>
          <a:bodyPr/>
          <a:lstStyle/>
          <a:p>
            <a:r>
              <a:rPr lang="en-CA" altLang="en-US" dirty="0"/>
              <a:t>When several long-lived assets, such as land, building, and equipment, are acquired in a single transaction and for a single lump sum, known as a </a:t>
            </a:r>
            <a:r>
              <a:rPr lang="en-CA" altLang="en-US" b="1" dirty="0"/>
              <a:t>basket purchase</a:t>
            </a:r>
            <a:r>
              <a:rPr lang="en-CA" altLang="en-US" dirty="0"/>
              <a:t>, the cost of each asset must be measured and recorded separately. </a:t>
            </a:r>
          </a:p>
          <a:p>
            <a:endParaRPr lang="en-CA" altLang="en-US" sz="1200" dirty="0"/>
          </a:p>
          <a:p>
            <a:r>
              <a:rPr lang="en-CA" altLang="en-US" dirty="0"/>
              <a:t>This is because land is not depreciated but buildings and equipment are, although at different rates. </a:t>
            </a:r>
          </a:p>
          <a:p>
            <a:endParaRPr lang="en-CA" altLang="en-US" sz="1200" dirty="0"/>
          </a:p>
          <a:p>
            <a:r>
              <a:rPr lang="en-CA" altLang="en-US" dirty="0"/>
              <a:t>The purchase price must be apportioned among the land, the building, and the equipment, on a rational basis.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
            <a:extLst>
              <a:ext uri="{FF2B5EF4-FFF2-40B4-BE49-F238E27FC236}">
                <a16:creationId xmlns:a16="http://schemas.microsoft.com/office/drawing/2014/main" id="{93838CDE-A0EA-4F9E-9094-60190B2B200D}"/>
              </a:ext>
            </a:extLst>
          </p:cNvPr>
          <p:cNvSpPr>
            <a:spLocks noGrp="1"/>
          </p:cNvSpPr>
          <p:nvPr>
            <p:ph type="title"/>
          </p:nvPr>
        </p:nvSpPr>
        <p:spPr/>
        <p:txBody>
          <a:bodyPr/>
          <a:lstStyle/>
          <a:p>
            <a:r>
              <a:rPr lang="en-CA" altLang="en-US" dirty="0"/>
              <a:t>Repairs, Maintenance, and Improvements Part 1</a:t>
            </a:r>
          </a:p>
        </p:txBody>
      </p:sp>
      <p:sp>
        <p:nvSpPr>
          <p:cNvPr id="16386" name="Content Placeholder 6">
            <a:extLst>
              <a:ext uri="{FF2B5EF4-FFF2-40B4-BE49-F238E27FC236}">
                <a16:creationId xmlns:a16="http://schemas.microsoft.com/office/drawing/2014/main" id="{FBDE0EA3-A998-4254-9ADF-9228A37EFC8F}"/>
              </a:ext>
            </a:extLst>
          </p:cNvPr>
          <p:cNvSpPr>
            <a:spLocks noGrp="1"/>
          </p:cNvSpPr>
          <p:nvPr>
            <p:ph idx="1"/>
          </p:nvPr>
        </p:nvSpPr>
        <p:spPr/>
        <p:txBody>
          <a:bodyPr/>
          <a:lstStyle/>
          <a:p>
            <a:r>
              <a:rPr lang="en-CA" altLang="en-US"/>
              <a:t>Most assets require substantial expenditures during their useful lives to maintain or enhance their productive capacity. </a:t>
            </a:r>
          </a:p>
          <a:p>
            <a:r>
              <a:rPr lang="en-CA" altLang="en-US"/>
              <a:t>These expenditures include cash outlays for ordinary repairs and maintenance, major repairs, replacements, and additions. </a:t>
            </a:r>
          </a:p>
          <a:p>
            <a:r>
              <a:rPr lang="en-CA" altLang="en-US"/>
              <a:t>The terms </a:t>
            </a:r>
            <a:r>
              <a:rPr lang="en-CA" altLang="en-US" i="1"/>
              <a:t>expenditure</a:t>
            </a:r>
            <a:r>
              <a:rPr lang="en-CA" altLang="en-US"/>
              <a:t> and </a:t>
            </a:r>
            <a:r>
              <a:rPr lang="en-CA" altLang="en-US" i="1"/>
              <a:t>expense</a:t>
            </a:r>
            <a:r>
              <a:rPr lang="en-CA" altLang="en-US"/>
              <a:t> are not synonymous.</a:t>
            </a:r>
          </a:p>
          <a:p>
            <a:r>
              <a:rPr lang="en-CA" altLang="en-US"/>
              <a:t>An expenditure is the payment of money to acquire goods or services. These goods and services may be recorded as either assets or expenses, depending on whether they benefit future periods or only the current period.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4">
            <a:extLst>
              <a:ext uri="{FF2B5EF4-FFF2-40B4-BE49-F238E27FC236}">
                <a16:creationId xmlns:a16="http://schemas.microsoft.com/office/drawing/2014/main" id="{4EB3EC5E-C078-477A-AB57-C029E22B75A6}"/>
              </a:ext>
            </a:extLst>
          </p:cNvPr>
          <p:cNvSpPr>
            <a:spLocks noGrp="1"/>
          </p:cNvSpPr>
          <p:nvPr>
            <p:ph type="title"/>
          </p:nvPr>
        </p:nvSpPr>
        <p:spPr/>
        <p:txBody>
          <a:bodyPr/>
          <a:lstStyle/>
          <a:p>
            <a:r>
              <a:rPr lang="en-CA" altLang="en-US" dirty="0"/>
              <a:t>Repairs, Maintenance, and Improvements Part 2</a:t>
            </a:r>
          </a:p>
        </p:txBody>
      </p:sp>
      <p:sp>
        <p:nvSpPr>
          <p:cNvPr id="18434" name="Content Placeholder 6">
            <a:extLst>
              <a:ext uri="{FF2B5EF4-FFF2-40B4-BE49-F238E27FC236}">
                <a16:creationId xmlns:a16="http://schemas.microsoft.com/office/drawing/2014/main" id="{41152873-8D75-4018-8BE9-9ACA70343A8C}"/>
              </a:ext>
            </a:extLst>
          </p:cNvPr>
          <p:cNvSpPr>
            <a:spLocks noGrp="1"/>
          </p:cNvSpPr>
          <p:nvPr>
            <p:ph idx="1"/>
          </p:nvPr>
        </p:nvSpPr>
        <p:spPr/>
        <p:txBody>
          <a:bodyPr/>
          <a:lstStyle/>
          <a:p>
            <a:r>
              <a:rPr lang="en-CA" altLang="en-US" dirty="0"/>
              <a:t>Expenditures that are made after an asset is acquired are classified as follows:</a:t>
            </a:r>
          </a:p>
          <a:p>
            <a:endParaRPr lang="en-CA" altLang="en-US" sz="1200" dirty="0"/>
          </a:p>
          <a:p>
            <a:pPr marL="788988" lvl="1" indent="-514350">
              <a:buFont typeface="+mj-lt"/>
              <a:buAutoNum type="arabicPeriod"/>
            </a:pPr>
            <a:r>
              <a:rPr lang="en-CA" altLang="en-US" sz="2600" dirty="0">
                <a:solidFill>
                  <a:schemeClr val="tx1"/>
                </a:solidFill>
              </a:rPr>
              <a:t>Ordinary repairs and maintenance or</a:t>
            </a:r>
          </a:p>
          <a:p>
            <a:pPr marL="788988" lvl="1" indent="-514350">
              <a:buFont typeface="+mj-lt"/>
              <a:buAutoNum type="arabicPeriod"/>
            </a:pPr>
            <a:r>
              <a:rPr lang="en-CA" altLang="en-US" sz="2600" dirty="0">
                <a:solidFill>
                  <a:schemeClr val="tx1"/>
                </a:solidFill>
              </a:rPr>
              <a:t>Improvements</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a:extLst>
              <a:ext uri="{FF2B5EF4-FFF2-40B4-BE49-F238E27FC236}">
                <a16:creationId xmlns:a16="http://schemas.microsoft.com/office/drawing/2014/main" id="{8B442872-1CB7-47BB-BF81-3486076A82FB}"/>
              </a:ext>
            </a:extLst>
          </p:cNvPr>
          <p:cNvSpPr>
            <a:spLocks noGrp="1"/>
          </p:cNvSpPr>
          <p:nvPr>
            <p:ph type="title"/>
          </p:nvPr>
        </p:nvSpPr>
        <p:spPr/>
        <p:txBody>
          <a:bodyPr/>
          <a:lstStyle/>
          <a:p>
            <a:r>
              <a:rPr lang="en-CA" altLang="en-US" dirty="0"/>
              <a:t>Ordinary Repairs and Maintenance</a:t>
            </a:r>
          </a:p>
        </p:txBody>
      </p:sp>
      <p:sp>
        <p:nvSpPr>
          <p:cNvPr id="20482" name="Content Placeholder 6">
            <a:extLst>
              <a:ext uri="{FF2B5EF4-FFF2-40B4-BE49-F238E27FC236}">
                <a16:creationId xmlns:a16="http://schemas.microsoft.com/office/drawing/2014/main" id="{CC6721AB-5EE1-4368-8E5F-39E660759D1C}"/>
              </a:ext>
            </a:extLst>
          </p:cNvPr>
          <p:cNvSpPr>
            <a:spLocks noGrp="1"/>
          </p:cNvSpPr>
          <p:nvPr>
            <p:ph idx="1"/>
          </p:nvPr>
        </p:nvSpPr>
        <p:spPr/>
        <p:txBody>
          <a:bodyPr/>
          <a:lstStyle/>
          <a:p>
            <a:r>
              <a:rPr lang="en-CA" altLang="en-US" dirty="0"/>
              <a:t>Ordinary repairs and maintenance are expenditures for the normal maintenance and upkeep of long-lived assets.</a:t>
            </a:r>
          </a:p>
          <a:p>
            <a:endParaRPr lang="en-CA" altLang="en-US" sz="1200" dirty="0"/>
          </a:p>
          <a:p>
            <a:r>
              <a:rPr lang="en-CA" altLang="en-US" dirty="0"/>
              <a:t>These expenditures maintain the productive capacity of the asset during the current accounting period only. </a:t>
            </a:r>
          </a:p>
          <a:p>
            <a:endParaRPr lang="en-CA" altLang="en-US" sz="1200" dirty="0"/>
          </a:p>
          <a:p>
            <a:r>
              <a:rPr lang="en-CA" altLang="en-US" dirty="0"/>
              <a:t>These cash outlays are recorded as </a:t>
            </a:r>
            <a:r>
              <a:rPr lang="en-CA" altLang="en-US" i="1" dirty="0"/>
              <a:t>expenses</a:t>
            </a:r>
            <a:r>
              <a:rPr lang="en-CA" altLang="en-US" dirty="0"/>
              <a:t> in the current period. </a:t>
            </a:r>
          </a:p>
          <a:p>
            <a:pPr marL="0" indent="0">
              <a:buNone/>
            </a:pPr>
            <a:endParaRPr lang="en-CA" altLang="en-US" sz="1200" dirty="0"/>
          </a:p>
          <a:p>
            <a:r>
              <a:rPr lang="en-CA" altLang="en-US" dirty="0"/>
              <a:t>These expenditures are recurring in nature, involve relatively small amounts at each occurrence, and do not directly lengthen the useful life of the asset.</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A2DD5581-36E5-413A-859C-0ECB8497633D}"/>
              </a:ext>
            </a:extLst>
          </p:cNvPr>
          <p:cNvSpPr>
            <a:spLocks noGrp="1"/>
          </p:cNvSpPr>
          <p:nvPr>
            <p:ph type="title"/>
          </p:nvPr>
        </p:nvSpPr>
        <p:spPr/>
        <p:txBody>
          <a:bodyPr/>
          <a:lstStyle/>
          <a:p>
            <a:r>
              <a:rPr lang="en-CA" altLang="en-US" dirty="0"/>
              <a:t>Improvements Part 1</a:t>
            </a:r>
          </a:p>
        </p:txBody>
      </p:sp>
      <p:sp>
        <p:nvSpPr>
          <p:cNvPr id="22530" name="Content Placeholder 6">
            <a:extLst>
              <a:ext uri="{FF2B5EF4-FFF2-40B4-BE49-F238E27FC236}">
                <a16:creationId xmlns:a16="http://schemas.microsoft.com/office/drawing/2014/main" id="{4567170A-714C-4653-818D-23E5215C26E1}"/>
              </a:ext>
            </a:extLst>
          </p:cNvPr>
          <p:cNvSpPr>
            <a:spLocks noGrp="1"/>
          </p:cNvSpPr>
          <p:nvPr>
            <p:ph idx="1"/>
          </p:nvPr>
        </p:nvSpPr>
        <p:spPr>
          <a:xfrm>
            <a:off x="457200" y="1066800"/>
            <a:ext cx="8229600" cy="5334000"/>
          </a:xfrm>
        </p:spPr>
        <p:txBody>
          <a:bodyPr/>
          <a:lstStyle/>
          <a:p>
            <a:r>
              <a:rPr lang="en-CA" dirty="0"/>
              <a:t>Improvements are expenditures that increase the productive life, operating efficiency, or capacity of the asset. </a:t>
            </a:r>
          </a:p>
          <a:p>
            <a:r>
              <a:rPr lang="en-CA" dirty="0"/>
              <a:t>These </a:t>
            </a:r>
            <a:r>
              <a:rPr lang="en-CA" i="1" dirty="0"/>
              <a:t>capital expenditures</a:t>
            </a:r>
            <a:r>
              <a:rPr lang="en-CA" dirty="0"/>
              <a:t>, which provide benefits to the company over a number of accounting periods, are added to the appropriate </a:t>
            </a:r>
            <a:r>
              <a:rPr lang="en-CA" i="1" dirty="0"/>
              <a:t>asset</a:t>
            </a:r>
            <a:r>
              <a:rPr lang="en-CA" dirty="0"/>
              <a:t> accounts (i.e., they are capitalized). </a:t>
            </a:r>
          </a:p>
          <a:p>
            <a:r>
              <a:rPr lang="en-CA" dirty="0"/>
              <a:t>They occur infrequently, involve large amounts of money, and increase an asset’s economic usefulness in the future through either increased efficiency or longer life.</a:t>
            </a:r>
          </a:p>
          <a:p>
            <a:r>
              <a:rPr lang="en-CA" dirty="0"/>
              <a:t>Examples include additions, complete reconditioning, and major overhauls and replacements, such as the complete replacement of an engine on an aircraft.</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FC6F287B-F884-4C2A-A817-062BD52BF571}"/>
              </a:ext>
            </a:extLst>
          </p:cNvPr>
          <p:cNvSpPr>
            <a:spLocks noGrp="1"/>
          </p:cNvSpPr>
          <p:nvPr>
            <p:ph type="title"/>
          </p:nvPr>
        </p:nvSpPr>
        <p:spPr/>
        <p:txBody>
          <a:bodyPr/>
          <a:lstStyle/>
          <a:p>
            <a:r>
              <a:rPr lang="en-CA" altLang="en-US" dirty="0"/>
              <a:t>Improvements Part 2</a:t>
            </a:r>
            <a:endParaRPr lang="en-US" altLang="en-US" dirty="0"/>
          </a:p>
        </p:txBody>
      </p:sp>
      <p:sp>
        <p:nvSpPr>
          <p:cNvPr id="59394" name="Content Placeholder 2">
            <a:extLst>
              <a:ext uri="{FF2B5EF4-FFF2-40B4-BE49-F238E27FC236}">
                <a16:creationId xmlns:a16="http://schemas.microsoft.com/office/drawing/2014/main" id="{C5ED12ED-F8E7-43DA-8A3F-E121FD6FD5E0}"/>
              </a:ext>
            </a:extLst>
          </p:cNvPr>
          <p:cNvSpPr>
            <a:spLocks noGrp="1"/>
          </p:cNvSpPr>
          <p:nvPr>
            <p:ph idx="1"/>
          </p:nvPr>
        </p:nvSpPr>
        <p:spPr>
          <a:xfrm>
            <a:off x="457200" y="1066800"/>
            <a:ext cx="8229600" cy="5334000"/>
          </a:xfrm>
        </p:spPr>
        <p:txBody>
          <a:bodyPr/>
          <a:lstStyle/>
          <a:p>
            <a:r>
              <a:rPr lang="en-CA" altLang="en-US" dirty="0"/>
              <a:t>In many cases, no clear line distinguishes improvements (assets) from ordinary repairs and maintenance (expenses). </a:t>
            </a:r>
          </a:p>
          <a:p>
            <a:r>
              <a:rPr lang="en-CA" altLang="en-US" dirty="0"/>
              <a:t>Accountants must exercise professional judgment and make subjective decisions. </a:t>
            </a:r>
          </a:p>
          <a:p>
            <a:r>
              <a:rPr lang="en-CA" altLang="en-US" dirty="0"/>
              <a:t>Because the decision to capitalize or expense is subjective, auditors closely review the items reported as capital expenditures and ordinary repairs and maintenance. </a:t>
            </a:r>
          </a:p>
          <a:p>
            <a:r>
              <a:rPr lang="en-CA" altLang="en-US" dirty="0"/>
              <a:t>To avoid spending too much time on classifying capital expenditures and repair expenses, some companies develop simple policies that govern the accounting for these expenditures. </a:t>
            </a:r>
          </a:p>
          <a:p>
            <a:endParaRPr lang="en-US"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995D1A19-5952-41F1-BD6C-B8F5A72545AE}"/>
              </a:ext>
            </a:extLst>
          </p:cNvPr>
          <p:cNvSpPr>
            <a:spLocks noGrp="1"/>
          </p:cNvSpPr>
          <p:nvPr>
            <p:ph type="title"/>
          </p:nvPr>
        </p:nvSpPr>
        <p:spPr/>
        <p:txBody>
          <a:bodyPr/>
          <a:lstStyle/>
          <a:p>
            <a:r>
              <a:rPr lang="en-CA" altLang="en-US" dirty="0"/>
              <a:t>Depreciation Concepts Part 1</a:t>
            </a:r>
            <a:endParaRPr lang="en-US" altLang="en-US" dirty="0"/>
          </a:p>
        </p:txBody>
      </p:sp>
      <p:sp>
        <p:nvSpPr>
          <p:cNvPr id="60418" name="Content Placeholder 2">
            <a:extLst>
              <a:ext uri="{FF2B5EF4-FFF2-40B4-BE49-F238E27FC236}">
                <a16:creationId xmlns:a16="http://schemas.microsoft.com/office/drawing/2014/main" id="{054AE2AA-214A-41C1-9D87-82379F836284}"/>
              </a:ext>
            </a:extLst>
          </p:cNvPr>
          <p:cNvSpPr>
            <a:spLocks noGrp="1"/>
          </p:cNvSpPr>
          <p:nvPr>
            <p:ph idx="1"/>
          </p:nvPr>
        </p:nvSpPr>
        <p:spPr/>
        <p:txBody>
          <a:bodyPr/>
          <a:lstStyle/>
          <a:p>
            <a:r>
              <a:rPr lang="en-CA" altLang="en-US"/>
              <a:t>All long-lived assets have limited useful lives, except land.</a:t>
            </a:r>
          </a:p>
          <a:p>
            <a:r>
              <a:rPr lang="en-CA" altLang="en-US"/>
              <a:t>Long-lived assets represent the prepaid cost of a bundle of future services or benefits. </a:t>
            </a:r>
          </a:p>
          <a:p>
            <a:r>
              <a:rPr lang="en-CA" altLang="en-US"/>
              <a:t>A portion of an asset’s acquisition cost must be </a:t>
            </a:r>
            <a:r>
              <a:rPr lang="en-CA" altLang="en-US" i="1"/>
              <a:t>allocated</a:t>
            </a:r>
            <a:r>
              <a:rPr lang="en-CA" altLang="en-US"/>
              <a:t> as an expense to the periods in which revenue is earned as a result of its use. </a:t>
            </a:r>
          </a:p>
          <a:p>
            <a:r>
              <a:rPr lang="en-CA" altLang="en-US"/>
              <a:t>The term used to identify and allocate the acquisition cost of using buildings and equipment that generate revenue over time is </a:t>
            </a:r>
            <a:r>
              <a:rPr lang="en-CA" altLang="en-US" b="1"/>
              <a:t>depreciation</a:t>
            </a:r>
            <a:r>
              <a:rPr lang="en-CA" altLang="en-US"/>
              <a:t>. </a:t>
            </a:r>
          </a:p>
          <a:p>
            <a:r>
              <a:rPr lang="en-CA" altLang="en-US" b="1"/>
              <a:t>Depreciation</a:t>
            </a:r>
            <a:r>
              <a:rPr lang="en-CA" altLang="en-US"/>
              <a:t> is the process of </a:t>
            </a:r>
            <a:r>
              <a:rPr lang="en-CA" altLang="en-US" i="1"/>
              <a:t>allocating the acquisition cost</a:t>
            </a:r>
            <a:r>
              <a:rPr lang="en-CA" altLang="en-US"/>
              <a:t> of buildings and equipment over their productive lives by using a systematic and rational method.</a:t>
            </a:r>
          </a:p>
          <a:p>
            <a:endParaRPr lang="en-US"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76E5CB9D-4A1A-497F-877A-FD5953A74E3E}"/>
              </a:ext>
            </a:extLst>
          </p:cNvPr>
          <p:cNvSpPr>
            <a:spLocks noGrp="1"/>
          </p:cNvSpPr>
          <p:nvPr>
            <p:ph type="title"/>
          </p:nvPr>
        </p:nvSpPr>
        <p:spPr/>
        <p:txBody>
          <a:bodyPr/>
          <a:lstStyle/>
          <a:p>
            <a:r>
              <a:rPr lang="en-CA" altLang="en-US"/>
              <a:t>Depreciation Concepts - Example</a:t>
            </a:r>
            <a:endParaRPr lang="en-US" altLang="en-US"/>
          </a:p>
        </p:txBody>
      </p:sp>
      <p:pic>
        <p:nvPicPr>
          <p:cNvPr id="2" name="Picture 1">
            <a:extLst>
              <a:ext uri="{FF2B5EF4-FFF2-40B4-BE49-F238E27FC236}">
                <a16:creationId xmlns:a16="http://schemas.microsoft.com/office/drawing/2014/main" id="{9DBCBFF2-0E0F-594B-B6E3-DD6412BC0C55}"/>
              </a:ext>
            </a:extLst>
          </p:cNvPr>
          <p:cNvPicPr>
            <a:picLocks noChangeAspect="1"/>
          </p:cNvPicPr>
          <p:nvPr/>
        </p:nvPicPr>
        <p:blipFill>
          <a:blip r:embed="rId2"/>
          <a:stretch>
            <a:fillRect/>
          </a:stretch>
        </p:blipFill>
        <p:spPr>
          <a:xfrm>
            <a:off x="1219200" y="1219200"/>
            <a:ext cx="6350000" cy="49784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EC0505B1-F6EE-489F-85A9-1EA99C5AB867}"/>
              </a:ext>
            </a:extLst>
          </p:cNvPr>
          <p:cNvSpPr>
            <a:spLocks noGrp="1"/>
          </p:cNvSpPr>
          <p:nvPr>
            <p:ph type="title"/>
          </p:nvPr>
        </p:nvSpPr>
        <p:spPr/>
        <p:txBody>
          <a:bodyPr/>
          <a:lstStyle/>
          <a:p>
            <a:r>
              <a:rPr lang="en-US" altLang="en-US" dirty="0"/>
              <a:t>Depreciation Concepts Part 2</a:t>
            </a:r>
          </a:p>
        </p:txBody>
      </p:sp>
      <p:sp>
        <p:nvSpPr>
          <p:cNvPr id="62466" name="Content Placeholder 2">
            <a:extLst>
              <a:ext uri="{FF2B5EF4-FFF2-40B4-BE49-F238E27FC236}">
                <a16:creationId xmlns:a16="http://schemas.microsoft.com/office/drawing/2014/main" id="{67F18A0F-06CE-49C7-8683-A88639A67818}"/>
              </a:ext>
            </a:extLst>
          </p:cNvPr>
          <p:cNvSpPr>
            <a:spLocks noGrp="1"/>
          </p:cNvSpPr>
          <p:nvPr>
            <p:ph idx="1"/>
          </p:nvPr>
        </p:nvSpPr>
        <p:spPr>
          <a:xfrm>
            <a:off x="457200" y="1066800"/>
            <a:ext cx="8229600" cy="5334000"/>
          </a:xfrm>
        </p:spPr>
        <p:txBody>
          <a:bodyPr/>
          <a:lstStyle/>
          <a:p>
            <a:r>
              <a:rPr lang="en-CA" dirty="0"/>
              <a:t>The amount of depreciation recorded during each period is reported on the statement of earnings as </a:t>
            </a:r>
            <a:r>
              <a:rPr lang="en-CA" i="1" dirty="0"/>
              <a:t>Depreciation Expense. </a:t>
            </a:r>
          </a:p>
          <a:p>
            <a:r>
              <a:rPr lang="en-CA" dirty="0"/>
              <a:t>The amount of depreciation expense accumulated since the acquisition date is a contra-account, </a:t>
            </a:r>
            <a:r>
              <a:rPr lang="en-CA" i="1" dirty="0"/>
              <a:t>Accumulated Depreciation</a:t>
            </a:r>
            <a:r>
              <a:rPr lang="en-CA" dirty="0"/>
              <a:t>, and deducted from the related asset’s cost.</a:t>
            </a:r>
          </a:p>
          <a:p>
            <a:r>
              <a:rPr lang="en-CA" dirty="0"/>
              <a:t>The acquisition cost minus accumulated depreciation and any write-downs in asset value is called the </a:t>
            </a:r>
            <a:r>
              <a:rPr lang="en-CA" i="1" dirty="0"/>
              <a:t>carrying amount (carrying value or net book value)</a:t>
            </a:r>
            <a:r>
              <a:rPr lang="en-CA" dirty="0"/>
              <a:t> and is reported on the statement of financial position. </a:t>
            </a:r>
          </a:p>
          <a:p>
            <a:r>
              <a:rPr lang="en-CA" dirty="0"/>
              <a:t>Companies disclose information about the long-lived assets they own or control, and the related accumulated depreciation, in a note to the financial statements.</a:t>
            </a:r>
            <a:endParaRPr lang="en-US"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5F3244A1-6E68-4568-8411-0CDD5020CB08}"/>
              </a:ext>
            </a:extLst>
          </p:cNvPr>
          <p:cNvSpPr>
            <a:spLocks noGrp="1"/>
          </p:cNvSpPr>
          <p:nvPr>
            <p:ph type="title"/>
          </p:nvPr>
        </p:nvSpPr>
        <p:spPr/>
        <p:txBody>
          <a:bodyPr/>
          <a:lstStyle/>
          <a:p>
            <a:r>
              <a:rPr lang="en-US" altLang="en-US" dirty="0"/>
              <a:t>Calculation of Depreciation Expense Part 1</a:t>
            </a:r>
          </a:p>
        </p:txBody>
      </p:sp>
      <p:sp>
        <p:nvSpPr>
          <p:cNvPr id="63490" name="Content Placeholder 2">
            <a:extLst>
              <a:ext uri="{FF2B5EF4-FFF2-40B4-BE49-F238E27FC236}">
                <a16:creationId xmlns:a16="http://schemas.microsoft.com/office/drawing/2014/main" id="{9BFC019E-8AAD-4053-B970-998BC3CEC9ED}"/>
              </a:ext>
            </a:extLst>
          </p:cNvPr>
          <p:cNvSpPr>
            <a:spLocks noGrp="1"/>
          </p:cNvSpPr>
          <p:nvPr>
            <p:ph idx="1"/>
          </p:nvPr>
        </p:nvSpPr>
        <p:spPr/>
        <p:txBody>
          <a:bodyPr/>
          <a:lstStyle/>
          <a:p>
            <a:r>
              <a:rPr lang="en-CA" altLang="en-US"/>
              <a:t>The calculation of depreciation expense requires three amounts for each depreciable asset:</a:t>
            </a:r>
          </a:p>
          <a:p>
            <a:pPr marL="731838" lvl="1" indent="-457200">
              <a:buFont typeface="Calibri" panose="020F0502020204030204" pitchFamily="34" charset="0"/>
              <a:buAutoNum type="arabicPeriod"/>
            </a:pPr>
            <a:r>
              <a:rPr lang="en-CA" altLang="en-US" sz="2600">
                <a:solidFill>
                  <a:schemeClr val="tx1"/>
                </a:solidFill>
              </a:rPr>
              <a:t>Acquisition cost</a:t>
            </a:r>
          </a:p>
          <a:p>
            <a:pPr marL="731838" lvl="1" indent="-457200">
              <a:buFont typeface="Calibri" panose="020F0502020204030204" pitchFamily="34" charset="0"/>
              <a:buAutoNum type="arabicPeriod"/>
            </a:pPr>
            <a:r>
              <a:rPr lang="en-CA" altLang="en-US" sz="2600" i="1">
                <a:solidFill>
                  <a:schemeClr val="tx1"/>
                </a:solidFill>
              </a:rPr>
              <a:t>Estimated</a:t>
            </a:r>
            <a:r>
              <a:rPr lang="en-CA" altLang="en-US" sz="2600">
                <a:solidFill>
                  <a:schemeClr val="tx1"/>
                </a:solidFill>
              </a:rPr>
              <a:t> useful life to the company</a:t>
            </a:r>
          </a:p>
          <a:p>
            <a:pPr marL="731838" lvl="1" indent="-457200">
              <a:buFont typeface="Calibri" panose="020F0502020204030204" pitchFamily="34" charset="0"/>
              <a:buAutoNum type="arabicPeriod"/>
            </a:pPr>
            <a:r>
              <a:rPr lang="en-CA" altLang="en-US" sz="2600" i="1">
                <a:solidFill>
                  <a:schemeClr val="tx1"/>
                </a:solidFill>
              </a:rPr>
              <a:t>Estimated</a:t>
            </a:r>
            <a:r>
              <a:rPr lang="en-CA" altLang="en-US" sz="2600">
                <a:solidFill>
                  <a:schemeClr val="tx1"/>
                </a:solidFill>
              </a:rPr>
              <a:t> residual (or salvage) value at the end of the asset’s useful life to the company</a:t>
            </a:r>
          </a:p>
          <a:p>
            <a:pPr marL="731838" lvl="1" indent="-457200">
              <a:buFont typeface="Calibri" panose="020F0502020204030204" pitchFamily="34" charset="0"/>
              <a:buAutoNum type="arabicPeriod"/>
            </a:pPr>
            <a:endParaRPr lang="en-CA" altLang="en-US" sz="1200">
              <a:solidFill>
                <a:schemeClr val="tx1"/>
              </a:solidFill>
            </a:endParaRPr>
          </a:p>
          <a:p>
            <a:r>
              <a:rPr lang="en-CA" altLang="en-US"/>
              <a:t>Two of these three amounts are estimates.</a:t>
            </a:r>
          </a:p>
          <a:p>
            <a:r>
              <a:rPr lang="en-CA" altLang="en-US"/>
              <a:t>Therefore, </a:t>
            </a:r>
            <a:r>
              <a:rPr lang="en-CA" altLang="en-US" i="1"/>
              <a:t>depreciation expense is an estimate</a:t>
            </a:r>
            <a:r>
              <a:rPr lang="en-CA" altLang="en-US"/>
              <a:t>.</a:t>
            </a:r>
          </a:p>
          <a:p>
            <a:endParaRPr lang="en-US"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E83FA8DB-6862-42A3-BB61-BD37C6D112F4}"/>
              </a:ext>
            </a:extLst>
          </p:cNvPr>
          <p:cNvSpPr>
            <a:spLocks noGrp="1"/>
          </p:cNvSpPr>
          <p:nvPr>
            <p:ph type="title"/>
          </p:nvPr>
        </p:nvSpPr>
        <p:spPr/>
        <p:txBody>
          <a:bodyPr/>
          <a:lstStyle/>
          <a:p>
            <a:r>
              <a:rPr lang="en-US" altLang="en-US" dirty="0"/>
              <a:t>Calculation of Depreciation Expense Part 2</a:t>
            </a:r>
          </a:p>
        </p:txBody>
      </p:sp>
      <p:sp>
        <p:nvSpPr>
          <p:cNvPr id="64514" name="Content Placeholder 2">
            <a:extLst>
              <a:ext uri="{FF2B5EF4-FFF2-40B4-BE49-F238E27FC236}">
                <a16:creationId xmlns:a16="http://schemas.microsoft.com/office/drawing/2014/main" id="{544CB65F-8D8C-4D87-B340-A8824006EC34}"/>
              </a:ext>
            </a:extLst>
          </p:cNvPr>
          <p:cNvSpPr>
            <a:spLocks noGrp="1"/>
          </p:cNvSpPr>
          <p:nvPr>
            <p:ph idx="1"/>
          </p:nvPr>
        </p:nvSpPr>
        <p:spPr>
          <a:xfrm>
            <a:off x="457200" y="1066800"/>
            <a:ext cx="8229600" cy="5334000"/>
          </a:xfrm>
        </p:spPr>
        <p:txBody>
          <a:bodyPr/>
          <a:lstStyle/>
          <a:p>
            <a:r>
              <a:rPr lang="en-CA" altLang="en-US" b="1" dirty="0"/>
              <a:t>Estimated useful life</a:t>
            </a:r>
            <a:r>
              <a:rPr lang="en-CA" altLang="en-US" dirty="0"/>
              <a:t> represents management’s estimate of the asset’s useful </a:t>
            </a:r>
            <a:r>
              <a:rPr lang="en-CA" altLang="en-US" i="1" dirty="0"/>
              <a:t>economic life</a:t>
            </a:r>
            <a:r>
              <a:rPr lang="en-CA" altLang="en-US" dirty="0"/>
              <a:t> to the company, rather than of its total economic life to all potential users. </a:t>
            </a:r>
          </a:p>
          <a:p>
            <a:r>
              <a:rPr lang="en-CA" altLang="en-US" dirty="0"/>
              <a:t>The asset’s expected physical life is often longer than the company intends to use the asset. </a:t>
            </a:r>
          </a:p>
          <a:p>
            <a:r>
              <a:rPr lang="en-CA" altLang="en-US" b="1" dirty="0"/>
              <a:t>Estimated residual (or salvage) value</a:t>
            </a:r>
            <a:r>
              <a:rPr lang="en-CA" altLang="en-US" dirty="0"/>
              <a:t> represents management’s estimate of the amount the company expects to recover upon disposal of the asset at the end of its estimated useful life, </a:t>
            </a:r>
            <a:r>
              <a:rPr lang="en-CA" dirty="0"/>
              <a:t>less any estimated costs of dismantling, disposal, and sale. </a:t>
            </a:r>
            <a:endParaRPr lang="en-CA" altLang="en-US" dirty="0"/>
          </a:p>
          <a:p>
            <a:r>
              <a:rPr lang="en-CA" altLang="en-US" dirty="0"/>
              <a:t>The residual value may be the estimated value of the asset as salvage or scrap, or its expected value if sold to another user.</a:t>
            </a:r>
          </a:p>
          <a:p>
            <a:endParaRPr lang="en-US"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A45057E5-BAAC-4D94-A2BA-2E7B56F7C7A5}"/>
              </a:ext>
            </a:extLst>
          </p:cNvPr>
          <p:cNvSpPr>
            <a:spLocks noGrp="1"/>
          </p:cNvSpPr>
          <p:nvPr>
            <p:ph type="title"/>
          </p:nvPr>
        </p:nvSpPr>
        <p:spPr/>
        <p:txBody>
          <a:bodyPr/>
          <a:lstStyle/>
          <a:p>
            <a:r>
              <a:rPr lang="en-US" altLang="en-US"/>
              <a:t>Alternative Depreciation Methods</a:t>
            </a:r>
          </a:p>
        </p:txBody>
      </p:sp>
      <p:sp>
        <p:nvSpPr>
          <p:cNvPr id="65538" name="Content Placeholder 2">
            <a:extLst>
              <a:ext uri="{FF2B5EF4-FFF2-40B4-BE49-F238E27FC236}">
                <a16:creationId xmlns:a16="http://schemas.microsoft.com/office/drawing/2014/main" id="{E2B4A3AE-9EA9-4C93-821F-E74BFBBEB443}"/>
              </a:ext>
            </a:extLst>
          </p:cNvPr>
          <p:cNvSpPr>
            <a:spLocks noGrp="1"/>
          </p:cNvSpPr>
          <p:nvPr>
            <p:ph idx="1"/>
          </p:nvPr>
        </p:nvSpPr>
        <p:spPr/>
        <p:txBody>
          <a:bodyPr/>
          <a:lstStyle/>
          <a:p>
            <a:r>
              <a:rPr lang="en-CA" altLang="en-US" dirty="0"/>
              <a:t>The three most common depreciation methods are:</a:t>
            </a:r>
          </a:p>
          <a:p>
            <a:pPr marL="731838" lvl="1" indent="-457200">
              <a:buFont typeface="Calibri" panose="020F0502020204030204" pitchFamily="34" charset="0"/>
              <a:buAutoNum type="arabicPeriod"/>
            </a:pPr>
            <a:r>
              <a:rPr lang="en-CA" altLang="en-US" sz="2600" dirty="0">
                <a:solidFill>
                  <a:schemeClr val="tx1"/>
                </a:solidFill>
              </a:rPr>
              <a:t>Straight line</a:t>
            </a:r>
          </a:p>
          <a:p>
            <a:pPr marL="731838" lvl="1" indent="-457200">
              <a:buFont typeface="Calibri" panose="020F0502020204030204" pitchFamily="34" charset="0"/>
              <a:buAutoNum type="arabicPeriod"/>
            </a:pPr>
            <a:r>
              <a:rPr lang="en-CA" altLang="en-US" sz="2600" dirty="0">
                <a:solidFill>
                  <a:schemeClr val="tx1"/>
                </a:solidFill>
              </a:rPr>
              <a:t>Units of production</a:t>
            </a:r>
          </a:p>
          <a:p>
            <a:pPr marL="731838" lvl="1" indent="-457200">
              <a:buFont typeface="Calibri" panose="020F0502020204030204" pitchFamily="34" charset="0"/>
              <a:buAutoNum type="arabicPeriod"/>
            </a:pPr>
            <a:r>
              <a:rPr lang="en-CA" altLang="en-US" sz="2600" dirty="0">
                <a:solidFill>
                  <a:schemeClr val="tx1"/>
                </a:solidFill>
              </a:rPr>
              <a:t>Declining (or diminishing) balance</a:t>
            </a:r>
          </a:p>
          <a:p>
            <a:pPr marL="731838" lvl="1" indent="-457200">
              <a:buFont typeface="Calibri" panose="020F0502020204030204" pitchFamily="34" charset="0"/>
              <a:buAutoNum type="arabicPeriod"/>
            </a:pPr>
            <a:endParaRPr lang="en-CA" altLang="en-US" sz="1200" dirty="0">
              <a:solidFill>
                <a:schemeClr val="tx1"/>
              </a:solidFill>
            </a:endParaRPr>
          </a:p>
          <a:p>
            <a:r>
              <a:rPr lang="en-CA" altLang="en-US" dirty="0"/>
              <a:t>The depreciation method used should reflect the anticipated reduction in future cash flow as a result of the wear and tear from using the asset over time. </a:t>
            </a:r>
          </a:p>
          <a:p>
            <a:endParaRPr lang="en-CA" altLang="en-US" sz="1200" dirty="0"/>
          </a:p>
          <a:p>
            <a:r>
              <a:rPr lang="en-CA" altLang="en-US" dirty="0"/>
              <a:t>Once a method is selected, the depreciation method should be applied consistently over time to enhance comparability of financial information to users.</a:t>
            </a:r>
            <a:endParaRPr lang="en-US"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F9136F8-DE8F-4D98-89B1-6194C0FBB3B9}"/>
              </a:ext>
            </a:extLst>
          </p:cNvPr>
          <p:cNvSpPr>
            <a:spLocks noGrp="1"/>
          </p:cNvSpPr>
          <p:nvPr>
            <p:ph type="title"/>
          </p:nvPr>
        </p:nvSpPr>
        <p:spPr/>
        <p:txBody>
          <a:bodyPr/>
          <a:lstStyle/>
          <a:p>
            <a:r>
              <a:rPr lang="en-US" altLang="en-US" dirty="0"/>
              <a:t>Straight-Line Method Part 1</a:t>
            </a:r>
          </a:p>
        </p:txBody>
      </p:sp>
      <p:sp>
        <p:nvSpPr>
          <p:cNvPr id="24578" name="Content Placeholder 2">
            <a:extLst>
              <a:ext uri="{FF2B5EF4-FFF2-40B4-BE49-F238E27FC236}">
                <a16:creationId xmlns:a16="http://schemas.microsoft.com/office/drawing/2014/main" id="{31E9FF4C-E77C-414A-A563-3373DE9E169E}"/>
              </a:ext>
            </a:extLst>
          </p:cNvPr>
          <p:cNvSpPr>
            <a:spLocks noGrp="1"/>
          </p:cNvSpPr>
          <p:nvPr>
            <p:ph idx="1"/>
          </p:nvPr>
        </p:nvSpPr>
        <p:spPr/>
        <p:txBody>
          <a:bodyPr/>
          <a:lstStyle/>
          <a:p>
            <a:r>
              <a:rPr lang="en-CA" altLang="en-US" dirty="0"/>
              <a:t>More companies, use straight-line depreciation in their financial statements.</a:t>
            </a:r>
          </a:p>
          <a:p>
            <a:r>
              <a:rPr lang="en-CA" altLang="en-US" dirty="0"/>
              <a:t>Under </a:t>
            </a:r>
            <a:r>
              <a:rPr lang="en-CA" altLang="en-US" b="1" dirty="0"/>
              <a:t>straight-line depreciation</a:t>
            </a:r>
            <a:r>
              <a:rPr lang="en-CA" altLang="en-US" dirty="0"/>
              <a:t>, an equal portion of an asset’s depreciable cost is allocated to each accounting period over its estimated useful life. </a:t>
            </a:r>
          </a:p>
          <a:p>
            <a:r>
              <a:rPr lang="en-CA" altLang="en-US" dirty="0"/>
              <a:t>The formula to estimate annual depreciation expense follows:</a:t>
            </a:r>
            <a:endParaRPr lang="en-US" altLang="en-US" dirty="0"/>
          </a:p>
        </p:txBody>
      </p:sp>
      <p:grpSp>
        <p:nvGrpSpPr>
          <p:cNvPr id="24579" name="Group 3">
            <a:extLst>
              <a:ext uri="{FF2B5EF4-FFF2-40B4-BE49-F238E27FC236}">
                <a16:creationId xmlns:a16="http://schemas.microsoft.com/office/drawing/2014/main" id="{26BEF700-17DF-469C-86B4-45EBEA80581B}"/>
              </a:ext>
            </a:extLst>
          </p:cNvPr>
          <p:cNvGrpSpPr>
            <a:grpSpLocks/>
          </p:cNvGrpSpPr>
          <p:nvPr/>
        </p:nvGrpSpPr>
        <p:grpSpPr bwMode="auto">
          <a:xfrm>
            <a:off x="193675" y="4191000"/>
            <a:ext cx="8661400" cy="990600"/>
            <a:chOff x="152" y="1053"/>
            <a:chExt cx="5456" cy="715"/>
          </a:xfrm>
        </p:grpSpPr>
        <p:sp>
          <p:nvSpPr>
            <p:cNvPr id="24580" name="Rectangle 4">
              <a:extLst>
                <a:ext uri="{FF2B5EF4-FFF2-40B4-BE49-F238E27FC236}">
                  <a16:creationId xmlns:a16="http://schemas.microsoft.com/office/drawing/2014/main" id="{F4DB30AD-6B19-412F-83B6-A5BC265FEA20}"/>
                </a:ext>
              </a:extLst>
            </p:cNvPr>
            <p:cNvSpPr>
              <a:spLocks noChangeArrowheads="1"/>
            </p:cNvSpPr>
            <p:nvPr/>
          </p:nvSpPr>
          <p:spPr bwMode="auto">
            <a:xfrm>
              <a:off x="152" y="1064"/>
              <a:ext cx="5456" cy="704"/>
            </a:xfrm>
            <a:prstGeom prst="rect">
              <a:avLst/>
            </a:prstGeom>
            <a:noFill/>
            <a:ln>
              <a:noFill/>
            </a:ln>
            <a:effectLst>
              <a:outerShdw dist="71842"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sz="2400"/>
            </a:p>
          </p:txBody>
        </p:sp>
        <p:sp>
          <p:nvSpPr>
            <p:cNvPr id="24581" name="Rectangle 5">
              <a:extLst>
                <a:ext uri="{FF2B5EF4-FFF2-40B4-BE49-F238E27FC236}">
                  <a16:creationId xmlns:a16="http://schemas.microsoft.com/office/drawing/2014/main" id="{29BA1326-AE2F-45EA-899D-DDBA73BAD500}"/>
                </a:ext>
              </a:extLst>
            </p:cNvPr>
            <p:cNvSpPr>
              <a:spLocks noChangeArrowheads="1"/>
            </p:cNvSpPr>
            <p:nvPr/>
          </p:nvSpPr>
          <p:spPr bwMode="auto">
            <a:xfrm>
              <a:off x="2478" y="1053"/>
              <a:ext cx="2886" cy="697"/>
            </a:xfrm>
            <a:prstGeom prst="rect">
              <a:avLst/>
            </a:prstGeom>
            <a:noFill/>
            <a:ln>
              <a:noFill/>
            </a:ln>
            <a:effectLst>
              <a:outerShdw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a:latin typeface="Arial" panose="020B0604020202020204" pitchFamily="34" charset="0"/>
                </a:rPr>
                <a:t>Cost  –  Residual Value</a:t>
              </a:r>
              <a:br>
                <a:rPr lang="en-CA" altLang="en-US" sz="2400">
                  <a:latin typeface="Arial" panose="020B0604020202020204" pitchFamily="34" charset="0"/>
                </a:rPr>
              </a:br>
              <a:r>
                <a:rPr lang="en-CA" altLang="en-US" sz="2400">
                  <a:latin typeface="Arial" panose="020B0604020202020204" pitchFamily="34" charset="0"/>
                </a:rPr>
                <a:t>Useful Life in Years</a:t>
              </a:r>
            </a:p>
          </p:txBody>
        </p:sp>
        <p:sp>
          <p:nvSpPr>
            <p:cNvPr id="24582" name="Rectangle 6">
              <a:extLst>
                <a:ext uri="{FF2B5EF4-FFF2-40B4-BE49-F238E27FC236}">
                  <a16:creationId xmlns:a16="http://schemas.microsoft.com/office/drawing/2014/main" id="{35F9C4D3-A016-4D0B-9346-0FD2FCBCF3B5}"/>
                </a:ext>
              </a:extLst>
            </p:cNvPr>
            <p:cNvSpPr>
              <a:spLocks noChangeArrowheads="1"/>
            </p:cNvSpPr>
            <p:nvPr/>
          </p:nvSpPr>
          <p:spPr bwMode="auto">
            <a:xfrm>
              <a:off x="730" y="1053"/>
              <a:ext cx="1652" cy="697"/>
            </a:xfrm>
            <a:prstGeom prst="rect">
              <a:avLst/>
            </a:prstGeom>
            <a:noFill/>
            <a:ln>
              <a:noFill/>
            </a:ln>
            <a:effectLst>
              <a:outerShdw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US" altLang="en-US" sz="2400" b="1">
                  <a:latin typeface="Arial" panose="020B0604020202020204" pitchFamily="34" charset="0"/>
                </a:rPr>
                <a:t>    </a:t>
              </a:r>
              <a:r>
                <a:rPr lang="en-US" altLang="en-US" sz="2400">
                  <a:latin typeface="Arial" panose="020B0604020202020204" pitchFamily="34" charset="0"/>
                </a:rPr>
                <a:t>Depreciation</a:t>
              </a:r>
            </a:p>
            <a:p>
              <a:pPr>
                <a:lnSpc>
                  <a:spcPct val="120000"/>
                </a:lnSpc>
                <a:spcBef>
                  <a:spcPct val="0"/>
                </a:spcBef>
                <a:buClrTx/>
                <a:buSzTx/>
                <a:buFontTx/>
                <a:buNone/>
              </a:pPr>
              <a:r>
                <a:rPr lang="en-US" altLang="en-US" sz="2400">
                  <a:latin typeface="Arial" panose="020B0604020202020204" pitchFamily="34" charset="0"/>
                </a:rPr>
                <a:t>Expense per Year</a:t>
              </a:r>
            </a:p>
          </p:txBody>
        </p:sp>
        <p:sp>
          <p:nvSpPr>
            <p:cNvPr id="24583" name="Rectangle 7">
              <a:extLst>
                <a:ext uri="{FF2B5EF4-FFF2-40B4-BE49-F238E27FC236}">
                  <a16:creationId xmlns:a16="http://schemas.microsoft.com/office/drawing/2014/main" id="{3D439854-20E1-4E42-AC16-DED04A0DAC42}"/>
                </a:ext>
              </a:extLst>
            </p:cNvPr>
            <p:cNvSpPr>
              <a:spLocks noChangeArrowheads="1"/>
            </p:cNvSpPr>
            <p:nvPr/>
          </p:nvSpPr>
          <p:spPr bwMode="auto">
            <a:xfrm>
              <a:off x="2435" y="1254"/>
              <a:ext cx="228" cy="331"/>
            </a:xfrm>
            <a:prstGeom prst="rect">
              <a:avLst/>
            </a:prstGeom>
            <a:noFill/>
            <a:ln>
              <a:noFill/>
            </a:ln>
            <a:effectLst>
              <a:outerShdw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US" altLang="en-US" sz="2400">
                  <a:latin typeface="Arial" panose="020B0604020202020204" pitchFamily="34" charset="0"/>
                </a:rPr>
                <a:t>=</a:t>
              </a:r>
            </a:p>
          </p:txBody>
        </p:sp>
        <p:sp>
          <p:nvSpPr>
            <p:cNvPr id="24584" name="Line 8">
              <a:extLst>
                <a:ext uri="{FF2B5EF4-FFF2-40B4-BE49-F238E27FC236}">
                  <a16:creationId xmlns:a16="http://schemas.microsoft.com/office/drawing/2014/main" id="{7A12E8A4-4A3D-4DCE-A6FA-94FB709D417B}"/>
                </a:ext>
              </a:extLst>
            </p:cNvPr>
            <p:cNvSpPr>
              <a:spLocks noChangeShapeType="1"/>
            </p:cNvSpPr>
            <p:nvPr/>
          </p:nvSpPr>
          <p:spPr bwMode="auto">
            <a:xfrm>
              <a:off x="2718" y="1392"/>
              <a:ext cx="2384" cy="0"/>
            </a:xfrm>
            <a:prstGeom prst="line">
              <a:avLst/>
            </a:prstGeom>
            <a:noFill/>
            <a:ln w="25399">
              <a:solidFill>
                <a:srgbClr val="000000"/>
              </a:solidFill>
              <a:round/>
              <a:headEnd/>
              <a:tailEnd/>
            </a:ln>
            <a:effectLst>
              <a:outerShdw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2DDE681F-DE57-4CBE-AF58-39A871932CD9}"/>
              </a:ext>
            </a:extLst>
          </p:cNvPr>
          <p:cNvSpPr>
            <a:spLocks noGrp="1"/>
          </p:cNvSpPr>
          <p:nvPr>
            <p:ph type="title"/>
          </p:nvPr>
        </p:nvSpPr>
        <p:spPr/>
        <p:txBody>
          <a:bodyPr/>
          <a:lstStyle/>
          <a:p>
            <a:r>
              <a:rPr lang="en-US" altLang="en-US" dirty="0"/>
              <a:t>Straight-Line Method Part 2</a:t>
            </a:r>
          </a:p>
        </p:txBody>
      </p:sp>
      <p:sp>
        <p:nvSpPr>
          <p:cNvPr id="66562" name="Content Placeholder 2">
            <a:extLst>
              <a:ext uri="{FF2B5EF4-FFF2-40B4-BE49-F238E27FC236}">
                <a16:creationId xmlns:a16="http://schemas.microsoft.com/office/drawing/2014/main" id="{AFA865B1-C671-478C-82D1-35D8DF9F3A63}"/>
              </a:ext>
            </a:extLst>
          </p:cNvPr>
          <p:cNvSpPr>
            <a:spLocks noGrp="1"/>
          </p:cNvSpPr>
          <p:nvPr>
            <p:ph idx="1"/>
          </p:nvPr>
        </p:nvSpPr>
        <p:spPr/>
        <p:txBody>
          <a:bodyPr/>
          <a:lstStyle/>
          <a:p>
            <a:r>
              <a:rPr lang="en-CA" altLang="en-US" dirty="0"/>
              <a:t>Under the Straight-Line Method:</a:t>
            </a:r>
          </a:p>
          <a:p>
            <a:endParaRPr lang="en-CA" altLang="en-US" sz="1200" dirty="0"/>
          </a:p>
          <a:p>
            <a:pPr lvl="1"/>
            <a:r>
              <a:rPr lang="en-CA" altLang="en-US" sz="2600" dirty="0">
                <a:solidFill>
                  <a:schemeClr val="tx1"/>
                </a:solidFill>
              </a:rPr>
              <a:t>Depreciation expense is a constant amount for each year.</a:t>
            </a:r>
          </a:p>
          <a:p>
            <a:pPr lvl="1"/>
            <a:r>
              <a:rPr lang="en-CA" altLang="en-US" sz="2600" dirty="0">
                <a:solidFill>
                  <a:schemeClr val="tx1"/>
                </a:solidFill>
              </a:rPr>
              <a:t>Accumulated depreciation increases by an equal amount each year.</a:t>
            </a:r>
          </a:p>
          <a:p>
            <a:pPr lvl="1"/>
            <a:r>
              <a:rPr lang="en-CA" altLang="en-US" sz="2600" dirty="0">
                <a:solidFill>
                  <a:schemeClr val="tx1"/>
                </a:solidFill>
              </a:rPr>
              <a:t>Carrying amount decreases by the same amount each year until it equals the estimated residual value.</a:t>
            </a:r>
          </a:p>
          <a:p>
            <a:endParaRPr lang="en-US"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FFEECC85-AA14-4E37-87F8-C925B6B29CB3}"/>
              </a:ext>
            </a:extLst>
          </p:cNvPr>
          <p:cNvSpPr>
            <a:spLocks noGrp="1"/>
          </p:cNvSpPr>
          <p:nvPr>
            <p:ph type="title"/>
          </p:nvPr>
        </p:nvSpPr>
        <p:spPr/>
        <p:txBody>
          <a:bodyPr/>
          <a:lstStyle/>
          <a:p>
            <a:r>
              <a:rPr lang="en-US" altLang="en-US"/>
              <a:t>Straight-Line Method - Example</a:t>
            </a:r>
          </a:p>
        </p:txBody>
      </p:sp>
      <p:pic>
        <p:nvPicPr>
          <p:cNvPr id="10" name="Picture 9" descr="Table&#10;&#10;Description automatically generated">
            <a:extLst>
              <a:ext uri="{FF2B5EF4-FFF2-40B4-BE49-F238E27FC236}">
                <a16:creationId xmlns:a16="http://schemas.microsoft.com/office/drawing/2014/main" id="{F66A8AC8-4ED1-BD48-B2AD-A5B579C11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90" y="2667000"/>
            <a:ext cx="8955219" cy="3511550"/>
          </a:xfrm>
          <a:prstGeom prst="rect">
            <a:avLst/>
          </a:prstGeom>
        </p:spPr>
      </p:pic>
      <p:pic>
        <p:nvPicPr>
          <p:cNvPr id="2" name="Picture 1">
            <a:extLst>
              <a:ext uri="{FF2B5EF4-FFF2-40B4-BE49-F238E27FC236}">
                <a16:creationId xmlns:a16="http://schemas.microsoft.com/office/drawing/2014/main" id="{FFA5A1C6-AF30-EB42-AD47-7F25E16CB5B0}"/>
              </a:ext>
            </a:extLst>
          </p:cNvPr>
          <p:cNvPicPr>
            <a:picLocks noChangeAspect="1"/>
          </p:cNvPicPr>
          <p:nvPr/>
        </p:nvPicPr>
        <p:blipFill>
          <a:blip r:embed="rId4"/>
          <a:stretch>
            <a:fillRect/>
          </a:stretch>
        </p:blipFill>
        <p:spPr>
          <a:xfrm>
            <a:off x="457200" y="1143000"/>
            <a:ext cx="1996164" cy="2609850"/>
          </a:xfrm>
          <a:prstGeom prst="rect">
            <a:avLst/>
          </a:prstGeom>
        </p:spPr>
      </p:pic>
    </p:spTree>
    <p:extLst>
      <p:ext uri="{BB962C8B-B14F-4D97-AF65-F5344CB8AC3E}">
        <p14:creationId xmlns:p14="http://schemas.microsoft.com/office/powerpoint/2010/main" val="383610673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FABFB5A6-D879-42B5-87C1-0E2820707DDD}"/>
              </a:ext>
            </a:extLst>
          </p:cNvPr>
          <p:cNvSpPr>
            <a:spLocks noGrp="1"/>
          </p:cNvSpPr>
          <p:nvPr>
            <p:ph type="title"/>
          </p:nvPr>
        </p:nvSpPr>
        <p:spPr/>
        <p:txBody>
          <a:bodyPr/>
          <a:lstStyle/>
          <a:p>
            <a:r>
              <a:rPr lang="en-US" altLang="en-US" dirty="0"/>
              <a:t>Units-of-Production (Activity) Method Part 1</a:t>
            </a:r>
          </a:p>
        </p:txBody>
      </p:sp>
      <p:sp>
        <p:nvSpPr>
          <p:cNvPr id="68610" name="Content Placeholder 2">
            <a:extLst>
              <a:ext uri="{FF2B5EF4-FFF2-40B4-BE49-F238E27FC236}">
                <a16:creationId xmlns:a16="http://schemas.microsoft.com/office/drawing/2014/main" id="{C7B0E835-AF76-45C5-82E4-523358BCBAC4}"/>
              </a:ext>
            </a:extLst>
          </p:cNvPr>
          <p:cNvSpPr>
            <a:spLocks noGrp="1"/>
          </p:cNvSpPr>
          <p:nvPr>
            <p:ph idx="1"/>
          </p:nvPr>
        </p:nvSpPr>
        <p:spPr>
          <a:xfrm>
            <a:off x="457200" y="1066800"/>
            <a:ext cx="8229600" cy="5334000"/>
          </a:xfrm>
        </p:spPr>
        <p:txBody>
          <a:bodyPr/>
          <a:lstStyle/>
          <a:p>
            <a:r>
              <a:rPr lang="en-CA" altLang="en-US" b="1" dirty="0"/>
              <a:t>Units-of-production depreciation</a:t>
            </a:r>
            <a:r>
              <a:rPr lang="en-CA" altLang="en-US" dirty="0"/>
              <a:t> method allocates the cost of an asset over its useful life based on the relation of its periodic output to its total estimated output. </a:t>
            </a:r>
          </a:p>
          <a:p>
            <a:r>
              <a:rPr lang="en-CA" altLang="en-US" dirty="0"/>
              <a:t>The formula to estimate annual depreciation expense under this method follows:</a:t>
            </a:r>
          </a:p>
          <a:p>
            <a:endParaRPr lang="en-CA" altLang="en-US" dirty="0"/>
          </a:p>
          <a:p>
            <a:endParaRPr lang="en-CA" altLang="en-US" dirty="0"/>
          </a:p>
          <a:p>
            <a:endParaRPr lang="en-CA" altLang="en-US" sz="1800" dirty="0"/>
          </a:p>
          <a:p>
            <a:r>
              <a:rPr lang="en-CA" altLang="en-US" dirty="0"/>
              <a:t>Dividing the depreciable amount by the estimated total production yields the depreciation rate per unit of production (or activity), which is then multiplied by the actual annual production (or activity) to determine depreciation expense. </a:t>
            </a:r>
            <a:endParaRPr lang="en-US" altLang="en-US" dirty="0"/>
          </a:p>
        </p:txBody>
      </p:sp>
      <p:pic>
        <p:nvPicPr>
          <p:cNvPr id="68611" name="Picture 4">
            <a:extLst>
              <a:ext uri="{FF2B5EF4-FFF2-40B4-BE49-F238E27FC236}">
                <a16:creationId xmlns:a16="http://schemas.microsoft.com/office/drawing/2014/main" id="{D54828AB-A8C2-4241-9ADC-179258EB3D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200400"/>
            <a:ext cx="7162800" cy="1295400"/>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41853015-BEE7-4D67-BE84-5968C0E7F23B}"/>
              </a:ext>
            </a:extLst>
          </p:cNvPr>
          <p:cNvSpPr>
            <a:spLocks noGrp="1"/>
          </p:cNvSpPr>
          <p:nvPr>
            <p:ph type="title"/>
          </p:nvPr>
        </p:nvSpPr>
        <p:spPr>
          <a:xfrm>
            <a:off x="457200" y="152400"/>
            <a:ext cx="8382000" cy="792163"/>
          </a:xfrm>
        </p:spPr>
        <p:txBody>
          <a:bodyPr/>
          <a:lstStyle/>
          <a:p>
            <a:r>
              <a:rPr lang="en-US" altLang="en-US" dirty="0"/>
              <a:t>Units-of-Production (Activity) Method Part 2</a:t>
            </a:r>
          </a:p>
        </p:txBody>
      </p:sp>
      <p:sp>
        <p:nvSpPr>
          <p:cNvPr id="69634" name="Content Placeholder 2">
            <a:extLst>
              <a:ext uri="{FF2B5EF4-FFF2-40B4-BE49-F238E27FC236}">
                <a16:creationId xmlns:a16="http://schemas.microsoft.com/office/drawing/2014/main" id="{7E30E9EE-28E9-4519-99FD-4F7F1E3C1996}"/>
              </a:ext>
            </a:extLst>
          </p:cNvPr>
          <p:cNvSpPr>
            <a:spLocks noGrp="1"/>
          </p:cNvSpPr>
          <p:nvPr>
            <p:ph idx="1"/>
          </p:nvPr>
        </p:nvSpPr>
        <p:spPr/>
        <p:txBody>
          <a:bodyPr/>
          <a:lstStyle/>
          <a:p>
            <a:r>
              <a:rPr lang="en-CA" altLang="en-US" dirty="0"/>
              <a:t>When the units-of-production method is used, depreciation expense is said to be a </a:t>
            </a:r>
            <a:r>
              <a:rPr lang="en-CA" altLang="en-US" i="1" dirty="0"/>
              <a:t>variable expense</a:t>
            </a:r>
            <a:r>
              <a:rPr lang="en-CA" altLang="en-US" dirty="0"/>
              <a:t> because it varies directly with production, or use.</a:t>
            </a:r>
          </a:p>
          <a:p>
            <a:r>
              <a:rPr lang="en-CA" altLang="en-US" dirty="0"/>
              <a:t>The carrying amount and the amount of accumulated depreciation will also fluctuate from year to year.</a:t>
            </a:r>
          </a:p>
          <a:p>
            <a:r>
              <a:rPr lang="en-CA" altLang="en-US" dirty="0"/>
              <a:t>If any difference occurs at the end of the asset’s life, the final adjusting entry to depreciation expense should be for the amount needed to cause the asset’s carrying amount to equal the asset’s estimated residual value.</a:t>
            </a:r>
          </a:p>
          <a:p>
            <a:r>
              <a:rPr lang="en-CA" altLang="en-US" dirty="0"/>
              <a:t>The units-of-production method is based on an estimate of an asset’s total productive capacity or output that is difficult to determine. </a:t>
            </a:r>
            <a:endParaRPr lang="en-US"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41853015-BEE7-4D67-BE84-5968C0E7F23B}"/>
              </a:ext>
            </a:extLst>
          </p:cNvPr>
          <p:cNvSpPr>
            <a:spLocks noGrp="1"/>
          </p:cNvSpPr>
          <p:nvPr>
            <p:ph type="title"/>
          </p:nvPr>
        </p:nvSpPr>
        <p:spPr>
          <a:xfrm>
            <a:off x="457200" y="152400"/>
            <a:ext cx="8382000" cy="792163"/>
          </a:xfrm>
        </p:spPr>
        <p:txBody>
          <a:bodyPr/>
          <a:lstStyle/>
          <a:p>
            <a:r>
              <a:rPr lang="en-US" altLang="en-US" dirty="0"/>
              <a:t>Units-of-Production (Activity) Method - Example</a:t>
            </a:r>
          </a:p>
        </p:txBody>
      </p:sp>
      <p:pic>
        <p:nvPicPr>
          <p:cNvPr id="4" name="Picture 3" descr="Table&#10;&#10;Description automatically generated">
            <a:extLst>
              <a:ext uri="{FF2B5EF4-FFF2-40B4-BE49-F238E27FC236}">
                <a16:creationId xmlns:a16="http://schemas.microsoft.com/office/drawing/2014/main" id="{E147599D-1CE8-3740-8BDE-5783D85C4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343" y="4292600"/>
            <a:ext cx="8447314" cy="2133600"/>
          </a:xfrm>
          <a:prstGeom prst="rect">
            <a:avLst/>
          </a:prstGeom>
        </p:spPr>
      </p:pic>
      <p:pic>
        <p:nvPicPr>
          <p:cNvPr id="6" name="Picture 5" descr="Chart, bar chart&#10;&#10;Description automatically generated">
            <a:extLst>
              <a:ext uri="{FF2B5EF4-FFF2-40B4-BE49-F238E27FC236}">
                <a16:creationId xmlns:a16="http://schemas.microsoft.com/office/drawing/2014/main" id="{72339388-62AD-B94C-AE67-B8A5BCAA6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015502"/>
            <a:ext cx="2667000" cy="3277098"/>
          </a:xfrm>
          <a:prstGeom prst="rect">
            <a:avLst/>
          </a:prstGeom>
        </p:spPr>
      </p:pic>
    </p:spTree>
    <p:extLst>
      <p:ext uri="{BB962C8B-B14F-4D97-AF65-F5344CB8AC3E}">
        <p14:creationId xmlns:p14="http://schemas.microsoft.com/office/powerpoint/2010/main" val="352227805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9B77FCF0-D4EF-4ACB-BB2A-AE8689DDD130}"/>
              </a:ext>
            </a:extLst>
          </p:cNvPr>
          <p:cNvSpPr>
            <a:spLocks noGrp="1"/>
          </p:cNvSpPr>
          <p:nvPr>
            <p:ph type="title"/>
          </p:nvPr>
        </p:nvSpPr>
        <p:spPr/>
        <p:txBody>
          <a:bodyPr/>
          <a:lstStyle/>
          <a:p>
            <a:r>
              <a:rPr lang="en-CA" altLang="en-US"/>
              <a:t>Accelerated Depreciation</a:t>
            </a:r>
            <a:endParaRPr lang="en-US" altLang="en-US"/>
          </a:p>
        </p:txBody>
      </p:sp>
      <p:sp>
        <p:nvSpPr>
          <p:cNvPr id="70658" name="Content Placeholder 2">
            <a:extLst>
              <a:ext uri="{FF2B5EF4-FFF2-40B4-BE49-F238E27FC236}">
                <a16:creationId xmlns:a16="http://schemas.microsoft.com/office/drawing/2014/main" id="{EE971B20-A9AB-4779-B12D-B8D53D0E7CFA}"/>
              </a:ext>
            </a:extLst>
          </p:cNvPr>
          <p:cNvSpPr>
            <a:spLocks noGrp="1"/>
          </p:cNvSpPr>
          <p:nvPr>
            <p:ph idx="1"/>
          </p:nvPr>
        </p:nvSpPr>
        <p:spPr/>
        <p:txBody>
          <a:bodyPr/>
          <a:lstStyle/>
          <a:p>
            <a:r>
              <a:rPr lang="en-CA" altLang="en-US" dirty="0"/>
              <a:t>If an asset is considered to be more efficient or productive in its earliest years, with a levelling off in later years, managers might choose the </a:t>
            </a:r>
            <a:r>
              <a:rPr lang="en-CA" altLang="en-US" b="1" dirty="0"/>
              <a:t>declining-balance depreciation</a:t>
            </a:r>
            <a:r>
              <a:rPr lang="en-CA" altLang="en-US" dirty="0"/>
              <a:t> method to reflect a sharper reduction in the economic benefits (cash flow) expected to be derived from the asset in the earlier rather than later years. </a:t>
            </a:r>
          </a:p>
          <a:p>
            <a:endParaRPr lang="en-CA" altLang="en-US" sz="1200" dirty="0"/>
          </a:p>
          <a:p>
            <a:r>
              <a:rPr lang="en-CA" altLang="en-US" dirty="0"/>
              <a:t>This is called </a:t>
            </a:r>
            <a:r>
              <a:rPr lang="en-CA" altLang="en-US" b="1" dirty="0"/>
              <a:t>accelerated depreciation</a:t>
            </a:r>
            <a:r>
              <a:rPr lang="en-CA" altLang="en-US" dirty="0"/>
              <a:t>. </a:t>
            </a:r>
          </a:p>
          <a:p>
            <a:endParaRPr lang="en-CA" altLang="en-US" sz="1200" dirty="0"/>
          </a:p>
          <a:p>
            <a:r>
              <a:rPr lang="en-CA" altLang="en-US" dirty="0"/>
              <a:t>A declining-balance method is used to better reflect the decline of economic benefits over time.</a:t>
            </a:r>
            <a:endParaRPr lang="en-US"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B8EBC05D-87CE-4AC9-A412-E04E7F04627E}"/>
              </a:ext>
            </a:extLst>
          </p:cNvPr>
          <p:cNvSpPr>
            <a:spLocks noGrp="1"/>
          </p:cNvSpPr>
          <p:nvPr>
            <p:ph type="title"/>
          </p:nvPr>
        </p:nvSpPr>
        <p:spPr/>
        <p:txBody>
          <a:bodyPr/>
          <a:lstStyle/>
          <a:p>
            <a:r>
              <a:rPr lang="en-CA" altLang="en-US"/>
              <a:t>Declining-Balance Method</a:t>
            </a:r>
            <a:endParaRPr lang="en-US" altLang="en-US"/>
          </a:p>
        </p:txBody>
      </p:sp>
      <p:sp>
        <p:nvSpPr>
          <p:cNvPr id="71682" name="Content Placeholder 2">
            <a:extLst>
              <a:ext uri="{FF2B5EF4-FFF2-40B4-BE49-F238E27FC236}">
                <a16:creationId xmlns:a16="http://schemas.microsoft.com/office/drawing/2014/main" id="{A1FE4F67-30B2-45BA-8BDB-DD3729C10BF1}"/>
              </a:ext>
            </a:extLst>
          </p:cNvPr>
          <p:cNvSpPr>
            <a:spLocks noGrp="1"/>
          </p:cNvSpPr>
          <p:nvPr>
            <p:ph idx="1"/>
          </p:nvPr>
        </p:nvSpPr>
        <p:spPr/>
        <p:txBody>
          <a:bodyPr/>
          <a:lstStyle/>
          <a:p>
            <a:r>
              <a:rPr lang="en-CA" altLang="en-US"/>
              <a:t>Declining-balance depreciation is based on multiplying the asset’s carrying amount by a fixed rate that exceeds the straight-line (SL) rate. </a:t>
            </a:r>
          </a:p>
          <a:p>
            <a:r>
              <a:rPr lang="en-CA" altLang="en-US"/>
              <a:t>The rate is often double (two times) the SL rate and is called the </a:t>
            </a:r>
            <a:r>
              <a:rPr lang="en-CA" altLang="en-US" b="1"/>
              <a:t>double declining-balance rate</a:t>
            </a:r>
            <a:r>
              <a:rPr lang="en-CA" altLang="en-US" i="1"/>
              <a:t>.</a:t>
            </a:r>
            <a:r>
              <a:rPr lang="en-CA" altLang="en-US"/>
              <a:t> </a:t>
            </a:r>
          </a:p>
          <a:p>
            <a:r>
              <a:rPr lang="en-CA" altLang="en-US"/>
              <a:t>For example, if the estimated useful life of an asset is 10 years and the SL rate is 10 percent (1 ÷ 10), then the declining-balance rate is 20 percent (2 × the SL rate of 10 percent). </a:t>
            </a:r>
          </a:p>
          <a:p>
            <a:r>
              <a:rPr lang="en-CA" altLang="en-US"/>
              <a:t>The double declining-balance (DDB) rate is adopted most frequently by companies utilizing the accelerated method. </a:t>
            </a:r>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B63BFC44-95FC-48CD-ABBF-8B4DC9C9AE9E}"/>
              </a:ext>
            </a:extLst>
          </p:cNvPr>
          <p:cNvSpPr>
            <a:spLocks noGrp="1"/>
          </p:cNvSpPr>
          <p:nvPr>
            <p:ph type="title"/>
          </p:nvPr>
        </p:nvSpPr>
        <p:spPr/>
        <p:txBody>
          <a:bodyPr/>
          <a:lstStyle/>
          <a:p>
            <a:r>
              <a:rPr lang="en-CA" altLang="en-US"/>
              <a:t>Double Declining-Balance Formula</a:t>
            </a:r>
            <a:endParaRPr lang="en-US" altLang="en-US"/>
          </a:p>
        </p:txBody>
      </p:sp>
      <p:sp>
        <p:nvSpPr>
          <p:cNvPr id="72706" name="Content Placeholder 2">
            <a:extLst>
              <a:ext uri="{FF2B5EF4-FFF2-40B4-BE49-F238E27FC236}">
                <a16:creationId xmlns:a16="http://schemas.microsoft.com/office/drawing/2014/main" id="{0A5885E7-5E27-45CA-B861-25080583F222}"/>
              </a:ext>
            </a:extLst>
          </p:cNvPr>
          <p:cNvSpPr>
            <a:spLocks noGrp="1"/>
          </p:cNvSpPr>
          <p:nvPr>
            <p:ph idx="1"/>
          </p:nvPr>
        </p:nvSpPr>
        <p:spPr/>
        <p:txBody>
          <a:bodyPr/>
          <a:lstStyle/>
          <a:p>
            <a:r>
              <a:rPr lang="en-CA" altLang="en-US"/>
              <a:t>To calculate depreciation expense under the double declining-balance method the following formula is used:</a:t>
            </a:r>
          </a:p>
          <a:p>
            <a:endParaRPr lang="en-CA" altLang="en-US"/>
          </a:p>
          <a:p>
            <a:endParaRPr lang="en-CA" altLang="en-US"/>
          </a:p>
          <a:p>
            <a:endParaRPr lang="en-CA" altLang="en-US"/>
          </a:p>
          <a:p>
            <a:endParaRPr lang="en-CA" altLang="en-US"/>
          </a:p>
          <a:p>
            <a:endParaRPr lang="en-CA" altLang="en-US"/>
          </a:p>
          <a:p>
            <a:endParaRPr lang="en-US" altLang="en-US"/>
          </a:p>
        </p:txBody>
      </p:sp>
      <p:pic>
        <p:nvPicPr>
          <p:cNvPr id="72707" name="Picture 4">
            <a:extLst>
              <a:ext uri="{FF2B5EF4-FFF2-40B4-BE49-F238E27FC236}">
                <a16:creationId xmlns:a16="http://schemas.microsoft.com/office/drawing/2014/main" id="{94417C03-F1A2-453F-859E-ED87FC17DD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350" y="2768600"/>
            <a:ext cx="8115300" cy="2082800"/>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AD80360B-DCBC-4100-AEC3-8FD8B8916F73}"/>
              </a:ext>
            </a:extLst>
          </p:cNvPr>
          <p:cNvSpPr>
            <a:spLocks noGrp="1"/>
          </p:cNvSpPr>
          <p:nvPr>
            <p:ph type="title"/>
          </p:nvPr>
        </p:nvSpPr>
        <p:spPr/>
        <p:txBody>
          <a:bodyPr/>
          <a:lstStyle/>
          <a:p>
            <a:r>
              <a:rPr lang="en-CA" altLang="en-US" dirty="0"/>
              <a:t>Double Declining-Balance Part 1</a:t>
            </a:r>
            <a:endParaRPr lang="en-US" altLang="en-US" dirty="0"/>
          </a:p>
        </p:txBody>
      </p:sp>
      <p:sp>
        <p:nvSpPr>
          <p:cNvPr id="3" name="Content Placeholder 2">
            <a:extLst>
              <a:ext uri="{FF2B5EF4-FFF2-40B4-BE49-F238E27FC236}">
                <a16:creationId xmlns:a16="http://schemas.microsoft.com/office/drawing/2014/main" id="{DEF17302-D28E-4E49-91D4-50A5DB4E1F33}"/>
              </a:ext>
            </a:extLst>
          </p:cNvPr>
          <p:cNvSpPr>
            <a:spLocks noGrp="1"/>
          </p:cNvSpPr>
          <p:nvPr>
            <p:ph idx="1"/>
          </p:nvPr>
        </p:nvSpPr>
        <p:spPr/>
        <p:txBody>
          <a:bodyPr/>
          <a:lstStyle/>
          <a:p>
            <a:pPr>
              <a:buFont typeface="Wingdings 3" pitchFamily="2" charset="2"/>
              <a:buChar char=""/>
              <a:defRPr/>
            </a:pPr>
            <a:r>
              <a:rPr lang="en-CA" dirty="0"/>
              <a:t>There are two important differences between the double declining-balance method and the others described previously:</a:t>
            </a:r>
          </a:p>
          <a:p>
            <a:pPr marL="514350" indent="-514350">
              <a:buFont typeface="+mj-lt"/>
              <a:buAutoNum type="arabicPeriod"/>
              <a:defRPr/>
            </a:pPr>
            <a:r>
              <a:rPr lang="en-CA" dirty="0"/>
              <a:t>Accumulated depreciation, not residual value, is included in the formula.  Since accumulated depreciation increases each year, the carrying amount (cost − accumulated depreciation) decreases. The DDB rate is applied to a lower carrying amount each year, resulting in a decline in depreciation expense over time.</a:t>
            </a:r>
          </a:p>
          <a:p>
            <a:pPr>
              <a:buFont typeface="Wingdings 3" pitchFamily="2" charset="2"/>
              <a:buChar char=""/>
              <a:defRPr/>
            </a:pPr>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E50B53FE-EC2F-4CDE-9E04-2798F8CEA098}"/>
              </a:ext>
            </a:extLst>
          </p:cNvPr>
          <p:cNvSpPr>
            <a:spLocks noGrp="1"/>
          </p:cNvSpPr>
          <p:nvPr>
            <p:ph type="title"/>
          </p:nvPr>
        </p:nvSpPr>
        <p:spPr/>
        <p:txBody>
          <a:bodyPr/>
          <a:lstStyle/>
          <a:p>
            <a:r>
              <a:rPr lang="en-CA" altLang="en-US" dirty="0"/>
              <a:t>Double Declining-Balance Part 2</a:t>
            </a:r>
            <a:endParaRPr lang="en-US" altLang="en-US" dirty="0"/>
          </a:p>
        </p:txBody>
      </p:sp>
      <p:sp>
        <p:nvSpPr>
          <p:cNvPr id="3" name="Content Placeholder 2">
            <a:extLst>
              <a:ext uri="{FF2B5EF4-FFF2-40B4-BE49-F238E27FC236}">
                <a16:creationId xmlns:a16="http://schemas.microsoft.com/office/drawing/2014/main" id="{BA513338-48A5-41F9-B9C4-09AB941C1BD1}"/>
              </a:ext>
            </a:extLst>
          </p:cNvPr>
          <p:cNvSpPr>
            <a:spLocks noGrp="1"/>
          </p:cNvSpPr>
          <p:nvPr>
            <p:ph idx="1"/>
          </p:nvPr>
        </p:nvSpPr>
        <p:spPr/>
        <p:txBody>
          <a:bodyPr/>
          <a:lstStyle/>
          <a:p>
            <a:pPr>
              <a:buFont typeface="Wingdings 3" pitchFamily="2" charset="2"/>
              <a:buChar char=""/>
              <a:defRPr/>
            </a:pPr>
            <a:r>
              <a:rPr lang="en-CA" dirty="0"/>
              <a:t>There are two important differences between the double declining-balance method and the others described previously:</a:t>
            </a:r>
          </a:p>
          <a:p>
            <a:pPr marL="514350" indent="-514350">
              <a:buFont typeface="+mj-lt"/>
              <a:buAutoNum type="arabicPeriod" startAt="2"/>
              <a:defRPr/>
            </a:pPr>
            <a:r>
              <a:rPr lang="en-CA" dirty="0"/>
              <a:t>The carrying amount should not be depreciated below the residual value:</a:t>
            </a:r>
          </a:p>
          <a:p>
            <a:pPr lvl="2">
              <a:buFont typeface="Wingdings 3" pitchFamily="2" charset="2"/>
              <a:buChar char=""/>
              <a:defRPr/>
            </a:pPr>
            <a:r>
              <a:rPr lang="en-CA" sz="2100" dirty="0"/>
              <a:t>Before the end of the estimated useful life, if the annual computation reduces the carrying amount below residual value, only the amount of depreciation expense needed to make the carrying amount equal to residual value is recorded, and no additional depreciation expense is computed in subsequent years.</a:t>
            </a:r>
          </a:p>
          <a:p>
            <a:pPr lvl="2">
              <a:buFont typeface="Wingdings 3" pitchFamily="2" charset="2"/>
              <a:buChar char=""/>
              <a:defRPr/>
            </a:pPr>
            <a:r>
              <a:rPr lang="en-CA" sz="2100" dirty="0"/>
              <a:t>In the last year of the asset’s estimated useful life, whatever amount is needed to bring the carrying amount to residual value is recorded, regardless of the amount of the computation.</a:t>
            </a:r>
          </a:p>
          <a:p>
            <a:pPr>
              <a:buFont typeface="Wingdings 3" pitchFamily="2" charset="2"/>
              <a:buChar char=""/>
              <a:defRPr/>
            </a:pPr>
            <a:endParaRPr 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E50B53FE-EC2F-4CDE-9E04-2798F8CEA098}"/>
              </a:ext>
            </a:extLst>
          </p:cNvPr>
          <p:cNvSpPr>
            <a:spLocks noGrp="1"/>
          </p:cNvSpPr>
          <p:nvPr>
            <p:ph type="title"/>
          </p:nvPr>
        </p:nvSpPr>
        <p:spPr/>
        <p:txBody>
          <a:bodyPr/>
          <a:lstStyle/>
          <a:p>
            <a:r>
              <a:rPr lang="en-CA" altLang="en-US" dirty="0"/>
              <a:t>Double Declining-Balance Part 3</a:t>
            </a:r>
            <a:endParaRPr lang="en-US" altLang="en-US" dirty="0"/>
          </a:p>
        </p:txBody>
      </p:sp>
      <p:pic>
        <p:nvPicPr>
          <p:cNvPr id="5" name="Picture 4" descr="Chart, bar chart&#10;&#10;Description automatically generated">
            <a:extLst>
              <a:ext uri="{FF2B5EF4-FFF2-40B4-BE49-F238E27FC236}">
                <a16:creationId xmlns:a16="http://schemas.microsoft.com/office/drawing/2014/main" id="{27E3A812-4BB9-D44E-960B-F966AAF25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1116860"/>
            <a:ext cx="2286000" cy="2808941"/>
          </a:xfrm>
          <a:prstGeom prst="rect">
            <a:avLst/>
          </a:prstGeom>
        </p:spPr>
      </p:pic>
      <p:pic>
        <p:nvPicPr>
          <p:cNvPr id="7" name="Picture 6">
            <a:extLst>
              <a:ext uri="{FF2B5EF4-FFF2-40B4-BE49-F238E27FC236}">
                <a16:creationId xmlns:a16="http://schemas.microsoft.com/office/drawing/2014/main" id="{32D6CBCF-7038-0247-ABDC-40AC60EA0F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32" y="3953510"/>
            <a:ext cx="8835736" cy="2178254"/>
          </a:xfrm>
          <a:prstGeom prst="rect">
            <a:avLst/>
          </a:prstGeom>
        </p:spPr>
      </p:pic>
    </p:spTree>
    <p:extLst>
      <p:ext uri="{BB962C8B-B14F-4D97-AF65-F5344CB8AC3E}">
        <p14:creationId xmlns:p14="http://schemas.microsoft.com/office/powerpoint/2010/main" val="288444831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353496C6-60DC-4CBA-8450-1AB90A015A94}"/>
              </a:ext>
            </a:extLst>
          </p:cNvPr>
          <p:cNvSpPr>
            <a:spLocks noGrp="1"/>
          </p:cNvSpPr>
          <p:nvPr>
            <p:ph type="title"/>
          </p:nvPr>
        </p:nvSpPr>
        <p:spPr/>
        <p:txBody>
          <a:bodyPr/>
          <a:lstStyle/>
          <a:p>
            <a:r>
              <a:rPr lang="en-US" altLang="en-US"/>
              <a:t>Depreciation Expense – Summary</a:t>
            </a:r>
          </a:p>
        </p:txBody>
      </p:sp>
      <p:pic>
        <p:nvPicPr>
          <p:cNvPr id="9" name="Picture 8" descr="Graphical user interface, text, application&#10;&#10;Description automatically generated">
            <a:extLst>
              <a:ext uri="{FF2B5EF4-FFF2-40B4-BE49-F238E27FC236}">
                <a16:creationId xmlns:a16="http://schemas.microsoft.com/office/drawing/2014/main" id="{3595D675-2512-CA49-9753-48F8B53AFA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48" y="2529813"/>
            <a:ext cx="9007503" cy="1798373"/>
          </a:xfrm>
          <a:prstGeom prst="rect">
            <a:avLst/>
          </a:prstGeom>
        </p:spPr>
      </p:pic>
    </p:spTree>
    <p:extLst>
      <p:ext uri="{BB962C8B-B14F-4D97-AF65-F5344CB8AC3E}">
        <p14:creationId xmlns:p14="http://schemas.microsoft.com/office/powerpoint/2010/main" val="402126355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DEE9301A-E6A6-4FA4-A891-3F9532FB8A83}"/>
              </a:ext>
            </a:extLst>
          </p:cNvPr>
          <p:cNvSpPr>
            <a:spLocks noGrp="1"/>
          </p:cNvSpPr>
          <p:nvPr>
            <p:ph type="title"/>
          </p:nvPr>
        </p:nvSpPr>
        <p:spPr/>
        <p:txBody>
          <a:bodyPr/>
          <a:lstStyle/>
          <a:p>
            <a:r>
              <a:rPr lang="en-CA" altLang="en-US" dirty="0"/>
              <a:t>Changes in Depreciation Estimates Part 1</a:t>
            </a:r>
            <a:endParaRPr lang="en-US" altLang="en-US" dirty="0"/>
          </a:p>
        </p:txBody>
      </p:sp>
      <p:sp>
        <p:nvSpPr>
          <p:cNvPr id="76802" name="Content Placeholder 2">
            <a:extLst>
              <a:ext uri="{FF2B5EF4-FFF2-40B4-BE49-F238E27FC236}">
                <a16:creationId xmlns:a16="http://schemas.microsoft.com/office/drawing/2014/main" id="{6EA71ED1-5777-4AE1-AE61-96DDEADB973C}"/>
              </a:ext>
            </a:extLst>
          </p:cNvPr>
          <p:cNvSpPr>
            <a:spLocks noGrp="1"/>
          </p:cNvSpPr>
          <p:nvPr>
            <p:ph idx="1"/>
          </p:nvPr>
        </p:nvSpPr>
        <p:spPr>
          <a:xfrm>
            <a:off x="457200" y="1066800"/>
            <a:ext cx="8229600" cy="5334000"/>
          </a:xfrm>
        </p:spPr>
        <p:txBody>
          <a:bodyPr/>
          <a:lstStyle/>
          <a:p>
            <a:r>
              <a:rPr lang="en-CA" altLang="en-US" dirty="0"/>
              <a:t>Depreciation is based on two estimates—useful life and residual value. </a:t>
            </a:r>
          </a:p>
          <a:p>
            <a:r>
              <a:rPr lang="en-CA" altLang="en-US" dirty="0"/>
              <a:t>These estimates are made at the time a depreciable asset is acquired. </a:t>
            </a:r>
          </a:p>
          <a:p>
            <a:r>
              <a:rPr lang="en-CA" altLang="en-US" dirty="0"/>
              <a:t>One or both of these initial estimates may have to be revised. As well, any improvements may be added to the original acquisition cost at some time during the asset’s use. </a:t>
            </a:r>
          </a:p>
          <a:p>
            <a:r>
              <a:rPr lang="en-CA" altLang="en-US" dirty="0"/>
              <a:t>When it is clear that either estimate should be revised to a material degree or the asset’s cost has been changed, the undepreciated asset balance (less any residual value at that date) should be apportioned over the remaining estimated life from the current year into the future.</a:t>
            </a:r>
            <a:endParaRPr lang="en-US"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84C36716-B177-408C-9F36-4610C2556F31}"/>
              </a:ext>
            </a:extLst>
          </p:cNvPr>
          <p:cNvSpPr>
            <a:spLocks noGrp="1"/>
          </p:cNvSpPr>
          <p:nvPr>
            <p:ph type="title"/>
          </p:nvPr>
        </p:nvSpPr>
        <p:spPr/>
        <p:txBody>
          <a:bodyPr/>
          <a:lstStyle/>
          <a:p>
            <a:r>
              <a:rPr lang="en-CA" altLang="en-US" dirty="0"/>
              <a:t>Changes in Depreciation Estimates Part 2</a:t>
            </a:r>
          </a:p>
        </p:txBody>
      </p:sp>
      <p:sp>
        <p:nvSpPr>
          <p:cNvPr id="25602" name="Rectangle 4">
            <a:extLst>
              <a:ext uri="{FF2B5EF4-FFF2-40B4-BE49-F238E27FC236}">
                <a16:creationId xmlns:a16="http://schemas.microsoft.com/office/drawing/2014/main" id="{52E9E53C-D5BB-4A11-996B-71E7F2DD0381}"/>
              </a:ext>
            </a:extLst>
          </p:cNvPr>
          <p:cNvSpPr>
            <a:spLocks noGrp="1"/>
          </p:cNvSpPr>
          <p:nvPr>
            <p:ph idx="1"/>
          </p:nvPr>
        </p:nvSpPr>
        <p:spPr/>
        <p:txBody>
          <a:bodyPr/>
          <a:lstStyle/>
          <a:p>
            <a:r>
              <a:rPr lang="en-CA" altLang="en-US"/>
              <a:t>To calculate the new depreciation expense resulting from a change in estimate for any of the depreciation methods described in this chapter you would substitute:</a:t>
            </a:r>
          </a:p>
          <a:p>
            <a:pPr lvl="1"/>
            <a:r>
              <a:rPr lang="en-CA" altLang="en-US" sz="2400">
                <a:solidFill>
                  <a:schemeClr val="tx1"/>
                </a:solidFill>
              </a:rPr>
              <a:t>The carrying amount for the original acquisition cost.</a:t>
            </a:r>
          </a:p>
          <a:p>
            <a:pPr lvl="1"/>
            <a:r>
              <a:rPr lang="en-CA" altLang="en-US" sz="2400">
                <a:solidFill>
                  <a:schemeClr val="tx1"/>
                </a:solidFill>
              </a:rPr>
              <a:t>The new residual value for the original amount.</a:t>
            </a:r>
          </a:p>
          <a:p>
            <a:pPr lvl="1"/>
            <a:r>
              <a:rPr lang="en-CA" altLang="en-US" sz="2400">
                <a:solidFill>
                  <a:schemeClr val="tx1"/>
                </a:solidFill>
              </a:rPr>
              <a:t>The estimated remaining useful life for the original estimated useful life.   </a:t>
            </a:r>
            <a:endParaRPr lang="en-CA" altLang="en-US" sz="2400"/>
          </a:p>
          <a:p>
            <a:r>
              <a:rPr lang="en-CA" altLang="en-US"/>
              <a:t>Companies may change depreciation methods; requiring more disclosure because comparability is compromised.</a:t>
            </a:r>
          </a:p>
          <a:p>
            <a:r>
              <a:rPr lang="en-CA" altLang="en-US"/>
              <a:t>Changes in accounting estimates and depreciation methods should be made only when the new estimate or accounting method “better measures” the periodic net earnings of the business.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877E693A-121A-40DA-9E0D-030A51C8D76B}"/>
              </a:ext>
            </a:extLst>
          </p:cNvPr>
          <p:cNvSpPr>
            <a:spLocks noGrp="1"/>
          </p:cNvSpPr>
          <p:nvPr>
            <p:ph type="title"/>
          </p:nvPr>
        </p:nvSpPr>
        <p:spPr>
          <a:xfrm>
            <a:off x="457200" y="198437"/>
            <a:ext cx="8229600" cy="792163"/>
          </a:xfrm>
        </p:spPr>
        <p:txBody>
          <a:bodyPr/>
          <a:lstStyle/>
          <a:p>
            <a:r>
              <a:rPr lang="en-CA" altLang="en-US" dirty="0"/>
              <a:t>Managers’ Selection among Accounting Alternatives</a:t>
            </a:r>
          </a:p>
        </p:txBody>
      </p:sp>
      <p:graphicFrame>
        <p:nvGraphicFramePr>
          <p:cNvPr id="2" name="Table 1">
            <a:extLst>
              <a:ext uri="{FF2B5EF4-FFF2-40B4-BE49-F238E27FC236}">
                <a16:creationId xmlns:a16="http://schemas.microsoft.com/office/drawing/2014/main" id="{B39D2C0B-93A6-40C0-BA79-5C78D60272DB}"/>
              </a:ext>
            </a:extLst>
          </p:cNvPr>
          <p:cNvGraphicFramePr>
            <a:graphicFrameLocks noGrp="1"/>
          </p:cNvGraphicFramePr>
          <p:nvPr>
            <p:extLst>
              <p:ext uri="{D42A27DB-BD31-4B8C-83A1-F6EECF244321}">
                <p14:modId xmlns:p14="http://schemas.microsoft.com/office/powerpoint/2010/main" val="1441689528"/>
              </p:ext>
            </p:extLst>
          </p:nvPr>
        </p:nvGraphicFramePr>
        <p:xfrm>
          <a:off x="457200" y="1143000"/>
          <a:ext cx="8229600" cy="4937760"/>
        </p:xfrm>
        <a:graphic>
          <a:graphicData uri="http://schemas.openxmlformats.org/drawingml/2006/table">
            <a:tbl>
              <a:tblPr firstRow="1" bandRow="1">
                <a:tableStyleId>{5940675A-B579-460E-94D1-54222C63F5DA}</a:tableStyleId>
              </a:tblPr>
              <a:tblGrid>
                <a:gridCol w="3962400">
                  <a:extLst>
                    <a:ext uri="{9D8B030D-6E8A-4147-A177-3AD203B41FA5}">
                      <a16:colId xmlns:a16="http://schemas.microsoft.com/office/drawing/2014/main" val="1704317367"/>
                    </a:ext>
                  </a:extLst>
                </a:gridCol>
                <a:gridCol w="304800">
                  <a:extLst>
                    <a:ext uri="{9D8B030D-6E8A-4147-A177-3AD203B41FA5}">
                      <a16:colId xmlns:a16="http://schemas.microsoft.com/office/drawing/2014/main" val="3677573982"/>
                    </a:ext>
                  </a:extLst>
                </a:gridCol>
                <a:gridCol w="3962400">
                  <a:extLst>
                    <a:ext uri="{9D8B030D-6E8A-4147-A177-3AD203B41FA5}">
                      <a16:colId xmlns:a16="http://schemas.microsoft.com/office/drawing/2014/main" val="850126399"/>
                    </a:ext>
                  </a:extLst>
                </a:gridCol>
              </a:tblGrid>
              <a:tr h="370840">
                <a:tc>
                  <a:txBody>
                    <a:bodyPr/>
                    <a:lstStyle/>
                    <a:p>
                      <a:r>
                        <a:rPr lang="en-US" sz="2400" b="1" dirty="0"/>
                        <a:t>Financial Reporting (IFRS)</a:t>
                      </a:r>
                      <a:endParaRPr lang="en-US" sz="24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dirty="0"/>
                        <a:t>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400" b="1" dirty="0"/>
                        <a:t>Tax Reporting</a:t>
                      </a:r>
                      <a:endParaRPr lang="en-US" sz="24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123958"/>
                  </a:ext>
                </a:extLst>
              </a:tr>
              <a:tr h="370840">
                <a:tc>
                  <a:txBody>
                    <a:bodyPr/>
                    <a:lstStyle/>
                    <a:p>
                      <a:r>
                        <a:rPr lang="en-US" sz="2400" dirty="0"/>
                        <a:t>The objective of financial reporting is to provide financial information about the reporting entity that is useful to existing and potential investors, lenders, and other creditors in making decisions about providing resources to the entity.</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sz="240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400" dirty="0"/>
                        <a:t>The objective of the Income Tax Act is to raise sufficient revenues to pay for the expenditures of the federal government, with many provisions designed to encourage certain </a:t>
                      </a:r>
                      <a:r>
                        <a:rPr lang="en-US" sz="2400" dirty="0" err="1"/>
                        <a:t>behaviours</a:t>
                      </a:r>
                      <a:r>
                        <a:rPr lang="en-US" sz="2400" dirty="0"/>
                        <a:t> that are thought to benefit society (e.g., contributions to charities are tax-deductible to encourage people to support worthy programs).</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5225383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434B359E-A7DD-4D54-9A21-A915C1385CD6}"/>
              </a:ext>
            </a:extLst>
          </p:cNvPr>
          <p:cNvSpPr>
            <a:spLocks noGrp="1"/>
          </p:cNvSpPr>
          <p:nvPr>
            <p:ph type="title"/>
          </p:nvPr>
        </p:nvSpPr>
        <p:spPr/>
        <p:txBody>
          <a:bodyPr/>
          <a:lstStyle/>
          <a:p>
            <a:r>
              <a:rPr lang="en-CA" altLang="en-US" dirty="0"/>
              <a:t>Depreciation and CCA Part 1</a:t>
            </a:r>
          </a:p>
        </p:txBody>
      </p:sp>
      <p:sp>
        <p:nvSpPr>
          <p:cNvPr id="28674" name="Rectangle 5">
            <a:extLst>
              <a:ext uri="{FF2B5EF4-FFF2-40B4-BE49-F238E27FC236}">
                <a16:creationId xmlns:a16="http://schemas.microsoft.com/office/drawing/2014/main" id="{93890528-1223-4B24-B2BA-6D292ACAC672}"/>
              </a:ext>
            </a:extLst>
          </p:cNvPr>
          <p:cNvSpPr>
            <a:spLocks noGrp="1"/>
          </p:cNvSpPr>
          <p:nvPr>
            <p:ph idx="1"/>
          </p:nvPr>
        </p:nvSpPr>
        <p:spPr/>
        <p:txBody>
          <a:bodyPr/>
          <a:lstStyle/>
          <a:p>
            <a:r>
              <a:rPr lang="en-CA" dirty="0"/>
              <a:t>Corporations that are subject to taxation in Canada must apply capital cost allowance (CCA) to tangible assets, as determined by the schedules provided by the tax authorities. </a:t>
            </a:r>
          </a:p>
          <a:p>
            <a:endParaRPr lang="en-CA" sz="1200" dirty="0"/>
          </a:p>
          <a:p>
            <a:r>
              <a:rPr lang="en-CA" dirty="0"/>
              <a:t>The CCA schedules must be used to calculate the maximum annual expense used in computing taxable income according to the tax rules and regulations. </a:t>
            </a:r>
          </a:p>
          <a:p>
            <a:endParaRPr lang="en-CA" sz="1200" dirty="0"/>
          </a:p>
          <a:p>
            <a:r>
              <a:rPr lang="en-CA" dirty="0"/>
              <a:t>These schedules classify capital assets into different classes and stipulate the maximum CCA rate (a declining-balance rate) for each class.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434B359E-A7DD-4D54-9A21-A915C1385CD6}"/>
              </a:ext>
            </a:extLst>
          </p:cNvPr>
          <p:cNvSpPr>
            <a:spLocks noGrp="1"/>
          </p:cNvSpPr>
          <p:nvPr>
            <p:ph type="title"/>
          </p:nvPr>
        </p:nvSpPr>
        <p:spPr/>
        <p:txBody>
          <a:bodyPr/>
          <a:lstStyle/>
          <a:p>
            <a:r>
              <a:rPr lang="en-CA" altLang="en-US" dirty="0"/>
              <a:t>Depreciation and CCA Part 2</a:t>
            </a:r>
          </a:p>
        </p:txBody>
      </p:sp>
      <p:sp>
        <p:nvSpPr>
          <p:cNvPr id="28674" name="Rectangle 5">
            <a:extLst>
              <a:ext uri="{FF2B5EF4-FFF2-40B4-BE49-F238E27FC236}">
                <a16:creationId xmlns:a16="http://schemas.microsoft.com/office/drawing/2014/main" id="{93890528-1223-4B24-B2BA-6D292ACAC672}"/>
              </a:ext>
            </a:extLst>
          </p:cNvPr>
          <p:cNvSpPr>
            <a:spLocks noGrp="1"/>
          </p:cNvSpPr>
          <p:nvPr>
            <p:ph idx="1"/>
          </p:nvPr>
        </p:nvSpPr>
        <p:spPr/>
        <p:txBody>
          <a:bodyPr/>
          <a:lstStyle/>
          <a:p>
            <a:r>
              <a:rPr lang="en-CA" dirty="0"/>
              <a:t>CCA does not attempt to match the cost of an asset with the revenue it produces over its useful life. </a:t>
            </a:r>
          </a:p>
          <a:p>
            <a:endParaRPr lang="en-CA" sz="1200" dirty="0"/>
          </a:p>
          <a:p>
            <a:r>
              <a:rPr lang="en-CA" dirty="0"/>
              <a:t>Instead, CCA provides for accelerated depreciation of an asset over a period that is usually much shorter than the asset’s estimated useful life. </a:t>
            </a:r>
          </a:p>
          <a:p>
            <a:endParaRPr lang="en-CA" sz="1200" dirty="0"/>
          </a:p>
          <a:p>
            <a:r>
              <a:rPr lang="en-CA" dirty="0"/>
              <a:t>Because CCA is based on an accelerated method, the expense reported under CCA reduces a corporation’s taxable income more in the early years of a long-lived asset than in later years. </a:t>
            </a:r>
            <a:endParaRPr lang="en-CA" altLang="en-US" dirty="0"/>
          </a:p>
        </p:txBody>
      </p:sp>
    </p:spTree>
    <p:extLst>
      <p:ext uri="{BB962C8B-B14F-4D97-AF65-F5344CB8AC3E}">
        <p14:creationId xmlns:p14="http://schemas.microsoft.com/office/powerpoint/2010/main" val="1592646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a:extLst>
              <a:ext uri="{FF2B5EF4-FFF2-40B4-BE49-F238E27FC236}">
                <a16:creationId xmlns:a16="http://schemas.microsoft.com/office/drawing/2014/main" id="{A7AE3AEE-8369-4578-9004-07171029418D}"/>
              </a:ext>
            </a:extLst>
          </p:cNvPr>
          <p:cNvSpPr>
            <a:spLocks noGrp="1"/>
          </p:cNvSpPr>
          <p:nvPr>
            <p:ph type="title"/>
          </p:nvPr>
        </p:nvSpPr>
        <p:spPr/>
        <p:txBody>
          <a:bodyPr/>
          <a:lstStyle/>
          <a:p>
            <a:r>
              <a:rPr lang="en-CA" altLang="en-US" dirty="0"/>
              <a:t>Measuring Asset Impairment Part 1</a:t>
            </a:r>
          </a:p>
        </p:txBody>
      </p:sp>
      <p:sp>
        <p:nvSpPr>
          <p:cNvPr id="30722" name="Rectangle 6">
            <a:extLst>
              <a:ext uri="{FF2B5EF4-FFF2-40B4-BE49-F238E27FC236}">
                <a16:creationId xmlns:a16="http://schemas.microsoft.com/office/drawing/2014/main" id="{AB8DFCC5-3ED2-46FC-BCD4-4B864B8A30EE}"/>
              </a:ext>
            </a:extLst>
          </p:cNvPr>
          <p:cNvSpPr>
            <a:spLocks noGrp="1"/>
          </p:cNvSpPr>
          <p:nvPr>
            <p:ph idx="1"/>
          </p:nvPr>
        </p:nvSpPr>
        <p:spPr/>
        <p:txBody>
          <a:bodyPr/>
          <a:lstStyle/>
          <a:p>
            <a:r>
              <a:rPr lang="en-CA" dirty="0"/>
              <a:t>Canadian corporations are required to review the carrying amount of their tangible and intangible assets for possible impairment. </a:t>
            </a:r>
          </a:p>
          <a:p>
            <a:r>
              <a:rPr lang="en-CA" dirty="0"/>
              <a:t>Assets can have different values that are used for different purposes. </a:t>
            </a:r>
          </a:p>
          <a:p>
            <a:r>
              <a:rPr lang="en-CA" dirty="0"/>
              <a:t>Historical acquisition costs are essential for the verifiability of past transactions. These costs are then adjusted for systematic depreciation over their useful lives. </a:t>
            </a:r>
          </a:p>
          <a:p>
            <a:r>
              <a:rPr lang="en-CA" dirty="0"/>
              <a:t>However, adjusted historical costs are not relevant for investment decisions that rely on expectations of future cash flows. </a:t>
            </a:r>
            <a:endParaRPr lang="en-CA" altLang="en-US" sz="26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a:extLst>
              <a:ext uri="{FF2B5EF4-FFF2-40B4-BE49-F238E27FC236}">
                <a16:creationId xmlns:a16="http://schemas.microsoft.com/office/drawing/2014/main" id="{A7AE3AEE-8369-4578-9004-07171029418D}"/>
              </a:ext>
            </a:extLst>
          </p:cNvPr>
          <p:cNvSpPr>
            <a:spLocks noGrp="1"/>
          </p:cNvSpPr>
          <p:nvPr>
            <p:ph type="title"/>
          </p:nvPr>
        </p:nvSpPr>
        <p:spPr/>
        <p:txBody>
          <a:bodyPr/>
          <a:lstStyle/>
          <a:p>
            <a:r>
              <a:rPr lang="en-CA" altLang="en-US" dirty="0"/>
              <a:t>Measuring Asset Impairment Part 2</a:t>
            </a:r>
          </a:p>
        </p:txBody>
      </p:sp>
      <p:sp>
        <p:nvSpPr>
          <p:cNvPr id="30722" name="Rectangle 6">
            <a:extLst>
              <a:ext uri="{FF2B5EF4-FFF2-40B4-BE49-F238E27FC236}">
                <a16:creationId xmlns:a16="http://schemas.microsoft.com/office/drawing/2014/main" id="{AB8DFCC5-3ED2-46FC-BCD4-4B864B8A30EE}"/>
              </a:ext>
            </a:extLst>
          </p:cNvPr>
          <p:cNvSpPr>
            <a:spLocks noGrp="1"/>
          </p:cNvSpPr>
          <p:nvPr>
            <p:ph idx="1"/>
          </p:nvPr>
        </p:nvSpPr>
        <p:spPr/>
        <p:txBody>
          <a:bodyPr/>
          <a:lstStyle/>
          <a:p>
            <a:r>
              <a:rPr lang="en-CA" dirty="0"/>
              <a:t>Consequently, investors and creditors may be interested in the asset’s </a:t>
            </a:r>
            <a:r>
              <a:rPr lang="en-CA" i="1" dirty="0"/>
              <a:t>fair value</a:t>
            </a:r>
            <a:r>
              <a:rPr lang="en-CA" dirty="0"/>
              <a:t>, which reflects the amount at which an asset can be bought or sold between two knowledgeable, willing parties in an arm’s-length transaction. </a:t>
            </a:r>
          </a:p>
          <a:p>
            <a:endParaRPr lang="en-CA" sz="1200" dirty="0"/>
          </a:p>
          <a:p>
            <a:r>
              <a:rPr lang="en-CA" dirty="0"/>
              <a:t>Companies usually acquire long-lived assets for use in their production processes, and not for resale to others.</a:t>
            </a:r>
          </a:p>
          <a:p>
            <a:endParaRPr lang="en-CA" sz="1200" dirty="0"/>
          </a:p>
          <a:p>
            <a:r>
              <a:rPr lang="en-CA" dirty="0"/>
              <a:t>Therefore, a long-lived asset has </a:t>
            </a:r>
            <a:r>
              <a:rPr lang="en-CA" i="1" dirty="0"/>
              <a:t>value in use</a:t>
            </a:r>
            <a:r>
              <a:rPr lang="en-CA" dirty="0"/>
              <a:t>, which is measured as the present value (or current cash equivalent) of future cash flows expected to be derived from use of the asset over time.</a:t>
            </a:r>
            <a:endParaRPr lang="en-CA" altLang="en-US" sz="2600" dirty="0">
              <a:solidFill>
                <a:schemeClr val="tx1"/>
              </a:solidFill>
            </a:endParaRPr>
          </a:p>
        </p:txBody>
      </p:sp>
    </p:spTree>
    <p:extLst>
      <p:ext uri="{BB962C8B-B14F-4D97-AF65-F5344CB8AC3E}">
        <p14:creationId xmlns:p14="http://schemas.microsoft.com/office/powerpoint/2010/main" val="2901660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a:extLst>
              <a:ext uri="{FF2B5EF4-FFF2-40B4-BE49-F238E27FC236}">
                <a16:creationId xmlns:a16="http://schemas.microsoft.com/office/drawing/2014/main" id="{A7AE3AEE-8369-4578-9004-07171029418D}"/>
              </a:ext>
            </a:extLst>
          </p:cNvPr>
          <p:cNvSpPr>
            <a:spLocks noGrp="1"/>
          </p:cNvSpPr>
          <p:nvPr>
            <p:ph type="title"/>
          </p:nvPr>
        </p:nvSpPr>
        <p:spPr/>
        <p:txBody>
          <a:bodyPr/>
          <a:lstStyle/>
          <a:p>
            <a:r>
              <a:rPr lang="en-CA" altLang="en-US" dirty="0"/>
              <a:t>Measuring Asset Impairment Part 3</a:t>
            </a:r>
          </a:p>
        </p:txBody>
      </p:sp>
      <p:sp>
        <p:nvSpPr>
          <p:cNvPr id="30722" name="Rectangle 6">
            <a:extLst>
              <a:ext uri="{FF2B5EF4-FFF2-40B4-BE49-F238E27FC236}">
                <a16:creationId xmlns:a16="http://schemas.microsoft.com/office/drawing/2014/main" id="{AB8DFCC5-3ED2-46FC-BCD4-4B864B8A30EE}"/>
              </a:ext>
            </a:extLst>
          </p:cNvPr>
          <p:cNvSpPr>
            <a:spLocks noGrp="1"/>
          </p:cNvSpPr>
          <p:nvPr>
            <p:ph idx="1"/>
          </p:nvPr>
        </p:nvSpPr>
        <p:spPr/>
        <p:txBody>
          <a:bodyPr/>
          <a:lstStyle/>
          <a:p>
            <a:r>
              <a:rPr lang="en-CA" dirty="0"/>
              <a:t>Subsequent to the acquisition, the economic benefits or future cash flows associated with assets do change for a variety of reasons. </a:t>
            </a:r>
          </a:p>
          <a:p>
            <a:endParaRPr lang="en-CA" sz="1200" dirty="0"/>
          </a:p>
          <a:p>
            <a:r>
              <a:rPr lang="en-CA" dirty="0"/>
              <a:t>Adverse changes to future benefits may be triggered, for example, by a pandemic, a war, contraction in an economy and decreased disposable income, the reduced market price for the asset, ongoing evidence of operating cash flow losses, and technological obsolescence.</a:t>
            </a:r>
          </a:p>
          <a:p>
            <a:endParaRPr lang="en-CA" sz="1200" dirty="0"/>
          </a:p>
          <a:p>
            <a:r>
              <a:rPr lang="en-CA" dirty="0"/>
              <a:t>Consequently, assets should then be assessed for possible impairment. </a:t>
            </a:r>
            <a:endParaRPr lang="en-CA" altLang="en-US" sz="2600" dirty="0">
              <a:solidFill>
                <a:schemeClr val="tx1"/>
              </a:solidFill>
            </a:endParaRPr>
          </a:p>
        </p:txBody>
      </p:sp>
    </p:spTree>
    <p:extLst>
      <p:ext uri="{BB962C8B-B14F-4D97-AF65-F5344CB8AC3E}">
        <p14:creationId xmlns:p14="http://schemas.microsoft.com/office/powerpoint/2010/main" val="2487532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828A6C95-AF51-462E-AEBF-7BA9C74B08D3}"/>
              </a:ext>
            </a:extLst>
          </p:cNvPr>
          <p:cNvSpPr>
            <a:spLocks noGrp="1"/>
          </p:cNvSpPr>
          <p:nvPr>
            <p:ph type="title"/>
          </p:nvPr>
        </p:nvSpPr>
        <p:spPr/>
        <p:txBody>
          <a:bodyPr/>
          <a:lstStyle/>
          <a:p>
            <a:r>
              <a:rPr lang="en-US" altLang="en-US"/>
              <a:t>Measuring Asset Impairment – Two Steps</a:t>
            </a:r>
          </a:p>
        </p:txBody>
      </p:sp>
      <p:sp>
        <p:nvSpPr>
          <p:cNvPr id="3" name="Content Placeholder 2">
            <a:extLst>
              <a:ext uri="{FF2B5EF4-FFF2-40B4-BE49-F238E27FC236}">
                <a16:creationId xmlns:a16="http://schemas.microsoft.com/office/drawing/2014/main" id="{D61492B5-622A-304D-A2C2-5774A16936D5}"/>
              </a:ext>
            </a:extLst>
          </p:cNvPr>
          <p:cNvSpPr>
            <a:spLocks noGrp="1"/>
          </p:cNvSpPr>
          <p:nvPr>
            <p:ph idx="1"/>
          </p:nvPr>
        </p:nvSpPr>
        <p:spPr/>
        <p:txBody>
          <a:bodyPr/>
          <a:lstStyle/>
          <a:p>
            <a:r>
              <a:rPr lang="en-US" b="1" dirty="0"/>
              <a:t>Step 1: Test for impairment</a:t>
            </a:r>
          </a:p>
          <a:p>
            <a:pPr lvl="1"/>
            <a:r>
              <a:rPr lang="en-CA" dirty="0"/>
              <a:t>Impairment occurs when events or changed circumstances cause the carrying amount of these assets to exceed their recoverable amount, which is the higher of its value in use and its fair value less costs to sell.</a:t>
            </a:r>
          </a:p>
          <a:p>
            <a:pPr lvl="1"/>
            <a:r>
              <a:rPr lang="en-CA" b="1" dirty="0"/>
              <a:t>If Carrying amount &gt; Recoverable amount, then the asset is impaired</a:t>
            </a:r>
          </a:p>
          <a:p>
            <a:pPr lvl="1"/>
            <a:endParaRPr lang="en-US" sz="1200" b="1" dirty="0"/>
          </a:p>
          <a:p>
            <a:r>
              <a:rPr lang="en-US" b="1" dirty="0"/>
              <a:t>Step 2: Computation of impairment loss</a:t>
            </a:r>
            <a:endParaRPr lang="en-CA" b="1" dirty="0"/>
          </a:p>
          <a:p>
            <a:pPr lvl="1"/>
            <a:r>
              <a:rPr lang="en-CA" dirty="0"/>
              <a:t>For any asset considered to be impaired, companies recognize a loss for the difference between the asset’s carrying amount and its recoverable amount.</a:t>
            </a:r>
          </a:p>
          <a:p>
            <a:pPr lvl="1"/>
            <a:r>
              <a:rPr lang="en-CA" b="1" dirty="0"/>
              <a:t>Impairment loss = Carrying amount − Recoverable amount</a:t>
            </a:r>
            <a:endParaRPr lang="en-US" b="1"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5">
            <a:extLst>
              <a:ext uri="{FF2B5EF4-FFF2-40B4-BE49-F238E27FC236}">
                <a16:creationId xmlns:a16="http://schemas.microsoft.com/office/drawing/2014/main" id="{F4804540-CD0B-493F-9866-178443AC706D}"/>
              </a:ext>
            </a:extLst>
          </p:cNvPr>
          <p:cNvSpPr>
            <a:spLocks noGrp="1"/>
          </p:cNvSpPr>
          <p:nvPr>
            <p:ph type="title"/>
          </p:nvPr>
        </p:nvSpPr>
        <p:spPr/>
        <p:txBody>
          <a:bodyPr/>
          <a:lstStyle/>
          <a:p>
            <a:r>
              <a:rPr lang="en-CA" altLang="en-US"/>
              <a:t>Disposal of Property, Plant, and Equipment</a:t>
            </a:r>
          </a:p>
        </p:txBody>
      </p:sp>
      <p:sp>
        <p:nvSpPr>
          <p:cNvPr id="7" name="Content Placeholder 6">
            <a:extLst>
              <a:ext uri="{FF2B5EF4-FFF2-40B4-BE49-F238E27FC236}">
                <a16:creationId xmlns:a16="http://schemas.microsoft.com/office/drawing/2014/main" id="{9C461B09-6B2D-4866-914B-FBE4DAC9E0CA}"/>
              </a:ext>
            </a:extLst>
          </p:cNvPr>
          <p:cNvSpPr>
            <a:spLocks noGrp="1"/>
          </p:cNvSpPr>
          <p:nvPr>
            <p:ph idx="1"/>
          </p:nvPr>
        </p:nvSpPr>
        <p:spPr>
          <a:xfrm>
            <a:off x="457200" y="1066800"/>
            <a:ext cx="8229600" cy="5334000"/>
          </a:xfrm>
        </p:spPr>
        <p:txBody>
          <a:bodyPr/>
          <a:lstStyle/>
          <a:p>
            <a:pPr>
              <a:buFont typeface="Wingdings 3" pitchFamily="2" charset="2"/>
              <a:buChar char=""/>
              <a:defRPr/>
            </a:pPr>
            <a:r>
              <a:rPr lang="en-CA" dirty="0"/>
              <a:t>A business may </a:t>
            </a:r>
            <a:r>
              <a:rPr lang="en-CA" i="1" dirty="0"/>
              <a:t>voluntarily</a:t>
            </a:r>
            <a:r>
              <a:rPr lang="en-CA" dirty="0"/>
              <a:t> decide not to hold a long-lived asset for its entire life. </a:t>
            </a:r>
          </a:p>
          <a:p>
            <a:pPr>
              <a:buFont typeface="Wingdings 3" pitchFamily="2" charset="2"/>
              <a:buChar char=""/>
              <a:defRPr/>
            </a:pPr>
            <a:endParaRPr lang="en-CA" sz="800" dirty="0"/>
          </a:p>
          <a:p>
            <a:pPr>
              <a:buFont typeface="Wingdings 3" pitchFamily="2" charset="2"/>
              <a:buChar char=""/>
              <a:defRPr/>
            </a:pPr>
            <a:r>
              <a:rPr lang="en-CA" dirty="0"/>
              <a:t>These disposals include sale, trade-in, and retirement. </a:t>
            </a:r>
          </a:p>
          <a:p>
            <a:pPr>
              <a:buFont typeface="Wingdings 3" pitchFamily="2" charset="2"/>
              <a:buChar char=""/>
              <a:defRPr/>
            </a:pPr>
            <a:endParaRPr lang="en-CA" sz="800" dirty="0"/>
          </a:p>
          <a:p>
            <a:pPr>
              <a:buFont typeface="Wingdings 3" pitchFamily="2" charset="2"/>
              <a:buChar char=""/>
              <a:defRPr/>
            </a:pPr>
            <a:r>
              <a:rPr lang="en-CA" dirty="0"/>
              <a:t>A business may also dispose of an asset </a:t>
            </a:r>
            <a:r>
              <a:rPr lang="en-CA" i="1" dirty="0"/>
              <a:t>involuntarily</a:t>
            </a:r>
            <a:r>
              <a:rPr lang="en-CA" dirty="0"/>
              <a:t> as a result of a casualty, such as a storm, fire, or accident.</a:t>
            </a:r>
          </a:p>
          <a:p>
            <a:pPr>
              <a:buFont typeface="Wingdings 3" pitchFamily="2" charset="2"/>
              <a:buChar char=""/>
              <a:defRPr/>
            </a:pPr>
            <a:endParaRPr lang="en-CA" sz="800" dirty="0"/>
          </a:p>
          <a:p>
            <a:pPr>
              <a:buFont typeface="Wingdings 3" pitchFamily="2" charset="2"/>
              <a:buChar char=""/>
              <a:defRPr/>
            </a:pPr>
            <a:r>
              <a:rPr lang="en-CA" dirty="0"/>
              <a:t>Depreciation must be updated to the date of disposal. The disposal of a depreciable asset usually requires two journal entries:</a:t>
            </a:r>
          </a:p>
          <a:p>
            <a:pPr marL="0" indent="0">
              <a:buNone/>
              <a:tabLst>
                <a:tab pos="288925" algn="l"/>
              </a:tabLst>
              <a:defRPr/>
            </a:pPr>
            <a:r>
              <a:rPr lang="en-US" dirty="0"/>
              <a:t>		</a:t>
            </a:r>
            <a:r>
              <a:rPr lang="en-US" dirty="0">
                <a:solidFill>
                  <a:srgbClr val="45D1D1"/>
                </a:solidFill>
              </a:rPr>
              <a:t>1. </a:t>
            </a:r>
            <a:r>
              <a:rPr lang="en-CA" dirty="0"/>
              <a:t>An adjusting entry to update the depreciation 		expense and accumulated depreciation accounts.</a:t>
            </a:r>
          </a:p>
          <a:p>
            <a:pPr marL="0" indent="0">
              <a:buNone/>
              <a:tabLst>
                <a:tab pos="288925" algn="l"/>
              </a:tabLst>
              <a:defRPr/>
            </a:pPr>
            <a:r>
              <a:rPr lang="en-US" dirty="0"/>
              <a:t>		</a:t>
            </a:r>
            <a:r>
              <a:rPr lang="en-US" dirty="0">
                <a:solidFill>
                  <a:srgbClr val="45D1D1"/>
                </a:solidFill>
              </a:rPr>
              <a:t>2. </a:t>
            </a:r>
            <a:r>
              <a:rPr lang="en-CA" dirty="0"/>
              <a:t>An entry to record the disposal.</a:t>
            </a:r>
            <a:endParaRPr 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527E8EB5-3E5C-4747-985C-AEB1E766F4BE}"/>
              </a:ext>
            </a:extLst>
          </p:cNvPr>
          <p:cNvSpPr>
            <a:spLocks noGrp="1"/>
          </p:cNvSpPr>
          <p:nvPr>
            <p:ph type="title"/>
          </p:nvPr>
        </p:nvSpPr>
        <p:spPr/>
        <p:txBody>
          <a:bodyPr/>
          <a:lstStyle/>
          <a:p>
            <a:r>
              <a:rPr lang="en-CA" altLang="en-US"/>
              <a:t>Entry to Record the Disposal</a:t>
            </a:r>
            <a:endParaRPr lang="en-US" altLang="en-US"/>
          </a:p>
        </p:txBody>
      </p:sp>
      <p:sp>
        <p:nvSpPr>
          <p:cNvPr id="3" name="Content Placeholder 2">
            <a:extLst>
              <a:ext uri="{FF2B5EF4-FFF2-40B4-BE49-F238E27FC236}">
                <a16:creationId xmlns:a16="http://schemas.microsoft.com/office/drawing/2014/main" id="{C3B11A3B-09BC-41B2-B855-DDFCEA9AED0C}"/>
              </a:ext>
            </a:extLst>
          </p:cNvPr>
          <p:cNvSpPr>
            <a:spLocks noGrp="1"/>
          </p:cNvSpPr>
          <p:nvPr>
            <p:ph idx="1"/>
          </p:nvPr>
        </p:nvSpPr>
        <p:spPr/>
        <p:txBody>
          <a:bodyPr/>
          <a:lstStyle/>
          <a:p>
            <a:pPr marL="0" indent="0">
              <a:buNone/>
              <a:tabLst>
                <a:tab pos="515938" algn="l"/>
              </a:tabLst>
              <a:defRPr/>
            </a:pPr>
            <a:r>
              <a:rPr lang="en-CA" dirty="0">
                <a:solidFill>
                  <a:srgbClr val="45D1D1"/>
                </a:solidFill>
              </a:rPr>
              <a:t>2.</a:t>
            </a:r>
            <a:r>
              <a:rPr lang="en-CA" dirty="0"/>
              <a:t>	An entry to record the disposal:</a:t>
            </a:r>
          </a:p>
          <a:p>
            <a:pPr lvl="1">
              <a:buFont typeface="Wingdings 3" pitchFamily="2" charset="2"/>
              <a:buChar char=""/>
              <a:defRPr/>
            </a:pPr>
            <a:r>
              <a:rPr lang="en-CA" sz="2500" dirty="0">
                <a:solidFill>
                  <a:schemeClr val="tx1"/>
                </a:solidFill>
              </a:rPr>
              <a:t>The cost of the asset and any accumulated depreciation at the date of disposal must be removed from the accounts. </a:t>
            </a:r>
          </a:p>
          <a:p>
            <a:pPr lvl="1">
              <a:buFont typeface="Wingdings 3" pitchFamily="2" charset="2"/>
              <a:buChar char=""/>
              <a:defRPr/>
            </a:pPr>
            <a:r>
              <a:rPr lang="en-CA" sz="2500" dirty="0">
                <a:solidFill>
                  <a:schemeClr val="tx1"/>
                </a:solidFill>
              </a:rPr>
              <a:t>The difference between any resources received on disposal of an asset and its carrying amount at the date of disposal is a gain or loss on disposal of the asset. </a:t>
            </a:r>
          </a:p>
          <a:p>
            <a:pPr lvl="1">
              <a:buFont typeface="Wingdings 3" pitchFamily="2" charset="2"/>
              <a:buChar char=""/>
              <a:defRPr/>
            </a:pPr>
            <a:r>
              <a:rPr lang="en-CA" sz="2500" dirty="0">
                <a:solidFill>
                  <a:schemeClr val="tx1"/>
                </a:solidFill>
              </a:rPr>
              <a:t>This </a:t>
            </a:r>
            <a:r>
              <a:rPr lang="en-CA" sz="2500" dirty="0"/>
              <a:t>gain (or loss) is reported in operations on the statement of earnings.</a:t>
            </a:r>
            <a:endParaRPr lang="en-US" sz="25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F67B1FBD-41EC-4A48-AC4B-DFD1D87A7966}"/>
              </a:ext>
            </a:extLst>
          </p:cNvPr>
          <p:cNvSpPr>
            <a:spLocks noGrp="1"/>
          </p:cNvSpPr>
          <p:nvPr>
            <p:ph type="title"/>
          </p:nvPr>
        </p:nvSpPr>
        <p:spPr>
          <a:xfrm>
            <a:off x="457200" y="152400"/>
            <a:ext cx="8305800" cy="792163"/>
          </a:xfrm>
        </p:spPr>
        <p:txBody>
          <a:bodyPr/>
          <a:lstStyle/>
          <a:p>
            <a:r>
              <a:rPr lang="en-CA" altLang="en-US" dirty="0"/>
              <a:t>Acquisition and Depletion of Natural Resources Part 1</a:t>
            </a:r>
          </a:p>
        </p:txBody>
      </p:sp>
      <p:sp>
        <p:nvSpPr>
          <p:cNvPr id="35842" name="Content Placeholder 10">
            <a:extLst>
              <a:ext uri="{FF2B5EF4-FFF2-40B4-BE49-F238E27FC236}">
                <a16:creationId xmlns:a16="http://schemas.microsoft.com/office/drawing/2014/main" id="{B53679B3-9B12-4BC5-A70A-28BAFD48CA04}"/>
              </a:ext>
            </a:extLst>
          </p:cNvPr>
          <p:cNvSpPr>
            <a:spLocks noGrp="1"/>
          </p:cNvSpPr>
          <p:nvPr>
            <p:ph idx="1"/>
          </p:nvPr>
        </p:nvSpPr>
        <p:spPr/>
        <p:txBody>
          <a:bodyPr/>
          <a:lstStyle/>
          <a:p>
            <a:r>
              <a:rPr lang="en-CA" altLang="en-US" dirty="0"/>
              <a:t>Some large companies develop raw materials and products from </a:t>
            </a:r>
            <a:r>
              <a:rPr lang="en-CA" altLang="en-US" b="1" dirty="0"/>
              <a:t>natural resources</a:t>
            </a:r>
            <a:r>
              <a:rPr lang="en-CA" altLang="en-US" dirty="0"/>
              <a:t>—assets that occur in nature, such as oil, diamonds, gold, and iron ore. </a:t>
            </a:r>
          </a:p>
          <a:p>
            <a:endParaRPr lang="en-CA" altLang="en-US" sz="1200" dirty="0"/>
          </a:p>
          <a:p>
            <a:r>
              <a:rPr lang="en-CA" altLang="en-US" dirty="0"/>
              <a:t>These resources are often called </a:t>
            </a:r>
            <a:r>
              <a:rPr lang="en-CA" altLang="en-US" i="1" dirty="0"/>
              <a:t>wasting assets</a:t>
            </a:r>
            <a:r>
              <a:rPr lang="en-CA" altLang="en-US" dirty="0"/>
              <a:t> because they are depleted (i.e., physically used up). </a:t>
            </a:r>
          </a:p>
          <a:p>
            <a:endParaRPr lang="en-CA" altLang="en-US" sz="1200" dirty="0"/>
          </a:p>
          <a:p>
            <a:r>
              <a:rPr lang="en-CA" altLang="en-US" dirty="0"/>
              <a:t>In Canada, natural resource companies do not own the land from which they extract oil or minerals. They acquire mineral rights from the government to explore, develop, and extract minerals from the land, but they do not own the land itself.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D07BFC24-B648-4838-B8A6-36A235B3435F}"/>
              </a:ext>
            </a:extLst>
          </p:cNvPr>
          <p:cNvSpPr>
            <a:spLocks noGrp="1"/>
          </p:cNvSpPr>
          <p:nvPr>
            <p:ph type="title"/>
          </p:nvPr>
        </p:nvSpPr>
        <p:spPr>
          <a:xfrm>
            <a:off x="457200" y="152400"/>
            <a:ext cx="8382000" cy="792163"/>
          </a:xfrm>
        </p:spPr>
        <p:txBody>
          <a:bodyPr/>
          <a:lstStyle/>
          <a:p>
            <a:r>
              <a:rPr lang="en-CA" altLang="en-US" dirty="0"/>
              <a:t>Acquisition and Depletion of Natural Resources Part 2</a:t>
            </a:r>
          </a:p>
        </p:txBody>
      </p:sp>
      <p:sp>
        <p:nvSpPr>
          <p:cNvPr id="37890" name="Content Placeholder 10">
            <a:extLst>
              <a:ext uri="{FF2B5EF4-FFF2-40B4-BE49-F238E27FC236}">
                <a16:creationId xmlns:a16="http://schemas.microsoft.com/office/drawing/2014/main" id="{861FB642-F3FB-4D85-9263-8DD6E98741EB}"/>
              </a:ext>
            </a:extLst>
          </p:cNvPr>
          <p:cNvSpPr>
            <a:spLocks noGrp="1"/>
          </p:cNvSpPr>
          <p:nvPr>
            <p:ph idx="1"/>
          </p:nvPr>
        </p:nvSpPr>
        <p:spPr/>
        <p:txBody>
          <a:bodyPr/>
          <a:lstStyle/>
          <a:p>
            <a:r>
              <a:rPr lang="en-CA" altLang="en-US" dirty="0"/>
              <a:t>When the rights to explore and develop natural resources are acquired, they are recorded in conformity with the cost principle. </a:t>
            </a:r>
          </a:p>
          <a:p>
            <a:endParaRPr lang="en-CA" altLang="en-US" sz="1200" dirty="0"/>
          </a:p>
          <a:p>
            <a:r>
              <a:rPr lang="en-CA" altLang="en-US" dirty="0"/>
              <a:t>Through exploration, the company estimates the value of the resources extracted and sold throughout the productive life of the natural resource reserves. </a:t>
            </a:r>
          </a:p>
          <a:p>
            <a:endParaRPr lang="en-CA" altLang="en-US" sz="1200" dirty="0"/>
          </a:p>
          <a:p>
            <a:r>
              <a:rPr lang="en-CA" altLang="en-US" dirty="0"/>
              <a:t>The quantity of resources in the reserve is surveyed by using sophisticated geological engineering methods to establish its potential value over its productive life.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D07BFC24-B648-4838-B8A6-36A235B3435F}"/>
              </a:ext>
            </a:extLst>
          </p:cNvPr>
          <p:cNvSpPr>
            <a:spLocks noGrp="1"/>
          </p:cNvSpPr>
          <p:nvPr>
            <p:ph type="title"/>
          </p:nvPr>
        </p:nvSpPr>
        <p:spPr>
          <a:xfrm>
            <a:off x="457200" y="152400"/>
            <a:ext cx="8382000" cy="792163"/>
          </a:xfrm>
        </p:spPr>
        <p:txBody>
          <a:bodyPr/>
          <a:lstStyle/>
          <a:p>
            <a:r>
              <a:rPr lang="en-CA" altLang="en-US" dirty="0"/>
              <a:t>Acquisition and Depletion of Natural Resources Part 3</a:t>
            </a:r>
          </a:p>
        </p:txBody>
      </p:sp>
      <p:sp>
        <p:nvSpPr>
          <p:cNvPr id="37890" name="Content Placeholder 10">
            <a:extLst>
              <a:ext uri="{FF2B5EF4-FFF2-40B4-BE49-F238E27FC236}">
                <a16:creationId xmlns:a16="http://schemas.microsoft.com/office/drawing/2014/main" id="{861FB642-F3FB-4D85-9263-8DD6E98741EB}"/>
              </a:ext>
            </a:extLst>
          </p:cNvPr>
          <p:cNvSpPr>
            <a:spLocks noGrp="1"/>
          </p:cNvSpPr>
          <p:nvPr>
            <p:ph idx="1"/>
          </p:nvPr>
        </p:nvSpPr>
        <p:spPr/>
        <p:txBody>
          <a:bodyPr/>
          <a:lstStyle/>
          <a:p>
            <a:r>
              <a:rPr lang="en-CA" dirty="0"/>
              <a:t>As a natural resource is used up, its acquisition cost must be apportioned among the periods in which revenues are earned in conformity with the </a:t>
            </a:r>
            <a:r>
              <a:rPr lang="en-CA" b="1" dirty="0"/>
              <a:t>e</a:t>
            </a:r>
            <a:r>
              <a:rPr lang="en-CA" dirty="0"/>
              <a:t>xpense recognition principle</a:t>
            </a:r>
            <a:r>
              <a:rPr lang="en-CA" b="1" dirty="0"/>
              <a:t>. </a:t>
            </a:r>
          </a:p>
          <a:p>
            <a:endParaRPr lang="en-CA" sz="1200" b="1" dirty="0"/>
          </a:p>
          <a:p>
            <a:r>
              <a:rPr lang="en-CA" dirty="0"/>
              <a:t>The term </a:t>
            </a:r>
            <a:r>
              <a:rPr lang="en-CA" i="1" dirty="0"/>
              <a:t>depletion</a:t>
            </a:r>
            <a:r>
              <a:rPr lang="en-CA" dirty="0"/>
              <a:t> describes the process of allocating a natural resource’s cost over the period of its exploitation. </a:t>
            </a:r>
          </a:p>
          <a:p>
            <a:endParaRPr lang="en-CA" sz="1200" dirty="0"/>
          </a:p>
          <a:p>
            <a:r>
              <a:rPr lang="en-CA" dirty="0"/>
              <a:t>The units-of-production method often is applied to compute depletion.</a:t>
            </a:r>
            <a:endParaRPr lang="en-CA" altLang="en-US" dirty="0"/>
          </a:p>
        </p:txBody>
      </p:sp>
    </p:spTree>
    <p:extLst>
      <p:ext uri="{BB962C8B-B14F-4D97-AF65-F5344CB8AC3E}">
        <p14:creationId xmlns:p14="http://schemas.microsoft.com/office/powerpoint/2010/main" val="2334786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2525B5B0-4C8F-4E28-804D-4D954C95CD38}"/>
              </a:ext>
            </a:extLst>
          </p:cNvPr>
          <p:cNvSpPr>
            <a:spLocks noGrp="1"/>
          </p:cNvSpPr>
          <p:nvPr>
            <p:ph type="title"/>
          </p:nvPr>
        </p:nvSpPr>
        <p:spPr>
          <a:xfrm>
            <a:off x="457200" y="152400"/>
            <a:ext cx="8305800" cy="792163"/>
          </a:xfrm>
        </p:spPr>
        <p:txBody>
          <a:bodyPr/>
          <a:lstStyle/>
          <a:p>
            <a:r>
              <a:rPr lang="en-CA" altLang="en-US" dirty="0"/>
              <a:t>Acquisition and Depletion of Natural Resources Part 4</a:t>
            </a:r>
          </a:p>
        </p:txBody>
      </p:sp>
      <p:sp>
        <p:nvSpPr>
          <p:cNvPr id="39938" name="Content Placeholder 10">
            <a:extLst>
              <a:ext uri="{FF2B5EF4-FFF2-40B4-BE49-F238E27FC236}">
                <a16:creationId xmlns:a16="http://schemas.microsoft.com/office/drawing/2014/main" id="{E7F1E1A5-EAA9-433D-8DBB-4C9D6424A5CF}"/>
              </a:ext>
            </a:extLst>
          </p:cNvPr>
          <p:cNvSpPr>
            <a:spLocks noGrp="1"/>
          </p:cNvSpPr>
          <p:nvPr>
            <p:ph idx="1"/>
          </p:nvPr>
        </p:nvSpPr>
        <p:spPr/>
        <p:txBody>
          <a:bodyPr/>
          <a:lstStyle/>
          <a:p>
            <a:r>
              <a:rPr lang="en-CA" altLang="en-US" dirty="0"/>
              <a:t>Often these companies keep the reserve value separate from other property, plant, and equipment values incurred, because the companies may have to construct special roads and erect housing, buildings, and facilities in remote locations to extract the resources. </a:t>
            </a:r>
          </a:p>
          <a:p>
            <a:r>
              <a:rPr lang="en-CA" altLang="en-US" dirty="0"/>
              <a:t>When the site is put into production, these accumulated costs will be depreciated over the productive life of the site. </a:t>
            </a:r>
          </a:p>
          <a:p>
            <a:r>
              <a:rPr lang="en-CA" altLang="en-US" dirty="0"/>
              <a:t>Therefore, natural resource companies amortize the acquisition costs of intangible mineral rights, deplete their reserve values, and depreciate exploration and development costs as well as self-constructed extraction facilities. </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DA0B083A-FC00-408A-BCD6-E64D6E684CB1}"/>
              </a:ext>
            </a:extLst>
          </p:cNvPr>
          <p:cNvSpPr>
            <a:spLocks noGrp="1"/>
          </p:cNvSpPr>
          <p:nvPr>
            <p:ph type="title"/>
          </p:nvPr>
        </p:nvSpPr>
        <p:spPr>
          <a:xfrm>
            <a:off x="457200" y="152400"/>
            <a:ext cx="8382000" cy="792163"/>
          </a:xfrm>
        </p:spPr>
        <p:txBody>
          <a:bodyPr/>
          <a:lstStyle/>
          <a:p>
            <a:r>
              <a:rPr lang="en-CA" altLang="en-US" dirty="0"/>
              <a:t>Acquisition and Depletion of Natural Resources Part 5</a:t>
            </a:r>
          </a:p>
        </p:txBody>
      </p:sp>
      <p:sp>
        <p:nvSpPr>
          <p:cNvPr id="41986" name="Content Placeholder 10">
            <a:extLst>
              <a:ext uri="{FF2B5EF4-FFF2-40B4-BE49-F238E27FC236}">
                <a16:creationId xmlns:a16="http://schemas.microsoft.com/office/drawing/2014/main" id="{51EC2C11-29F0-421E-9BD2-438BA531DA30}"/>
              </a:ext>
            </a:extLst>
          </p:cNvPr>
          <p:cNvSpPr>
            <a:spLocks noGrp="1"/>
          </p:cNvSpPr>
          <p:nvPr>
            <p:ph idx="1"/>
          </p:nvPr>
        </p:nvSpPr>
        <p:spPr/>
        <p:txBody>
          <a:bodyPr/>
          <a:lstStyle/>
          <a:p>
            <a:r>
              <a:rPr lang="en-CA" altLang="en-US"/>
              <a:t>A </a:t>
            </a:r>
            <a:r>
              <a:rPr lang="en-CA" altLang="en-US" i="1"/>
              <a:t>depletion rate</a:t>
            </a:r>
            <a:r>
              <a:rPr lang="en-CA" altLang="en-US"/>
              <a:t> is calculated by dividing the total acquisition and development cost (less any estimated residual value, which is rare) by the estimated units that can be withdrawn, economically, from the resource. </a:t>
            </a:r>
          </a:p>
          <a:p>
            <a:endParaRPr lang="en-CA" altLang="en-US" sz="1200"/>
          </a:p>
          <a:p>
            <a:r>
              <a:rPr lang="en-CA" altLang="en-US"/>
              <a:t>The depletion rate is multiplied each period by the actual number of units withdrawn during the accounting period.</a:t>
            </a:r>
          </a:p>
          <a:p>
            <a:endParaRPr lang="en-CA" altLang="en-US" sz="1200"/>
          </a:p>
          <a:p>
            <a:r>
              <a:rPr lang="en-CA" altLang="en-US"/>
              <a:t>This procedure is the same as the units-of-production method of calculating depreciation.</a:t>
            </a:r>
          </a:p>
          <a:p>
            <a:endParaRPr lang="en-US"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45B87B49-5D68-4AFF-BFF3-7665610E739F}"/>
              </a:ext>
            </a:extLst>
          </p:cNvPr>
          <p:cNvSpPr>
            <a:spLocks noGrp="1"/>
          </p:cNvSpPr>
          <p:nvPr>
            <p:ph type="title"/>
          </p:nvPr>
        </p:nvSpPr>
        <p:spPr>
          <a:xfrm>
            <a:off x="457200" y="152400"/>
            <a:ext cx="8305800" cy="792163"/>
          </a:xfrm>
        </p:spPr>
        <p:txBody>
          <a:bodyPr/>
          <a:lstStyle/>
          <a:p>
            <a:r>
              <a:rPr lang="en-CA" altLang="en-US" dirty="0"/>
              <a:t>Acquisition and Depletion of Natural Resources Part 6</a:t>
            </a:r>
          </a:p>
        </p:txBody>
      </p:sp>
      <p:sp>
        <p:nvSpPr>
          <p:cNvPr id="44034" name="Content Placeholder 10">
            <a:extLst>
              <a:ext uri="{FF2B5EF4-FFF2-40B4-BE49-F238E27FC236}">
                <a16:creationId xmlns:a16="http://schemas.microsoft.com/office/drawing/2014/main" id="{666D4B83-2C5B-497D-A964-3C2F7900A246}"/>
              </a:ext>
            </a:extLst>
          </p:cNvPr>
          <p:cNvSpPr>
            <a:spLocks noGrp="1"/>
          </p:cNvSpPr>
          <p:nvPr>
            <p:ph idx="1"/>
          </p:nvPr>
        </p:nvSpPr>
        <p:spPr/>
        <p:txBody>
          <a:bodyPr/>
          <a:lstStyle/>
          <a:p>
            <a:r>
              <a:rPr lang="en-CA" altLang="en-US"/>
              <a:t>When buildings and similar improvements are acquired for the development and exploitation of a natural resource, they should be recorded in separate asset accounts and depreciated—not depleted. </a:t>
            </a:r>
          </a:p>
          <a:p>
            <a:endParaRPr lang="en-CA" altLang="en-US" sz="1200"/>
          </a:p>
          <a:p>
            <a:r>
              <a:rPr lang="en-CA" altLang="en-US"/>
              <a:t>Their estimated useful lives cannot be longer than the time needed to exploit the natural resource, unless they have a significant use after the source is depleted.</a:t>
            </a:r>
          </a:p>
          <a:p>
            <a:endParaRPr lang="en-US"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B9F83B17-2591-460C-B5F4-D7ED6AC84EF8}"/>
              </a:ext>
            </a:extLst>
          </p:cNvPr>
          <p:cNvSpPr>
            <a:spLocks noGrp="1"/>
          </p:cNvSpPr>
          <p:nvPr>
            <p:ph type="title"/>
          </p:nvPr>
        </p:nvSpPr>
        <p:spPr/>
        <p:txBody>
          <a:bodyPr/>
          <a:lstStyle/>
          <a:p>
            <a:r>
              <a:rPr lang="en-CA" altLang="en-US" dirty="0"/>
              <a:t>Acquisition and Amortization of Intangible Assets Part 1</a:t>
            </a:r>
            <a:endParaRPr lang="en-US" altLang="en-US" dirty="0"/>
          </a:p>
        </p:txBody>
      </p:sp>
      <p:sp>
        <p:nvSpPr>
          <p:cNvPr id="78850" name="Content Placeholder 2">
            <a:extLst>
              <a:ext uri="{FF2B5EF4-FFF2-40B4-BE49-F238E27FC236}">
                <a16:creationId xmlns:a16="http://schemas.microsoft.com/office/drawing/2014/main" id="{23B8E281-C969-4177-8EFF-9511E673BCB0}"/>
              </a:ext>
            </a:extLst>
          </p:cNvPr>
          <p:cNvSpPr>
            <a:spLocks noGrp="1"/>
          </p:cNvSpPr>
          <p:nvPr>
            <p:ph idx="1"/>
          </p:nvPr>
        </p:nvSpPr>
        <p:spPr/>
        <p:txBody>
          <a:bodyPr/>
          <a:lstStyle/>
          <a:p>
            <a:r>
              <a:rPr lang="en-CA" altLang="en-US"/>
              <a:t>An intangible asset has value because of certain rights and privileges conferred by law on its owner. </a:t>
            </a:r>
          </a:p>
          <a:p>
            <a:endParaRPr lang="en-CA" altLang="en-US" sz="1200"/>
          </a:p>
          <a:p>
            <a:r>
              <a:rPr lang="en-CA" altLang="en-US"/>
              <a:t>An intangible asset has no material or physical substance.</a:t>
            </a:r>
          </a:p>
          <a:p>
            <a:endParaRPr lang="en-CA" altLang="en-US" sz="1200"/>
          </a:p>
          <a:p>
            <a:r>
              <a:rPr lang="en-CA" altLang="en-US"/>
              <a:t>Examples include mineral rights to explore and develop land, landing rights for time slots at airports, copyrights, customer lists, patents, trademarks, and licences. </a:t>
            </a:r>
          </a:p>
          <a:p>
            <a:endParaRPr lang="en-CA" altLang="en-US" sz="1200"/>
          </a:p>
          <a:p>
            <a:r>
              <a:rPr lang="en-CA" altLang="en-US"/>
              <a:t>Legal documents usually confirm the nature and existence of intangible assets. </a:t>
            </a:r>
          </a:p>
          <a:p>
            <a:endParaRPr lang="en-US"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A2258CA2-0554-411A-9AF0-7B661ACC5F18}"/>
              </a:ext>
            </a:extLst>
          </p:cNvPr>
          <p:cNvSpPr>
            <a:spLocks noGrp="1"/>
          </p:cNvSpPr>
          <p:nvPr>
            <p:ph type="title"/>
          </p:nvPr>
        </p:nvSpPr>
        <p:spPr/>
        <p:txBody>
          <a:bodyPr/>
          <a:lstStyle/>
          <a:p>
            <a:r>
              <a:rPr lang="en-CA" altLang="en-US" dirty="0"/>
              <a:t>Acquisition and Amortization of Intangible Assets Part 2</a:t>
            </a:r>
            <a:endParaRPr lang="en-US" altLang="en-US" dirty="0"/>
          </a:p>
        </p:txBody>
      </p:sp>
      <p:sp>
        <p:nvSpPr>
          <p:cNvPr id="79874" name="Content Placeholder 2">
            <a:extLst>
              <a:ext uri="{FF2B5EF4-FFF2-40B4-BE49-F238E27FC236}">
                <a16:creationId xmlns:a16="http://schemas.microsoft.com/office/drawing/2014/main" id="{098082AA-D5C6-4570-95AE-46F5E185C050}"/>
              </a:ext>
            </a:extLst>
          </p:cNvPr>
          <p:cNvSpPr>
            <a:spLocks noGrp="1"/>
          </p:cNvSpPr>
          <p:nvPr>
            <p:ph idx="1"/>
          </p:nvPr>
        </p:nvSpPr>
        <p:spPr/>
        <p:txBody>
          <a:bodyPr/>
          <a:lstStyle/>
          <a:p>
            <a:r>
              <a:rPr lang="en-CA" altLang="en-US"/>
              <a:t>Intangible assets are recorded at historical cost only if they are purchased. </a:t>
            </a:r>
          </a:p>
          <a:p>
            <a:endParaRPr lang="en-CA" altLang="en-US" sz="1200"/>
          </a:p>
          <a:p>
            <a:r>
              <a:rPr lang="en-CA" altLang="en-US"/>
              <a:t>If an intangible asset is developed internally, the cost of development is normally recorded as an expense. </a:t>
            </a:r>
          </a:p>
          <a:p>
            <a:endParaRPr lang="en-CA" altLang="en-US" sz="1200"/>
          </a:p>
          <a:p>
            <a:r>
              <a:rPr lang="en-CA" altLang="en-US"/>
              <a:t>Upon acquisition of intangible assets, managers determine whether the separate intangibles have definite or indefinite lives.</a:t>
            </a:r>
          </a:p>
          <a:p>
            <a:endParaRPr lang="en-US" alt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1">
            <a:extLst>
              <a:ext uri="{FF2B5EF4-FFF2-40B4-BE49-F238E27FC236}">
                <a16:creationId xmlns:a16="http://schemas.microsoft.com/office/drawing/2014/main" id="{FF35B975-6572-4251-82FA-6DD54654C161}"/>
              </a:ext>
            </a:extLst>
          </p:cNvPr>
          <p:cNvSpPr>
            <a:spLocks noGrp="1"/>
          </p:cNvSpPr>
          <p:nvPr>
            <p:ph type="title"/>
          </p:nvPr>
        </p:nvSpPr>
        <p:spPr/>
        <p:txBody>
          <a:bodyPr/>
          <a:lstStyle/>
          <a:p>
            <a:r>
              <a:rPr lang="en-CA" altLang="en-US"/>
              <a:t>Acquisition and Amortization of Intangible Assets – Definite Life</a:t>
            </a:r>
          </a:p>
        </p:txBody>
      </p:sp>
      <p:sp>
        <p:nvSpPr>
          <p:cNvPr id="46082" name="Rectangle 2">
            <a:extLst>
              <a:ext uri="{FF2B5EF4-FFF2-40B4-BE49-F238E27FC236}">
                <a16:creationId xmlns:a16="http://schemas.microsoft.com/office/drawing/2014/main" id="{DB4D17BB-9C99-4E6C-B7F8-392E4DAE2230}"/>
              </a:ext>
            </a:extLst>
          </p:cNvPr>
          <p:cNvSpPr>
            <a:spLocks noGrp="1"/>
          </p:cNvSpPr>
          <p:nvPr>
            <p:ph idx="1"/>
          </p:nvPr>
        </p:nvSpPr>
        <p:spPr/>
        <p:txBody>
          <a:bodyPr/>
          <a:lstStyle/>
          <a:p>
            <a:r>
              <a:rPr lang="en-CA" altLang="en-US" dirty="0"/>
              <a:t>The cost of an intangible with a definite life is allocated on a straight-line basis each period over its useful life in a process called </a:t>
            </a:r>
            <a:r>
              <a:rPr lang="en-CA" altLang="en-US" b="1" dirty="0"/>
              <a:t>amortization</a:t>
            </a:r>
            <a:r>
              <a:rPr lang="en-CA" altLang="en-US" dirty="0"/>
              <a:t> that is similar to depreciation and depletion. </a:t>
            </a:r>
          </a:p>
          <a:p>
            <a:endParaRPr lang="en-CA" altLang="en-US" sz="1200" dirty="0"/>
          </a:p>
          <a:p>
            <a:r>
              <a:rPr lang="en-CA" altLang="en-US" dirty="0"/>
              <a:t>However, most companies do not estimate a residual value for their intangible assets.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1">
            <a:extLst>
              <a:ext uri="{FF2B5EF4-FFF2-40B4-BE49-F238E27FC236}">
                <a16:creationId xmlns:a16="http://schemas.microsoft.com/office/drawing/2014/main" id="{AD36474D-6A89-470F-8F2D-67788B9EC9C8}"/>
              </a:ext>
            </a:extLst>
          </p:cNvPr>
          <p:cNvSpPr>
            <a:spLocks noGrp="1"/>
          </p:cNvSpPr>
          <p:nvPr>
            <p:ph type="title"/>
          </p:nvPr>
        </p:nvSpPr>
        <p:spPr/>
        <p:txBody>
          <a:bodyPr/>
          <a:lstStyle/>
          <a:p>
            <a:r>
              <a:rPr lang="en-CA" altLang="en-US" dirty="0"/>
              <a:t>Acquisition and Amortization of Intangible Assets – Indefinite Life Part 1</a:t>
            </a:r>
          </a:p>
        </p:txBody>
      </p:sp>
      <p:sp>
        <p:nvSpPr>
          <p:cNvPr id="48130" name="Rectangle 2">
            <a:extLst>
              <a:ext uri="{FF2B5EF4-FFF2-40B4-BE49-F238E27FC236}">
                <a16:creationId xmlns:a16="http://schemas.microsoft.com/office/drawing/2014/main" id="{C6B5887E-90B3-4A72-8914-F24199B08F95}"/>
              </a:ext>
            </a:extLst>
          </p:cNvPr>
          <p:cNvSpPr>
            <a:spLocks noGrp="1"/>
          </p:cNvSpPr>
          <p:nvPr>
            <p:ph idx="1"/>
          </p:nvPr>
        </p:nvSpPr>
        <p:spPr/>
        <p:txBody>
          <a:bodyPr/>
          <a:lstStyle/>
          <a:p>
            <a:r>
              <a:rPr lang="en-CA" altLang="en-US" dirty="0"/>
              <a:t>Intangible assets with indefinite lives are </a:t>
            </a:r>
            <a:r>
              <a:rPr lang="en-CA" altLang="en-US" i="1" dirty="0"/>
              <a:t>not amortized</a:t>
            </a:r>
            <a:r>
              <a:rPr lang="en-CA" altLang="en-US" dirty="0"/>
              <a:t>.</a:t>
            </a:r>
          </a:p>
          <a:p>
            <a:endParaRPr lang="en-CA" altLang="en-US" sz="1200" dirty="0"/>
          </a:p>
          <a:p>
            <a:r>
              <a:rPr lang="en-CA" altLang="en-US" dirty="0"/>
              <a:t>These assets must be reviewed at least annually for possible impairment.</a:t>
            </a:r>
          </a:p>
          <a:p>
            <a:endParaRPr lang="en-CA" altLang="en-US" sz="1200" dirty="0"/>
          </a:p>
          <a:p>
            <a:r>
              <a:rPr lang="en-CA" dirty="0"/>
              <a:t>If the fair value of the asset less costs to sell is more than its carrying amount, the asset is not impaired. </a:t>
            </a:r>
          </a:p>
          <a:p>
            <a:endParaRPr lang="en-CA" sz="1200" dirty="0"/>
          </a:p>
          <a:p>
            <a:r>
              <a:rPr lang="en-CA" dirty="0"/>
              <a:t>If not, the asset’s value in use should be determined. </a:t>
            </a:r>
          </a:p>
          <a:p>
            <a:endParaRPr lang="en-CA" sz="1200" dirty="0"/>
          </a:p>
          <a:p>
            <a:r>
              <a:rPr lang="en-CA" dirty="0"/>
              <a:t>An impairment loss must be recognized if the value in use is less than the carrying amount.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1">
            <a:extLst>
              <a:ext uri="{FF2B5EF4-FFF2-40B4-BE49-F238E27FC236}">
                <a16:creationId xmlns:a16="http://schemas.microsoft.com/office/drawing/2014/main" id="{AD36474D-6A89-470F-8F2D-67788B9EC9C8}"/>
              </a:ext>
            </a:extLst>
          </p:cNvPr>
          <p:cNvSpPr>
            <a:spLocks noGrp="1"/>
          </p:cNvSpPr>
          <p:nvPr>
            <p:ph type="title"/>
          </p:nvPr>
        </p:nvSpPr>
        <p:spPr/>
        <p:txBody>
          <a:bodyPr/>
          <a:lstStyle/>
          <a:p>
            <a:r>
              <a:rPr lang="en-CA" altLang="en-US" dirty="0"/>
              <a:t>Acquisition and Amortization of Intangible Assets – Indefinite Life Part 2</a:t>
            </a:r>
          </a:p>
        </p:txBody>
      </p:sp>
      <p:sp>
        <p:nvSpPr>
          <p:cNvPr id="48130" name="Rectangle 2">
            <a:extLst>
              <a:ext uri="{FF2B5EF4-FFF2-40B4-BE49-F238E27FC236}">
                <a16:creationId xmlns:a16="http://schemas.microsoft.com/office/drawing/2014/main" id="{C6B5887E-90B3-4A72-8914-F24199B08F95}"/>
              </a:ext>
            </a:extLst>
          </p:cNvPr>
          <p:cNvSpPr>
            <a:spLocks noGrp="1"/>
          </p:cNvSpPr>
          <p:nvPr>
            <p:ph idx="1"/>
          </p:nvPr>
        </p:nvSpPr>
        <p:spPr/>
        <p:txBody>
          <a:bodyPr/>
          <a:lstStyle/>
          <a:p>
            <a:r>
              <a:rPr lang="en-CA" dirty="0"/>
              <a:t>If both the asset’s value in use and its fair value less costs to sell are lower than the carrying amount, then the asset’s recoverable amount (the higher of value in use and fair value less costs to sell) is compared to the carrying amount to determine the impairment loss. </a:t>
            </a:r>
          </a:p>
          <a:p>
            <a:endParaRPr lang="en-CA" sz="1200" dirty="0"/>
          </a:p>
          <a:p>
            <a:r>
              <a:rPr lang="en-CA" dirty="0"/>
              <a:t>This process is similar to that used for other long-lived assets, including intangibles with definite lives.</a:t>
            </a:r>
            <a:endParaRPr lang="en-CA" altLang="en-US" dirty="0"/>
          </a:p>
        </p:txBody>
      </p:sp>
    </p:spTree>
    <p:extLst>
      <p:ext uri="{BB962C8B-B14F-4D97-AF65-F5344CB8AC3E}">
        <p14:creationId xmlns:p14="http://schemas.microsoft.com/office/powerpoint/2010/main" val="2628051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1A582989-957A-4520-A262-72AC52FA0688}"/>
              </a:ext>
            </a:extLst>
          </p:cNvPr>
          <p:cNvSpPr>
            <a:spLocks noGrp="1"/>
          </p:cNvSpPr>
          <p:nvPr>
            <p:ph type="title"/>
          </p:nvPr>
        </p:nvSpPr>
        <p:spPr/>
        <p:txBody>
          <a:bodyPr/>
          <a:lstStyle/>
          <a:p>
            <a:r>
              <a:rPr lang="en-CA" altLang="en-US"/>
              <a:t>Acquisition and Amortization of Intangible Assets – Patents</a:t>
            </a:r>
            <a:endParaRPr lang="en-US" altLang="en-US"/>
          </a:p>
        </p:txBody>
      </p:sp>
      <p:sp>
        <p:nvSpPr>
          <p:cNvPr id="82946" name="Content Placeholder 2">
            <a:extLst>
              <a:ext uri="{FF2B5EF4-FFF2-40B4-BE49-F238E27FC236}">
                <a16:creationId xmlns:a16="http://schemas.microsoft.com/office/drawing/2014/main" id="{271D3152-1786-467A-A1D6-78406653C89C}"/>
              </a:ext>
            </a:extLst>
          </p:cNvPr>
          <p:cNvSpPr>
            <a:spLocks noGrp="1"/>
          </p:cNvSpPr>
          <p:nvPr>
            <p:ph idx="1"/>
          </p:nvPr>
        </p:nvSpPr>
        <p:spPr/>
        <p:txBody>
          <a:bodyPr/>
          <a:lstStyle/>
          <a:p>
            <a:r>
              <a:rPr lang="en-CA" altLang="en-US" dirty="0"/>
              <a:t>A </a:t>
            </a:r>
            <a:r>
              <a:rPr lang="en-CA" altLang="en-US" b="1" dirty="0"/>
              <a:t>patent</a:t>
            </a:r>
            <a:r>
              <a:rPr lang="en-CA" altLang="en-US" dirty="0"/>
              <a:t> is an exclusive right granted by the Canadian Intellectual Property Office of Industry Canada for a period of 20 years. </a:t>
            </a:r>
          </a:p>
          <a:p>
            <a:r>
              <a:rPr lang="en-CA" altLang="en-US" dirty="0"/>
              <a:t>A patent that is </a:t>
            </a:r>
            <a:r>
              <a:rPr lang="en-CA" altLang="en-US" i="1" dirty="0"/>
              <a:t>purchased</a:t>
            </a:r>
            <a:r>
              <a:rPr lang="en-CA" altLang="en-US" dirty="0"/>
              <a:t> is recorded at cost.</a:t>
            </a:r>
          </a:p>
          <a:p>
            <a:r>
              <a:rPr lang="en-CA" altLang="en-US" dirty="0"/>
              <a:t>An </a:t>
            </a:r>
            <a:r>
              <a:rPr lang="en-CA" altLang="en-US" i="1" dirty="0"/>
              <a:t>internally developed</a:t>
            </a:r>
            <a:r>
              <a:rPr lang="en-CA" altLang="en-US" dirty="0"/>
              <a:t> patent is recorded at only its registration and legal costs.  </a:t>
            </a:r>
          </a:p>
          <a:p>
            <a:r>
              <a:rPr lang="en-CA" dirty="0"/>
              <a:t>Should acquirers of patent rights incur costs to significantly change the product or process which has been patented, these costs may be capitalized under conditions specified in IAS 38—Intangible Assets. Given its limited life, a patent is typically amortized over the shorter of its economic life and its remaining legal life.</a:t>
            </a:r>
            <a:endParaRPr lang="en-CA" altLang="en-US"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47223345-6B7E-4F46-A666-8ADD30282471}"/>
              </a:ext>
            </a:extLst>
          </p:cNvPr>
          <p:cNvSpPr>
            <a:spLocks noGrp="1"/>
          </p:cNvSpPr>
          <p:nvPr>
            <p:ph type="title"/>
          </p:nvPr>
        </p:nvSpPr>
        <p:spPr/>
        <p:txBody>
          <a:bodyPr/>
          <a:lstStyle/>
          <a:p>
            <a:r>
              <a:rPr lang="en-CA" altLang="en-US"/>
              <a:t>Acquisition and Amortization of Intangible Assets – Copyrights</a:t>
            </a:r>
            <a:endParaRPr lang="en-US" altLang="en-US"/>
          </a:p>
        </p:txBody>
      </p:sp>
      <p:sp>
        <p:nvSpPr>
          <p:cNvPr id="83970" name="Content Placeholder 2">
            <a:extLst>
              <a:ext uri="{FF2B5EF4-FFF2-40B4-BE49-F238E27FC236}">
                <a16:creationId xmlns:a16="http://schemas.microsoft.com/office/drawing/2014/main" id="{B38BDED6-E2DA-4129-A116-051A4C25566A}"/>
              </a:ext>
            </a:extLst>
          </p:cNvPr>
          <p:cNvSpPr>
            <a:spLocks noGrp="1"/>
          </p:cNvSpPr>
          <p:nvPr>
            <p:ph idx="1"/>
          </p:nvPr>
        </p:nvSpPr>
        <p:spPr/>
        <p:txBody>
          <a:bodyPr/>
          <a:lstStyle/>
          <a:p>
            <a:r>
              <a:rPr lang="en-CA" altLang="en-US" b="1" dirty="0"/>
              <a:t>Copyright</a:t>
            </a:r>
            <a:r>
              <a:rPr lang="en-CA" altLang="en-US" dirty="0"/>
              <a:t> protection is also granted by the Canadian Intellectual Property Office. </a:t>
            </a:r>
          </a:p>
          <a:p>
            <a:endParaRPr lang="en-CA" altLang="en-US" sz="1200" dirty="0"/>
          </a:p>
          <a:p>
            <a:r>
              <a:rPr lang="en-CA" altLang="en-US" dirty="0"/>
              <a:t>A copyright that is purchased is recorded at cost. It gives the owner the exclusive right to publish, use, and sell a literary, musical, or artistic piece of work for a period not exceeding 50 years after the author’s death. </a:t>
            </a:r>
          </a:p>
          <a:p>
            <a:endParaRPr lang="en-CA" altLang="en-US" sz="1200" dirty="0"/>
          </a:p>
          <a:p>
            <a:r>
              <a:rPr lang="en-CA" altLang="en-US" dirty="0"/>
              <a:t>The same principles, guidelines, and procedures used in accounting for the cost of patents are also used for copyrights.</a:t>
            </a:r>
            <a:endParaRPr lang="en-US"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F0E20E9A-A5D7-4B54-A644-8BA6CCBD16B2}"/>
              </a:ext>
            </a:extLst>
          </p:cNvPr>
          <p:cNvSpPr>
            <a:spLocks noGrp="1"/>
          </p:cNvSpPr>
          <p:nvPr>
            <p:ph type="title"/>
          </p:nvPr>
        </p:nvSpPr>
        <p:spPr/>
        <p:txBody>
          <a:bodyPr/>
          <a:lstStyle/>
          <a:p>
            <a:r>
              <a:rPr lang="en-CA" altLang="en-US"/>
              <a:t>Acquisition and Amortization of Intangible Assets – Technology</a:t>
            </a:r>
            <a:endParaRPr lang="en-US" altLang="en-US"/>
          </a:p>
        </p:txBody>
      </p:sp>
      <p:sp>
        <p:nvSpPr>
          <p:cNvPr id="86018" name="Content Placeholder 2">
            <a:extLst>
              <a:ext uri="{FF2B5EF4-FFF2-40B4-BE49-F238E27FC236}">
                <a16:creationId xmlns:a16="http://schemas.microsoft.com/office/drawing/2014/main" id="{E065DB7F-43CD-4EA9-B3A6-8885E096E25F}"/>
              </a:ext>
            </a:extLst>
          </p:cNvPr>
          <p:cNvSpPr>
            <a:spLocks noGrp="1"/>
          </p:cNvSpPr>
          <p:nvPr>
            <p:ph idx="1"/>
          </p:nvPr>
        </p:nvSpPr>
        <p:spPr/>
        <p:txBody>
          <a:bodyPr/>
          <a:lstStyle/>
          <a:p>
            <a:r>
              <a:rPr lang="en-CA" altLang="en-US"/>
              <a:t>Website development costs related to acquiring a domain name and developing graphics are capitalized as an intangible asset. </a:t>
            </a:r>
          </a:p>
          <a:p>
            <a:endParaRPr lang="en-CA" altLang="en-US" sz="1200"/>
          </a:p>
          <a:p>
            <a:r>
              <a:rPr lang="en-CA" altLang="en-US"/>
              <a:t>Computer software costs incurred during a preliminary concept phase of a project should be expensed. </a:t>
            </a:r>
          </a:p>
          <a:p>
            <a:endParaRPr lang="en-CA" altLang="en-US" sz="1200"/>
          </a:p>
          <a:p>
            <a:r>
              <a:rPr lang="en-CA" altLang="en-US"/>
              <a:t>Once technological feasibility is reached for the project (the point at which there is a detailed program design or completion of a working model), the direct costs of the actual development, such as coding and testing the software, should be capitalized as an intangible asset.</a:t>
            </a:r>
          </a:p>
          <a:p>
            <a:endParaRPr lang="en-US"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AE16562B-07DD-4168-96DD-F63D2BD8B04D}"/>
              </a:ext>
            </a:extLst>
          </p:cNvPr>
          <p:cNvSpPr>
            <a:spLocks noGrp="1"/>
          </p:cNvSpPr>
          <p:nvPr>
            <p:ph type="title"/>
          </p:nvPr>
        </p:nvSpPr>
        <p:spPr/>
        <p:txBody>
          <a:bodyPr/>
          <a:lstStyle/>
          <a:p>
            <a:r>
              <a:rPr lang="en-CA" altLang="en-US" dirty="0"/>
              <a:t>Acquisition and Amortization of Intangible Assets – Research and Development Costs</a:t>
            </a:r>
            <a:endParaRPr lang="en-US" altLang="en-US" dirty="0"/>
          </a:p>
        </p:txBody>
      </p:sp>
      <p:sp>
        <p:nvSpPr>
          <p:cNvPr id="87042" name="Content Placeholder 2">
            <a:extLst>
              <a:ext uri="{FF2B5EF4-FFF2-40B4-BE49-F238E27FC236}">
                <a16:creationId xmlns:a16="http://schemas.microsoft.com/office/drawing/2014/main" id="{74D75D20-A910-448F-B5F4-BE070A66D557}"/>
              </a:ext>
            </a:extLst>
          </p:cNvPr>
          <p:cNvSpPr>
            <a:spLocks noGrp="1"/>
          </p:cNvSpPr>
          <p:nvPr>
            <p:ph idx="1"/>
          </p:nvPr>
        </p:nvSpPr>
        <p:spPr/>
        <p:txBody>
          <a:bodyPr/>
          <a:lstStyle/>
          <a:p>
            <a:r>
              <a:rPr lang="en-CA" altLang="en-US" sz="2600" dirty="0">
                <a:solidFill>
                  <a:schemeClr val="tx1"/>
                </a:solidFill>
              </a:rPr>
              <a:t>If an intangible asset is developed internally, the cost of research is recorded as an expense. </a:t>
            </a:r>
          </a:p>
          <a:p>
            <a:endParaRPr lang="en-CA" altLang="en-US" sz="1200" dirty="0">
              <a:solidFill>
                <a:schemeClr val="tx1"/>
              </a:solidFill>
            </a:endParaRPr>
          </a:p>
          <a:p>
            <a:r>
              <a:rPr lang="en-CA" altLang="en-US" sz="2600" dirty="0">
                <a:solidFill>
                  <a:schemeClr val="tx1"/>
                </a:solidFill>
              </a:rPr>
              <a:t>When a company can demonstrate that technical and commercial feasibility of the resulting product or service has been established, development costs can be deferred and amortized over the lifetime of the commercialized product. </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A59E77A2-DD83-4942-BB76-C7D0994D9DC6}"/>
              </a:ext>
            </a:extLst>
          </p:cNvPr>
          <p:cNvSpPr>
            <a:spLocks noGrp="1"/>
          </p:cNvSpPr>
          <p:nvPr>
            <p:ph type="title"/>
          </p:nvPr>
        </p:nvSpPr>
        <p:spPr/>
        <p:txBody>
          <a:bodyPr/>
          <a:lstStyle/>
          <a:p>
            <a:r>
              <a:rPr lang="en-CA" altLang="en-US" dirty="0"/>
              <a:t>Acquisition and Amortization of Intangible Assets – Trademarks Part 1</a:t>
            </a:r>
            <a:endParaRPr lang="en-US" altLang="en-US" dirty="0"/>
          </a:p>
        </p:txBody>
      </p:sp>
      <p:sp>
        <p:nvSpPr>
          <p:cNvPr id="80898" name="Content Placeholder 2">
            <a:extLst>
              <a:ext uri="{FF2B5EF4-FFF2-40B4-BE49-F238E27FC236}">
                <a16:creationId xmlns:a16="http://schemas.microsoft.com/office/drawing/2014/main" id="{B4A046CF-B965-44A3-A49A-1EADD21BA0FC}"/>
              </a:ext>
            </a:extLst>
          </p:cNvPr>
          <p:cNvSpPr>
            <a:spLocks noGrp="1"/>
          </p:cNvSpPr>
          <p:nvPr>
            <p:ph idx="1"/>
          </p:nvPr>
        </p:nvSpPr>
        <p:spPr/>
        <p:txBody>
          <a:bodyPr/>
          <a:lstStyle/>
          <a:p>
            <a:r>
              <a:rPr lang="en-CA" altLang="en-US" dirty="0"/>
              <a:t>A </a:t>
            </a:r>
            <a:r>
              <a:rPr lang="en-CA" altLang="en-US" b="1" dirty="0"/>
              <a:t>trademark</a:t>
            </a:r>
            <a:r>
              <a:rPr lang="en-CA" altLang="en-US" dirty="0"/>
              <a:t> is an exclusive legal right to use a name, image, or slogan identified with a product or a company.</a:t>
            </a:r>
          </a:p>
          <a:p>
            <a:endParaRPr lang="en-CA" altLang="en-US" sz="1200" dirty="0"/>
          </a:p>
          <a:p>
            <a:r>
              <a:rPr lang="en-CA" altLang="en-US" dirty="0"/>
              <a:t>Trademarks are protected by law when they are registered at the Canadian Intellectual Property Office of Industry Canada. </a:t>
            </a:r>
          </a:p>
          <a:p>
            <a:endParaRPr lang="en-CA" altLang="en-US" sz="1200" dirty="0"/>
          </a:p>
          <a:p>
            <a:r>
              <a:rPr lang="en-CA" altLang="en-US" dirty="0"/>
              <a:t>The protection of a trademark provides the registered holder with exclusive rights to the trademark and can be renewed every 15 years throughout its life.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E5AA8EBC-27A7-4158-AAE9-939E89F02BF7}"/>
              </a:ext>
            </a:extLst>
          </p:cNvPr>
          <p:cNvSpPr>
            <a:spLocks noGrp="1"/>
          </p:cNvSpPr>
          <p:nvPr>
            <p:ph type="title"/>
          </p:nvPr>
        </p:nvSpPr>
        <p:spPr/>
        <p:txBody>
          <a:bodyPr/>
          <a:lstStyle/>
          <a:p>
            <a:r>
              <a:rPr lang="en-CA" altLang="en-US" dirty="0"/>
              <a:t>Acquisition and Amortization of Intangible Assets – Trademarks Part 2</a:t>
            </a:r>
            <a:endParaRPr lang="en-US" altLang="en-US" dirty="0"/>
          </a:p>
        </p:txBody>
      </p:sp>
      <p:sp>
        <p:nvSpPr>
          <p:cNvPr id="81922" name="Content Placeholder 2">
            <a:extLst>
              <a:ext uri="{FF2B5EF4-FFF2-40B4-BE49-F238E27FC236}">
                <a16:creationId xmlns:a16="http://schemas.microsoft.com/office/drawing/2014/main" id="{D46E5E9D-EE46-4AF7-A59F-8F81D429855B}"/>
              </a:ext>
            </a:extLst>
          </p:cNvPr>
          <p:cNvSpPr>
            <a:spLocks noGrp="1"/>
          </p:cNvSpPr>
          <p:nvPr>
            <p:ph idx="1"/>
          </p:nvPr>
        </p:nvSpPr>
        <p:spPr/>
        <p:txBody>
          <a:bodyPr/>
          <a:lstStyle/>
          <a:p>
            <a:r>
              <a:rPr lang="en-CA" dirty="0"/>
              <a:t>Most companies do not amortize their trademarks as their useful lives can be extended indefinitely.</a:t>
            </a:r>
          </a:p>
          <a:p>
            <a:endParaRPr lang="en-CA" sz="1200" dirty="0"/>
          </a:p>
          <a:p>
            <a:r>
              <a:rPr lang="en-CA" dirty="0"/>
              <a:t>Trademarks are often some of the most valuable assets that a company can own, but they are rarely seen on statements of financial position. </a:t>
            </a:r>
          </a:p>
          <a:p>
            <a:endParaRPr lang="en-CA" sz="1200" dirty="0"/>
          </a:p>
          <a:p>
            <a:r>
              <a:rPr lang="en-CA" dirty="0"/>
              <a:t>The reason is simple—intangible assets are not recorded unless they are purchased. </a:t>
            </a:r>
          </a:p>
          <a:p>
            <a:endParaRPr lang="en-CA" sz="1200" dirty="0"/>
          </a:p>
          <a:p>
            <a:r>
              <a:rPr lang="en-CA" dirty="0"/>
              <a:t>Companies often spend millions of dollars developing trademarks, but these expenditures are recorded as expenses and not capitalized. </a:t>
            </a:r>
            <a:endParaRPr lang="en-US" altLang="en-US"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CCCEFF7D-9488-4562-9A14-A4F5EF05C485}"/>
              </a:ext>
            </a:extLst>
          </p:cNvPr>
          <p:cNvSpPr>
            <a:spLocks noGrp="1"/>
          </p:cNvSpPr>
          <p:nvPr>
            <p:ph type="title"/>
          </p:nvPr>
        </p:nvSpPr>
        <p:spPr/>
        <p:txBody>
          <a:bodyPr/>
          <a:lstStyle/>
          <a:p>
            <a:r>
              <a:rPr lang="en-CA" altLang="en-US"/>
              <a:t>Acquisition and Amortization of Intangible Assets – Franchises</a:t>
            </a:r>
            <a:endParaRPr lang="en-US" altLang="en-US"/>
          </a:p>
        </p:txBody>
      </p:sp>
      <p:sp>
        <p:nvSpPr>
          <p:cNvPr id="84994" name="Content Placeholder 2">
            <a:extLst>
              <a:ext uri="{FF2B5EF4-FFF2-40B4-BE49-F238E27FC236}">
                <a16:creationId xmlns:a16="http://schemas.microsoft.com/office/drawing/2014/main" id="{2BF6B788-B831-469D-A0A1-3010044C8FCC}"/>
              </a:ext>
            </a:extLst>
          </p:cNvPr>
          <p:cNvSpPr>
            <a:spLocks noGrp="1"/>
          </p:cNvSpPr>
          <p:nvPr>
            <p:ph idx="1"/>
          </p:nvPr>
        </p:nvSpPr>
        <p:spPr>
          <a:xfrm>
            <a:off x="457200" y="1143000"/>
            <a:ext cx="8458200" cy="5334000"/>
          </a:xfrm>
        </p:spPr>
        <p:txBody>
          <a:bodyPr/>
          <a:lstStyle/>
          <a:p>
            <a:r>
              <a:rPr lang="en-CA" altLang="en-US" dirty="0"/>
              <a:t>A </a:t>
            </a:r>
            <a:r>
              <a:rPr lang="en-CA" altLang="en-US" b="1" dirty="0"/>
              <a:t>franchise</a:t>
            </a:r>
            <a:r>
              <a:rPr lang="en-CA" altLang="en-US" dirty="0"/>
              <a:t> is a contractual right to sell certain products or services, use certain trademarks, or perform activities in a geographical region. </a:t>
            </a:r>
          </a:p>
          <a:p>
            <a:r>
              <a:rPr lang="en-CA" altLang="en-US" dirty="0"/>
              <a:t>Franchises may be granted by either the government or other businesses for a specified period and purpose.</a:t>
            </a:r>
          </a:p>
          <a:p>
            <a:r>
              <a:rPr lang="en-CA" altLang="en-US" dirty="0"/>
              <a:t>Franchise agreements are contracts that can have a variety of provisions. </a:t>
            </a:r>
          </a:p>
          <a:p>
            <a:r>
              <a:rPr lang="en-CA" altLang="en-US" dirty="0"/>
              <a:t>They usually require an investment by the franchisee; therefore, they should be accounted for as intangible assets. </a:t>
            </a:r>
          </a:p>
          <a:p>
            <a:r>
              <a:rPr lang="en-CA" altLang="en-US" dirty="0"/>
              <a:t>The life of the franchise agreement depends on the contract. </a:t>
            </a:r>
            <a:r>
              <a:rPr lang="en-CA" dirty="0"/>
              <a:t>It may be for a single year or an indefinite period.</a:t>
            </a:r>
            <a:endParaRPr lang="en-US" altLang="en-US"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AE16562B-07DD-4168-96DD-F63D2BD8B04D}"/>
              </a:ext>
            </a:extLst>
          </p:cNvPr>
          <p:cNvSpPr>
            <a:spLocks noGrp="1"/>
          </p:cNvSpPr>
          <p:nvPr>
            <p:ph type="title"/>
          </p:nvPr>
        </p:nvSpPr>
        <p:spPr/>
        <p:txBody>
          <a:bodyPr/>
          <a:lstStyle/>
          <a:p>
            <a:r>
              <a:rPr lang="en-CA" altLang="en-US" dirty="0"/>
              <a:t>Acquisition and Amortization of Intangible Assets – Licences and Operating Rights</a:t>
            </a:r>
            <a:endParaRPr lang="en-US" altLang="en-US" dirty="0"/>
          </a:p>
        </p:txBody>
      </p:sp>
      <p:sp>
        <p:nvSpPr>
          <p:cNvPr id="87042" name="Content Placeholder 2">
            <a:extLst>
              <a:ext uri="{FF2B5EF4-FFF2-40B4-BE49-F238E27FC236}">
                <a16:creationId xmlns:a16="http://schemas.microsoft.com/office/drawing/2014/main" id="{74D75D20-A910-448F-B5F4-BE070A66D557}"/>
              </a:ext>
            </a:extLst>
          </p:cNvPr>
          <p:cNvSpPr>
            <a:spLocks noGrp="1"/>
          </p:cNvSpPr>
          <p:nvPr>
            <p:ph idx="1"/>
          </p:nvPr>
        </p:nvSpPr>
        <p:spPr/>
        <p:txBody>
          <a:bodyPr/>
          <a:lstStyle/>
          <a:p>
            <a:r>
              <a:rPr lang="en-CA" altLang="en-US" sz="2600" dirty="0">
                <a:solidFill>
                  <a:schemeClr val="tx1"/>
                </a:solidFill>
              </a:rPr>
              <a:t>Licences and operating rights are typically obtained through agreements with governmental units or agencies, and permit the holders to use public property in performing their services. </a:t>
            </a:r>
          </a:p>
        </p:txBody>
      </p:sp>
    </p:spTree>
    <p:extLst>
      <p:ext uri="{BB962C8B-B14F-4D97-AF65-F5344CB8AC3E}">
        <p14:creationId xmlns:p14="http://schemas.microsoft.com/office/powerpoint/2010/main" val="89691866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2C071AB0-CC3E-4546-83A6-194BED00BDF4}"/>
              </a:ext>
            </a:extLst>
          </p:cNvPr>
          <p:cNvSpPr>
            <a:spLocks noGrp="1"/>
          </p:cNvSpPr>
          <p:nvPr>
            <p:ph type="title"/>
          </p:nvPr>
        </p:nvSpPr>
        <p:spPr/>
        <p:txBody>
          <a:bodyPr/>
          <a:lstStyle/>
          <a:p>
            <a:r>
              <a:rPr lang="en-US" altLang="en-US" dirty="0"/>
              <a:t>Goodwill Part 1</a:t>
            </a:r>
          </a:p>
        </p:txBody>
      </p:sp>
      <p:sp>
        <p:nvSpPr>
          <p:cNvPr id="89090" name="Content Placeholder 2">
            <a:extLst>
              <a:ext uri="{FF2B5EF4-FFF2-40B4-BE49-F238E27FC236}">
                <a16:creationId xmlns:a16="http://schemas.microsoft.com/office/drawing/2014/main" id="{D2A72BC3-75F7-48B7-BAF1-B505B4ACDF4A}"/>
              </a:ext>
            </a:extLst>
          </p:cNvPr>
          <p:cNvSpPr>
            <a:spLocks noGrp="1"/>
          </p:cNvSpPr>
          <p:nvPr>
            <p:ph idx="1"/>
          </p:nvPr>
        </p:nvSpPr>
        <p:spPr/>
        <p:txBody>
          <a:bodyPr/>
          <a:lstStyle/>
          <a:p>
            <a:r>
              <a:rPr lang="en-CA" altLang="en-US" dirty="0"/>
              <a:t>The most frequently reported asset lacking physical substance is </a:t>
            </a:r>
            <a:r>
              <a:rPr lang="en-CA" altLang="en-US" b="1" dirty="0"/>
              <a:t>goodwill.</a:t>
            </a:r>
          </a:p>
          <a:p>
            <a:endParaRPr lang="en-CA" altLang="en-US" sz="1200" dirty="0"/>
          </a:p>
          <a:p>
            <a:r>
              <a:rPr lang="en-CA" altLang="en-US" dirty="0"/>
              <a:t>The term </a:t>
            </a:r>
            <a:r>
              <a:rPr lang="en-CA" altLang="en-US" i="1" dirty="0"/>
              <a:t>goodwill</a:t>
            </a:r>
            <a:r>
              <a:rPr lang="en-CA" altLang="en-US" dirty="0"/>
              <a:t>, means the favourable reputation that a company has with its customers. </a:t>
            </a:r>
          </a:p>
          <a:p>
            <a:endParaRPr lang="en-CA" altLang="en-US" sz="1200" dirty="0"/>
          </a:p>
          <a:p>
            <a:r>
              <a:rPr lang="en-CA" altLang="en-US" dirty="0"/>
              <a:t>Goodwill arises from factors such as customer confidence, reputation for good service and quality products, and financial standing. </a:t>
            </a:r>
          </a:p>
          <a:p>
            <a:endParaRPr lang="en-CA" altLang="en-US" sz="1200" dirty="0"/>
          </a:p>
          <a:p>
            <a:r>
              <a:rPr lang="en-CA" dirty="0"/>
              <a:t>From its first day of operations, a successful business continuously builds its own goodwill through a combination of factors that cannot be sold separately. </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257724C-C7BD-406B-881A-D28651B3339B}"/>
              </a:ext>
            </a:extLst>
          </p:cNvPr>
          <p:cNvSpPr>
            <a:spLocks noGrp="1"/>
          </p:cNvSpPr>
          <p:nvPr>
            <p:ph type="title"/>
          </p:nvPr>
        </p:nvSpPr>
        <p:spPr/>
        <p:txBody>
          <a:bodyPr/>
          <a:lstStyle/>
          <a:p>
            <a:r>
              <a:rPr lang="en-US" altLang="en-US" dirty="0"/>
              <a:t>Goodwill Part 2</a:t>
            </a:r>
          </a:p>
        </p:txBody>
      </p:sp>
      <p:sp>
        <p:nvSpPr>
          <p:cNvPr id="90114" name="Content Placeholder 2">
            <a:extLst>
              <a:ext uri="{FF2B5EF4-FFF2-40B4-BE49-F238E27FC236}">
                <a16:creationId xmlns:a16="http://schemas.microsoft.com/office/drawing/2014/main" id="{47167CEF-402F-4B21-95FF-2E60128A7FC1}"/>
              </a:ext>
            </a:extLst>
          </p:cNvPr>
          <p:cNvSpPr>
            <a:spLocks noGrp="1"/>
          </p:cNvSpPr>
          <p:nvPr>
            <p:ph idx="1"/>
          </p:nvPr>
        </p:nvSpPr>
        <p:spPr/>
        <p:txBody>
          <a:bodyPr/>
          <a:lstStyle/>
          <a:p>
            <a:r>
              <a:rPr lang="en-CA" altLang="en-US" dirty="0"/>
              <a:t>Goodwill is said to be internally generated and is not reported as an asset.</a:t>
            </a:r>
          </a:p>
          <a:p>
            <a:r>
              <a:rPr lang="en-CA" altLang="en-US" dirty="0"/>
              <a:t>The only way to report goodwill as an asset is to purchase another business. </a:t>
            </a:r>
          </a:p>
          <a:p>
            <a:r>
              <a:rPr lang="en-CA" altLang="en-US" dirty="0"/>
              <a:t>Often, the purchase price of a business exceeds the fair value of all of the identifiable assets owned by the business minus all of the identifiable liabilities owed to others; this is because of goodwill.</a:t>
            </a:r>
          </a:p>
          <a:p>
            <a:r>
              <a:rPr lang="en-CA" altLang="en-US" dirty="0"/>
              <a:t>Unlike intangible assets, goodwill is not identifiable and can only be identified with the business as a whole.</a:t>
            </a:r>
          </a:p>
          <a:p>
            <a:r>
              <a:rPr lang="en-CA" altLang="en-US" dirty="0"/>
              <a:t>Goodwill is therefore reported as a separate item in the statement of financial position.</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257724C-C7BD-406B-881A-D28651B3339B}"/>
              </a:ext>
            </a:extLst>
          </p:cNvPr>
          <p:cNvSpPr>
            <a:spLocks noGrp="1"/>
          </p:cNvSpPr>
          <p:nvPr>
            <p:ph type="title"/>
          </p:nvPr>
        </p:nvSpPr>
        <p:spPr/>
        <p:txBody>
          <a:bodyPr/>
          <a:lstStyle/>
          <a:p>
            <a:r>
              <a:rPr lang="en-US" altLang="en-US" dirty="0"/>
              <a:t>Goodwill Part 3</a:t>
            </a:r>
          </a:p>
        </p:txBody>
      </p:sp>
      <p:sp>
        <p:nvSpPr>
          <p:cNvPr id="90114" name="Content Placeholder 2">
            <a:extLst>
              <a:ext uri="{FF2B5EF4-FFF2-40B4-BE49-F238E27FC236}">
                <a16:creationId xmlns:a16="http://schemas.microsoft.com/office/drawing/2014/main" id="{47167CEF-402F-4B21-95FF-2E60128A7FC1}"/>
              </a:ext>
            </a:extLst>
          </p:cNvPr>
          <p:cNvSpPr>
            <a:spLocks noGrp="1"/>
          </p:cNvSpPr>
          <p:nvPr>
            <p:ph idx="1"/>
          </p:nvPr>
        </p:nvSpPr>
        <p:spPr/>
        <p:txBody>
          <a:bodyPr/>
          <a:lstStyle/>
          <a:p>
            <a:r>
              <a:rPr lang="en-CA" altLang="en-US" dirty="0"/>
              <a:t>For accounting purposes, goodwill is defined as the difference between the purchase price of a company as a whole and the fair value of its net assets.</a:t>
            </a:r>
          </a:p>
          <a:p>
            <a:endParaRPr lang="en-CA" altLang="en-US" sz="1200" dirty="0"/>
          </a:p>
          <a:p>
            <a:r>
              <a:rPr lang="en-CA" dirty="0"/>
              <a:t>According to IFRS, goodwill has an indefinite life and any subsequent impairment in its value should be written down. </a:t>
            </a:r>
          </a:p>
          <a:p>
            <a:endParaRPr lang="en-CA" sz="1200" dirty="0"/>
          </a:p>
          <a:p>
            <a:r>
              <a:rPr lang="en-CA" dirty="0"/>
              <a:t>This leads to the recognition of a loss, which must be reported as a separate item on the statement of earnings in the year the impairment occurs.</a:t>
            </a:r>
            <a:endParaRPr lang="en-US" altLang="en-US" dirty="0"/>
          </a:p>
        </p:txBody>
      </p:sp>
    </p:spTree>
    <p:extLst>
      <p:ext uri="{BB962C8B-B14F-4D97-AF65-F5344CB8AC3E}">
        <p14:creationId xmlns:p14="http://schemas.microsoft.com/office/powerpoint/2010/main" val="55854174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66166FAA-0FE4-440C-96B7-0998C98B7B03}"/>
              </a:ext>
            </a:extLst>
          </p:cNvPr>
          <p:cNvSpPr>
            <a:spLocks noGrp="1"/>
          </p:cNvSpPr>
          <p:nvPr>
            <p:ph type="title"/>
          </p:nvPr>
        </p:nvSpPr>
        <p:spPr/>
        <p:txBody>
          <a:bodyPr/>
          <a:lstStyle/>
          <a:p>
            <a:r>
              <a:rPr lang="en-CA" altLang="en-US"/>
              <a:t>Financial Analysis - A Misinterpretation</a:t>
            </a:r>
          </a:p>
        </p:txBody>
      </p:sp>
      <p:sp>
        <p:nvSpPr>
          <p:cNvPr id="50178" name="Rectangle 4">
            <a:extLst>
              <a:ext uri="{FF2B5EF4-FFF2-40B4-BE49-F238E27FC236}">
                <a16:creationId xmlns:a16="http://schemas.microsoft.com/office/drawing/2014/main" id="{478B0E1C-38F8-4BAE-88C8-C733DEC26653}"/>
              </a:ext>
            </a:extLst>
          </p:cNvPr>
          <p:cNvSpPr>
            <a:spLocks noGrp="1"/>
          </p:cNvSpPr>
          <p:nvPr>
            <p:ph idx="1"/>
          </p:nvPr>
        </p:nvSpPr>
        <p:spPr/>
        <p:txBody>
          <a:bodyPr/>
          <a:lstStyle/>
          <a:p>
            <a:r>
              <a:rPr lang="en-CA" altLang="en-US"/>
              <a:t>Cash from operations can only be provided by selling goods and services. </a:t>
            </a:r>
          </a:p>
          <a:p>
            <a:endParaRPr lang="en-CA" altLang="en-US" sz="1200"/>
          </a:p>
          <a:p>
            <a:r>
              <a:rPr lang="en-CA" altLang="en-US"/>
              <a:t>Depreciation expense does not require a cash outflow. Although depreciation is added in the operating section of the statement of cash flows, depreciation is not a source of cash, when using the indirect method.</a:t>
            </a:r>
          </a:p>
          <a:p>
            <a:endParaRPr lang="en-CA" altLang="en-US" sz="1200"/>
          </a:p>
          <a:p>
            <a:r>
              <a:rPr lang="en-CA" altLang="en-US"/>
              <a:t>Because tax depreciation (CCA) is tax deductible, it reduces the cash outflow related to taxes (often called a tax shield). CCA can affect cash flows by affecting the amount of taxes that a company pays.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AF7FEC81-9B18-4210-A501-01A7AEEB3F4D}"/>
              </a:ext>
            </a:extLst>
          </p:cNvPr>
          <p:cNvSpPr>
            <a:spLocks noGrp="1"/>
          </p:cNvSpPr>
          <p:nvPr>
            <p:ph type="title"/>
          </p:nvPr>
        </p:nvSpPr>
        <p:spPr/>
        <p:txBody>
          <a:bodyPr/>
          <a:lstStyle/>
          <a:p>
            <a:r>
              <a:rPr lang="en-US" altLang="en-US"/>
              <a:t>End of Chapter Summary</a:t>
            </a:r>
          </a:p>
        </p:txBody>
      </p:sp>
      <p:sp>
        <p:nvSpPr>
          <p:cNvPr id="52226" name="Content Placeholder 2">
            <a:extLst>
              <a:ext uri="{FF2B5EF4-FFF2-40B4-BE49-F238E27FC236}">
                <a16:creationId xmlns:a16="http://schemas.microsoft.com/office/drawing/2014/main" id="{7D1D2F83-1DD7-4353-B879-764968E9392E}"/>
              </a:ext>
            </a:extLst>
          </p:cNvPr>
          <p:cNvSpPr>
            <a:spLocks noGrp="1"/>
          </p:cNvSpPr>
          <p:nvPr>
            <p:ph idx="1"/>
          </p:nvPr>
        </p:nvSpPr>
        <p:spPr/>
        <p:txBody>
          <a:bodyPr/>
          <a:lstStyle/>
          <a:p>
            <a:r>
              <a:rPr lang="en-CA" altLang="en-US"/>
              <a:t>Non-current assets are those that a business retains for long periods of time, for use in the course of normal operations rather than for sale. They may be divided into tangible assets (land, buildings, equipment, natural resources), intangible assets (patents, franchises), and goodwill.</a:t>
            </a:r>
          </a:p>
          <a:p>
            <a:r>
              <a:rPr lang="en-CA" altLang="en-US"/>
              <a:t>The acquisition cost of property, plant, and equipment is the cash-equivalent purchase price plus all reasonable and necessary expenditures made to acquire and prepare the asset for its intended use.</a:t>
            </a:r>
          </a:p>
          <a:p>
            <a:r>
              <a:rPr lang="en-CA" altLang="en-US"/>
              <a:t>Common depreciation methods include straight line, units of production, and double declining balance.</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79F96FC5-D824-47A7-8A60-A0DFE1832E76}"/>
              </a:ext>
            </a:extLst>
          </p:cNvPr>
          <p:cNvSpPr>
            <a:spLocks noGrp="1"/>
          </p:cNvSpPr>
          <p:nvPr>
            <p:ph type="title"/>
          </p:nvPr>
        </p:nvSpPr>
        <p:spPr/>
        <p:txBody>
          <a:bodyPr/>
          <a:lstStyle/>
          <a:p>
            <a:r>
              <a:rPr lang="en-US" altLang="en-US"/>
              <a:t>End of Chapter Summary Continued</a:t>
            </a:r>
          </a:p>
        </p:txBody>
      </p:sp>
      <p:sp>
        <p:nvSpPr>
          <p:cNvPr id="53250" name="Content Placeholder 2">
            <a:extLst>
              <a:ext uri="{FF2B5EF4-FFF2-40B4-BE49-F238E27FC236}">
                <a16:creationId xmlns:a16="http://schemas.microsoft.com/office/drawing/2014/main" id="{AAE19890-0183-45EC-8DF5-B5F795635F87}"/>
              </a:ext>
            </a:extLst>
          </p:cNvPr>
          <p:cNvSpPr>
            <a:spLocks noGrp="1"/>
          </p:cNvSpPr>
          <p:nvPr>
            <p:ph idx="1"/>
          </p:nvPr>
        </p:nvSpPr>
        <p:spPr/>
        <p:txBody>
          <a:bodyPr/>
          <a:lstStyle/>
          <a:p>
            <a:r>
              <a:rPr lang="en-CA" dirty="0"/>
              <a:t>When events or changes in circumstances reduce the estimated future cash flows of long-lived assets below their carrying amounts, the carrying amounts should be written down (by recording a loss) to the recoverable amounts of the assets.</a:t>
            </a:r>
          </a:p>
          <a:p>
            <a:r>
              <a:rPr lang="en-CA" altLang="en-US" dirty="0"/>
              <a:t>When assets are disposed of through sale or abandonment:</a:t>
            </a:r>
          </a:p>
          <a:p>
            <a:pPr lvl="1">
              <a:spcBef>
                <a:spcPct val="0"/>
              </a:spcBef>
            </a:pPr>
            <a:r>
              <a:rPr lang="en-CA" altLang="en-US" dirty="0">
                <a:solidFill>
                  <a:schemeClr val="tx1"/>
                </a:solidFill>
              </a:rPr>
              <a:t>Record additional depreciation since the last adjustment was made.</a:t>
            </a:r>
          </a:p>
          <a:p>
            <a:pPr lvl="1">
              <a:spcBef>
                <a:spcPct val="0"/>
              </a:spcBef>
            </a:pPr>
            <a:r>
              <a:rPr lang="en-CA" altLang="en-US" dirty="0">
                <a:solidFill>
                  <a:schemeClr val="tx1"/>
                </a:solidFill>
              </a:rPr>
              <a:t>Remove the cost of the old asset and its related accumulated depreciation or depletion.</a:t>
            </a:r>
          </a:p>
          <a:p>
            <a:pPr lvl="1">
              <a:spcBef>
                <a:spcPct val="0"/>
              </a:spcBef>
            </a:pPr>
            <a:r>
              <a:rPr lang="en-CA" altLang="en-US" dirty="0">
                <a:solidFill>
                  <a:schemeClr val="tx1"/>
                </a:solidFill>
              </a:rPr>
              <a:t>Recognize the cash proceeds.</a:t>
            </a:r>
          </a:p>
          <a:p>
            <a:pPr lvl="1">
              <a:spcBef>
                <a:spcPct val="0"/>
              </a:spcBef>
            </a:pPr>
            <a:r>
              <a:rPr lang="en-CA" altLang="en-US" dirty="0">
                <a:solidFill>
                  <a:schemeClr val="tx1"/>
                </a:solidFill>
              </a:rPr>
              <a:t>Recognize any gains or losses when the asset’s carrying amount is not equal to the cash received.</a:t>
            </a:r>
          </a:p>
          <a:p>
            <a:endParaRPr lang="en-CA" altLang="en-US" dirty="0"/>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399010-2827-445F-84F6-491438259152}">
  <ds:schemaRefs>
    <ds:schemaRef ds:uri="http://schemas.microsoft.com/sharepoint/v3/contenttype/forms"/>
  </ds:schemaRefs>
</ds:datastoreItem>
</file>

<file path=customXml/itemProps2.xml><?xml version="1.0" encoding="utf-8"?>
<ds:datastoreItem xmlns:ds="http://schemas.openxmlformats.org/officeDocument/2006/customXml" ds:itemID="{4F96B487-176E-4E2E-8507-AEBF50903BEF}">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customXml/itemProps3.xml><?xml version="1.0" encoding="utf-8"?>
<ds:datastoreItem xmlns:ds="http://schemas.openxmlformats.org/officeDocument/2006/customXml" ds:itemID="{D2441861-44C9-46FA-925D-2B7821F179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4844</TotalTime>
  <Words>5732</Words>
  <Application>Microsoft Office PowerPoint</Application>
  <PresentationFormat>On-screen Show (4:3)</PresentationFormat>
  <Paragraphs>424</Paragraphs>
  <Slides>72</Slides>
  <Notes>27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72</vt:i4>
      </vt:variant>
    </vt:vector>
  </HeadingPairs>
  <TitlesOfParts>
    <vt:vector size="80" baseType="lpstr">
      <vt:lpstr>Arial</vt:lpstr>
      <vt:lpstr>Calibri</vt:lpstr>
      <vt:lpstr>Tahoma</vt:lpstr>
      <vt:lpstr>Times New Roman</vt:lpstr>
      <vt:lpstr>Wingdings</vt:lpstr>
      <vt:lpstr>Wingdings 3</vt:lpstr>
      <vt:lpstr>1_Origin</vt:lpstr>
      <vt:lpstr>Origin</vt:lpstr>
      <vt:lpstr>PowerPoint Presentation</vt:lpstr>
      <vt:lpstr>Learning Objectives</vt:lpstr>
      <vt:lpstr>Learning Objectives Continued</vt:lpstr>
      <vt:lpstr>Classification of Long-Lived Assets Part 1</vt:lpstr>
      <vt:lpstr>Classification of Long-Lived Assets Part 2</vt:lpstr>
      <vt:lpstr>Classification of Long-Lived Assets Part 3</vt:lpstr>
      <vt:lpstr>Key Ratio Analysis – Fixed Asset Turnover Ratio</vt:lpstr>
      <vt:lpstr>Measuring and Recording Acquisition Cost Part 1 </vt:lpstr>
      <vt:lpstr>Measuring and Recording Acquisition Cost Part 2</vt:lpstr>
      <vt:lpstr>Acquisition by Construction Part 1</vt:lpstr>
      <vt:lpstr>Acquisition by Construction Part 2</vt:lpstr>
      <vt:lpstr>Acquisitions as a Basket Purchase of Assets</vt:lpstr>
      <vt:lpstr>Repairs, Maintenance, and Improvements Part 1</vt:lpstr>
      <vt:lpstr>Repairs, Maintenance, and Improvements Part 2</vt:lpstr>
      <vt:lpstr>Ordinary Repairs and Maintenance</vt:lpstr>
      <vt:lpstr>Improvements Part 1</vt:lpstr>
      <vt:lpstr>Improvements Part 2</vt:lpstr>
      <vt:lpstr>Depreciation Concepts Part 1</vt:lpstr>
      <vt:lpstr>Depreciation Concepts - Example</vt:lpstr>
      <vt:lpstr>Depreciation Concepts Part 2</vt:lpstr>
      <vt:lpstr>Calculation of Depreciation Expense Part 1</vt:lpstr>
      <vt:lpstr>Calculation of Depreciation Expense Part 2</vt:lpstr>
      <vt:lpstr>Alternative Depreciation Methods</vt:lpstr>
      <vt:lpstr>Straight-Line Method Part 1</vt:lpstr>
      <vt:lpstr>Straight-Line Method Part 2</vt:lpstr>
      <vt:lpstr>Straight-Line Method - Example</vt:lpstr>
      <vt:lpstr>Units-of-Production (Activity) Method Part 1</vt:lpstr>
      <vt:lpstr>Units-of-Production (Activity) Method Part 2</vt:lpstr>
      <vt:lpstr>Units-of-Production (Activity) Method - Example</vt:lpstr>
      <vt:lpstr>Accelerated Depreciation</vt:lpstr>
      <vt:lpstr>Declining-Balance Method</vt:lpstr>
      <vt:lpstr>Double Declining-Balance Formula</vt:lpstr>
      <vt:lpstr>Double Declining-Balance Part 1</vt:lpstr>
      <vt:lpstr>Double Declining-Balance Part 2</vt:lpstr>
      <vt:lpstr>Double Declining-Balance Part 3</vt:lpstr>
      <vt:lpstr>Depreciation Expense – Summary</vt:lpstr>
      <vt:lpstr>Changes in Depreciation Estimates Part 1</vt:lpstr>
      <vt:lpstr>Changes in Depreciation Estimates Part 2</vt:lpstr>
      <vt:lpstr>Managers’ Selection among Accounting Alternatives</vt:lpstr>
      <vt:lpstr>Depreciation and CCA Part 1</vt:lpstr>
      <vt:lpstr>Depreciation and CCA Part 2</vt:lpstr>
      <vt:lpstr>Measuring Asset Impairment Part 1</vt:lpstr>
      <vt:lpstr>Measuring Asset Impairment Part 2</vt:lpstr>
      <vt:lpstr>Measuring Asset Impairment Part 3</vt:lpstr>
      <vt:lpstr>Measuring Asset Impairment – Two Steps</vt:lpstr>
      <vt:lpstr>Disposal of Property, Plant, and Equipment</vt:lpstr>
      <vt:lpstr>Entry to Record the Disposal</vt:lpstr>
      <vt:lpstr>Acquisition and Depletion of Natural Resources Part 1</vt:lpstr>
      <vt:lpstr>Acquisition and Depletion of Natural Resources Part 2</vt:lpstr>
      <vt:lpstr>Acquisition and Depletion of Natural Resources Part 3</vt:lpstr>
      <vt:lpstr>Acquisition and Depletion of Natural Resources Part 4</vt:lpstr>
      <vt:lpstr>Acquisition and Depletion of Natural Resources Part 5</vt:lpstr>
      <vt:lpstr>Acquisition and Depletion of Natural Resources Part 6</vt:lpstr>
      <vt:lpstr>Acquisition and Amortization of Intangible Assets Part 1</vt:lpstr>
      <vt:lpstr>Acquisition and Amortization of Intangible Assets Part 2</vt:lpstr>
      <vt:lpstr>Acquisition and Amortization of Intangible Assets – Definite Life</vt:lpstr>
      <vt:lpstr>Acquisition and Amortization of Intangible Assets – Indefinite Life Part 1</vt:lpstr>
      <vt:lpstr>Acquisition and Amortization of Intangible Assets – Indefinite Life Part 2</vt:lpstr>
      <vt:lpstr>Acquisition and Amortization of Intangible Assets – Patents</vt:lpstr>
      <vt:lpstr>Acquisition and Amortization of Intangible Assets – Copyrights</vt:lpstr>
      <vt:lpstr>Acquisition and Amortization of Intangible Assets – Technology</vt:lpstr>
      <vt:lpstr>Acquisition and Amortization of Intangible Assets – Research and Development Costs</vt:lpstr>
      <vt:lpstr>Acquisition and Amortization of Intangible Assets – Trademarks Part 1</vt:lpstr>
      <vt:lpstr>Acquisition and Amortization of Intangible Assets – Trademarks Part 2</vt:lpstr>
      <vt:lpstr>Acquisition and Amortization of Intangible Assets – Franchises</vt:lpstr>
      <vt:lpstr>Acquisition and Amortization of Intangible Assets – Licences and Operating Rights</vt:lpstr>
      <vt:lpstr>Goodwill Part 1</vt:lpstr>
      <vt:lpstr>Goodwill Part 2</vt:lpstr>
      <vt:lpstr>Goodwill Part 3</vt:lpstr>
      <vt:lpstr>Financial Analysis - A Misinterpretation</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8: Reporting and Interpreting Property, Plant, and Equipment; Natural Resources; and Intangibles</dc:subject>
  <dc:creator>Robert G. Ducharme, MAcc, CPA, CA - University of Waterloo, School of Accounting and Finance</dc:creator>
  <cp:lastModifiedBy>Schwartz, Stephanie</cp:lastModifiedBy>
  <cp:revision>78</cp:revision>
  <dcterms:created xsi:type="dcterms:W3CDTF">2010-03-30T15:03:05Z</dcterms:created>
  <dcterms:modified xsi:type="dcterms:W3CDTF">2023-01-12T15:22:01Z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